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e5bd804e6b4915" /><Relationship Type="http://schemas.openxmlformats.org/officeDocument/2006/relationships/extended-properties" Target="/docProps/app.xml" Id="R712c1685834a4ce0" /><Relationship Type="http://schemas.openxmlformats.org/officeDocument/2006/relationships/officeDocument" Target="/ppt/presentation.xml" Id="Rf0d8a13e408b4568"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22be9cfc355459f"/>
  </p:sldMasterIdLst>
  <p:notesMasterIdLst>
    <p:notesMasterId xmlns:r="http://schemas.openxmlformats.org/officeDocument/2006/relationships" r:id="R38a5f2dbd6d44d98"/>
  </p:notesMasterIdLst>
  <p:sldIdLst>
    <p:sldId xmlns:r="http://schemas.openxmlformats.org/officeDocument/2006/relationships" id="256" r:id="Re5afdeab0dae4497"/>
    <p:sldId xmlns:r="http://schemas.openxmlformats.org/officeDocument/2006/relationships" id="257" r:id="Rd9d9b9919c1147fa"/>
    <p:sldId xmlns:r="http://schemas.openxmlformats.org/officeDocument/2006/relationships" id="258" r:id="R7f850b8e5f144780"/>
    <p:sldId xmlns:r="http://schemas.openxmlformats.org/officeDocument/2006/relationships" id="259" r:id="R4f890997b5934a9a"/>
    <p:sldId xmlns:r="http://schemas.openxmlformats.org/officeDocument/2006/relationships" id="260" r:id="R7f407731493c4858"/>
    <p:sldId xmlns:r="http://schemas.openxmlformats.org/officeDocument/2006/relationships" id="261" r:id="Ree758e2386db44a5"/>
    <p:sldId xmlns:r="http://schemas.openxmlformats.org/officeDocument/2006/relationships" id="262" r:id="R33259ac641fb4fc0"/>
    <p:sldId xmlns:r="http://schemas.openxmlformats.org/officeDocument/2006/relationships" id="263" r:id="R624f7dce1d70431c"/>
    <p:sldId xmlns:r="http://schemas.openxmlformats.org/officeDocument/2006/relationships" id="264" r:id="R14ccffab3b2b479a"/>
    <p:sldId xmlns:r="http://schemas.openxmlformats.org/officeDocument/2006/relationships" id="265" r:id="R09532da83ae84cd7"/>
    <p:sldId xmlns:r="http://schemas.openxmlformats.org/officeDocument/2006/relationships" id="266" r:id="R89bd7651d9e94779"/>
    <p:sldId xmlns:r="http://schemas.openxmlformats.org/officeDocument/2006/relationships" id="267" r:id="R5bd1643299b04e48"/>
    <p:sldId xmlns:r="http://schemas.openxmlformats.org/officeDocument/2006/relationships" id="268" r:id="Ra5d83cbd9da542e0"/>
    <p:sldId xmlns:r="http://schemas.openxmlformats.org/officeDocument/2006/relationships" id="269" r:id="Red9ec7145f2c4742"/>
    <p:sldId xmlns:r="http://schemas.openxmlformats.org/officeDocument/2006/relationships" id="270" r:id="R97c21b2202e6427c"/>
    <p:sldId xmlns:r="http://schemas.openxmlformats.org/officeDocument/2006/relationships" id="271" r:id="Rd2c8d62885964920"/>
    <p:sldId xmlns:r="http://schemas.openxmlformats.org/officeDocument/2006/relationships" id="272" r:id="Ra0c75aeb56534db8"/>
    <p:sldId xmlns:r="http://schemas.openxmlformats.org/officeDocument/2006/relationships" id="273" r:id="R1c1d20fb93c94e2b"/>
    <p:sldId xmlns:r="http://schemas.openxmlformats.org/officeDocument/2006/relationships" id="274" r:id="R21afd115e0c64e0d"/>
    <p:sldId xmlns:r="http://schemas.openxmlformats.org/officeDocument/2006/relationships" id="275" r:id="Rceb211179d01479f"/>
    <p:sldId xmlns:r="http://schemas.openxmlformats.org/officeDocument/2006/relationships" id="276" r:id="R698045a632e44bd9"/>
    <p:sldId xmlns:r="http://schemas.openxmlformats.org/officeDocument/2006/relationships" id="277" r:id="R227a147cb80a4daf"/>
  </p:sldIdLst>
  <p:sldSz cx="12192000" cy="6858000"/>
  <p:notesSz cx="6858000" cy="9144000"/>
  <p:embeddedFontLst>
    <p:embeddedFont>
      <p:font typeface="OpenAI Sans"/>
      <p:regular xmlns:r="http://schemas.openxmlformats.org/officeDocument/2006/relationships" r:id="Rac7c2d5eeb8b4cef"/>
      <p:bold xmlns:r="http://schemas.openxmlformats.org/officeDocument/2006/relationships" r:id="Rc19f92206e6f4750"/>
      <p:italic xmlns:r="http://schemas.openxmlformats.org/officeDocument/2006/relationships" r:id="R93b87dca6dc94ef7"/>
      <p:boldItalic xmlns:r="http://schemas.openxmlformats.org/officeDocument/2006/relationships" r:id="R9fb4612f5a304ed7"/>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5a8bc52c846498c" /><Relationship Type="http://schemas.openxmlformats.org/officeDocument/2006/relationships/slideMaster" Target="/ppt/slideMasters/slideMaster1.xml" Id="Rd22be9cfc355459f" /><Relationship Type="http://schemas.openxmlformats.org/officeDocument/2006/relationships/notesMaster" Target="/ppt/notesMasters/notesMaster1.xml" Id="R38a5f2dbd6d44d98" /><Relationship Type="http://schemas.openxmlformats.org/officeDocument/2006/relationships/presProps" Target="/ppt/presProps.xml" Id="Ree6833e98ac14853" /><Relationship Type="http://schemas.openxmlformats.org/officeDocument/2006/relationships/viewProps" Target="/ppt/viewProps.xml" Id="R2c8ce81b04744035" /><Relationship Type="http://schemas.openxmlformats.org/officeDocument/2006/relationships/tableStyles" Target="/ppt/tableStyles.xml" Id="Rfcc17275ba5046ce" /><Relationship Type="http://schemas.openxmlformats.org/officeDocument/2006/relationships/font" Target="/ppt/fonts/font.dat" Id="Rac7c2d5eeb8b4cef" /><Relationship Type="http://schemas.openxmlformats.org/officeDocument/2006/relationships/font" Target="/ppt/fonts/font2.dat" Id="Rc19f92206e6f4750" /><Relationship Type="http://schemas.openxmlformats.org/officeDocument/2006/relationships/font" Target="/ppt/fonts/font3.dat" Id="R93b87dca6dc94ef7" /><Relationship Type="http://schemas.openxmlformats.org/officeDocument/2006/relationships/font" Target="/ppt/fonts/font4.dat" Id="R9fb4612f5a304ed7" /><Relationship Type="http://schemas.openxmlformats.org/officeDocument/2006/relationships/slide" Target="/ppt/slides/slide1.xml" Id="Re5afdeab0dae4497" /><Relationship Type="http://schemas.openxmlformats.org/officeDocument/2006/relationships/slide" Target="/ppt/slides/slide2.xml" Id="Rd9d9b9919c1147fa" /><Relationship Type="http://schemas.openxmlformats.org/officeDocument/2006/relationships/slide" Target="/ppt/slides/slide3.xml" Id="R7f850b8e5f144780" /><Relationship Type="http://schemas.openxmlformats.org/officeDocument/2006/relationships/slide" Target="/ppt/slides/slide4.xml" Id="R4f890997b5934a9a" /><Relationship Type="http://schemas.openxmlformats.org/officeDocument/2006/relationships/slide" Target="/ppt/slides/slide5.xml" Id="R7f407731493c4858" /><Relationship Type="http://schemas.openxmlformats.org/officeDocument/2006/relationships/slide" Target="/ppt/slides/slide6.xml" Id="Ree758e2386db44a5" /><Relationship Type="http://schemas.openxmlformats.org/officeDocument/2006/relationships/slide" Target="/ppt/slides/slide7.xml" Id="R33259ac641fb4fc0" /><Relationship Type="http://schemas.openxmlformats.org/officeDocument/2006/relationships/slide" Target="/ppt/slides/slide8.xml" Id="R624f7dce1d70431c" /><Relationship Type="http://schemas.openxmlformats.org/officeDocument/2006/relationships/slide" Target="/ppt/slides/slide9.xml" Id="R14ccffab3b2b479a" /><Relationship Type="http://schemas.openxmlformats.org/officeDocument/2006/relationships/slide" Target="/ppt/slides/slide10.xml" Id="R09532da83ae84cd7" /><Relationship Type="http://schemas.openxmlformats.org/officeDocument/2006/relationships/slide" Target="/ppt/slides/slide11.xml" Id="R89bd7651d9e94779" /><Relationship Type="http://schemas.openxmlformats.org/officeDocument/2006/relationships/slide" Target="/ppt/slides/slide12.xml" Id="R5bd1643299b04e48" /><Relationship Type="http://schemas.openxmlformats.org/officeDocument/2006/relationships/slide" Target="/ppt/slides/slide13.xml" Id="Ra5d83cbd9da542e0" /><Relationship Type="http://schemas.openxmlformats.org/officeDocument/2006/relationships/slide" Target="/ppt/slides/slide14.xml" Id="Red9ec7145f2c4742" /><Relationship Type="http://schemas.openxmlformats.org/officeDocument/2006/relationships/slide" Target="/ppt/slides/slide15.xml" Id="R97c21b2202e6427c" /><Relationship Type="http://schemas.openxmlformats.org/officeDocument/2006/relationships/slide" Target="/ppt/slides/slide16.xml" Id="Rd2c8d62885964920" /><Relationship Type="http://schemas.openxmlformats.org/officeDocument/2006/relationships/slide" Target="/ppt/slides/slide17.xml" Id="Ra0c75aeb56534db8" /><Relationship Type="http://schemas.openxmlformats.org/officeDocument/2006/relationships/slide" Target="/ppt/slides/slide18.xml" Id="R1c1d20fb93c94e2b" /><Relationship Type="http://schemas.openxmlformats.org/officeDocument/2006/relationships/slide" Target="/ppt/slides/slide19.xml" Id="R21afd115e0c64e0d" /><Relationship Type="http://schemas.openxmlformats.org/officeDocument/2006/relationships/slide" Target="/ppt/slides/slide20.xml" Id="Rceb211179d01479f" /><Relationship Type="http://schemas.openxmlformats.org/officeDocument/2006/relationships/slide" Target="/ppt/slides/slide21.xml" Id="R698045a632e44bd9" /><Relationship Type="http://schemas.openxmlformats.org/officeDocument/2006/relationships/slide" Target="/ppt/slides/slide22.xml" Id="R227a147cb80a4d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a0557b17a941e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f98337347645a6" /><Relationship Type="http://schemas.openxmlformats.org/officeDocument/2006/relationships/notesMaster" Target="/ppt/notesMasters/notesMaster1.xml" Id="Rb6330fdaf0f547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ed100708b045f0" /><Relationship Type="http://schemas.openxmlformats.org/officeDocument/2006/relationships/notesMaster" Target="/ppt/notesMasters/notesMaster1.xml" Id="R5ed6b5ca5f314e3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10d27e497c5495d" /><Relationship Type="http://schemas.openxmlformats.org/officeDocument/2006/relationships/notesMaster" Target="/ppt/notesMasters/notesMaster1.xml" Id="R7a5c8b64801449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6d0ab1215f4212" /><Relationship Type="http://schemas.openxmlformats.org/officeDocument/2006/relationships/notesMaster" Target="/ppt/notesMasters/notesMaster1.xml" Id="R10aff97ceba947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1e272870764294" /><Relationship Type="http://schemas.openxmlformats.org/officeDocument/2006/relationships/notesMaster" Target="/ppt/notesMasters/notesMaster1.xml" Id="Radb6bfecaf864b90"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1dae7627e94762" /><Relationship Type="http://schemas.openxmlformats.org/officeDocument/2006/relationships/notesMaster" Target="/ppt/notesMasters/notesMaster1.xml" Id="R6fa7386419c5438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abb39f9ea94005" /><Relationship Type="http://schemas.openxmlformats.org/officeDocument/2006/relationships/notesMaster" Target="/ppt/notesMasters/notesMaster1.xml" Id="Rb0364de86f82424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f065d762c24a7b" /><Relationship Type="http://schemas.openxmlformats.org/officeDocument/2006/relationships/notesMaster" Target="/ppt/notesMasters/notesMaster1.xml" Id="R3eb90f0481264d4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c898ae87064578" /><Relationship Type="http://schemas.openxmlformats.org/officeDocument/2006/relationships/notesMaster" Target="/ppt/notesMasters/notesMaster1.xml" Id="Ra919d1b9032b4f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7b1b65d14945a4" /><Relationship Type="http://schemas.openxmlformats.org/officeDocument/2006/relationships/notesMaster" Target="/ppt/notesMasters/notesMaster1.xml" Id="R553215811eb5498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68c5c2671f443b7" /><Relationship Type="http://schemas.openxmlformats.org/officeDocument/2006/relationships/notesMaster" Target="/ppt/notesMasters/notesMaster1.xml" Id="R3e6e77c4e29845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4c24fbb8ab34b2d" /><Relationship Type="http://schemas.openxmlformats.org/officeDocument/2006/relationships/notesMaster" Target="/ppt/notesMasters/notesMaster1.xml" Id="R8392743ba1e84b7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27d34558a114e53" /><Relationship Type="http://schemas.openxmlformats.org/officeDocument/2006/relationships/notesMaster" Target="/ppt/notesMasters/notesMaster1.xml" Id="R43207744a71945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788e8e7a12e4432" /><Relationship Type="http://schemas.openxmlformats.org/officeDocument/2006/relationships/notesMaster" Target="/ppt/notesMasters/notesMaster1.xml" Id="R60f265a394ce42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79af8248f5f4f5d" /><Relationship Type="http://schemas.openxmlformats.org/officeDocument/2006/relationships/notesMaster" Target="/ppt/notesMasters/notesMaster1.xml" Id="R34e0b1f326284f0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daf4e7a4eb9469b" /><Relationship Type="http://schemas.openxmlformats.org/officeDocument/2006/relationships/notesMaster" Target="/ppt/notesMasters/notesMaster1.xml" Id="Re698a7187157463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8acf86dea2f41a1" /><Relationship Type="http://schemas.openxmlformats.org/officeDocument/2006/relationships/notesMaster" Target="/ppt/notesMasters/notesMaster1.xml" Id="Re51f5313c2e449c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47c7b909904228" /><Relationship Type="http://schemas.openxmlformats.org/officeDocument/2006/relationships/notesMaster" Target="/ppt/notesMasters/notesMaster1.xml" Id="R89f6cb5d03bf4b0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7d14eb8d104beb" /><Relationship Type="http://schemas.openxmlformats.org/officeDocument/2006/relationships/notesMaster" Target="/ppt/notesMasters/notesMaster1.xml" Id="Rbcfcf577b90c44a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88800b8a4694a81" /><Relationship Type="http://schemas.openxmlformats.org/officeDocument/2006/relationships/notesMaster" Target="/ppt/notesMasters/notesMaster1.xml" Id="Rf1d6c2f353af408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0e81824c3ad4361" /><Relationship Type="http://schemas.openxmlformats.org/officeDocument/2006/relationships/notesMaster" Target="/ppt/notesMasters/notesMaster1.xml" Id="Rabf053bd643f41b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e055c1a8a3432e" /><Relationship Type="http://schemas.openxmlformats.org/officeDocument/2006/relationships/notesMaster" Target="/ppt/notesMasters/notesMaster1.xml" Id="R61ee3d6dd59c47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project is Inference Optimization. The goal is to improve how GPU resources support complete inference while meeting response-time targets. We have completed two studies on an A100 40 GB: CUDA graph configuration and request admission during a long-prompt burst.</a:t>
            </a:r>
          </a:p>
          <a:p xmlns:a="http://schemas.openxmlformats.org/drawingml/2006/main">
            <a:r>
              <a:t/>
            </a:r>
          </a:p>
          <a:p xmlns:a="http://schemas.openxmlformats.org/drawingml/2006/main">
            <a:r>
              <a:t>Neither study establishes a better optimization algorithm. They give us measured baselines, unsuccessful settings and a reproducible workload. We now extend this work by investigating where capacity remains unused and whether a targeted change can recover some of it.</a:t>
            </a:r>
          </a:p>
          <a:p xmlns:a="http://schemas.openxmlformats.org/drawingml/2006/main">
            <a:r>
              <a:t/>
            </a:r>
          </a:p>
          <a:p xmlns:a="http://schemas.openxmlformats.org/drawingml/2006/main">
            <a:r>
              <a:t>The presentation distinguishes published research, self-reported industry evidence, our own measurements and the next hypothesis. Admission remains one possible mechanism. Profiling will guide the choice.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broad research question is which limits to GPU utilization we can reduce to improve LLM throughput while meeting latency targets. Our initial admission question remains part of this: can better admission decisions improve SLO goodput during long-prompt bursts?</a:t>
            </a:r>
          </a:p>
          <a:p xmlns:a="http://schemas.openxmlformats.org/drawingml/2006/main">
            <a:r>
              <a:t/>
            </a:r>
          </a:p>
          <a:p xmlns:a="http://schemas.openxmlformats.org/drawingml/2006/main">
            <a:r>
              <a:t>The new extension investigates the cause of a performance limit before choosing its remedy. Possible mechanisms include scheduling and batching, coordination between CPU and GPU, or execution inside a kernel. We have not selected a winning mechanism.</a:t>
            </a:r>
          </a:p>
          <a:p xmlns:a="http://schemas.openxmlformats.org/drawingml/2006/main">
            <a:r>
              <a:t/>
            </a:r>
          </a:p>
          <a:p xmlns:a="http://schemas.openxmlformats.org/drawingml/2006/main">
            <a:r>
              <a:t>Our hypothesis is that a measured bottleneck can sometimes be reduced enough to improve complete serving performance. An alternative outcome is that the workload already reaches a memory, compute or latency limit that the chosen change cannot improve.</a:t>
            </a:r>
          </a:p>
          <a:p xmlns:a="http://schemas.openxmlformats.org/drawingml/2006/main">
            <a:r>
              <a:t/>
            </a:r>
          </a:p>
          <a:p xmlns:a="http://schemas.openxmlformats.org/drawingml/2006/main">
            <a:r>
              <a:t>SLO goodput counts requests meeting both targets divided by replay and drain duration. It remains an outcome measure alongside output tokens per second. Hardware profiling is needed to explain a claimed change in GPU efficiency.</a:t>
            </a:r>
          </a:p>
          <a:p xmlns:a="http://schemas.openxmlformats.org/drawingml/2006/main">
            <a:r>
              <a:t/>
            </a:r>
          </a:p>
          <a:p xmlns:a="http://schemas.openxmlformats.org/drawingml/2006/main">
            <a:r>
              <a:t>Research scope: https://github.com/nileshsarkar-ai/Inference-Optimization/blob/master/outputs/Research_Question.md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contains results from other researchers. For each paper, I will explain the objective, the experimental setup, the axes and the result.</a:t>
            </a:r>
          </a:p>
          <a:p xmlns:a="http://schemas.openxmlformats.org/drawingml/2006/main">
            <a:r>
              <a:t/>
            </a:r>
          </a:p>
          <a:p xmlns:a="http://schemas.openxmlformats.org/drawingml/2006/main">
            <a:r>
              <a:t>Their results provide background for our investigation. They are not results from our GPU, and their headline gains cannot be compared directly because the hardware, models and workloads differ.</a:t>
            </a:r>
          </a:p>
          <a:p xmlns:a="http://schemas.openxmlformats.org/drawingml/2006/main">
            <a:r>
              <a:t/>
            </a:r>
          </a:p>
          <a:p xmlns:a="http://schemas.openxmlformats.org/drawingml/2006/main">
            <a:r>
              <a:t>The section also includes Tensormux and TensorPath, which are industry projects rather than peer-reviewed papers. Their reported results have narrower meanings than a general GPU-utilization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literature shows several different places where inference can be improved. SOLA studies request scheduling and the amount of work performed in each iteration. DuetServe studies how prompt processing and output generation share GPU execution resources. Prism studies how recommendation inference uses CPU and GPU resources across machines.</a:t>
            </a:r>
          </a:p>
          <a:p xmlns:a="http://schemas.openxmlformats.org/drawingml/2006/main">
            <a:r>
              <a:t/>
            </a:r>
          </a:p>
          <a:p xmlns:a="http://schemas.openxmlformats.org/drawingml/2006/main">
            <a:r>
              <a:t>We selected these examples to understand why a GPU utilization problem may come from scheduling, execution overlap or another part of the system. This is a map of selected approaches, not a claim that one system wins every benchmark.</a:t>
            </a:r>
          </a:p>
          <a:p xmlns:a="http://schemas.openxmlformats.org/drawingml/2006/main">
            <a:r>
              <a:t/>
            </a:r>
          </a:p>
          <a:p xmlns:a="http://schemas.openxmlformats.org/drawingml/2006/main">
            <a:r>
              <a:t>The next three slides each show an original published figure with its own conditions.</a:t>
            </a:r>
          </a:p>
          <a:p xmlns:a="http://schemas.openxmlformats.org/drawingml/2006/main">
            <a:r>
              <a:t/>
            </a:r>
          </a:p>
          <a:p xmlns:a="http://schemas.openxmlformats.org/drawingml/2006/main">
            <a:r>
              <a:t>Sources: SOLA https://proceedings.mlsys.org/paper_files/paper/2025/file/bc82dbfbfa43232be85b8d9838f49c3e-Paper-Conference.pdf</a:t>
            </a:r>
          </a:p>
          <a:p xmlns:a="http://schemas.openxmlformats.org/drawingml/2006/main">
            <a:r>
              <a:t>DuetServe https://pages.cs.wisc.edu/~markhill/papers/icml2026_DuetServe.pdf</a:t>
            </a:r>
          </a:p>
          <a:p xmlns:a="http://schemas.openxmlformats.org/drawingml/2006/main">
            <a:r>
              <a:t>Prism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SOLA tries to increase the proportion of requests meeting response-time targets. It uses request and system state to change execution order and work per iteration.</a:t>
            </a:r>
          </a:p>
          <a:p xmlns:a="http://schemas.openxmlformats.org/drawingml/2006/main">
            <a:r>
              <a:t/>
            </a:r>
          </a:p>
          <a:p xmlns:a="http://schemas.openxmlformats.org/drawingml/2006/main">
            <a:r>
              <a:t>Read the two panels from left to right: the paper's vLLM baseline and SOLA. Each point is a request. Moving right means waiting longer for the first token. Moving up means more time per output token. The shaded lower-left region meets both targets.</a:t>
            </a:r>
          </a:p>
          <a:p xmlns:a="http://schemas.openxmlformats.org/drawingml/2006/main">
            <a:r>
              <a:t/>
            </a:r>
          </a:p>
          <a:p xmlns:a="http://schemas.openxmlformats.org/drawingml/2006/main">
            <a:r>
              <a:t>In this Llama3-70B test on four A100 GPUs, the reported attainment increases from 65% to 98%. This supports investigating state-aware scheduling, but it does not establish the same gain on our model or newer vLLM version.</a:t>
            </a:r>
          </a:p>
          <a:p xmlns:a="http://schemas.openxmlformats.org/drawingml/2006/main">
            <a:r>
              <a:t/>
            </a:r>
          </a:p>
          <a:p xmlns:a="http://schemas.openxmlformats.org/drawingml/2006/main">
            <a:r>
              <a:t>Source, Figure 1: https://proceedings.mlsys.org/paper_files/paper/2025/file/bc82dbfbfa43232be85b8d9838f49c3e-Paper-Conference.pdf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DuetServe aims to keep token generation progressing while prompt processing also uses the GPU. It adaptively shares execution resources between these phases.</a:t>
            </a:r>
          </a:p>
          <a:p xmlns:a="http://schemas.openxmlformats.org/drawingml/2006/main">
            <a:r>
              <a:t/>
            </a:r>
          </a:p>
          <a:p xmlns:a="http://schemas.openxmlformats.org/drawingml/2006/main">
            <a:r>
              <a:t>The horizontal axis is the incoming request rate, called QPS. The vertical axis is the rate of completed requests. The orange curve is DuetServe. The panel uses AzureCode requests and Qwen3-8B on one H100 80 GB.</a:t>
            </a:r>
          </a:p>
          <a:p xmlns:a="http://schemas.openxmlformats.org/drawingml/2006/main">
            <a:r>
              <a:t/>
            </a:r>
          </a:p>
          <a:p xmlns:a="http://schemas.openxmlformats.org/drawingml/2006/main">
            <a:r>
              <a:t>At sixteen incoming requests per second, section 5.2 reports 13.57 completed requests per second for DuetServe and 12.43 for SGLang-Default. The 9.2 percent difference is our calculation from those reported values. This is throughput, not an SLO-attainment percentage. The paper also discusses a first-token versus later-token latency tradeoff.</a:t>
            </a:r>
          </a:p>
          <a:p xmlns:a="http://schemas.openxmlformats.org/drawingml/2006/main">
            <a:r>
              <a:t/>
            </a:r>
          </a:p>
          <a:p xmlns:a="http://schemas.openxmlformats.org/drawingml/2006/main">
            <a:r>
              <a:t>Source, Figure 6 and section 5.2: https://pages.cs.wisc.edu/~markhill/papers/icml2026_DuetServe.pdf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Prism shows that inference efficiency also matters outside language models. Recommendation models can need substantial CPU work and memory, which limits how much of a GPU node can be used.</a:t>
            </a:r>
          </a:p>
          <a:p xmlns:a="http://schemas.openxmlformats.org/drawingml/2006/main">
            <a:r>
              <a:t/>
            </a:r>
          </a:p>
          <a:p xmlns:a="http://schemas.openxmlformats.org/drawingml/2006/main">
            <a:r>
              <a:t>The graph compares two recommendation models. Different bars represent different deployments. In Prism's labels, the two numbers count CPU-side and GPU-side inference instances. Taller bars mean more goodput under the paper's twenty-five-millisecond latency condition.</a:t>
            </a:r>
          </a:p>
          <a:p xmlns:a="http://schemas.openxmlformats.org/drawingml/2006/main">
            <a:r>
              <a:t/>
            </a:r>
          </a:p>
          <a:p xmlns:a="http://schemas.openxmlformats.org/drawingml/2006/main">
            <a:r>
              <a:t>The reported five-to-nine-times gains use added CPU nodes. The nine-times case also partitions GPUs with MIG. Therefore this is evidence about resource balance, not a claim that unchanged total hardware became nine times faster. It does not validate our admission rule beyond language models.</a:t>
            </a:r>
          </a:p>
          <a:p xmlns:a="http://schemas.openxmlformats.org/drawingml/2006/main">
            <a:r>
              <a:t/>
            </a:r>
          </a:p>
          <a:p xmlns:a="http://schemas.openxmlformats.org/drawingml/2006/main">
            <a:r>
              <a:t>Source, Figure 17 and section 5.3: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Tensormux works above inference engines and distributes requests among replicas. Its commercial platform describes scaling and cache features, while the public gateway implements routing, failover and observability and explicitly excludes engine-level batching and GPU scheduling.</a:t>
            </a:r>
          </a:p>
          <a:p xmlns:a="http://schemas.openxmlformats.org/drawingml/2006/main">
            <a:r>
              <a:t/>
            </a:r>
          </a:p>
          <a:p xmlns:a="http://schemas.openxmlformats.org/drawingml/2006/main">
            <a:r>
              <a:t>The table reproduces the company's reported first-token latency values. Lower is better. All five fit its declared target, with nearly equal throughput. The uniform workload offers little routing advantage. Autoscaling was disabled. The report does not specify a hardware counter for its utilization percentage.</a:t>
            </a:r>
          </a:p>
          <a:p xmlns:a="http://schemas.openxmlformats.org/drawingml/2006/main">
            <a:r>
              <a:t/>
            </a:r>
          </a:p>
          <a:p xmlns:a="http://schemas.openxmlformats.org/drawingml/2006/main">
            <a:r>
              <a:t>For our project, the relevant idea is to examine where requests wait and how work is assigned. This study does not demonstrate a before/after recovery of unused capacity, and it is not a benchmark against our single A100 setup. The website's forty-percent GPU-spend figure is labeled a directional target, not an established improvement.</a:t>
            </a:r>
          </a:p>
          <a:p xmlns:a="http://schemas.openxmlformats.org/drawingml/2006/main">
            <a:r>
              <a:t/>
            </a:r>
          </a:p>
          <a:p xmlns:a="http://schemas.openxmlformats.org/drawingml/2006/main">
            <a:r>
              <a:t>Benchmark, Table 1: https://www.tensormux.com/blogs/sla-benchmark</a:t>
            </a:r>
          </a:p>
          <a:p xmlns:a="http://schemas.openxmlformats.org/drawingml/2006/main">
            <a:r>
              <a:t>Platform claims: https://www.tensormux.com/</a:t>
            </a:r>
          </a:p>
          <a:p xmlns:a="http://schemas.openxmlformats.org/drawingml/2006/main">
            <a:r>
              <a:t>Open-source scope: https://github.com/KrxGu/Tensormux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TensorPath is a separate project in the Tensormux ecosystem. Its Forge component generates Triton kernels and checks correctness and execution time against a reference. RMSNorm is an operation that normalizes intermediate model activations.</a:t>
            </a:r>
          </a:p>
          <a:p xmlns:a="http://schemas.openxmlformats.org/drawingml/2006/main">
            <a:r>
              <a:t/>
            </a:r>
          </a:p>
          <a:p xmlns:a="http://schemas.openxmlformats.org/drawingml/2006/main">
            <a:r>
              <a:t>The displayed speedup applies to a single RMSNorm implementation against PyTorch eager, on the listed GPU, shape and precision. It does not imply the same speedup for a full model. The repository states that runtime integration remains future work.</a:t>
            </a:r>
          </a:p>
          <a:p xmlns:a="http://schemas.openxmlformats.org/drawingml/2006/main">
            <a:r>
              <a:t/>
            </a:r>
          </a:p>
          <a:p xmlns:a="http://schemas.openxmlformats.org/drawingml/2006/main">
            <a:r>
              <a:t>Our graph experiment measured complete generation using the serving engine, so the experiment units differ. We would first identify an expensive operation in the actual engine and use its existing optimized implementation as the baseline. A faster isolated kernel matters to this research only if integration improves complete inference without violating correctness and latency requirements.</a:t>
            </a:r>
          </a:p>
          <a:p xmlns:a="http://schemas.openxmlformats.org/drawingml/2006/main">
            <a:r>
              <a:t/>
            </a:r>
          </a:p>
          <a:p xmlns:a="http://schemas.openxmlformats.org/drawingml/2006/main">
            <a:r>
              <a:t>TensorPath README, Forge results and integration scope: https://github.com/tensormux/Tensorpath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this point, the experiments and measurements are our own. We used one rented A100 40 GB GPU and saved the code, inputs, configurations and outputs.</a:t>
            </a:r>
          </a:p>
          <a:p xmlns:a="http://schemas.openxmlformats.org/drawingml/2006/main">
            <a:r>
              <a:t/>
            </a:r>
          </a:p>
          <a:p xmlns:a="http://schemas.openxmlformats.org/drawingml/2006/main">
            <a:r>
              <a:t>There are two different studies. The first changes CUDA-graph capture sizes on five models. The second changes when requests enter vLLM during a burst, using Gemma 4 12B. They answer different questions and their throughput numbers should not be directly compared.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system we actually used. All experiments ran on the same A100 PCIe 40 GB GPU, with BF16 precision and one GPU per model. The table records the installed software versions. CPU model and total host RAM were not reliably recorded, so we do not claim those specifications.</a:t>
            </a:r>
          </a:p>
          <a:p xmlns:a="http://schemas.openxmlformats.org/drawingml/2006/main">
            <a:r>
              <a:t/>
            </a:r>
          </a:p>
          <a:p xmlns:a="http://schemas.openxmlformats.org/drawingml/2006/main">
            <a:r>
              <a:t>Throughput counts output tokens per second. SLO goodput counts requests that meet both response-time targets per second. In the scheduling study, the denominator includes replaying arrivals and finishing outstanding work.</a:t>
            </a:r>
          </a:p>
          <a:p xmlns:a="http://schemas.openxmlformats.org/drawingml/2006/main">
            <a:r>
              <a:t/>
            </a:r>
          </a:p>
          <a:p xmlns:a="http://schemas.openxmlformats.org/drawingml/2006/main">
            <a:r>
              <a:t>GPU busy time comes from NVIDIA telemetry. It reports time with a kernel running, not achieved compute efficiency. More VRAM occupied is not itself a performance improvement.</a:t>
            </a:r>
          </a:p>
          <a:p xmlns:a="http://schemas.openxmlformats.org/drawingml/2006/main">
            <a:r>
              <a:t/>
            </a:r>
          </a:p>
          <a:p xmlns:a="http://schemas.openxmlformats.org/drawingml/2006/main">
            <a:r>
              <a:t>Additional settings: NVIDIA driver 595.58.03, Transformers 5.16.1, engine memory fraction 0.85, maximum 128 sequences, 4096 batched tokens, prefix cache off and chunked prefill on. Capture maximum context is 512; scheduling maximum context is 4096.</a:t>
            </a:r>
          </a:p>
          <a:p xmlns:a="http://schemas.openxmlformats.org/drawingml/2006/main">
            <a:r>
              <a:t/>
            </a:r>
          </a:p>
          <a:p xmlns:a="http://schemas.openxmlformats.org/drawingml/2006/main">
            <a:r>
              <a:t>Evidence: https://github.com/nileshsarkar-ai/Inference-Optimization/blob/master/outputs/Experiment_Inventory.md</a:t>
            </a:r>
          </a:p>
          <a:p xmlns:a="http://schemas.openxmlformats.org/drawingml/2006/main">
            <a:r>
              <a:t>Metric: https://docs.nvidia.com/deploy/nvml-api/structnvmlUtilization__t.html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with a bounded execution-setting experiment before designing a scheduler. CUDA graphs record GPU operations so they can be replayed. A captured size that does not fit the workload exactly can involve padding, while storing many graphs has a memory cost.</a:t>
            </a:r>
          </a:p>
          <a:p xmlns:a="http://schemas.openxmlformats.org/drawingml/2006/main">
            <a:r>
              <a:t/>
            </a:r>
          </a:p>
          <a:p xmlns:a="http://schemas.openxmlformats.org/drawingml/2006/main">
            <a:r>
              <a:t>We compared the engine's default set, a coarse set and a set including our exact tested batch sizes. Everything else was held fixed within each model. Each request had 128 input and 128 output tokens. We timed eight batch sizes with three warmed repetitions for each configuration.</a:t>
            </a:r>
          </a:p>
          <a:p xmlns:a="http://schemas.openxmlformats.org/drawingml/2006/main">
            <a:r>
              <a:t/>
            </a:r>
          </a:p>
          <a:p xmlns:a="http://schemas.openxmlformats.org/drawingml/2006/main">
            <a:r>
              <a:t>A fresh engine process was used per configuration, but configuration order was fixed. The repetitions within a configuration are not independent process repetitions. Timing includes prompt processing and host work. The separate profiler runs are excluded.</a:t>
            </a:r>
          </a:p>
          <a:p xmlns:a="http://schemas.openxmlformats.org/drawingml/2006/main">
            <a:r>
              <a:t/>
            </a:r>
          </a:p>
          <a:p xmlns:a="http://schemas.openxmlformats.org/drawingml/2006/main">
            <a:r>
              <a:t>Why this experiment: it tests whether an accessible execution setting leaves a useful improvement before adding queueing logic.</a:t>
            </a:r>
          </a:p>
          <a:p xmlns:a="http://schemas.openxmlformats.org/drawingml/2006/main">
            <a:r>
              <a:t/>
            </a:r>
          </a:p>
          <a:p xmlns:a="http://schemas.openxmlformats.org/drawingml/2006/main">
            <a:r>
              <a:t>Protocol: https://github.com/nileshsarkar-ai/Inference-Optimization/blob/master/outputs/model_suite/README.md</a:t>
            </a:r>
          </a:p>
          <a:p xmlns:a="http://schemas.openxmlformats.org/drawingml/2006/main">
            <a:r>
              <a:t>Engineering background: https://nvidia.github.io/TensorRT-LLM/latest/blogs/tech_blog/blog20_Tuning_CUDA_Graph_Batch_Sizes_for_Higher_Output_Throughput.html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study introduces changing arrivals and queueing, which the fixed-batch experiment does not test. We replay the same short-long-short request trace for each policy within a repetition.</a:t>
            </a:r>
          </a:p>
          <a:p xmlns:a="http://schemas.openxmlformats.org/drawingml/2006/main">
            <a:r>
              <a:t/>
            </a:r>
          </a:p>
          <a:p xmlns:a="http://schemas.openxmlformats.org/drawingml/2006/main">
            <a:r>
              <a:t>Direct submission lets vLLM receive each request on arrival. Fixed 32 adds a FIFO gate. The candidate reserves input length plus the known 128-token output budget, with at most twenty thousand estimated tokens admitted. This is a token heuristic, not actual measured compute cost or live KV bytes.</a:t>
            </a:r>
          </a:p>
          <a:p xmlns:a="http://schemas.openxmlformats.org/drawingml/2006/main">
            <a:r>
              <a:t/>
            </a:r>
          </a:p>
          <a:p xmlns:a="http://schemas.openxmlformats.org/drawingml/2006/main">
            <a:r>
              <a:t>Our targets are a first token within two seconds and mean subsequent-token time within one hundred milliseconds. All waiting counts from the scheduled arrival. Three independent engine processes each run all policies, with rotated policy order. Every request completes before moving to the next policy.</a:t>
            </a:r>
          </a:p>
          <a:p xmlns:a="http://schemas.openxmlformats.org/drawingml/2006/main">
            <a:r>
              <a:t/>
            </a:r>
          </a:p>
          <a:p xmlns:a="http://schemas.openxmlformats.org/drawingml/2006/main">
            <a:r>
              <a:t>The declared success criterion requires at least five percent more goodput than both controls in every paired repetition, without worsening p99 first-token delay or p99 stream gap. A p99 is a ninety-ninth-percentile value.</a:t>
            </a:r>
          </a:p>
          <a:p xmlns:a="http://schemas.openxmlformats.org/drawingml/2006/main">
            <a:r>
              <a:t/>
            </a:r>
          </a:p>
          <a:p xmlns:a="http://schemas.openxmlformats.org/drawingml/2006/main">
            <a:r>
              <a:t>Protocol: https://github.com/nileshsarkar-ai/Inference-Optimization/blob/master/outputs/scheduling_validation/PROTOCOL.md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following graphs are our measurements, taken from the saved experiment records. The CUDA-graph comparison comes first, followed by the request-admission comparison.</a:t>
            </a:r>
          </a:p>
          <a:p xmlns:a="http://schemas.openxmlformats.org/drawingml/2006/main">
            <a:r>
              <a:t/>
            </a:r>
          </a:p>
          <a:p xmlns:a="http://schemas.openxmlformats.org/drawingml/2006/main">
            <a:r>
              <a:t>The chart points show actual repetitions. The lines or diamonds show calculated means. We will separate what was observed from what it suggests, and we will not describe the unsuccessful candidate as an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panels show Gemma 4 12B, Qwen3.5-9B and Gemma 4 E4B. The horizontal axis is the number of requests submitted in a fixed batch. The vertical axis is generated output tokens per second. Compare configurations within each panel because the vertical ranges differ.</a:t>
            </a:r>
          </a:p>
          <a:p xmlns:a="http://schemas.openxmlformats.org/drawingml/2006/main">
            <a:r>
              <a:t/>
            </a:r>
          </a:p>
          <a:p xmlns:a="http://schemas.openxmlformats.org/drawingml/2006/main">
            <a:r>
              <a:t>Black shows vLLM's default capture sizes, blue the exact matched set and gray the coarse grid. Every recorded repeat appears as a point, and lines connect the means. Closely overlapping points are expected.</a:t>
            </a:r>
          </a:p>
          <a:p xmlns:a="http://schemas.openxmlformats.org/drawingml/2006/main">
            <a:r>
              <a:t/>
            </a:r>
          </a:p>
          <a:p xmlns:a="http://schemas.openxmlformats.org/drawingml/2006/main">
            <a:r>
              <a:t>Matched settings differ from default by approximately minus 0.6 to plus 0.3 percent. This study does not establish a useful gain from manual matching. Coarse grids lose up to 3.8 percent. Gemma 12B throughput falls at the largest batches, but high KV occupancy in logs does not prove the cause.</a:t>
            </a:r>
          </a:p>
          <a:p xmlns:a="http://schemas.openxmlformats.org/drawingml/2006/main">
            <a:r>
              <a:t/>
            </a:r>
          </a:p>
          <a:p xmlns:a="http://schemas.openxmlformats.org/drawingml/2006/main">
            <a:r>
              <a:t>The peaks label the best tested default batch for each model. They are not general model benchmarks or online serving capacity.</a:t>
            </a:r>
          </a:p>
          <a:p xmlns:a="http://schemas.openxmlformats.org/drawingml/2006/main">
            <a:r>
              <a:t/>
            </a:r>
          </a:p>
          <a:p xmlns:a="http://schemas.openxmlformats.org/drawingml/2006/main">
            <a:r>
              <a:t>Measurements: https://github.com/nileshsarkar-ai/Inference-Optimization/tree/master/outputs/current_model_summary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retained our earlier Qwen2.5 controls. They use the same batch-size and capture-size comparison, with all 144 recorded timing calls shown.</a:t>
            </a:r>
          </a:p>
          <a:p xmlns:a="http://schemas.openxmlformats.org/drawingml/2006/main">
            <a:r>
              <a:t/>
            </a:r>
          </a:p>
          <a:p xmlns:a="http://schemas.openxmlformats.org/drawingml/2006/main">
            <a:r>
              <a:t>Read the axes and colors the same way as the previous slide. The smaller model achieves more tokens per second in these tests, but the purpose here is the configuration comparison within a model. These are older controls and are not presented as the newest available models.</a:t>
            </a:r>
          </a:p>
          <a:p xmlns:a="http://schemas.openxmlformats.org/drawingml/2006/main">
            <a:r>
              <a:t/>
            </a:r>
          </a:p>
          <a:p xmlns:a="http://schemas.openxmlformats.org/drawingml/2006/main">
            <a:r>
              <a:t>The five-model coverage applies to the CUDA-graph study. It does not mean that the scheduling candidate has been evaluated on five models. Scheduling was tested on Gemma 4 12B only.</a:t>
            </a:r>
          </a:p>
          <a:p xmlns:a="http://schemas.openxmlformats.org/drawingml/2006/main">
            <a:r>
              <a:t/>
            </a:r>
          </a:p>
          <a:p xmlns:a="http://schemas.openxmlformats.org/drawingml/2006/main">
            <a:r>
              <a:t>Raw records: https://github.com/nileshsarkar-ai/Inference-Optimization/tree/master/outputs/experiment_data</a:t>
            </a:r>
          </a:p>
          <a:p xmlns:a="http://schemas.openxmlformats.org/drawingml/2006/main">
            <a:r>
              <a:t>https://github.com/nileshsarkar-ai/Inference-Optimization/tree/master/outputs/experiment_data_qwen7b_complete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four performance measures for our scheduling comparison. Each point represents a policy in one independent engine repetition, and each diamond is its mean. Some points overlap.</a:t>
            </a:r>
          </a:p>
          <a:p xmlns:a="http://schemas.openxmlformats.org/drawingml/2006/main">
            <a:r>
              <a:t/>
            </a:r>
          </a:p>
          <a:p xmlns:a="http://schemas.openxmlformats.org/drawingml/2006/main">
            <a:r>
              <a:t>The upper-left panel is SLO goodput: requests meeting both latency targets per second, where higher is better. The upper-right is total generated tokens per second. The lower-left is first-token tail latency, where lower is better. The lower-right is the GPU-busy percentage.</a:t>
            </a:r>
          </a:p>
          <a:p xmlns:a="http://schemas.openxmlformats.org/drawingml/2006/main">
            <a:r>
              <a:t/>
            </a:r>
          </a:p>
          <a:p xmlns:a="http://schemas.openxmlformats.org/drawingml/2006/main">
            <a:r>
              <a:t>The context-budget rule performs worse on SLO goodput and output throughput and increases first-token delay. Yet GPU busy time is near one hundred percent for every policy. This shows why that percentage alone is an inadequate optimization target.</a:t>
            </a:r>
          </a:p>
          <a:p xmlns:a="http://schemas.openxmlformats.org/drawingml/2006/main">
            <a:r>
              <a:t/>
            </a:r>
          </a:p>
          <a:p xmlns:a="http://schemas.openxmlformats.org/drawingml/2006/main">
            <a:r>
              <a:t>These are timed burst workloads. Do not compare the tokens-per-second values directly against the fixed-batch graphs as a performance regression because the inputs, arrival behavior and timing procedure differ.</a:t>
            </a:r>
          </a:p>
          <a:p xmlns:a="http://schemas.openxmlformats.org/drawingml/2006/main">
            <a:r>
              <a:t/>
            </a:r>
          </a:p>
          <a:p xmlns:a="http://schemas.openxmlformats.org/drawingml/2006/main">
            <a:r>
              <a:t>Data: https://github.com/nileshsarkar-ai/Inference-Optimization/blob/master/outputs/scheduling_results/analysis/validation.json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the means behind the scheduling graphs. Default vLLM produces about 2.588 requests meeting the latency targets per second, compared with 2.013 for the context-budget rule. Across paired repetitions, the rule reduces SLO goodput by twenty to twenty-four percent. The latency column averages each run's p99; it is not a percentile pooled across all requests.</a:t>
            </a:r>
          </a:p>
          <a:p xmlns:a="http://schemas.openxmlformats.org/drawingml/2006/main">
            <a:r>
              <a:t/>
            </a:r>
          </a:p>
          <a:p xmlns:a="http://schemas.openxmlformats.org/drawingml/2006/main">
            <a:r>
              <a:t>We established two observations under these test conditions. Near-one-hundred-percent GPU busy time coexists with requests missing their latency targets. Also, our first context-budget admission rule performs worse than default vLLM. GPU activity alone therefore does not tell us how much timely service the system provides.</a:t>
            </a:r>
          </a:p>
          <a:p xmlns:a="http://schemas.openxmlformats.org/drawingml/2006/main">
            <a:r>
              <a:t/>
            </a:r>
          </a:p>
          <a:p xmlns:a="http://schemas.openxmlformats.org/drawingml/2006/main">
            <a:r>
              <a:t>The phase analysis identifies the burst-recovery problem. All ninety-six initial short requests meet the targets, while none of the ninety-six short requests after the long burst meet them in any policy or repetition. Similar numbers pass across policies, but the candidate takes longer to drain the workload, which explains much of its lower SLO goodput.</a:t>
            </a:r>
          </a:p>
          <a:p xmlns:a="http://schemas.openxmlformats.org/drawingml/2006/main">
            <a:r>
              <a:t/>
            </a:r>
          </a:p>
          <a:p xmlns:a="http://schemas.openxmlformats.org/drawingml/2006/main">
            <a:r>
              <a:t>These results reject this tested setting. They do not isolate the causal bottleneck or establish sustainable capacity at eight requests per second.</a:t>
            </a:r>
          </a:p>
          <a:p xmlns:a="http://schemas.openxmlformats.org/drawingml/2006/main">
            <a:r>
              <a:t/>
            </a:r>
          </a:p>
          <a:p xmlns:a="http://schemas.openxmlformats.org/drawingml/2006/main">
            <a:r>
              <a:t>Results: https://github.com/nileshsarkar-ai/Inference-Optimization/blob/master/outputs/scheduling_results/analysis/validation.json</a:t>
            </a:r>
          </a:p>
          <a:p xmlns:a="http://schemas.openxmlformats.org/drawingml/2006/main">
            <a:r>
              <a:t>Phase analysis: https://github.com/nileshsarkar-ai/Inference-Optimization/blob/master/outputs/scheduling_results/analysis/phase_diagnostics.json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completed experiments examine different levels of serving. The graph study tested one execution configuration, while the admission study tested how requests enter vLLM. Neither is a direct reproduction of Tensormux or TensorPath.</a:t>
            </a:r>
          </a:p>
          <a:p xmlns:a="http://schemas.openxmlformats.org/drawingml/2006/main">
            <a:r>
              <a:t/>
            </a:r>
          </a:p>
          <a:p xmlns:a="http://schemas.openxmlformats.org/drawingml/2006/main">
            <a:r>
              <a:t>The connection is methodological. Tensormux motivates examining request distribution and waiting. TensorPath motivates examining operation execution cost. Our work starts with a fixed model on one GPU so changes can be evaluated against the same engine and workload.</a:t>
            </a:r>
          </a:p>
          <a:p xmlns:a="http://schemas.openxmlformats.org/drawingml/2006/main">
            <a:r>
              <a:t/>
            </a:r>
          </a:p>
          <a:p xmlns:a="http://schemas.openxmlformats.org/drawingml/2006/main">
            <a:r>
              <a:t>The graph study found no established benefit from manually matching capture sizes on the three current models. The context-budget gate reduced goodput by twenty to twenty-four percent even though NVML busy time stayed close to one hundred percent. This motivates investigating the bottleneck, but it does not prove that recoverable spare capacity exists under every tested load.</a:t>
            </a:r>
          </a:p>
          <a:p xmlns:a="http://schemas.openxmlformats.org/drawingml/2006/main">
            <a:r>
              <a:t/>
            </a:r>
          </a:p>
          <a:p xmlns:a="http://schemas.openxmlformats.org/drawingml/2006/main">
            <a:r>
              <a:t>The earlier forty-seven-percent example was illustrative. We did not measure a fifty-three-percent overhead budget. NVML busy time measures kernel activity, while achieved compute and memory throughput require other counters. These percentages have different denominators and must not be subtracted or compared as if they were the same quantity.</a:t>
            </a:r>
          </a:p>
          <a:p xmlns:a="http://schemas.openxmlformats.org/drawingml/2006/main">
            <a:r>
              <a:t/>
            </a:r>
          </a:p>
          <a:p xmlns:a="http://schemas.openxmlformats.org/drawingml/2006/main">
            <a:r>
              <a:t>Our results: https://github.com/nileshsarkar-ai/Inference-Optimization/blob/master/outputs/Results.md</a:t>
            </a:r>
          </a:p>
          <a:p xmlns:a="http://schemas.openxmlformats.org/drawingml/2006/main">
            <a:r>
              <a:t>Industry evidence: https://www.tensormux.com/blogs/sla-benchmark and https://github.com/tensormux/Tensorpath</a:t>
            </a:r>
          </a:p>
          <a:p xmlns:a="http://schemas.openxmlformats.org/drawingml/2006/main">
            <a:r>
              <a:t>NVIDIA definition: https://docs.nvidia.com/deploy/nvml-api/structnvmlUtilization__t.html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study with a diagnostic phase followed by a controlled intervention. We will retain the existing model and burst structure first, and sweep arrival rates below and near measured serving capacity. Low demand alone can leave a GPU idle, so we must determine whether pending work exists during idle intervals.</a:t>
            </a:r>
          </a:p>
          <a:p xmlns:a="http://schemas.openxmlformats.org/drawingml/2006/main">
            <a:r>
              <a:t/>
            </a:r>
          </a:p>
          <a:p xmlns:a="http://schemas.openxmlformats.org/drawingml/2006/main">
            <a:r>
              <a:t>Use Nsight Systems to relate CPU work, launches and GPU execution. Use Nsight Compute on representative expensive kernels to examine compute and memory limits. Collect these profiles separately from final timing because profiling can change execution behavior. Do not add overlapping CPU and GPU times and call the sum removable overhead.</a:t>
            </a:r>
          </a:p>
          <a:p xmlns:a="http://schemas.openxmlformats.org/drawingml/2006/main">
            <a:r>
              <a:t/>
            </a:r>
          </a:p>
          <a:p xmlns:a="http://schemas.openxmlformats.org/drawingml/2006/main">
            <a:r>
              <a:t>Select one mechanism based on that evidence. If scheduling limits ready work, an admission or batching change is a candidate. If execution dominates, a kernel or runtime change is a candidate. Cost, current state and remaining latency budget are still possible admission signals, not a committed solution. A routing intervention requires multiple replicas and would be a later extension.</a:t>
            </a:r>
          </a:p>
          <a:p xmlns:a="http://schemas.openxmlformats.org/drawingml/2006/main">
            <a:r>
              <a:t/>
            </a:r>
          </a:p>
          <a:p xmlns:a="http://schemas.openxmlformats.org/drawingml/2006/main">
            <a:r>
              <a:t>Use separate calibration traces, freeze the candidate and baseline settings, and then run unseen traces at predeclared loads in balanced independent engine repetitions. Compare the current engine, the candidate and a version with its targeted change disabled. If admission is selected, include a calibrated fixed limit and matched fairness rules. Keep model revision, precision and output accounting fixed, check correctness and count all waiting and requests.</a:t>
            </a:r>
          </a:p>
          <a:p xmlns:a="http://schemas.openxmlformats.org/drawingml/2006/main">
            <a:r>
              <a:t/>
            </a:r>
          </a:p>
          <a:p xmlns:a="http://schemas.openxmlformats.org/drawingml/2006/main">
            <a:r>
              <a:t>We seek a repeatable improvement in throughput and SLO goodput within the declared latency targets, together with evidence that the identified bottleneck decreases. A higher busy percentage alone is insufficient. No gain, or a gain restricted to one load regime, is a valid outcome. Any future generalization claim requires additional models and hardware.</a:t>
            </a:r>
          </a:p>
          <a:p xmlns:a="http://schemas.openxmlformats.org/drawingml/2006/main">
            <a:r>
              <a:t/>
            </a:r>
          </a:p>
          <a:p xmlns:a="http://schemas.openxmlformats.org/drawingml/2006/main">
            <a:r>
              <a:t>Profiling references:</a:t>
            </a:r>
          </a:p>
          <a:p xmlns:a="http://schemas.openxmlformats.org/drawingml/2006/main">
            <a:r>
              <a:t>https://docs.nvidia.com/nsight-systems/AnalysisGuide/index.html</a:t>
            </a:r>
          </a:p>
          <a:p xmlns:a="http://schemas.openxmlformats.org/drawingml/2006/main">
            <a:r>
              <a:t>https://docs.nvidia.com/nsight-compute/ProfilingGuide/index.html</a:t>
            </a:r>
          </a:p>
          <a:p xmlns:a="http://schemas.openxmlformats.org/drawingml/2006/main">
            <a:r>
              <a:t>Research protocol: https://github.com/nileshsarkar-ai/Inference-Optimization/blob/master/outputs/Research_Question.md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links identify the original published figures, official engineering documentation and our reproducibility records. The three papers discussed in detail are SOLA, DuetServe and the recommendation-serving Prism system.</a:t>
            </a:r>
          </a:p>
          <a:p xmlns:a="http://schemas.openxmlformats.org/drawingml/2006/main">
            <a:r>
              <a:t/>
            </a:r>
          </a:p>
          <a:p xmlns:a="http://schemas.openxmlformats.org/drawingml/2006/main">
            <a:r>
              <a:t>NVIDIA's graph-tuning article is an engineering report, not a peer-reviewed paper. The vLLM and NVML links document implementation behavior and metric definitions. The repository contains model and dataset revisions, the executed code, raw requests, measurements, plots and the full bibliography.</a:t>
            </a:r>
          </a:p>
          <a:p xmlns:a="http://schemas.openxmlformats.org/drawingml/2006/main">
            <a:r>
              <a:t/>
            </a:r>
          </a:p>
          <a:p xmlns:a="http://schemas.openxmlformats.org/drawingml/2006/main">
            <a:r>
              <a:t>The extension now asks which measured scheduling or execution bottlenecks are recoverable. The next slide supplies the additional industry and profiling references.</a:t>
            </a:r>
          </a:p>
          <a:p xmlns:a="http://schemas.openxmlformats.org/drawingml/2006/main">
            <a:r>
              <a:t/>
            </a:r>
          </a:p>
          <a:p xmlns:a="http://schemas.openxmlformats.org/drawingml/2006/main">
            <a:r>
              <a:t>Full references: https://github.com/nileshsarkar-ai/Inference-Optimization/blob/master/outputs/References.md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sources cover the new extension. The Tensormux website describes the commercial platform. Its benchmark supplies the reported serving measurements, and the gateway repository states the narrower scope of the open-source component. TensorPath's README supplies the operation benchmark and its integration limitations.</a:t>
            </a:r>
          </a:p>
          <a:p xmlns:a="http://schemas.openxmlformats.org/drawingml/2006/main">
            <a:r>
              <a:t/>
            </a:r>
          </a:p>
          <a:p xmlns:a="http://schemas.openxmlformats.org/drawingml/2006/main">
            <a:r>
              <a:t>The NVIDIA references define the profiling methods we propose using. None of these sources establishes that our illustrative fifty-three-percent gap exists or is removable.</a:t>
            </a:r>
          </a:p>
          <a:p xmlns:a="http://schemas.openxmlformats.org/drawingml/2006/main">
            <a:r>
              <a:t/>
            </a:r>
          </a:p>
          <a:p xmlns:a="http://schemas.openxmlformats.org/drawingml/2006/main">
            <a:r>
              <a:t>Sources checked on 9 September 2026:</a:t>
            </a:r>
          </a:p>
          <a:p xmlns:a="http://schemas.openxmlformats.org/drawingml/2006/main">
            <a:r>
              <a:t>https://www.tensormux.com/</a:t>
            </a:r>
          </a:p>
          <a:p xmlns:a="http://schemas.openxmlformats.org/drawingml/2006/main">
            <a:r>
              <a:t>https://www.tensormux.com/blogs/sla-benchmark</a:t>
            </a:r>
          </a:p>
          <a:p xmlns:a="http://schemas.openxmlformats.org/drawingml/2006/main">
            <a:r>
              <a:t>https://github.com/KrxGu/Tensormux</a:t>
            </a:r>
          </a:p>
          <a:p xmlns:a="http://schemas.openxmlformats.org/drawingml/2006/main">
            <a:r>
              <a:t>https://github.com/tensormux/Tensorpath</a:t>
            </a:r>
          </a:p>
          <a:p xmlns:a="http://schemas.openxmlformats.org/drawingml/2006/main">
            <a:r>
              <a:t>https://docs.nvidia.com/nsight-systems/AnalysisGuide/index.html</a:t>
            </a:r>
          </a:p>
          <a:p xmlns:a="http://schemas.openxmlformats.org/drawingml/2006/main">
            <a:r>
              <a:t>https://docs.nvidia.com/nsight-compute/ProfilingGuide/index.html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14cbfb5c944c8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d54243b764e48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7b5e13e92cc4d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581b82133ca4b3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c514633db6f48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ccad4474376466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df97d374d1c476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9e0bae34e65406b"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582c39158a4d2a" /><Relationship Type="http://schemas.openxmlformats.org/officeDocument/2006/relationships/slideLayout" Target="/ppt/slideLayouts/slideLayout1.xml" Id="R238daa62ce1e46d9" /><Relationship Type="http://schemas.openxmlformats.org/officeDocument/2006/relationships/slideLayout" Target="/ppt/slideLayouts/slideLayout2.xml" Id="Rdb598abb84574a74" /><Relationship Type="http://schemas.openxmlformats.org/officeDocument/2006/relationships/slideLayout" Target="/ppt/slideLayouts/slideLayout3.xml" Id="R6e58412048c44191" /><Relationship Type="http://schemas.openxmlformats.org/officeDocument/2006/relationships/slideLayout" Target="/ppt/slideLayouts/slideLayout4.xml" Id="R3c99fd7c272f449c" /><Relationship Type="http://schemas.openxmlformats.org/officeDocument/2006/relationships/slideLayout" Target="/ppt/slideLayouts/slideLayout5.xml" Id="R0d055caf31a943e2" /><Relationship Type="http://schemas.openxmlformats.org/officeDocument/2006/relationships/slideLayout" Target="/ppt/slideLayouts/slideLayout6.xml" Id="R06e8d7499375466f" /><Relationship Type="http://schemas.openxmlformats.org/officeDocument/2006/relationships/slideLayout" Target="/ppt/slideLayouts/slideLayout7.xml" Id="R9bd60f1082204d03" /><Relationship Type="http://schemas.openxmlformats.org/officeDocument/2006/relationships/slideLayout" Target="/ppt/slideLayouts/slideLayout8.xml" Id="Rcbe25cbfeb8643a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8daa62ce1e46d9"/>
    <p:sldLayoutId xmlns:r="http://schemas.openxmlformats.org/officeDocument/2006/relationships" id="2147483650" r:id="Rdb598abb84574a74"/>
    <p:sldLayoutId xmlns:r="http://schemas.openxmlformats.org/officeDocument/2006/relationships" id="2147483651" r:id="R6e58412048c44191"/>
    <p:sldLayoutId xmlns:r="http://schemas.openxmlformats.org/officeDocument/2006/relationships" id="2147483652" r:id="R3c99fd7c272f449c"/>
    <p:sldLayoutId xmlns:r="http://schemas.openxmlformats.org/officeDocument/2006/relationships" id="2147483653" r:id="R0d055caf31a943e2"/>
    <p:sldLayoutId xmlns:r="http://schemas.openxmlformats.org/officeDocument/2006/relationships" id="2147483654" r:id="R06e8d7499375466f"/>
    <p:sldLayoutId xmlns:r="http://schemas.openxmlformats.org/officeDocument/2006/relationships" id="2147483655" r:id="R9bd60f1082204d03"/>
    <p:sldLayoutId xmlns:r="http://schemas.openxmlformats.org/officeDocument/2006/relationships" id="2147483656" r:id="Rcbe25cbfeb8643ab"/>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384a706a7ec4243" /><Relationship Type="http://schemas.openxmlformats.org/officeDocument/2006/relationships/notesSlide" Target="/ppt/notesSlides/notesSlide1.xml" Id="R81265cc24a0047a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bfb9fde8374e06" /><Relationship Type="http://schemas.openxmlformats.org/officeDocument/2006/relationships/hyperlink" Target="https://github.com/nileshsarkar-ai/Inference-Optimization/blob/master/outputs/Research_Question.md" TargetMode="External" Id="R5dc162c76e8d4831" /><Relationship Type="http://schemas.openxmlformats.org/officeDocument/2006/relationships/notesSlide" Target="/ppt/notesSlides/notesSlide2.xml" Id="R8b14133e221940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3c81e5225ae4d47" /><Relationship Type="http://schemas.openxmlformats.org/officeDocument/2006/relationships/notesSlide" Target="/ppt/notesSlides/notesSlide3.xml" Id="R0466b36c8d734c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f950dd08ec947e6" /><Relationship Type="http://schemas.openxmlformats.org/officeDocument/2006/relationships/hyperlink" Target="https://proceedings.mlsys.org/paper_files/paper/2025/file/bc82dbfbfa43232be85b8d9838f49c3e-Paper-Conference.pdf" TargetMode="External" Id="Re1dcc4c24d1a429b" /><Relationship Type="http://schemas.openxmlformats.org/officeDocument/2006/relationships/hyperlink" Target="https://pages.cs.wisc.edu/~markhill/papers/icml2026_DuetServe.pdf" TargetMode="External" Id="Re154fdd42ef14e99" /><Relationship Type="http://schemas.openxmlformats.org/officeDocument/2006/relationships/hyperlink" Target="https://www.usenix.org/system/files/nsdi25-yang.pdf" TargetMode="External" Id="R81bea58fef5a44eb" /><Relationship Type="http://schemas.openxmlformats.org/officeDocument/2006/relationships/notesSlide" Target="/ppt/notesSlides/notesSlide4.xml" Id="R0492d78c3ff34b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7f9e55fb6a44307" /><Relationship Type="http://schemas.openxmlformats.org/officeDocument/2006/relationships/hyperlink" Target="https://proceedings.mlsys.org/paper_files/paper/2025/file/bc82dbfbfa43232be85b8d9838f49c3e-Paper-Conference.pdf" TargetMode="External" Id="R6995d12ec4db4ae4" /><Relationship Type="http://schemas.openxmlformats.org/officeDocument/2006/relationships/image" Target="/ppt/media/image.png" Id="R48566229824e4096" /><Relationship Type="http://schemas.openxmlformats.org/officeDocument/2006/relationships/notesSlide" Target="/ppt/notesSlides/notesSlide5.xml" Id="R7c783245453a42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780f577e894419e" /><Relationship Type="http://schemas.openxmlformats.org/officeDocument/2006/relationships/hyperlink" Target="https://pages.cs.wisc.edu/~markhill/papers/icml2026_DuetServe.pdf" TargetMode="External" Id="R2dcdea5ad6c2485b" /><Relationship Type="http://schemas.openxmlformats.org/officeDocument/2006/relationships/image" Target="/ppt/media/image2.png" Id="Rdfe18ac4f88e43e7" /><Relationship Type="http://schemas.openxmlformats.org/officeDocument/2006/relationships/image" Target="/ppt/media/image3.png" Id="R03d59866284846b1" /><Relationship Type="http://schemas.openxmlformats.org/officeDocument/2006/relationships/notesSlide" Target="/ppt/notesSlides/notesSlide6.xml" Id="R80155112b88341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80d8ee27314ff0" /><Relationship Type="http://schemas.openxmlformats.org/officeDocument/2006/relationships/hyperlink" Target="https://www.usenix.org/system/files/nsdi25-yang.pdf" TargetMode="External" Id="R4477d4baccaa4514" /><Relationship Type="http://schemas.openxmlformats.org/officeDocument/2006/relationships/image" Target="/ppt/media/image4.png" Id="Rdb1c2e814d1c4ce1" /><Relationship Type="http://schemas.openxmlformats.org/officeDocument/2006/relationships/notesSlide" Target="/ppt/notesSlides/notesSlide7.xml" Id="Rea6e4b64f8a54c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79a6baf270947ca" /><Relationship Type="http://schemas.openxmlformats.org/officeDocument/2006/relationships/hyperlink" Target="https://www.tensormux.com/blogs/sla-benchmark" TargetMode="External" Id="R80ebfd38823a41a4" /><Relationship Type="http://schemas.openxmlformats.org/officeDocument/2006/relationships/hyperlink" Target="https://www.tensormux.com/" TargetMode="External" Id="R454e46ac02e84090" /><Relationship Type="http://schemas.openxmlformats.org/officeDocument/2006/relationships/hyperlink" Target="https://github.com/KrxGu/Tensormux" TargetMode="External" Id="R4fbbf016cb8c4d60" /><Relationship Type="http://schemas.openxmlformats.org/officeDocument/2006/relationships/notesSlide" Target="/ppt/notesSlides/notesSlide8.xml" Id="R1d3482656f0441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74c365b53594643" /><Relationship Type="http://schemas.openxmlformats.org/officeDocument/2006/relationships/hyperlink" Target="https://github.com/tensormux/Tensorpath" TargetMode="External" Id="Rb159c4df7dc14b50" /><Relationship Type="http://schemas.openxmlformats.org/officeDocument/2006/relationships/notesSlide" Target="/ppt/notesSlides/notesSlide9.xml" Id="Ra9263b30683241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c657691a88842cb" /><Relationship Type="http://schemas.openxmlformats.org/officeDocument/2006/relationships/notesSlide" Target="/ppt/notesSlides/notesSlide10.xml" Id="Rcce8751788ad4a3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edca65259734f72" /><Relationship Type="http://schemas.openxmlformats.org/officeDocument/2006/relationships/hyperlink" Target="https://github.com/nileshsarkar-ai/Inference-Optimization/blob/master/outputs/Experiment_Inventory.md" TargetMode="External" Id="R893cf7fcdf49416c" /><Relationship Type="http://schemas.openxmlformats.org/officeDocument/2006/relationships/hyperlink" Target="https://docs.nvidia.com/deploy/nvml-api/structnvmlUtilization__t.html" TargetMode="External" Id="R0fbc5197d35349fd" /><Relationship Type="http://schemas.openxmlformats.org/officeDocument/2006/relationships/notesSlide" Target="/ppt/notesSlides/notesSlide11.xml" Id="R07d4e5bb58db4df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82bdd845f44c6c" /><Relationship Type="http://schemas.openxmlformats.org/officeDocument/2006/relationships/hyperlink" Target="https://github.com/nileshsarkar-ai/Inference-Optimization/blob/master/outputs/model_suite/README.md" TargetMode="External" Id="R5e7f3af5ce0d4bb8" /><Relationship Type="http://schemas.openxmlformats.org/officeDocument/2006/relationships/hyperlink" Target="https://nvidia.github.io/TensorRT-LLM/latest/blogs/tech_blog/blog20_Tuning_CUDA_Graph_Batch_Sizes_for_Higher_Output_Throughput.html" TargetMode="External" Id="Rd8e5980b5cd84441" /><Relationship Type="http://schemas.openxmlformats.org/officeDocument/2006/relationships/notesSlide" Target="/ppt/notesSlides/notesSlide12.xml" Id="Rf0fa5169e10d49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84cfdb5119f4d19" /><Relationship Type="http://schemas.openxmlformats.org/officeDocument/2006/relationships/hyperlink" Target="https://github.com/nileshsarkar-ai/Inference-Optimization/blob/master/outputs/scheduling_validation/PROTOCOL.md" TargetMode="External" Id="Rd5fbdb7cc0d74edd" /><Relationship Type="http://schemas.openxmlformats.org/officeDocument/2006/relationships/hyperlink" Target="https://wandb.ai/nileshsarkar-ai/saturatellm-feasibility" TargetMode="External" Id="R65a3044edaa6439f" /><Relationship Type="http://schemas.openxmlformats.org/officeDocument/2006/relationships/notesSlide" Target="/ppt/notesSlides/notesSlide13.xml" Id="R197e805f00c9448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6c1789d826547ef" /><Relationship Type="http://schemas.openxmlformats.org/officeDocument/2006/relationships/notesSlide" Target="/ppt/notesSlides/notesSlide14.xml" Id="R78cc408e4d044e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dfc98a95c3043a5" /><Relationship Type="http://schemas.openxmlformats.org/officeDocument/2006/relationships/hyperlink" Target="https://wandb.ai/nileshsarkar-ai/saturatellm-feasibility" TargetMode="External" Id="Rf97fe54a2c1141d8" /><Relationship Type="http://schemas.openxmlformats.org/officeDocument/2006/relationships/chart" Target="/ppt/slides/charts/chart1.xml" Id="R7faeaf0b90e3457a" /><Relationship Type="http://schemas.openxmlformats.org/officeDocument/2006/relationships/chart" Target="/ppt/slides/charts/chart2.xml" Id="Rb499f1ab5a804373" /><Relationship Type="http://schemas.openxmlformats.org/officeDocument/2006/relationships/chart" Target="/ppt/slides/charts/chart3.xml" Id="Rc22e32c170d5409c" /><Relationship Type="http://schemas.openxmlformats.org/officeDocument/2006/relationships/notesSlide" Target="/ppt/notesSlides/notesSlide15.xml" Id="Rae4bcd6cea48421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8715c46ac114d1f" /><Relationship Type="http://schemas.openxmlformats.org/officeDocument/2006/relationships/hyperlink" Target="https://wandb.ai/nileshsarkar-ai/saturatellm-feasibility" TargetMode="External" Id="R07f9b17448274073" /><Relationship Type="http://schemas.openxmlformats.org/officeDocument/2006/relationships/chart" Target="/ppt/slides/charts/chart4.xml" Id="Re9c9cb1df2074d8d" /><Relationship Type="http://schemas.openxmlformats.org/officeDocument/2006/relationships/chart" Target="/ppt/slides/charts/chart5.xml" Id="R751d6c9576384f70" /><Relationship Type="http://schemas.openxmlformats.org/officeDocument/2006/relationships/notesSlide" Target="/ppt/notesSlides/notesSlide16.xml" Id="R6f1a48cb945a4bb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38473367e474a84" /><Relationship Type="http://schemas.openxmlformats.org/officeDocument/2006/relationships/hyperlink" Target="https://github.com/nileshsarkar-ai/Inference-Optimization/blob/master/outputs/scheduling_results/analysis/validation.json" TargetMode="External" Id="R8d4e99b58aa941c3" /><Relationship Type="http://schemas.openxmlformats.org/officeDocument/2006/relationships/chart" Target="/ppt/slides/charts/chart6.xml" Id="R50877b779ed04d4b" /><Relationship Type="http://schemas.openxmlformats.org/officeDocument/2006/relationships/chart" Target="/ppt/slides/charts/chart7.xml" Id="R06a0035468f848f1" /><Relationship Type="http://schemas.openxmlformats.org/officeDocument/2006/relationships/chart" Target="/ppt/slides/charts/chart8.xml" Id="R3f725e38ad474ffd" /><Relationship Type="http://schemas.openxmlformats.org/officeDocument/2006/relationships/chart" Target="/ppt/slides/charts/chart9.xml" Id="R9cc32814a2194eed" /><Relationship Type="http://schemas.openxmlformats.org/officeDocument/2006/relationships/notesSlide" Target="/ppt/notesSlides/notesSlide17.xml" Id="Rbbe2593e374048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dd8a170bba2442a" /><Relationship Type="http://schemas.openxmlformats.org/officeDocument/2006/relationships/hyperlink" Target="https://github.com/nileshsarkar-ai/Inference-Optimization/blob/master/outputs/scheduling_results/analysis/validation.json" TargetMode="External" Id="Ra8846fe6c08b4afc" /><Relationship Type="http://schemas.openxmlformats.org/officeDocument/2006/relationships/hyperlink" Target="https://github.com/nileshsarkar-ai/Inference-Optimization/blob/master/outputs/scheduling_results/analysis/phase_diagnostics.json" TargetMode="External" Id="R476d7929a8cd45c2" /><Relationship Type="http://schemas.openxmlformats.org/officeDocument/2006/relationships/notesSlide" Target="/ppt/notesSlides/notesSlide18.xml" Id="R1f513074b84a49e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0fa37108f364ea3" /><Relationship Type="http://schemas.openxmlformats.org/officeDocument/2006/relationships/hyperlink" Target="https://github.com/nileshsarkar-ai/Inference-Optimization/blob/master/outputs/Results.md" TargetMode="External" Id="R9d6c8d1dcb124120" /><Relationship Type="http://schemas.openxmlformats.org/officeDocument/2006/relationships/hyperlink" Target="https://www.tensormux.com/blogs/sla-benchmark" TargetMode="External" Id="R740c8a7222ea4faf" /><Relationship Type="http://schemas.openxmlformats.org/officeDocument/2006/relationships/hyperlink" Target="https://github.com/tensormux/Tensorpath" TargetMode="External" Id="Rba75c46129094e55" /><Relationship Type="http://schemas.openxmlformats.org/officeDocument/2006/relationships/hyperlink" Target="https://docs.nvidia.com/deploy/nvml-api/structnvmlUtilization__t.html" TargetMode="External" Id="R2359313f61f34219" /><Relationship Type="http://schemas.openxmlformats.org/officeDocument/2006/relationships/notesSlide" Target="/ppt/notesSlides/notesSlide19.xml" Id="Rc18931f3fbc044a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bf7359eb08e42f1" /><Relationship Type="http://schemas.openxmlformats.org/officeDocument/2006/relationships/hyperlink" Target="https://docs.nvidia.com/nsight-systems/AnalysisGuide/index.html" TargetMode="External" Id="R4c3b948903a448d3" /><Relationship Type="http://schemas.openxmlformats.org/officeDocument/2006/relationships/hyperlink" Target="https://docs.nvidia.com/nsight-compute/ProfilingGuide/index.html" TargetMode="External" Id="Rb2275a3efc3f4ddc" /><Relationship Type="http://schemas.openxmlformats.org/officeDocument/2006/relationships/hyperlink" Target="https://github.com/nileshsarkar-ai/Inference-Optimization/blob/master/outputs/Research_Question.md" TargetMode="External" Id="Rf9d2cec4376648e7" /><Relationship Type="http://schemas.openxmlformats.org/officeDocument/2006/relationships/notesSlide" Target="/ppt/notesSlides/notesSlide20.xml" Id="R4078202d3cac489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ee616b63bdd4b52" /><Relationship Type="http://schemas.openxmlformats.org/officeDocument/2006/relationships/hyperlink" Target="https://github.com/nileshsarkar-ai/Inference-Optimization/blob/master/outputs/References.md" TargetMode="External" Id="R4dbe2985b71b4b70" /><Relationship Type="http://schemas.openxmlformats.org/officeDocument/2006/relationships/hyperlink" Target="https://proceedings.mlsys.org/paper_files/paper/2025/file/bc82dbfbfa43232be85b8d9838f49c3e-Paper-Conference.pdf" TargetMode="External" Id="R253bb2dfbdb04dd4" /><Relationship Type="http://schemas.openxmlformats.org/officeDocument/2006/relationships/hyperlink" Target="https://pages.cs.wisc.edu/~markhill/papers/icml2026_DuetServe.pdf" TargetMode="External" Id="Rf0b9bff76fcc4b3b" /><Relationship Type="http://schemas.openxmlformats.org/officeDocument/2006/relationships/hyperlink" Target="https://www.usenix.org/system/files/nsdi25-yang.pdf" TargetMode="External" Id="Reb675b4b52694a61" /><Relationship Type="http://schemas.openxmlformats.org/officeDocument/2006/relationships/hyperlink" Target="https://nvidia.github.io/TensorRT-LLM/latest/blogs/tech_blog/blog20_Tuning_CUDA_Graph_Batch_Sizes_for_Higher_Output_Throughput.html" TargetMode="External" Id="R70a950b511c542a9" /><Relationship Type="http://schemas.openxmlformats.org/officeDocument/2006/relationships/hyperlink" Target="https://docs.vllm.ai/en/stable/design/cuda_graphs/" TargetMode="External" Id="R2bcc951acc0f4b6a" /><Relationship Type="http://schemas.openxmlformats.org/officeDocument/2006/relationships/hyperlink" Target="https://docs.nvidia.com/deploy/nvml-api/structnvmlUtilization__t.html" TargetMode="External" Id="R638171967c354078" /><Relationship Type="http://schemas.openxmlformats.org/officeDocument/2006/relationships/hyperlink" Target="https://github.com/nileshsarkar-ai/Inference-Optimization/blob/master/outputs/Experiment_Inventory.md" TargetMode="External" Id="R72156774f835444b" /><Relationship Type="http://schemas.openxmlformats.org/officeDocument/2006/relationships/hyperlink" Target="https://github.com/nileshsarkar-ai/Inference-Optimization" TargetMode="External" Id="Rf211168af6b34a0a" /><Relationship Type="http://schemas.openxmlformats.org/officeDocument/2006/relationships/hyperlink" Target="https://wandb.ai/nileshsarkar-ai/saturatellm-feasibility" TargetMode="External" Id="R0cd5e6c7bb0b4609" /><Relationship Type="http://schemas.openxmlformats.org/officeDocument/2006/relationships/notesSlide" Target="/ppt/notesSlides/notesSlide21.xml" Id="R27e5209aca0c461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deff45fa9894910" /><Relationship Type="http://schemas.openxmlformats.org/officeDocument/2006/relationships/hyperlink" Target="https://github.com/nileshsarkar-ai/Inference-Optimization/blob/master/outputs/References.md" TargetMode="External" Id="R7989629e0474458e" /><Relationship Type="http://schemas.openxmlformats.org/officeDocument/2006/relationships/hyperlink" Target="https://www.tensormux.com/" TargetMode="External" Id="R35b6ade3534c41f3" /><Relationship Type="http://schemas.openxmlformats.org/officeDocument/2006/relationships/hyperlink" Target="https://www.tensormux.com/blogs/sla-benchmark" TargetMode="External" Id="R8ee396a5a2694a54" /><Relationship Type="http://schemas.openxmlformats.org/officeDocument/2006/relationships/hyperlink" Target="https://github.com/KrxGu/Tensormux" TargetMode="External" Id="Rd72f3643b6c44b15" /><Relationship Type="http://schemas.openxmlformats.org/officeDocument/2006/relationships/hyperlink" Target="https://github.com/tensormux/Tensorpath" TargetMode="External" Id="R1f0e95feaafe4288" /><Relationship Type="http://schemas.openxmlformats.org/officeDocument/2006/relationships/hyperlink" Target="https://docs.nvidia.com/nsight-systems/AnalysisGuide/index.html" TargetMode="External" Id="R7fd526b5eb10480e" /><Relationship Type="http://schemas.openxmlformats.org/officeDocument/2006/relationships/hyperlink" Target="https://docs.nvidia.com/nsight-compute/ProfilingGuide/index.html" TargetMode="External" Id="Re99ebd27d4354190" /><Relationship Type="http://schemas.openxmlformats.org/officeDocument/2006/relationships/notesSlide" Target="/ppt/notesSlides/notesSlide22.xml" Id="R9d3d9c2ee16649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900.026292</c:v>
                </c:pt>
                <c:pt idx="1">
                  <c:v>1086.87851</c:v>
                </c:pt>
                <c:pt idx="2">
                  <c:v>1411.592573</c:v>
                </c:pt>
                <c:pt idx="3">
                  <c:v>1686.367271</c:v>
                </c:pt>
                <c:pt idx="4">
                  <c:v>1939.569993</c:v>
                </c:pt>
                <c:pt idx="5">
                  <c:v>2129.999211</c:v>
                </c:pt>
                <c:pt idx="6">
                  <c:v>2031.520295</c:v>
                </c:pt>
                <c:pt idx="7">
                  <c:v>1913.990544</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901.504014</c:v>
                </c:pt>
                <c:pt idx="1">
                  <c:v>900.298264</c:v>
                </c:pt>
                <c:pt idx="2">
                  <c:v>898.276596</c:v>
                </c:pt>
                <c:pt idx="3">
                  <c:v>1087.05495</c:v>
                </c:pt>
                <c:pt idx="4">
                  <c:v>1084.635628</c:v>
                </c:pt>
                <c:pt idx="5">
                  <c:v>1088.944951</c:v>
                </c:pt>
                <c:pt idx="6">
                  <c:v>1413.144787</c:v>
                </c:pt>
                <c:pt idx="7">
                  <c:v>1411.771275</c:v>
                </c:pt>
                <c:pt idx="8">
                  <c:v>1409.861656</c:v>
                </c:pt>
                <c:pt idx="9">
                  <c:v>1687.92451</c:v>
                </c:pt>
                <c:pt idx="10">
                  <c:v>1686.576692</c:v>
                </c:pt>
                <c:pt idx="11">
                  <c:v>1684.600612</c:v>
                </c:pt>
                <c:pt idx="12">
                  <c:v>1940.408872</c:v>
                </c:pt>
                <c:pt idx="13">
                  <c:v>1940.682095</c:v>
                </c:pt>
                <c:pt idx="14">
                  <c:v>1937.619012</c:v>
                </c:pt>
                <c:pt idx="15">
                  <c:v>2130.0822</c:v>
                </c:pt>
                <c:pt idx="16">
                  <c:v>2131.768513</c:v>
                </c:pt>
                <c:pt idx="17">
                  <c:v>2128.146918</c:v>
                </c:pt>
                <c:pt idx="18">
                  <c:v>2032.414347</c:v>
                </c:pt>
                <c:pt idx="19">
                  <c:v>2031.936647</c:v>
                </c:pt>
                <c:pt idx="20">
                  <c:v>2030.209892</c:v>
                </c:pt>
                <c:pt idx="21">
                  <c:v>1917.128089</c:v>
                </c:pt>
                <c:pt idx="22">
                  <c:v>1911.583453</c:v>
                </c:pt>
                <c:pt idx="23">
                  <c:v>1913.26009</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894.684273</c:v>
                </c:pt>
                <c:pt idx="1">
                  <c:v>1080.475892</c:v>
                </c:pt>
                <c:pt idx="2">
                  <c:v>1408.19504</c:v>
                </c:pt>
                <c:pt idx="3">
                  <c:v>1683.783917</c:v>
                </c:pt>
                <c:pt idx="4">
                  <c:v>1938.5039</c:v>
                </c:pt>
                <c:pt idx="5">
                  <c:v>2131.403691</c:v>
                </c:pt>
                <c:pt idx="6">
                  <c:v>2029.961391</c:v>
                </c:pt>
                <c:pt idx="7">
                  <c:v>1913.815254</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893.90188</c:v>
                </c:pt>
                <c:pt idx="1">
                  <c:v>895.872549</c:v>
                </c:pt>
                <c:pt idx="2">
                  <c:v>894.278391</c:v>
                </c:pt>
                <c:pt idx="3">
                  <c:v>1082.656111</c:v>
                </c:pt>
                <c:pt idx="4">
                  <c:v>1079.993231</c:v>
                </c:pt>
                <c:pt idx="5">
                  <c:v>1078.778334</c:v>
                </c:pt>
                <c:pt idx="6">
                  <c:v>1408.921922</c:v>
                </c:pt>
                <c:pt idx="7">
                  <c:v>1407.793742</c:v>
                </c:pt>
                <c:pt idx="8">
                  <c:v>1407.869457</c:v>
                </c:pt>
                <c:pt idx="9">
                  <c:v>1684.420444</c:v>
                </c:pt>
                <c:pt idx="10">
                  <c:v>1683.064618</c:v>
                </c:pt>
                <c:pt idx="11">
                  <c:v>1683.86669</c:v>
                </c:pt>
                <c:pt idx="12">
                  <c:v>1941.325854</c:v>
                </c:pt>
                <c:pt idx="13">
                  <c:v>1938.585973</c:v>
                </c:pt>
                <c:pt idx="14">
                  <c:v>1935.599874</c:v>
                </c:pt>
                <c:pt idx="15">
                  <c:v>2132.278562</c:v>
                </c:pt>
                <c:pt idx="16">
                  <c:v>2133.863087</c:v>
                </c:pt>
                <c:pt idx="17">
                  <c:v>2128.069422</c:v>
                </c:pt>
                <c:pt idx="18">
                  <c:v>2030.252336</c:v>
                </c:pt>
                <c:pt idx="19">
                  <c:v>2029.912295</c:v>
                </c:pt>
                <c:pt idx="20">
                  <c:v>2029.719543</c:v>
                </c:pt>
                <c:pt idx="21">
                  <c:v>1917.509538</c:v>
                </c:pt>
                <c:pt idx="22">
                  <c:v>1912.905662</c:v>
                </c:pt>
                <c:pt idx="23">
                  <c:v>1911.030563</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894.531817</c:v>
                </c:pt>
                <c:pt idx="1">
                  <c:v>1086.356924</c:v>
                </c:pt>
                <c:pt idx="2">
                  <c:v>1398.151453</c:v>
                </c:pt>
                <c:pt idx="3">
                  <c:v>1687.272907</c:v>
                </c:pt>
                <c:pt idx="4">
                  <c:v>1889.709748</c:v>
                </c:pt>
                <c:pt idx="5">
                  <c:v>2099.712776</c:v>
                </c:pt>
                <c:pt idx="6">
                  <c:v>2021.259706</c:v>
                </c:pt>
                <c:pt idx="7">
                  <c:v>1911.305704</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895.228028</c:v>
                </c:pt>
                <c:pt idx="1">
                  <c:v>894.832305</c:v>
                </c:pt>
                <c:pt idx="2">
                  <c:v>893.535117</c:v>
                </c:pt>
                <c:pt idx="3">
                  <c:v>1087.747273</c:v>
                </c:pt>
                <c:pt idx="4">
                  <c:v>1085.852238</c:v>
                </c:pt>
                <c:pt idx="5">
                  <c:v>1085.47126</c:v>
                </c:pt>
                <c:pt idx="6">
                  <c:v>1398.417761</c:v>
                </c:pt>
                <c:pt idx="7">
                  <c:v>1397.733271</c:v>
                </c:pt>
                <c:pt idx="8">
                  <c:v>1398.303328</c:v>
                </c:pt>
                <c:pt idx="9">
                  <c:v>1688.05738</c:v>
                </c:pt>
                <c:pt idx="10">
                  <c:v>1688.497269</c:v>
                </c:pt>
                <c:pt idx="11">
                  <c:v>1685.264071</c:v>
                </c:pt>
                <c:pt idx="12">
                  <c:v>1892.275657</c:v>
                </c:pt>
                <c:pt idx="13">
                  <c:v>1889.889974</c:v>
                </c:pt>
                <c:pt idx="14">
                  <c:v>1886.963614</c:v>
                </c:pt>
                <c:pt idx="15">
                  <c:v>2101.49107</c:v>
                </c:pt>
                <c:pt idx="16">
                  <c:v>2102.720468</c:v>
                </c:pt>
                <c:pt idx="17">
                  <c:v>2094.926791</c:v>
                </c:pt>
                <c:pt idx="18">
                  <c:v>2022.982661</c:v>
                </c:pt>
                <c:pt idx="19">
                  <c:v>2019.771997</c:v>
                </c:pt>
                <c:pt idx="20">
                  <c:v>2021.024459</c:v>
                </c:pt>
                <c:pt idx="21">
                  <c:v>1915.298242</c:v>
                </c:pt>
                <c:pt idx="22">
                  <c:v>1910.669936</c:v>
                </c:pt>
                <c:pt idx="23">
                  <c:v>1907.948934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3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1322.507892</c:v>
                </c:pt>
                <c:pt idx="1">
                  <c:v>1587.132297</c:v>
                </c:pt>
                <c:pt idx="2">
                  <c:v>2137.436155</c:v>
                </c:pt>
                <c:pt idx="3">
                  <c:v>2509.912128</c:v>
                </c:pt>
                <c:pt idx="4">
                  <c:v>2756.969241</c:v>
                </c:pt>
                <c:pt idx="5">
                  <c:v>2957.513531</c:v>
                </c:pt>
                <c:pt idx="6">
                  <c:v>3193.111389</c:v>
                </c:pt>
                <c:pt idx="7">
                  <c:v>3377.973406</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1323.914125</c:v>
                </c:pt>
                <c:pt idx="1">
                  <c:v>1322.516235</c:v>
                </c:pt>
                <c:pt idx="2">
                  <c:v>1321.093317</c:v>
                </c:pt>
                <c:pt idx="3">
                  <c:v>1589.343199</c:v>
                </c:pt>
                <c:pt idx="4">
                  <c:v>1586.407963</c:v>
                </c:pt>
                <c:pt idx="5">
                  <c:v>1585.645728</c:v>
                </c:pt>
                <c:pt idx="6">
                  <c:v>2139.665182</c:v>
                </c:pt>
                <c:pt idx="7">
                  <c:v>2138.403481</c:v>
                </c:pt>
                <c:pt idx="8">
                  <c:v>2134.239801</c:v>
                </c:pt>
                <c:pt idx="9">
                  <c:v>2510.685256</c:v>
                </c:pt>
                <c:pt idx="10">
                  <c:v>2510.345465</c:v>
                </c:pt>
                <c:pt idx="11">
                  <c:v>2508.705664</c:v>
                </c:pt>
                <c:pt idx="12">
                  <c:v>2762.470293</c:v>
                </c:pt>
                <c:pt idx="13">
                  <c:v>2756.506916</c:v>
                </c:pt>
                <c:pt idx="14">
                  <c:v>2751.930513</c:v>
                </c:pt>
                <c:pt idx="15">
                  <c:v>2960.751852</c:v>
                </c:pt>
                <c:pt idx="16">
                  <c:v>2959.500444</c:v>
                </c:pt>
                <c:pt idx="17">
                  <c:v>2952.288296</c:v>
                </c:pt>
                <c:pt idx="18">
                  <c:v>3192.854005</c:v>
                </c:pt>
                <c:pt idx="19">
                  <c:v>3200.049124</c:v>
                </c:pt>
                <c:pt idx="20">
                  <c:v>3186.431038</c:v>
                </c:pt>
                <c:pt idx="21">
                  <c:v>3382.66727</c:v>
                </c:pt>
                <c:pt idx="22">
                  <c:v>3376.044949</c:v>
                </c:pt>
                <c:pt idx="23">
                  <c:v>3375.208001</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1321.170765</c:v>
                </c:pt>
                <c:pt idx="1">
                  <c:v>1590.053502</c:v>
                </c:pt>
                <c:pt idx="2">
                  <c:v>2135.403175</c:v>
                </c:pt>
                <c:pt idx="3">
                  <c:v>2511.327119</c:v>
                </c:pt>
                <c:pt idx="4">
                  <c:v>2754.923832</c:v>
                </c:pt>
                <c:pt idx="5">
                  <c:v>2958.690167</c:v>
                </c:pt>
                <c:pt idx="6">
                  <c:v>3190.404815</c:v>
                </c:pt>
                <c:pt idx="7">
                  <c:v>3376.199171</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1323.236409</c:v>
                </c:pt>
                <c:pt idx="1">
                  <c:v>1318.602869</c:v>
                </c:pt>
                <c:pt idx="2">
                  <c:v>1321.673017</c:v>
                </c:pt>
                <c:pt idx="3">
                  <c:v>1591.798092</c:v>
                </c:pt>
                <c:pt idx="4">
                  <c:v>1589.409134</c:v>
                </c:pt>
                <c:pt idx="5">
                  <c:v>1588.95328</c:v>
                </c:pt>
                <c:pt idx="6">
                  <c:v>2138.616564</c:v>
                </c:pt>
                <c:pt idx="7">
                  <c:v>2134.832101</c:v>
                </c:pt>
                <c:pt idx="8">
                  <c:v>2132.760859</c:v>
                </c:pt>
                <c:pt idx="9">
                  <c:v>2515.032032</c:v>
                </c:pt>
                <c:pt idx="10">
                  <c:v>2510.231579</c:v>
                </c:pt>
                <c:pt idx="11">
                  <c:v>2508.717745</c:v>
                </c:pt>
                <c:pt idx="12">
                  <c:v>2760.347553</c:v>
                </c:pt>
                <c:pt idx="13">
                  <c:v>2753.84543</c:v>
                </c:pt>
                <c:pt idx="14">
                  <c:v>2750.578511</c:v>
                </c:pt>
                <c:pt idx="15">
                  <c:v>2959.08614</c:v>
                </c:pt>
                <c:pt idx="16">
                  <c:v>2958.524294</c:v>
                </c:pt>
                <c:pt idx="17">
                  <c:v>2958.460066</c:v>
                </c:pt>
                <c:pt idx="18">
                  <c:v>3191.561261</c:v>
                </c:pt>
                <c:pt idx="19">
                  <c:v>3188.996005</c:v>
                </c:pt>
                <c:pt idx="20">
                  <c:v>3190.657179</c:v>
                </c:pt>
                <c:pt idx="21">
                  <c:v>3383.558852</c:v>
                </c:pt>
                <c:pt idx="22">
                  <c:v>3374.013824</c:v>
                </c:pt>
                <c:pt idx="23">
                  <c:v>3371.024837</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1306.347245</c:v>
                </c:pt>
                <c:pt idx="1">
                  <c:v>1587.908435</c:v>
                </c:pt>
                <c:pt idx="2">
                  <c:v>2124.102188</c:v>
                </c:pt>
                <c:pt idx="3">
                  <c:v>2511.272852</c:v>
                </c:pt>
                <c:pt idx="4">
                  <c:v>2675.412627</c:v>
                </c:pt>
                <c:pt idx="5">
                  <c:v>2934.041232</c:v>
                </c:pt>
                <c:pt idx="6">
                  <c:v>3174.819922</c:v>
                </c:pt>
                <c:pt idx="7">
                  <c:v>3379.578496</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1307.394277</c:v>
                </c:pt>
                <c:pt idx="1">
                  <c:v>1306.772505</c:v>
                </c:pt>
                <c:pt idx="2">
                  <c:v>1304.874951</c:v>
                </c:pt>
                <c:pt idx="3">
                  <c:v>1589.063091</c:v>
                </c:pt>
                <c:pt idx="4">
                  <c:v>1589.246658</c:v>
                </c:pt>
                <c:pt idx="5">
                  <c:v>1585.415556</c:v>
                </c:pt>
                <c:pt idx="6">
                  <c:v>2123.949014</c:v>
                </c:pt>
                <c:pt idx="7">
                  <c:v>2125.635926</c:v>
                </c:pt>
                <c:pt idx="8">
                  <c:v>2122.721625</c:v>
                </c:pt>
                <c:pt idx="9">
                  <c:v>2513.501603</c:v>
                </c:pt>
                <c:pt idx="10">
                  <c:v>2511.165799</c:v>
                </c:pt>
                <c:pt idx="11">
                  <c:v>2509.151155</c:v>
                </c:pt>
                <c:pt idx="12">
                  <c:v>2676.760449</c:v>
                </c:pt>
                <c:pt idx="13">
                  <c:v>2675.271505</c:v>
                </c:pt>
                <c:pt idx="14">
                  <c:v>2674.205927</c:v>
                </c:pt>
                <c:pt idx="15">
                  <c:v>2935.424049</c:v>
                </c:pt>
                <c:pt idx="16">
                  <c:v>2934.508755</c:v>
                </c:pt>
                <c:pt idx="17">
                  <c:v>2932.190893</c:v>
                </c:pt>
                <c:pt idx="18">
                  <c:v>3173.665127</c:v>
                </c:pt>
                <c:pt idx="19">
                  <c:v>3180.366305</c:v>
                </c:pt>
                <c:pt idx="20">
                  <c:v>3170.428334</c:v>
                </c:pt>
                <c:pt idx="21">
                  <c:v>3385.953085</c:v>
                </c:pt>
                <c:pt idx="22">
                  <c:v>3377.426204</c:v>
                </c:pt>
                <c:pt idx="23">
                  <c:v>3375.3562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4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1967.004321</c:v>
                </c:pt>
                <c:pt idx="1">
                  <c:v>2436.258479</c:v>
                </c:pt>
                <c:pt idx="2">
                  <c:v>3344.837721</c:v>
                </c:pt>
                <c:pt idx="3">
                  <c:v>3983.462435</c:v>
                </c:pt>
                <c:pt idx="4">
                  <c:v>4775.490641</c:v>
                </c:pt>
                <c:pt idx="5">
                  <c:v>5317.520088</c:v>
                </c:pt>
                <c:pt idx="6">
                  <c:v>5674.003347</c:v>
                </c:pt>
                <c:pt idx="7">
                  <c:v>6075.754284</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1966.68284</c:v>
                </c:pt>
                <c:pt idx="1">
                  <c:v>1966.504381</c:v>
                </c:pt>
                <c:pt idx="2">
                  <c:v>1967.825743</c:v>
                </c:pt>
                <c:pt idx="3">
                  <c:v>2432.673321</c:v>
                </c:pt>
                <c:pt idx="4">
                  <c:v>2437.023283</c:v>
                </c:pt>
                <c:pt idx="5">
                  <c:v>2439.078834</c:v>
                </c:pt>
                <c:pt idx="6">
                  <c:v>3344.732114</c:v>
                </c:pt>
                <c:pt idx="7">
                  <c:v>3348.275115</c:v>
                </c:pt>
                <c:pt idx="8">
                  <c:v>3341.505933</c:v>
                </c:pt>
                <c:pt idx="9">
                  <c:v>3992.864306</c:v>
                </c:pt>
                <c:pt idx="10">
                  <c:v>3976.839528</c:v>
                </c:pt>
                <c:pt idx="11">
                  <c:v>3980.683473</c:v>
                </c:pt>
                <c:pt idx="12">
                  <c:v>4779.850473</c:v>
                </c:pt>
                <c:pt idx="13">
                  <c:v>4771.240551</c:v>
                </c:pt>
                <c:pt idx="14">
                  <c:v>4775.380898</c:v>
                </c:pt>
                <c:pt idx="15">
                  <c:v>5311.905001</c:v>
                </c:pt>
                <c:pt idx="16">
                  <c:v>5329.292162</c:v>
                </c:pt>
                <c:pt idx="17">
                  <c:v>5311.363101</c:v>
                </c:pt>
                <c:pt idx="18">
                  <c:v>5681.137315</c:v>
                </c:pt>
                <c:pt idx="19">
                  <c:v>5676.054415</c:v>
                </c:pt>
                <c:pt idx="20">
                  <c:v>5664.818309</c:v>
                </c:pt>
                <c:pt idx="21">
                  <c:v>6092.749581</c:v>
                </c:pt>
                <c:pt idx="22">
                  <c:v>6064.900474</c:v>
                </c:pt>
                <c:pt idx="23">
                  <c:v>6069.612798</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1972.48731</c:v>
                </c:pt>
                <c:pt idx="1">
                  <c:v>2443.823385</c:v>
                </c:pt>
                <c:pt idx="2">
                  <c:v>3351.299354</c:v>
                </c:pt>
                <c:pt idx="3">
                  <c:v>3986.617807</c:v>
                </c:pt>
                <c:pt idx="4">
                  <c:v>4783.261346</c:v>
                </c:pt>
                <c:pt idx="5">
                  <c:v>5327.221157</c:v>
                </c:pt>
                <c:pt idx="6">
                  <c:v>5685.588463</c:v>
                </c:pt>
                <c:pt idx="7">
                  <c:v>6093.866958</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1971.774553</c:v>
                </c:pt>
                <c:pt idx="1">
                  <c:v>1973.066101</c:v>
                </c:pt>
                <c:pt idx="2">
                  <c:v>1972.621276</c:v>
                </c:pt>
                <c:pt idx="3">
                  <c:v>2440.446039</c:v>
                </c:pt>
                <c:pt idx="4">
                  <c:v>2444.793745</c:v>
                </c:pt>
                <c:pt idx="5">
                  <c:v>2446.230372</c:v>
                </c:pt>
                <c:pt idx="6">
                  <c:v>3357.33263</c:v>
                </c:pt>
                <c:pt idx="7">
                  <c:v>3352.598404</c:v>
                </c:pt>
                <c:pt idx="8">
                  <c:v>3343.967029</c:v>
                </c:pt>
                <c:pt idx="9">
                  <c:v>3985.526612</c:v>
                </c:pt>
                <c:pt idx="10">
                  <c:v>3990.341389</c:v>
                </c:pt>
                <c:pt idx="11">
                  <c:v>3983.98542</c:v>
                </c:pt>
                <c:pt idx="12">
                  <c:v>4799.329675</c:v>
                </c:pt>
                <c:pt idx="13">
                  <c:v>4780.965889</c:v>
                </c:pt>
                <c:pt idx="14">
                  <c:v>4769.488475</c:v>
                </c:pt>
                <c:pt idx="15">
                  <c:v>5327.975643</c:v>
                </c:pt>
                <c:pt idx="16">
                  <c:v>5341.367638</c:v>
                </c:pt>
                <c:pt idx="17">
                  <c:v>5312.32019</c:v>
                </c:pt>
                <c:pt idx="18">
                  <c:v>5685.404555</c:v>
                </c:pt>
                <c:pt idx="19">
                  <c:v>5697.342375</c:v>
                </c:pt>
                <c:pt idx="20">
                  <c:v>5674.018459</c:v>
                </c:pt>
                <c:pt idx="21">
                  <c:v>6113.753747</c:v>
                </c:pt>
                <c:pt idx="22">
                  <c:v>6088.549788</c:v>
                </c:pt>
                <c:pt idx="23">
                  <c:v>6079.297341</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1964.726974</c:v>
                </c:pt>
                <c:pt idx="1">
                  <c:v>2439.417597</c:v>
                </c:pt>
                <c:pt idx="2">
                  <c:v>3294.988753</c:v>
                </c:pt>
                <c:pt idx="3">
                  <c:v>3989.242286</c:v>
                </c:pt>
                <c:pt idx="4">
                  <c:v>4595.886111</c:v>
                </c:pt>
                <c:pt idx="5">
                  <c:v>5183.731848</c:v>
                </c:pt>
                <c:pt idx="6">
                  <c:v>5614.946929</c:v>
                </c:pt>
                <c:pt idx="7">
                  <c:v>6079.909263</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1964.017234</c:v>
                </c:pt>
                <c:pt idx="1">
                  <c:v>1963.287749</c:v>
                </c:pt>
                <c:pt idx="2">
                  <c:v>1966.875941</c:v>
                </c:pt>
                <c:pt idx="3">
                  <c:v>2437.867433</c:v>
                </c:pt>
                <c:pt idx="4">
                  <c:v>2438.890673</c:v>
                </c:pt>
                <c:pt idx="5">
                  <c:v>2441.494684</c:v>
                </c:pt>
                <c:pt idx="6">
                  <c:v>3299.283734</c:v>
                </c:pt>
                <c:pt idx="7">
                  <c:v>3295.18601</c:v>
                </c:pt>
                <c:pt idx="8">
                  <c:v>3290.496515</c:v>
                </c:pt>
                <c:pt idx="9">
                  <c:v>3989.683592</c:v>
                </c:pt>
                <c:pt idx="10">
                  <c:v>3988.159579</c:v>
                </c:pt>
                <c:pt idx="11">
                  <c:v>3989.883688</c:v>
                </c:pt>
                <c:pt idx="12">
                  <c:v>4600.379203</c:v>
                </c:pt>
                <c:pt idx="13">
                  <c:v>4600.647439</c:v>
                </c:pt>
                <c:pt idx="14">
                  <c:v>4586.631691</c:v>
                </c:pt>
                <c:pt idx="15">
                  <c:v>5181.531182</c:v>
                </c:pt>
                <c:pt idx="16">
                  <c:v>5190.854356</c:v>
                </c:pt>
                <c:pt idx="17">
                  <c:v>5178.810006</c:v>
                </c:pt>
                <c:pt idx="18">
                  <c:v>5627.299321</c:v>
                </c:pt>
                <c:pt idx="19">
                  <c:v>5608.31202</c:v>
                </c:pt>
                <c:pt idx="20">
                  <c:v>5609.229446</c:v>
                </c:pt>
                <c:pt idx="21">
                  <c:v>6098.484973</c:v>
                </c:pt>
                <c:pt idx="22">
                  <c:v>6076.067467</c:v>
                </c:pt>
                <c:pt idx="23">
                  <c:v>6065.17535</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8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2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5040.818198</c:v>
                </c:pt>
                <c:pt idx="1">
                  <c:v>6239.597221</c:v>
                </c:pt>
                <c:pt idx="2">
                  <c:v>9017.996025</c:v>
                </c:pt>
                <c:pt idx="3">
                  <c:v>10743.351354</c:v>
                </c:pt>
                <c:pt idx="4">
                  <c:v>12088.661067</c:v>
                </c:pt>
                <c:pt idx="5">
                  <c:v>14153.666311</c:v>
                </c:pt>
                <c:pt idx="6">
                  <c:v>15279.372457</c:v>
                </c:pt>
                <c:pt idx="7">
                  <c:v>16453.324265</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5042.917462</c:v>
                </c:pt>
                <c:pt idx="1">
                  <c:v>5034.09264</c:v>
                </c:pt>
                <c:pt idx="2">
                  <c:v>5045.444492</c:v>
                </c:pt>
                <c:pt idx="3">
                  <c:v>6238.669838</c:v>
                </c:pt>
                <c:pt idx="4">
                  <c:v>6240.879967</c:v>
                </c:pt>
                <c:pt idx="5">
                  <c:v>6239.241858</c:v>
                </c:pt>
                <c:pt idx="6">
                  <c:v>9031.840782</c:v>
                </c:pt>
                <c:pt idx="7">
                  <c:v>9007.585171</c:v>
                </c:pt>
                <c:pt idx="8">
                  <c:v>9014.562122</c:v>
                </c:pt>
                <c:pt idx="9">
                  <c:v>10727.414553</c:v>
                </c:pt>
                <c:pt idx="10">
                  <c:v>10771.802923</c:v>
                </c:pt>
                <c:pt idx="11">
                  <c:v>10730.836587</c:v>
                </c:pt>
                <c:pt idx="12">
                  <c:v>12106.222517</c:v>
                </c:pt>
                <c:pt idx="13">
                  <c:v>12103.775865</c:v>
                </c:pt>
                <c:pt idx="14">
                  <c:v>12055.98482</c:v>
                </c:pt>
                <c:pt idx="15">
                  <c:v>14157.51458</c:v>
                </c:pt>
                <c:pt idx="16">
                  <c:v>14148.847079</c:v>
                </c:pt>
                <c:pt idx="17">
                  <c:v>14154.637275</c:v>
                </c:pt>
                <c:pt idx="18">
                  <c:v>15269.042055</c:v>
                </c:pt>
                <c:pt idx="19">
                  <c:v>15278.784684</c:v>
                </c:pt>
                <c:pt idx="20">
                  <c:v>15290.290631</c:v>
                </c:pt>
                <c:pt idx="21">
                  <c:v>16440.287185</c:v>
                </c:pt>
                <c:pt idx="22">
                  <c:v>16499.48739</c:v>
                </c:pt>
                <c:pt idx="23">
                  <c:v>16420.19822</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5039.477869</c:v>
                </c:pt>
                <c:pt idx="1">
                  <c:v>6269.132124</c:v>
                </c:pt>
                <c:pt idx="2">
                  <c:v>9026.535306</c:v>
                </c:pt>
                <c:pt idx="3">
                  <c:v>10735.29812</c:v>
                </c:pt>
                <c:pt idx="4">
                  <c:v>12098.720228</c:v>
                </c:pt>
                <c:pt idx="5">
                  <c:v>14134.311014</c:v>
                </c:pt>
                <c:pt idx="6">
                  <c:v>15261.174298</c:v>
                </c:pt>
                <c:pt idx="7">
                  <c:v>16438.472888</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5043.099772</c:v>
                </c:pt>
                <c:pt idx="1">
                  <c:v>5040.435788</c:v>
                </c:pt>
                <c:pt idx="2">
                  <c:v>5034.898047</c:v>
                </c:pt>
                <c:pt idx="3">
                  <c:v>6280.064203</c:v>
                </c:pt>
                <c:pt idx="4">
                  <c:v>6264.736686</c:v>
                </c:pt>
                <c:pt idx="5">
                  <c:v>6262.595484</c:v>
                </c:pt>
                <c:pt idx="6">
                  <c:v>9024.312313</c:v>
                </c:pt>
                <c:pt idx="7">
                  <c:v>9023.14273</c:v>
                </c:pt>
                <c:pt idx="8">
                  <c:v>9032.150875</c:v>
                </c:pt>
                <c:pt idx="9">
                  <c:v>10730.712114</c:v>
                </c:pt>
                <c:pt idx="10">
                  <c:v>10729.429941</c:v>
                </c:pt>
                <c:pt idx="11">
                  <c:v>10745.752304</c:v>
                </c:pt>
                <c:pt idx="12">
                  <c:v>12113.67235</c:v>
                </c:pt>
                <c:pt idx="13">
                  <c:v>12119.759672</c:v>
                </c:pt>
                <c:pt idx="14">
                  <c:v>12062.728663</c:v>
                </c:pt>
                <c:pt idx="15">
                  <c:v>14165.044432</c:v>
                </c:pt>
                <c:pt idx="16">
                  <c:v>14123.376526</c:v>
                </c:pt>
                <c:pt idx="17">
                  <c:v>14114.512085</c:v>
                </c:pt>
                <c:pt idx="18">
                  <c:v>15284.472061</c:v>
                </c:pt>
                <c:pt idx="19">
                  <c:v>15241.455955</c:v>
                </c:pt>
                <c:pt idx="20">
                  <c:v>15257.594878</c:v>
                </c:pt>
                <c:pt idx="21">
                  <c:v>16446.247826</c:v>
                </c:pt>
                <c:pt idx="22">
                  <c:v>16453.352804</c:v>
                </c:pt>
                <c:pt idx="23">
                  <c:v>16415.818034</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5050.223912</c:v>
                </c:pt>
                <c:pt idx="1">
                  <c:v>6245.429683</c:v>
                </c:pt>
                <c:pt idx="2">
                  <c:v>8752.189963</c:v>
                </c:pt>
                <c:pt idx="3">
                  <c:v>10737.430781</c:v>
                </c:pt>
                <c:pt idx="4">
                  <c:v>12258.264537</c:v>
                </c:pt>
                <c:pt idx="5">
                  <c:v>13859.055323</c:v>
                </c:pt>
                <c:pt idx="6">
                  <c:v>15154.353684</c:v>
                </c:pt>
                <c:pt idx="7">
                  <c:v>16451.725988</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5077.454361</c:v>
                </c:pt>
                <c:pt idx="1">
                  <c:v>5016.165442</c:v>
                </c:pt>
                <c:pt idx="2">
                  <c:v>5057.051934</c:v>
                </c:pt>
                <c:pt idx="3">
                  <c:v>6236.225973</c:v>
                </c:pt>
                <c:pt idx="4">
                  <c:v>6245.048374</c:v>
                </c:pt>
                <c:pt idx="5">
                  <c:v>6255.014701</c:v>
                </c:pt>
                <c:pt idx="6">
                  <c:v>8752.894788</c:v>
                </c:pt>
                <c:pt idx="7">
                  <c:v>8741.261713</c:v>
                </c:pt>
                <c:pt idx="8">
                  <c:v>8762.41339</c:v>
                </c:pt>
                <c:pt idx="9">
                  <c:v>10761.252108</c:v>
                </c:pt>
                <c:pt idx="10">
                  <c:v>10735.031649</c:v>
                </c:pt>
                <c:pt idx="11">
                  <c:v>10716.008584</c:v>
                </c:pt>
                <c:pt idx="12">
                  <c:v>12282.74963</c:v>
                </c:pt>
                <c:pt idx="13">
                  <c:v>12267.109803</c:v>
                </c:pt>
                <c:pt idx="14">
                  <c:v>12224.934176</c:v>
                </c:pt>
                <c:pt idx="15">
                  <c:v>13871.395089</c:v>
                </c:pt>
                <c:pt idx="16">
                  <c:v>13872.260145</c:v>
                </c:pt>
                <c:pt idx="17">
                  <c:v>13833.510734</c:v>
                </c:pt>
                <c:pt idx="18">
                  <c:v>15176.348003</c:v>
                </c:pt>
                <c:pt idx="19">
                  <c:v>15139.157609</c:v>
                </c:pt>
                <c:pt idx="20">
                  <c:v>15147.55544</c:v>
                </c:pt>
                <c:pt idx="21">
                  <c:v>16437.569094</c:v>
                </c:pt>
                <c:pt idx="22">
                  <c:v>16499.899987</c:v>
                </c:pt>
                <c:pt idx="23">
                  <c:v>16417.708883</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20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5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1641.916522</c:v>
                </c:pt>
                <c:pt idx="1">
                  <c:v>1995.09421</c:v>
                </c:pt>
                <c:pt idx="2">
                  <c:v>2721.561836</c:v>
                </c:pt>
                <c:pt idx="3">
                  <c:v>3238.705963</c:v>
                </c:pt>
                <c:pt idx="4">
                  <c:v>3754.958383</c:v>
                </c:pt>
                <c:pt idx="5">
                  <c:v>4165.499942</c:v>
                </c:pt>
                <c:pt idx="6">
                  <c:v>4534.380999</c:v>
                </c:pt>
                <c:pt idx="7">
                  <c:v>4881.287256</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1643.776043</c:v>
                </c:pt>
                <c:pt idx="1">
                  <c:v>1640.221189</c:v>
                </c:pt>
                <c:pt idx="2">
                  <c:v>1641.752336</c:v>
                </c:pt>
                <c:pt idx="3">
                  <c:v>2000.850906</c:v>
                </c:pt>
                <c:pt idx="4">
                  <c:v>1992.251654</c:v>
                </c:pt>
                <c:pt idx="5">
                  <c:v>1992.180071</c:v>
                </c:pt>
                <c:pt idx="6">
                  <c:v>2721.903602</c:v>
                </c:pt>
                <c:pt idx="7">
                  <c:v>2719.754045</c:v>
                </c:pt>
                <c:pt idx="8">
                  <c:v>2723.027862</c:v>
                </c:pt>
                <c:pt idx="9">
                  <c:v>3240.964536</c:v>
                </c:pt>
                <c:pt idx="10">
                  <c:v>3239.118169</c:v>
                </c:pt>
                <c:pt idx="11">
                  <c:v>3236.035182</c:v>
                </c:pt>
                <c:pt idx="12">
                  <c:v>3761.359988</c:v>
                </c:pt>
                <c:pt idx="13">
                  <c:v>3755.527427</c:v>
                </c:pt>
                <c:pt idx="14">
                  <c:v>3747.987735</c:v>
                </c:pt>
                <c:pt idx="15">
                  <c:v>4167.990066</c:v>
                </c:pt>
                <c:pt idx="16">
                  <c:v>4170.217156</c:v>
                </c:pt>
                <c:pt idx="17">
                  <c:v>4158.292604</c:v>
                </c:pt>
                <c:pt idx="18">
                  <c:v>4535.07452</c:v>
                </c:pt>
                <c:pt idx="19">
                  <c:v>4538.703978</c:v>
                </c:pt>
                <c:pt idx="20">
                  <c:v>4529.364499</c:v>
                </c:pt>
                <c:pt idx="21">
                  <c:v>4888.796932</c:v>
                </c:pt>
                <c:pt idx="22">
                  <c:v>4884.788524</c:v>
                </c:pt>
                <c:pt idx="23">
                  <c:v>4870.276311</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1641.211916</c:v>
                </c:pt>
                <c:pt idx="1">
                  <c:v>1996.726808</c:v>
                </c:pt>
                <c:pt idx="2">
                  <c:v>2721.161601</c:v>
                </c:pt>
                <c:pt idx="3">
                  <c:v>3235.417099</c:v>
                </c:pt>
                <c:pt idx="4">
                  <c:v>3751.589766</c:v>
                </c:pt>
                <c:pt idx="5">
                  <c:v>4153.833454</c:v>
                </c:pt>
                <c:pt idx="6">
                  <c:v>4532.879415</c:v>
                </c:pt>
                <c:pt idx="7">
                  <c:v>4875.049191</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1642.506918</c:v>
                </c:pt>
                <c:pt idx="1">
                  <c:v>1639.929288</c:v>
                </c:pt>
                <c:pt idx="2">
                  <c:v>1641.199543</c:v>
                </c:pt>
                <c:pt idx="3">
                  <c:v>2001.437937</c:v>
                </c:pt>
                <c:pt idx="4">
                  <c:v>1992.266818</c:v>
                </c:pt>
                <c:pt idx="5">
                  <c:v>1996.475669</c:v>
                </c:pt>
                <c:pt idx="6">
                  <c:v>2716.472555</c:v>
                </c:pt>
                <c:pt idx="7">
                  <c:v>2723.659561</c:v>
                </c:pt>
                <c:pt idx="8">
                  <c:v>2723.352685</c:v>
                </c:pt>
                <c:pt idx="9">
                  <c:v>3235.630487</c:v>
                </c:pt>
                <c:pt idx="10">
                  <c:v>3238.858464</c:v>
                </c:pt>
                <c:pt idx="11">
                  <c:v>3231.762346</c:v>
                </c:pt>
                <c:pt idx="12">
                  <c:v>3758.00892</c:v>
                </c:pt>
                <c:pt idx="13">
                  <c:v>3752.177551</c:v>
                </c:pt>
                <c:pt idx="14">
                  <c:v>3744.582827</c:v>
                </c:pt>
                <c:pt idx="15">
                  <c:v>4152.225337</c:v>
                </c:pt>
                <c:pt idx="16">
                  <c:v>4159.444432</c:v>
                </c:pt>
                <c:pt idx="17">
                  <c:v>4149.830592</c:v>
                </c:pt>
                <c:pt idx="18">
                  <c:v>4534.065045</c:v>
                </c:pt>
                <c:pt idx="19">
                  <c:v>4537.6535</c:v>
                </c:pt>
                <c:pt idx="20">
                  <c:v>4526.919702</c:v>
                </c:pt>
                <c:pt idx="21">
                  <c:v>4889.705447</c:v>
                </c:pt>
                <c:pt idx="22">
                  <c:v>4868.257886</c:v>
                </c:pt>
                <c:pt idx="23">
                  <c:v>4867.18424</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1617.185971</c:v>
                </c:pt>
                <c:pt idx="1">
                  <c:v>2003.009671</c:v>
                </c:pt>
                <c:pt idx="2">
                  <c:v>2658.470135</c:v>
                </c:pt>
                <c:pt idx="3">
                  <c:v>3241.273499</c:v>
                </c:pt>
                <c:pt idx="4">
                  <c:v>3621.339874</c:v>
                </c:pt>
                <c:pt idx="5">
                  <c:v>4076.387127</c:v>
                </c:pt>
                <c:pt idx="6">
                  <c:v>4498.318942</c:v>
                </c:pt>
                <c:pt idx="7">
                  <c:v>4867.875204</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1616.045091</c:v>
                </c:pt>
                <c:pt idx="1">
                  <c:v>1615.109922</c:v>
                </c:pt>
                <c:pt idx="2">
                  <c:v>1620.402901</c:v>
                </c:pt>
                <c:pt idx="3">
                  <c:v>2000.788052</c:v>
                </c:pt>
                <c:pt idx="4">
                  <c:v>1996.810621</c:v>
                </c:pt>
                <c:pt idx="5">
                  <c:v>2011.43034</c:v>
                </c:pt>
                <c:pt idx="6">
                  <c:v>2655.712552</c:v>
                </c:pt>
                <c:pt idx="7">
                  <c:v>2658.472716</c:v>
                </c:pt>
                <c:pt idx="8">
                  <c:v>2661.225136</c:v>
                </c:pt>
                <c:pt idx="9">
                  <c:v>3249.552741</c:v>
                </c:pt>
                <c:pt idx="10">
                  <c:v>3235.681023</c:v>
                </c:pt>
                <c:pt idx="11">
                  <c:v>3238.586734</c:v>
                </c:pt>
                <c:pt idx="12">
                  <c:v>3629.990076</c:v>
                </c:pt>
                <c:pt idx="13">
                  <c:v>3617.757859</c:v>
                </c:pt>
                <c:pt idx="14">
                  <c:v>3616.271686</c:v>
                </c:pt>
                <c:pt idx="15">
                  <c:v>4094.636539</c:v>
                </c:pt>
                <c:pt idx="16">
                  <c:v>4076.859337</c:v>
                </c:pt>
                <c:pt idx="17">
                  <c:v>4057.665504</c:v>
                </c:pt>
                <c:pt idx="18">
                  <c:v>4494.686888</c:v>
                </c:pt>
                <c:pt idx="19">
                  <c:v>4502.376717</c:v>
                </c:pt>
                <c:pt idx="20">
                  <c:v>4497.893221</c:v>
                </c:pt>
                <c:pt idx="21">
                  <c:v>4879.280349</c:v>
                </c:pt>
                <c:pt idx="22">
                  <c:v>4862.31611</c:v>
                </c:pt>
                <c:pt idx="23">
                  <c:v>4862.029154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5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2.474528</c:v>
                </c:pt>
                <c:pt idx="1">
                  <c:v>2.119759</c:v>
                </c:pt>
                <c:pt idx="2">
                  <c:v>1.980397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2.692156</c:v>
                </c:pt>
                <c:pt idx="1">
                  <c:v>2.210569</c:v>
                </c:pt>
                <c:pt idx="2">
                  <c:v>2.045659</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2.596512</c:v>
                </c:pt>
                <c:pt idx="1">
                  <c:v>2.275168</c:v>
                </c:pt>
                <c:pt idx="2">
                  <c:v>2.013751</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2.587732</c:v>
                </c:pt>
                <c:pt idx="1">
                  <c:v>2.201832</c:v>
                </c:pt>
                <c:pt idx="2">
                  <c:v>2.013269</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4"/>
          <c:min val="0"/>
        </c:scaling>
        <c:delete val="0"/>
        <c:axPos val="l"/>
        <c:majorGridlines>
          <c:spPr>
            <a:ln xmlns:a="http://schemas.openxmlformats.org/drawingml/2006/main" w="6668">
              <a:solidFill>
                <a:srgbClr val="DDDDDD"/>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
      </c:valAx>
    </c:plotArea>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745.269584</c:v>
                </c:pt>
                <c:pt idx="1">
                  <c:v>644.74269</c:v>
                </c:pt>
                <c:pt idx="2">
                  <c:v>602.354447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787.647926</c:v>
                </c:pt>
                <c:pt idx="1">
                  <c:v>679.086766</c:v>
                </c:pt>
                <c:pt idx="2">
                  <c:v>616.104375</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766.969601</c:v>
                </c:pt>
                <c:pt idx="1">
                  <c:v>672.049502</c:v>
                </c:pt>
                <c:pt idx="2">
                  <c:v>606.494352</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766.629037</c:v>
                </c:pt>
                <c:pt idx="1">
                  <c:v>665.292986</c:v>
                </c:pt>
                <c:pt idx="2">
                  <c:v>608.317725</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0"/>
      </c:valAx>
    </c:plotArea>
    <c:plotVisOnly val="1"/>
  </c:chart>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16.419807</c:v>
                </c:pt>
                <c:pt idx="1">
                  <c:v>16.09527</c:v>
                </c:pt>
                <c:pt idx="2">
                  <c:v>24.324803</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12.793509</c:v>
                </c:pt>
                <c:pt idx="1">
                  <c:v>15.458788</c:v>
                </c:pt>
                <c:pt idx="2">
                  <c:v>24.316188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11.900901</c:v>
                </c:pt>
                <c:pt idx="1">
                  <c:v>13.413897</c:v>
                </c:pt>
                <c:pt idx="2">
                  <c:v>23.042388</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13.704739</c:v>
                </c:pt>
                <c:pt idx="1">
                  <c:v>14.989318</c:v>
                </c:pt>
                <c:pt idx="2">
                  <c:v>23.89446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3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0"/>
      </c:valAx>
    </c:plotArea>
    <c:plotVisOnly val="1"/>
  </c:chart>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99.985437</c:v>
                </c:pt>
                <c:pt idx="1">
                  <c:v>99.508403</c:v>
                </c:pt>
                <c:pt idx="2">
                  <c:v>99.484252</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99.307692</c:v>
                </c:pt>
                <c:pt idx="1">
                  <c:v>99.99115</c:v>
                </c:pt>
                <c:pt idx="2">
                  <c:v>99.879518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99.085</c:v>
                </c:pt>
                <c:pt idx="1">
                  <c:v>99.517544</c:v>
                </c:pt>
                <c:pt idx="2">
                  <c:v>99.980237</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99.459376</c:v>
                </c:pt>
                <c:pt idx="1">
                  <c:v>99.672366</c:v>
                </c:pt>
                <c:pt idx="2">
                  <c:v>99.781336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5"/>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
      </c:valAx>
    </c:plotArea>
    <c:plotVisOnly val="1"/>
  </c:chart>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390525" y="2200275"/>
            <a:ext cx="11239500" cy="1809750"/>
          </a:xfrm>
        </p:spPr>
        <p:txBody>
          <a:bodyPr xmlns:a="http://schemas.openxmlformats.org/drawingml/2006/main" lIns="0" tIns="0" rIns="0" bIns="0" anchor="t">
            <a:noAutofit/>
          </a:bodyPr>
          <a:lstStyle xmlns:a="http://schemas.openxmlformats.org/drawingml/2006/main"/>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Inference</a:t>
            </a:r>
          </a:p>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Optimization</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390525" y="4276725"/>
            <a:ext cx="10953750" cy="495300"/>
          </a:xfrm>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Improving GPU Utilization for LLM Inference</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390525" y="390525"/>
            <a:ext cx="10477500" cy="42862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
            </a:r>
          </a:p>
        </p:txBody>
      </p:sp>
      <p:sp>
        <p:nvSpPr>
          <p:cNvPr id="7" name="SaturateLLM text 1">
            <a:extLst xmlns:a="http://schemas.openxmlformats.org/drawingml/2006/main">
              <a:ext uri="{FF2B5EF4-FFF2-40B4-BE49-F238E27FC236}">
                <a16:creationId xmlns:a16="http://schemas.microsoft.com/office/drawing/2014/main" id="{B953246D-7AD4-4CFC-B7E3-0AC62210C0FD}"/>
              </a:ext>
            </a:extLst>
          </p:cNvPr>
          <p:cNvSpPr>
            <a:spLocks xmlns:a="http://schemas.openxmlformats.org/drawingml/2006/main" noGrp="1"/>
          </p:cNvSpPr>
          <p:nvPr/>
        </p:nvSpPr>
        <p:spPr>
          <a:xfrm xmlns:a="http://schemas.openxmlformats.org/drawingml/2006/main">
            <a:off x="393383" y="5362575"/>
            <a:ext cx="1114425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
            </a:r>
          </a:p>
        </p:txBody>
      </p:sp>
      <p:sp>
        <p:nvSpPr>
          <p:cNvPr id="8" name="SaturateLLM text 1">
            <a:extLst xmlns:a="http://schemas.openxmlformats.org/drawingml/2006/main">
              <a:ext uri="{FF2B5EF4-FFF2-40B4-BE49-F238E27FC236}">
                <a16:creationId xmlns:a16="http://schemas.microsoft.com/office/drawing/2014/main" id="{BF686EAB-466A-49BA-8220-640A479A0D72}"/>
              </a:ext>
            </a:extLst>
          </p:cNvPr>
          <p:cNvSpPr>
            <a:spLocks xmlns:a="http://schemas.openxmlformats.org/drawingml/2006/main" noGrp="1"/>
          </p:cNvSpPr>
          <p:nvPr/>
        </p:nvSpPr>
        <p:spPr>
          <a:xfrm xmlns:a="http://schemas.openxmlformats.org/drawingml/2006/main">
            <a:off x="393383" y="6267450"/>
            <a:ext cx="111442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
            </a:r>
          </a:p>
        </p:txBody>
      </p:sp>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5dc162c76e8d4831"/>
              </a:rPr>
              <a:t>Research question and evidence</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2598689-54C9-18A7-3A19-ED76AA08988F}" type="slidenum">
              <a:rPr sz="1125" b="0">
                <a:solidFill>
                  <a:srgbClr val="000000"/>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Research question</a:t>
            </a:r>
          </a:p>
        </p:txBody>
      </p:sp>
      <p:sp>
        <p:nvSpPr>
          <p:cNvPr id="534" name="">
            <a:extLst xmlns:a="http://schemas.openxmlformats.org/drawingml/2006/main">
              <a:ext uri="{FF2B5EF4-FFF2-40B4-BE49-F238E27FC236}">
                <a16:creationId xmlns:a16="http://schemas.microsoft.com/office/drawing/2014/main" id="{0BC4D81C-1ABE-4F08-A536-8000F9E1A3EC}"/>
              </a:ext>
            </a:extLst>
          </p:cNvPr>
          <p:cNvSpPr>
            <a:spLocks xmlns:a="http://schemas.openxmlformats.org/drawingml/2006/main" noGrp="1"/>
          </p:cNvSpPr>
          <p:nvPr/>
        </p:nvSpPr>
        <p:spPr>
          <a:xfrm xmlns:a="http://schemas.openxmlformats.org/drawingml/2006/main">
            <a:off x="390525" y="1371600"/>
            <a:ext cx="11401425"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000000"/>
                </a:solidFill>
                <a:latin typeface="Helvetica Neue"/>
                <a:ea typeface="Helvetica Neue"/>
                <a:cs typeface="Helvetica Neue"/>
              </a:defRPr>
            </a:pPr>
            <a:r>
              <a:rPr sz="2475" b="1">
                <a:solidFill>
                  <a:srgbClr val="000000"/>
                </a:solidFill>
                <a:latin typeface="Helvetica Neue"/>
                <a:ea typeface="Helvetica Neue"/>
                <a:cs typeface="Helvetica Neue"/>
              </a:rPr>
              <a:t>Which limits to GPU utilization can we reduce to improve LLM throughput within latency targets?</a:t>
            </a:r>
          </a:p>
        </p:txBody>
      </p:sp>
      <p:sp>
        <p:nvSpPr>
          <p:cNvPr id="535" name="">
            <a:extLst xmlns:a="http://schemas.openxmlformats.org/drawingml/2006/main">
              <a:ext uri="{FF2B5EF4-FFF2-40B4-BE49-F238E27FC236}">
                <a16:creationId xmlns:a16="http://schemas.microsoft.com/office/drawing/2014/main" id="{4118B654-8AC7-4F1E-B2ED-6C8ACCE5269C}"/>
              </a:ext>
            </a:extLst>
          </p:cNvPr>
          <p:cNvSpPr>
            <a:spLocks xmlns:a="http://schemas.openxmlformats.org/drawingml/2006/main" noGrp="1"/>
          </p:cNvSpPr>
          <p:nvPr/>
        </p:nvSpPr>
        <p:spPr>
          <a:xfrm xmlns:a="http://schemas.openxmlformats.org/drawingml/2006/main">
            <a:off x="390525" y="2705100"/>
            <a:ext cx="53816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Initial investigation</a:t>
            </a:r>
          </a:p>
        </p:txBody>
      </p:sp>
      <p:sp>
        <p:nvSpPr>
          <p:cNvPr id="536" name="">
            <a:extLst xmlns:a="http://schemas.openxmlformats.org/drawingml/2006/main">
              <a:ext uri="{FF2B5EF4-FFF2-40B4-BE49-F238E27FC236}">
                <a16:creationId xmlns:a16="http://schemas.microsoft.com/office/drawing/2014/main" id="{5A219B30-A6E9-423F-8776-9AB29DA18ED7}"/>
              </a:ext>
            </a:extLst>
          </p:cNvPr>
          <p:cNvSpPr>
            <a:spLocks xmlns:a="http://schemas.openxmlformats.org/drawingml/2006/main" noGrp="1"/>
          </p:cNvSpPr>
          <p:nvPr/>
        </p:nvSpPr>
        <p:spPr>
          <a:xfrm xmlns:a="http://schemas.openxmlformats.org/drawingml/2006/main">
            <a:off x="390525" y="3114675"/>
            <a:ext cx="538162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We tested CUDA graph settings and admission during a burst of long prompts on one A100 40 GB.</a:t>
            </a:r>
          </a:p>
        </p:txBody>
      </p:sp>
      <p:sp>
        <p:nvSpPr>
          <p:cNvPr id="537" name="">
            <a:extLst xmlns:a="http://schemas.openxmlformats.org/drawingml/2006/main">
              <a:ext uri="{FF2B5EF4-FFF2-40B4-BE49-F238E27FC236}">
                <a16:creationId xmlns:a16="http://schemas.microsoft.com/office/drawing/2014/main" id="{32DAB98B-4045-4A05-8183-2F59236F998C}"/>
              </a:ext>
            </a:extLst>
          </p:cNvPr>
          <p:cNvSpPr>
            <a:spLocks xmlns:a="http://schemas.openxmlformats.org/drawingml/2006/main" noGrp="1"/>
          </p:cNvSpPr>
          <p:nvPr/>
        </p:nvSpPr>
        <p:spPr>
          <a:xfrm xmlns:a="http://schemas.openxmlformats.org/drawingml/2006/main">
            <a:off x="6257925" y="2705100"/>
            <a:ext cx="55340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Extension</a:t>
            </a:r>
          </a:p>
        </p:txBody>
      </p:sp>
      <p:sp>
        <p:nvSpPr>
          <p:cNvPr id="538" name="">
            <a:extLst xmlns:a="http://schemas.openxmlformats.org/drawingml/2006/main">
              <a:ext uri="{FF2B5EF4-FFF2-40B4-BE49-F238E27FC236}">
                <a16:creationId xmlns:a16="http://schemas.microsoft.com/office/drawing/2014/main" id="{3220832E-268A-4949-BF8C-919823292E7A}"/>
              </a:ext>
            </a:extLst>
          </p:cNvPr>
          <p:cNvSpPr>
            <a:spLocks xmlns:a="http://schemas.openxmlformats.org/drawingml/2006/main" noGrp="1"/>
          </p:cNvSpPr>
          <p:nvPr/>
        </p:nvSpPr>
        <p:spPr>
          <a:xfrm xmlns:a="http://schemas.openxmlformats.org/drawingml/2006/main">
            <a:off x="6257925" y="3114675"/>
            <a:ext cx="553402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Profile where GPU capacity remains unused and test whether a targeted change improves complete inference.</a:t>
            </a:r>
          </a:p>
        </p:txBody>
      </p:sp>
      <p:sp>
        <p:nvSpPr>
          <p:cNvPr id="539" name="">
            <a:extLst xmlns:a="http://schemas.openxmlformats.org/drawingml/2006/main">
              <a:ext uri="{FF2B5EF4-FFF2-40B4-BE49-F238E27FC236}">
                <a16:creationId xmlns:a16="http://schemas.microsoft.com/office/drawing/2014/main" id="{935ADD8D-71D9-4CBB-B59C-A1853CEB9FC3}"/>
              </a:ext>
            </a:extLst>
          </p:cNvPr>
          <p:cNvSpPr>
            <a:spLocks xmlns:a="http://schemas.openxmlformats.org/drawingml/2006/main" noGrp="1"/>
          </p:cNvSpPr>
          <p:nvPr/>
        </p:nvSpPr>
        <p:spPr>
          <a:xfrm xmlns:a="http://schemas.openxmlformats.org/drawingml/2006/main">
            <a:off x="390525" y="4648200"/>
            <a:ext cx="11401425"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Hypothesis: reducing a measured scheduling or execution bottleneck can increase throughput while preserving response-time targets.</a:t>
            </a:r>
          </a:p>
        </p:txBody>
      </p:sp>
      <p:sp>
        <p:nvSpPr>
          <p:cNvPr id="540" name="">
            <a:extLst xmlns:a="http://schemas.openxmlformats.org/drawingml/2006/main">
              <a:ext uri="{FF2B5EF4-FFF2-40B4-BE49-F238E27FC236}">
                <a16:creationId xmlns:a16="http://schemas.microsoft.com/office/drawing/2014/main" id="{FA3CE77F-DC29-463D-A870-44828B67BDD6}"/>
              </a:ext>
            </a:extLst>
          </p:cNvPr>
          <p:cNvSpPr>
            <a:spLocks xmlns:a="http://schemas.openxmlformats.org/drawingml/2006/main" noGrp="1"/>
          </p:cNvSpPr>
          <p:nvPr/>
        </p:nvSpPr>
        <p:spPr>
          <a:xfrm xmlns:a="http://schemas.openxmlformats.org/drawingml/2006/main">
            <a:off x="390525" y="5762625"/>
            <a:ext cx="11401425" cy="5048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SLO goodput counts requests meeting latency targets per second. The recoverable capacity remains to be measured.</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02359C0-8A7A-196E-DD58-8E6569619F09}" type="slidenum">
              <a:rPr sz="1125" b="0">
                <a:solidFill>
                  <a:srgbClr val="000000"/>
                </a:solidFill>
                <a:latin typeface="Helvetica Neue"/>
                <a:ea typeface="Helvetica Neue"/>
                <a:cs typeface="Helvetica Neue"/>
              </a:rPr>
              <a:t>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Previous Literature Review</a:t>
            </a:r>
          </a:p>
        </p:txBody>
      </p:sp>
      <p:sp>
        <p:nvSpPr>
          <p:cNvPr id="534" name="">
            <a:extLst xmlns:a="http://schemas.openxmlformats.org/drawingml/2006/main">
              <a:ext uri="{FF2B5EF4-FFF2-40B4-BE49-F238E27FC236}">
                <a16:creationId xmlns:a16="http://schemas.microsoft.com/office/drawing/2014/main" id="{3E5EB23F-C189-429D-A225-8BEDD260F1E9}"/>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e1dcc4c24d1a429b"/>
              </a:rPr>
              <a:t>SOLA</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e154fdd42ef14e99"/>
              </a:rPr>
              <a:t>DuetServe</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81bea58fef5a44eb"/>
              </a:rPr>
              <a:t>Prism recommendation serving</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FD6AB9A-5F9E-5F59-51AB-3C8734130965}" type="slidenum">
              <a:rPr sz="1125" b="0">
                <a:solidFill>
                  <a:srgbClr val="000000"/>
                </a:solidFill>
                <a:latin typeface="Helvetica Neue"/>
                <a:ea typeface="Helvetica Neue"/>
                <a:cs typeface="Helvetica Neue"/>
              </a:rPr>
              <a:t>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What existing inference systems optimize</a:t>
            </a:r>
          </a:p>
        </p:txBody>
      </p:sp>
      <p:sp>
        <p:nvSpPr>
          <p:cNvPr id="534" name="">
            <a:extLst xmlns:a="http://schemas.openxmlformats.org/drawingml/2006/main">
              <a:ext uri="{FF2B5EF4-FFF2-40B4-BE49-F238E27FC236}">
                <a16:creationId xmlns:a16="http://schemas.microsoft.com/office/drawing/2014/main" id="{85399E51-8239-4125-BB3A-0A5A3D06378E}"/>
              </a:ext>
            </a:extLst>
          </p:cNvPr>
          <p:cNvSpPr>
            <a:spLocks xmlns:a="http://schemas.openxmlformats.org/drawingml/2006/main" noGrp="1"/>
          </p:cNvSpPr>
          <p:nvPr/>
        </p:nvSpPr>
        <p:spPr>
          <a:xfrm xmlns:a="http://schemas.openxmlformats.org/drawingml/2006/main">
            <a:off x="390525" y="1362075"/>
            <a:ext cx="11401425"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Selected systems address request scheduling, GPU execution overlap and resource allocation.</a:t>
            </a:r>
          </a:p>
        </p:txBody>
      </p:sp>
      <p:graphicFrame>
        <p:nvGraphicFramePr>
          <p:cNvPr id="541" name=""/>
          <p:cNvGraphicFramePr/>
          <p:nvPr/>
        </p:nvGraphicFramePr>
        <p:xfrm>
          <a:off xmlns:a="http://schemas.openxmlformats.org/drawingml/2006/main" x="390525" y="2276475"/>
          <a:ext xmlns:a="http://schemas.openxmlformats.org/drawingml/2006/main" cx="11401425" cy="3076575"/>
        </p:xfrm>
        <a:graphic xmlns:a="http://schemas.openxmlformats.org/drawingml/2006/main">
          <a:graphicData uri="http://schemas.openxmlformats.org/drawingml/2006/table">
            <a:tbl>
              <a:tblPr firstRow="0" bandRow="0"/>
              <a:tblGrid>
                <a:gridCol w="2143125"/>
                <a:gridCol w="4772025"/>
                <a:gridCol w="4486275"/>
              </a:tblGrid>
              <a:tr h="769144">
                <a:tc>
                  <a:txBody>
                    <a:bodyPr/>
                    <a:lstStyle/>
                    <a:p>
                      <a:r>
                        <a:rPr sz="1725" b="1">
                          <a:solidFill>
                            <a:srgbClr val="000000"/>
                          </a:solidFill>
                          <a:latin typeface="Helvetica Neue"/>
                          <a:ea typeface="Helvetica Neue"/>
                          <a:cs typeface="Helvetica Neue"/>
                        </a:rPr>
                        <a:t>System</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What it tries to improve</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How the selected experiment tests it</a:t>
                      </a:r>
                    </a:p>
                  </a:txBody>
                  <a:tcPr marL="95250" marR="95250" marT="76200" marB="57150" anchor="t">
                    <a:solidFill>
                      <a:srgbClr val="EAF6FD"/>
                    </a:solidFill>
                  </a:tcPr>
                </a:tc>
              </a:tr>
              <a:tr h="769144">
                <a:tc>
                  <a:txBody>
                    <a:bodyPr/>
                    <a:lstStyle/>
                    <a:p>
                      <a:r>
                        <a:rPr sz="1725">
                          <a:solidFill>
                            <a:srgbClr val="000000"/>
                          </a:solidFill>
                          <a:latin typeface="Helvetica Neue"/>
                          <a:ea typeface="Helvetica Neue"/>
                          <a:cs typeface="Helvetica Neue"/>
                        </a:rPr>
                        <a:t>SOLA</a:t>
                      </a:r>
                    </a:p>
                    <a:p>
                      <a:r>
                        <a:rPr sz="1725">
                          <a:solidFill>
                            <a:srgbClr val="000000"/>
                          </a:solidFill>
                          <a:latin typeface="Helvetica Neue"/>
                          <a:ea typeface="Helvetica Neue"/>
                          <a:cs typeface="Helvetica Neue"/>
                        </a:rPr>
                        <a:t>MLSys 2025</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Request order and work per GPU iteration, using request and system state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Compare first-token and per-token latency against the paper’s vLLM baseline</a:t>
                      </a:r>
                    </a:p>
                  </a:txBody>
                  <a:tcPr marL="95250" marR="95250" marT="76200" marB="57150" anchor="t">
                    <a:solidFill>
                      <a:srgbClr val="FFFFFF"/>
                    </a:solidFill>
                  </a:tcPr>
                </a:tc>
              </a:tr>
              <a:tr h="769144">
                <a:tc>
                  <a:txBody>
                    <a:bodyPr/>
                    <a:lstStyle/>
                    <a:p>
                      <a:r>
                        <a:rPr sz="1725">
                          <a:solidFill>
                            <a:srgbClr val="000000"/>
                          </a:solidFill>
                          <a:latin typeface="Helvetica Neue"/>
                          <a:ea typeface="Helvetica Neue"/>
                          <a:cs typeface="Helvetica Neue"/>
                        </a:rPr>
                        <a:t>DuetServe</a:t>
                      </a:r>
                    </a:p>
                    <a:p>
                      <a:r>
                        <a:rPr sz="1725">
                          <a:solidFill>
                            <a:srgbClr val="000000"/>
                          </a:solidFill>
                          <a:latin typeface="Helvetica Neue"/>
                          <a:ea typeface="Helvetica Neue"/>
                          <a:cs typeface="Helvetica Neue"/>
                        </a:rPr>
                        <a:t>ICML 2026</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Sharing GPU execution resources between prefill and decode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Increase offered request rate and compare completed requests/s</a:t>
                      </a:r>
                    </a:p>
                  </a:txBody>
                  <a:tcPr marL="95250" marR="95250" marT="76200" marB="57150" anchor="t">
                    <a:solidFill>
                      <a:srgbClr val="FFFFFF"/>
                    </a:solidFill>
                  </a:tcPr>
                </a:tc>
              </a:tr>
              <a:tr h="769144">
                <a:tc>
                  <a:txBody>
                    <a:bodyPr/>
                    <a:lstStyle/>
                    <a:p>
                      <a:r>
                        <a:rPr sz="1725">
                          <a:solidFill>
                            <a:srgbClr val="000000"/>
                          </a:solidFill>
                          <a:latin typeface="Helvetica Neue"/>
                          <a:ea typeface="Helvetica Neue"/>
                          <a:cs typeface="Helvetica Neue"/>
                        </a:rPr>
                        <a:t>Prism</a:t>
                      </a:r>
                    </a:p>
                    <a:p>
                      <a:r>
                        <a:rPr sz="1725">
                          <a:solidFill>
                            <a:srgbClr val="000000"/>
                          </a:solidFill>
                          <a:latin typeface="Helvetica Neue"/>
                          <a:ea typeface="Helvetica Neue"/>
                          <a:cs typeface="Helvetica Neue"/>
                        </a:rPr>
                        <a:t>NSDI 2025</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CPU/GPU resource use in recommendation inference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Vary CPU-side and GPU-side instances and compare goodput per GPU node</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4560ECE8-097E-4297-A83C-24D36EE7F70F}"/>
              </a:ext>
            </a:extLst>
          </p:cNvPr>
          <p:cNvSpPr>
            <a:spLocks xmlns:a="http://schemas.openxmlformats.org/drawingml/2006/main" noGrp="1"/>
          </p:cNvSpPr>
          <p:nvPr/>
        </p:nvSpPr>
        <p:spPr>
          <a:xfrm xmlns:a="http://schemas.openxmlformats.org/drawingml/2006/main">
            <a:off x="390525" y="5695950"/>
            <a:ext cx="11401425"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Their gains use different hardware, workloads and latency targets. They do not form a single performance ranking.</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6995d12ec4db4ae4"/>
              </a:rPr>
              <a:t>Hong et al., SOLA, MLSys 2025. Original Figure 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E5B3003-2C54-13C6-9832-7637201064DE}" type="slidenum">
              <a:rPr sz="1125" b="0">
                <a:solidFill>
                  <a:srgbClr val="000000"/>
                </a:solidFill>
                <a:latin typeface="Helvetica Neue"/>
                <a:ea typeface="Helvetica Neue"/>
                <a:cs typeface="Helvetica Neue"/>
              </a:rPr>
              <a:t>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SOLA: scheduling to meet latency targets</a:t>
            </a:r>
          </a:p>
        </p:txBody>
      </p:sp>
      <p:pic>
        <p:nvPicPr>
          <p:cNvPr id="545" name=""/>
          <p:cNvPicPr>
            <a:picLocks xmlns:a="http://schemas.openxmlformats.org/drawingml/2006/main" noChangeAspect="1"/>
          </p:cNvPicPr>
          <p:nvPr/>
        </p:nvPicPr>
        <p:blipFill>
          <a:blip xmlns:r="http://schemas.openxmlformats.org/officeDocument/2006/relationships" xmlns:a="http://schemas.openxmlformats.org/drawingml/2006/main" r:embed="R48566229824e4096"/>
          <a:stretch xmlns:a="http://schemas.openxmlformats.org/drawingml/2006/main"/>
        </p:blipFill>
        <p:spPr>
          <a:xfrm xmlns:a="http://schemas.openxmlformats.org/drawingml/2006/main">
            <a:off x="390525" y="2182403"/>
            <a:ext cx="5600700" cy="2940869"/>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EDB34F06-F270-4EA4-8C76-875B251322B6}"/>
              </a:ext>
            </a:extLst>
          </p:cNvPr>
          <p:cNvSpPr>
            <a:spLocks xmlns:a="http://schemas.openxmlformats.org/drawingml/2006/main" noGrp="1"/>
          </p:cNvSpPr>
          <p:nvPr/>
        </p:nvSpPr>
        <p:spPr>
          <a:xfrm xmlns:a="http://schemas.openxmlformats.org/drawingml/2006/main">
            <a:off x="390525" y="5295900"/>
            <a:ext cx="5600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Read the graph: each point is a request.</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x = first-token delay (TTFT), y = time per output token (TPOT). The shaded corner meets both targets.</a:t>
            </a:r>
          </a:p>
        </p:txBody>
      </p:sp>
      <p:sp>
        <p:nvSpPr>
          <p:cNvPr id="536" name="">
            <a:extLst xmlns:a="http://schemas.openxmlformats.org/drawingml/2006/main">
              <a:ext uri="{FF2B5EF4-FFF2-40B4-BE49-F238E27FC236}">
                <a16:creationId xmlns:a16="http://schemas.microsoft.com/office/drawing/2014/main" id="{53885BE5-19AE-4B0C-89D6-2810BD395572}"/>
              </a:ext>
            </a:extLst>
          </p:cNvPr>
          <p:cNvSpPr>
            <a:spLocks xmlns:a="http://schemas.openxmlformats.org/drawingml/2006/main" noGrp="1"/>
          </p:cNvSpPr>
          <p:nvPr/>
        </p:nvSpPr>
        <p:spPr>
          <a:xfrm xmlns:a="http://schemas.openxmlformats.org/drawingml/2006/main">
            <a:off x="6505575" y="1457325"/>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7" name="">
            <a:extLst xmlns:a="http://schemas.openxmlformats.org/drawingml/2006/main">
              <a:ext uri="{FF2B5EF4-FFF2-40B4-BE49-F238E27FC236}">
                <a16:creationId xmlns:a16="http://schemas.microsoft.com/office/drawing/2014/main" id="{1CBEA58F-404B-4F0A-9B1A-AC4EAC117DC3}"/>
              </a:ext>
            </a:extLst>
          </p:cNvPr>
          <p:cNvSpPr>
            <a:spLocks xmlns:a="http://schemas.openxmlformats.org/drawingml/2006/main" noGrp="1"/>
          </p:cNvSpPr>
          <p:nvPr/>
        </p:nvSpPr>
        <p:spPr>
          <a:xfrm xmlns:a="http://schemas.openxmlformats.org/drawingml/2006/main">
            <a:off x="6505575" y="1866900"/>
            <a:ext cx="5286375"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SOLA changes request order and work per iteration using current request and engine state.</a:t>
            </a:r>
          </a:p>
        </p:txBody>
      </p:sp>
      <p:sp>
        <p:nvSpPr>
          <p:cNvPr id="538" name="">
            <a:extLst xmlns:a="http://schemas.openxmlformats.org/drawingml/2006/main">
              <a:ext uri="{FF2B5EF4-FFF2-40B4-BE49-F238E27FC236}">
                <a16:creationId xmlns:a16="http://schemas.microsoft.com/office/drawing/2014/main" id="{CB21555E-612E-4069-8D86-E7A2C9B14EAA}"/>
              </a:ext>
            </a:extLst>
          </p:cNvPr>
          <p:cNvSpPr>
            <a:spLocks xmlns:a="http://schemas.openxmlformats.org/drawingml/2006/main" noGrp="1"/>
          </p:cNvSpPr>
          <p:nvPr/>
        </p:nvSpPr>
        <p:spPr>
          <a:xfrm xmlns:a="http://schemas.openxmlformats.org/drawingml/2006/main">
            <a:off x="6505575" y="293370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39" name="">
            <a:extLst xmlns:a="http://schemas.openxmlformats.org/drawingml/2006/main">
              <a:ext uri="{FF2B5EF4-FFF2-40B4-BE49-F238E27FC236}">
                <a16:creationId xmlns:a16="http://schemas.microsoft.com/office/drawing/2014/main" id="{58F661DF-BD5D-4655-88A0-584A404CAE76}"/>
              </a:ext>
            </a:extLst>
          </p:cNvPr>
          <p:cNvSpPr>
            <a:spLocks xmlns:a="http://schemas.openxmlformats.org/drawingml/2006/main" noGrp="1"/>
          </p:cNvSpPr>
          <p:nvPr/>
        </p:nvSpPr>
        <p:spPr>
          <a:xfrm xmlns:a="http://schemas.openxmlformats.org/drawingml/2006/main">
            <a:off x="6505575" y="3343275"/>
            <a:ext cx="5286375"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Llama3-70B on 4 A100s. ShareGPT at 4.6 requests/s. Targets: TTFT 0.5 s and TPOT 0.2 s.</a:t>
            </a:r>
          </a:p>
        </p:txBody>
      </p:sp>
      <p:sp>
        <p:nvSpPr>
          <p:cNvPr id="540" name="">
            <a:extLst xmlns:a="http://schemas.openxmlformats.org/drawingml/2006/main">
              <a:ext uri="{FF2B5EF4-FFF2-40B4-BE49-F238E27FC236}">
                <a16:creationId xmlns:a16="http://schemas.microsoft.com/office/drawing/2014/main" id="{E8CCE8A7-5485-47AD-8339-9242942083CB}"/>
              </a:ext>
            </a:extLst>
          </p:cNvPr>
          <p:cNvSpPr>
            <a:spLocks xmlns:a="http://schemas.openxmlformats.org/drawingml/2006/main" noGrp="1"/>
          </p:cNvSpPr>
          <p:nvPr/>
        </p:nvSpPr>
        <p:spPr>
          <a:xfrm xmlns:a="http://schemas.openxmlformats.org/drawingml/2006/main">
            <a:off x="6505575" y="455295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Result and relevance</a:t>
            </a:r>
          </a:p>
        </p:txBody>
      </p:sp>
      <p:sp>
        <p:nvSpPr>
          <p:cNvPr id="541" name="">
            <a:extLst xmlns:a="http://schemas.openxmlformats.org/drawingml/2006/main">
              <a:ext uri="{FF2B5EF4-FFF2-40B4-BE49-F238E27FC236}">
                <a16:creationId xmlns:a16="http://schemas.microsoft.com/office/drawing/2014/main" id="{725CDD3E-258A-4366-99B7-E15B5322C033}"/>
              </a:ext>
            </a:extLst>
          </p:cNvPr>
          <p:cNvSpPr>
            <a:spLocks xmlns:a="http://schemas.openxmlformats.org/drawingml/2006/main" noGrp="1"/>
          </p:cNvSpPr>
          <p:nvPr/>
        </p:nvSpPr>
        <p:spPr>
          <a:xfrm xmlns:a="http://schemas.openxmlformats.org/drawingml/2006/main">
            <a:off x="6505575" y="4962525"/>
            <a:ext cx="5286375"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Target attainment rises from 65% to 98%. Scheduling can change useful completions. This is the paper’s result, under its own setup.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2dcdea5ad6c2485b"/>
              </a:rPr>
              <a:t>Gao et al., DuetServe, ICML 2026. Figure 6 and §5.2</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8C630A04-5A25-9E0C-9436-126091DB86B3}" type="slidenum">
              <a:rPr sz="1125" b="0">
                <a:solidFill>
                  <a:srgbClr val="000000"/>
                </a:solidFill>
                <a:latin typeface="Helvetica Neue"/>
                <a:ea typeface="Helvetica Neue"/>
                <a:cs typeface="Helvetica Neue"/>
              </a:rPr>
              <a:t>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DuetServe: sharing GPU resources across inference stages</a:t>
            </a:r>
          </a:p>
        </p:txBody>
      </p:sp>
      <p:pic>
        <p:nvPicPr>
          <p:cNvPr id="546" name=""/>
          <p:cNvPicPr>
            <a:picLocks xmlns:a="http://schemas.openxmlformats.org/drawingml/2006/main" noChangeAspect="1"/>
          </p:cNvPicPr>
          <p:nvPr/>
        </p:nvPicPr>
        <p:blipFill>
          <a:blip xmlns:r="http://schemas.openxmlformats.org/officeDocument/2006/relationships" xmlns:a="http://schemas.openxmlformats.org/drawingml/2006/main" r:embed="Rdfe18ac4f88e43e7"/>
          <a:stretch xmlns:a="http://schemas.openxmlformats.org/drawingml/2006/main"/>
        </p:blipFill>
        <p:spPr>
          <a:xfrm xmlns:a="http://schemas.openxmlformats.org/drawingml/2006/main">
            <a:off x="390525" y="1729154"/>
            <a:ext cx="2057400" cy="1094642"/>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76184C0C-3EA9-44BB-B788-D50F1EBC9BB1}"/>
              </a:ext>
            </a:extLst>
          </p:cNvPr>
          <p:cNvSpPr>
            <a:spLocks xmlns:a="http://schemas.openxmlformats.org/drawingml/2006/main" noGrp="1"/>
          </p:cNvSpPr>
          <p:nvPr/>
        </p:nvSpPr>
        <p:spPr>
          <a:xfrm xmlns:a="http://schemas.openxmlformats.org/drawingml/2006/main">
            <a:off x="2743200" y="1619250"/>
            <a:ext cx="3238500" cy="1162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QPS is incoming requests/s.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The vertical axis counts completed requests/s. Higher lines mean greater throughput.</a:t>
            </a:r>
          </a:p>
        </p:txBody>
      </p:sp>
      <p:pic>
        <p:nvPicPr>
          <p:cNvPr id="548" name=""/>
          <p:cNvPicPr>
            <a:picLocks xmlns:a="http://schemas.openxmlformats.org/drawingml/2006/main" noChangeAspect="1"/>
          </p:cNvPicPr>
          <p:nvPr/>
        </p:nvPicPr>
        <p:blipFill>
          <a:blip xmlns:r="http://schemas.openxmlformats.org/officeDocument/2006/relationships" xmlns:a="http://schemas.openxmlformats.org/drawingml/2006/main" r:embed="R03d59866284846b1"/>
          <a:stretch xmlns:a="http://schemas.openxmlformats.org/drawingml/2006/main"/>
        </p:blipFill>
        <p:spPr>
          <a:xfrm xmlns:a="http://schemas.openxmlformats.org/drawingml/2006/main">
            <a:off x="903711" y="3105150"/>
            <a:ext cx="4574327" cy="2800350"/>
          </a:xfrm>
          <a:prstGeom xmlns:a="http://schemas.openxmlformats.org/drawingml/2006/main" prst="rect">
            <a:avLst/>
          </a:prstGeom>
        </p:spPr>
      </p:pic>
      <p:sp>
        <p:nvSpPr>
          <p:cNvPr id="537" name="">
            <a:extLst xmlns:a="http://schemas.openxmlformats.org/drawingml/2006/main">
              <a:ext uri="{FF2B5EF4-FFF2-40B4-BE49-F238E27FC236}">
                <a16:creationId xmlns:a16="http://schemas.microsoft.com/office/drawing/2014/main" id="{D1C4BCD6-4E66-4EDA-A842-340E7A42153B}"/>
              </a:ext>
            </a:extLst>
          </p:cNvPr>
          <p:cNvSpPr>
            <a:spLocks xmlns:a="http://schemas.openxmlformats.org/drawingml/2006/main" noGrp="1"/>
          </p:cNvSpPr>
          <p:nvPr/>
        </p:nvSpPr>
        <p:spPr>
          <a:xfrm xmlns:a="http://schemas.openxmlformats.org/drawingml/2006/main">
            <a:off x="6505575" y="1457325"/>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8" name="">
            <a:extLst xmlns:a="http://schemas.openxmlformats.org/drawingml/2006/main">
              <a:ext uri="{FF2B5EF4-FFF2-40B4-BE49-F238E27FC236}">
                <a16:creationId xmlns:a16="http://schemas.microsoft.com/office/drawing/2014/main" id="{6C5D0D4E-7B30-44A0-B343-1E52CEB1FB2B}"/>
              </a:ext>
            </a:extLst>
          </p:cNvPr>
          <p:cNvSpPr>
            <a:spLocks xmlns:a="http://schemas.openxmlformats.org/drawingml/2006/main" noGrp="1"/>
          </p:cNvSpPr>
          <p:nvPr/>
        </p:nvSpPr>
        <p:spPr>
          <a:xfrm xmlns:a="http://schemas.openxmlformats.org/drawingml/2006/main">
            <a:off x="6505575" y="1866900"/>
            <a:ext cx="5286375" cy="904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DuetServe overlaps prompt processing with token generation using adaptive GPU resource sharing.</a:t>
            </a:r>
          </a:p>
        </p:txBody>
      </p:sp>
      <p:sp>
        <p:nvSpPr>
          <p:cNvPr id="539" name="">
            <a:extLst xmlns:a="http://schemas.openxmlformats.org/drawingml/2006/main">
              <a:ext uri="{FF2B5EF4-FFF2-40B4-BE49-F238E27FC236}">
                <a16:creationId xmlns:a16="http://schemas.microsoft.com/office/drawing/2014/main" id="{F113F168-B529-428B-8E27-A2E81B3D8556}"/>
              </a:ext>
            </a:extLst>
          </p:cNvPr>
          <p:cNvSpPr>
            <a:spLocks xmlns:a="http://schemas.openxmlformats.org/drawingml/2006/main" noGrp="1"/>
          </p:cNvSpPr>
          <p:nvPr/>
        </p:nvSpPr>
        <p:spPr>
          <a:xfrm xmlns:a="http://schemas.openxmlformats.org/drawingml/2006/main">
            <a:off x="6505575" y="299085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40" name="">
            <a:extLst xmlns:a="http://schemas.openxmlformats.org/drawingml/2006/main">
              <a:ext uri="{FF2B5EF4-FFF2-40B4-BE49-F238E27FC236}">
                <a16:creationId xmlns:a16="http://schemas.microsoft.com/office/drawing/2014/main" id="{C3C24B14-5B40-4A56-A9E3-C89EB622514C}"/>
              </a:ext>
            </a:extLst>
          </p:cNvPr>
          <p:cNvSpPr>
            <a:spLocks xmlns:a="http://schemas.openxmlformats.org/drawingml/2006/main" noGrp="1"/>
          </p:cNvSpPr>
          <p:nvPr/>
        </p:nvSpPr>
        <p:spPr>
          <a:xfrm xmlns:a="http://schemas.openxmlformats.org/drawingml/2006/main">
            <a:off x="6505575" y="3400425"/>
            <a:ext cx="5286375"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Qwen3-8B on 1 H100 80 GB. The AzureCode workload increases incoming rate from 10 to 16 requests/s.</a:t>
            </a:r>
          </a:p>
        </p:txBody>
      </p:sp>
      <p:sp>
        <p:nvSpPr>
          <p:cNvPr id="541" name="">
            <a:extLst xmlns:a="http://schemas.openxmlformats.org/drawingml/2006/main">
              <a:ext uri="{FF2B5EF4-FFF2-40B4-BE49-F238E27FC236}">
                <a16:creationId xmlns:a16="http://schemas.microsoft.com/office/drawing/2014/main" id="{8AB33092-BB29-484B-B38A-93B57475D4E2}"/>
              </a:ext>
            </a:extLst>
          </p:cNvPr>
          <p:cNvSpPr>
            <a:spLocks xmlns:a="http://schemas.openxmlformats.org/drawingml/2006/main" noGrp="1"/>
          </p:cNvSpPr>
          <p:nvPr/>
        </p:nvSpPr>
        <p:spPr>
          <a:xfrm xmlns:a="http://schemas.openxmlformats.org/drawingml/2006/main">
            <a:off x="6505575" y="453390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Result and relevance</a:t>
            </a:r>
          </a:p>
        </p:txBody>
      </p:sp>
      <p:sp>
        <p:nvSpPr>
          <p:cNvPr id="542" name="">
            <a:extLst xmlns:a="http://schemas.openxmlformats.org/drawingml/2006/main">
              <a:ext uri="{FF2B5EF4-FFF2-40B4-BE49-F238E27FC236}">
                <a16:creationId xmlns:a16="http://schemas.microsoft.com/office/drawing/2014/main" id="{84082BF0-507C-4FED-B90A-0DA1F76FC2C3}"/>
              </a:ext>
            </a:extLst>
          </p:cNvPr>
          <p:cNvSpPr>
            <a:spLocks xmlns:a="http://schemas.openxmlformats.org/drawingml/2006/main" noGrp="1"/>
          </p:cNvSpPr>
          <p:nvPr/>
        </p:nvSpPr>
        <p:spPr>
          <a:xfrm xmlns:a="http://schemas.openxmlformats.org/drawingml/2006/main">
            <a:off x="6505575" y="4943475"/>
            <a:ext cx="5286375" cy="1323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At 16 incoming requests/s: 12.43 for SGLang-Default, 13.57 for DuetServe (+9.2%, calculated). Execution scheduling affects completed work.</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4477d4baccaa4514"/>
              </a:rPr>
              <a:t>Yang et al., GPU-Disaggregated DLRM Serving, NSDI 2025. Figure 17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3D7D1C8-AE23-AA48-DF65-C742588DBE47}" type="slidenum">
              <a:rPr sz="1125" b="0">
                <a:solidFill>
                  <a:srgbClr val="000000"/>
                </a:solidFill>
                <a:latin typeface="Helvetica Neue"/>
                <a:ea typeface="Helvetica Neue"/>
                <a:cs typeface="Helvetica Neue"/>
              </a:rPr>
              <a:t>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Prism: recommendation inference across CPU and GPU nodes</a:t>
            </a:r>
          </a:p>
        </p:txBody>
      </p:sp>
      <p:sp>
        <p:nvSpPr>
          <p:cNvPr id="534" name="">
            <a:extLst xmlns:a="http://schemas.openxmlformats.org/drawingml/2006/main">
              <a:ext uri="{FF2B5EF4-FFF2-40B4-BE49-F238E27FC236}">
                <a16:creationId xmlns:a16="http://schemas.microsoft.com/office/drawing/2014/main" id="{38E55B01-951F-48BA-9C08-6DA4A59C9011}"/>
              </a:ext>
            </a:extLst>
          </p:cNvPr>
          <p:cNvSpPr>
            <a:spLocks xmlns:a="http://schemas.openxmlformats.org/drawingml/2006/main" noGrp="1"/>
          </p:cNvSpPr>
          <p:nvPr/>
        </p:nvSpPr>
        <p:spPr>
          <a:xfrm xmlns:a="http://schemas.openxmlformats.org/drawingml/2006/main">
            <a:off x="390525" y="1647825"/>
            <a:ext cx="5934075"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Original Figure 17. Taller bars mean higher goodput under a 25 ms service-latency target.</a:t>
            </a:r>
          </a:p>
        </p:txBody>
      </p:sp>
      <p:pic>
        <p:nvPicPr>
          <p:cNvPr id="547" name=""/>
          <p:cNvPicPr>
            <a:picLocks xmlns:a="http://schemas.openxmlformats.org/drawingml/2006/main" noChangeAspect="1"/>
          </p:cNvPicPr>
          <p:nvPr/>
        </p:nvPicPr>
        <p:blipFill>
          <a:blip xmlns:r="http://schemas.openxmlformats.org/officeDocument/2006/relationships" xmlns:a="http://schemas.openxmlformats.org/drawingml/2006/main" r:embed="Rdb1c2e814d1c4ce1"/>
          <a:stretch xmlns:a="http://schemas.openxmlformats.org/drawingml/2006/main"/>
        </p:blipFill>
        <p:spPr>
          <a:xfrm xmlns:a="http://schemas.openxmlformats.org/drawingml/2006/main">
            <a:off x="390525" y="2723798"/>
            <a:ext cx="5934075" cy="2296229"/>
          </a:xfrm>
          <a:prstGeom xmlns:a="http://schemas.openxmlformats.org/drawingml/2006/main" prst="rect">
            <a:avLst/>
          </a:prstGeom>
        </p:spPr>
      </p:pic>
      <p:sp>
        <p:nvSpPr>
          <p:cNvPr id="536" name="">
            <a:extLst xmlns:a="http://schemas.openxmlformats.org/drawingml/2006/main">
              <a:ext uri="{FF2B5EF4-FFF2-40B4-BE49-F238E27FC236}">
                <a16:creationId xmlns:a16="http://schemas.microsoft.com/office/drawing/2014/main" id="{0C9A6DFB-6067-46DD-B3C4-66C6B9B45798}"/>
              </a:ext>
            </a:extLst>
          </p:cNvPr>
          <p:cNvSpPr>
            <a:spLocks xmlns:a="http://schemas.openxmlformats.org/drawingml/2006/main" noGrp="1"/>
          </p:cNvSpPr>
          <p:nvPr/>
        </p:nvSpPr>
        <p:spPr>
          <a:xfrm xmlns:a="http://schemas.openxmlformats.org/drawingml/2006/main">
            <a:off x="390525" y="5305425"/>
            <a:ext cx="5934075" cy="866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x = two recommendation models.</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Prism (CN, HN) labels CPU-side and GPU-side instance counts. OOM means out of memory.</a:t>
            </a:r>
          </a:p>
        </p:txBody>
      </p:sp>
      <p:sp>
        <p:nvSpPr>
          <p:cNvPr id="537" name="">
            <a:extLst xmlns:a="http://schemas.openxmlformats.org/drawingml/2006/main">
              <a:ext uri="{FF2B5EF4-FFF2-40B4-BE49-F238E27FC236}">
                <a16:creationId xmlns:a16="http://schemas.microsoft.com/office/drawing/2014/main" id="{84862A72-1690-4CC0-953D-C78F3E503FC0}"/>
              </a:ext>
            </a:extLst>
          </p:cNvPr>
          <p:cNvSpPr>
            <a:spLocks xmlns:a="http://schemas.openxmlformats.org/drawingml/2006/main" noGrp="1"/>
          </p:cNvSpPr>
          <p:nvPr/>
        </p:nvSpPr>
        <p:spPr>
          <a:xfrm xmlns:a="http://schemas.openxmlformats.org/drawingml/2006/main">
            <a:off x="6772275" y="14573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8" name="">
            <a:extLst xmlns:a="http://schemas.openxmlformats.org/drawingml/2006/main">
              <a:ext uri="{FF2B5EF4-FFF2-40B4-BE49-F238E27FC236}">
                <a16:creationId xmlns:a16="http://schemas.microsoft.com/office/drawing/2014/main" id="{4295AF16-27A5-4197-AB88-049B65608F47}"/>
              </a:ext>
            </a:extLst>
          </p:cNvPr>
          <p:cNvSpPr>
            <a:spLocks xmlns:a="http://schemas.openxmlformats.org/drawingml/2006/main" noGrp="1"/>
          </p:cNvSpPr>
          <p:nvPr/>
        </p:nvSpPr>
        <p:spPr>
          <a:xfrm xmlns:a="http://schemas.openxmlformats.org/drawingml/2006/main">
            <a:off x="6772275" y="1866900"/>
            <a:ext cx="5019675" cy="1076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Separate CPU-heavy and GPU-heavy model stages so CPU or memory limits do not strand GPU capacity.</a:t>
            </a:r>
          </a:p>
        </p:txBody>
      </p:sp>
      <p:sp>
        <p:nvSpPr>
          <p:cNvPr id="539" name="">
            <a:extLst xmlns:a="http://schemas.openxmlformats.org/drawingml/2006/main">
              <a:ext uri="{FF2B5EF4-FFF2-40B4-BE49-F238E27FC236}">
                <a16:creationId xmlns:a16="http://schemas.microsoft.com/office/drawing/2014/main" id="{564E330E-1562-47DD-8FEB-BBDF4CA66072}"/>
              </a:ext>
            </a:extLst>
          </p:cNvPr>
          <p:cNvSpPr>
            <a:spLocks xmlns:a="http://schemas.openxmlformats.org/drawingml/2006/main" noGrp="1"/>
          </p:cNvSpPr>
          <p:nvPr/>
        </p:nvSpPr>
        <p:spPr>
          <a:xfrm xmlns:a="http://schemas.openxmlformats.org/drawingml/2006/main">
            <a:off x="6772275" y="30956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40" name="">
            <a:extLst xmlns:a="http://schemas.openxmlformats.org/drawingml/2006/main">
              <a:ext uri="{FF2B5EF4-FFF2-40B4-BE49-F238E27FC236}">
                <a16:creationId xmlns:a16="http://schemas.microsoft.com/office/drawing/2014/main" id="{5F4F1C03-2D06-4FC5-B4B6-322FE47A1BE5}"/>
              </a:ext>
            </a:extLst>
          </p:cNvPr>
          <p:cNvSpPr>
            <a:spLocks xmlns:a="http://schemas.openxmlformats.org/drawingml/2006/main" noGrp="1"/>
          </p:cNvSpPr>
          <p:nvPr/>
        </p:nvSpPr>
        <p:spPr>
          <a:xfrm xmlns:a="http://schemas.openxmlformats.org/drawingml/2006/main">
            <a:off x="6772275" y="3505200"/>
            <a:ext cx="5019675" cy="1019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One node with 8 A100 80 GB GPUs, plus separate CPU nodes. Vary the number of inference instances.</a:t>
            </a:r>
          </a:p>
        </p:txBody>
      </p:sp>
      <p:sp>
        <p:nvSpPr>
          <p:cNvPr id="541" name="">
            <a:extLst xmlns:a="http://schemas.openxmlformats.org/drawingml/2006/main">
              <a:ext uri="{FF2B5EF4-FFF2-40B4-BE49-F238E27FC236}">
                <a16:creationId xmlns:a16="http://schemas.microsoft.com/office/drawing/2014/main" id="{44EFE81D-A060-4F07-A4E8-CCB08D542FE9}"/>
              </a:ext>
            </a:extLst>
          </p:cNvPr>
          <p:cNvSpPr>
            <a:spLocks xmlns:a="http://schemas.openxmlformats.org/drawingml/2006/main" noGrp="1"/>
          </p:cNvSpPr>
          <p:nvPr/>
        </p:nvSpPr>
        <p:spPr>
          <a:xfrm xmlns:a="http://schemas.openxmlformats.org/drawingml/2006/main">
            <a:off x="6772275" y="46577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Result and relevance</a:t>
            </a:r>
          </a:p>
        </p:txBody>
      </p:sp>
      <p:sp>
        <p:nvSpPr>
          <p:cNvPr id="542" name="">
            <a:extLst xmlns:a="http://schemas.openxmlformats.org/drawingml/2006/main">
              <a:ext uri="{FF2B5EF4-FFF2-40B4-BE49-F238E27FC236}">
                <a16:creationId xmlns:a16="http://schemas.microsoft.com/office/drawing/2014/main" id="{ACDF6EA1-D49F-4DE1-92E7-9F4114E9194E}"/>
              </a:ext>
            </a:extLst>
          </p:cNvPr>
          <p:cNvSpPr>
            <a:spLocks xmlns:a="http://schemas.openxmlformats.org/drawingml/2006/main" noGrp="1"/>
          </p:cNvSpPr>
          <p:nvPr/>
        </p:nvSpPr>
        <p:spPr>
          <a:xfrm xmlns:a="http://schemas.openxmlformats.org/drawingml/2006/main">
            <a:off x="6772275" y="5067300"/>
            <a:ext cx="5019675"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Reported goodput rises 5–9×. The 9× case uses GPU partitioning (MIG). Added CPU resources matter, so this is not a same-total-hardware gain.</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80ebfd38823a41a4"/>
              </a:rPr>
              <a:t>Tensormux benchmark: Table 1 and methodology</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454e46ac02e84090"/>
              </a:rPr>
              <a:t>Platform</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4fbbf016cb8c4d60"/>
              </a:rPr>
              <a:t>Gateway scope</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A58DA2A-B818-18A9-29C1-B697728D5BCE}" type="slidenum">
              <a:rPr sz="1125" b="0">
                <a:solidFill>
                  <a:srgbClr val="000000"/>
                </a:solidFill>
                <a:latin typeface="Helvetica Neue"/>
                <a:ea typeface="Helvetica Neue"/>
                <a:cs typeface="Helvetica Neue"/>
              </a:rPr>
              <a:t>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Tensormux: routing across inference replicas</a:t>
            </a:r>
          </a:p>
        </p:txBody>
      </p:sp>
      <p:sp>
        <p:nvSpPr>
          <p:cNvPr id="534" name="">
            <a:extLst xmlns:a="http://schemas.openxmlformats.org/drawingml/2006/main">
              <a:ext uri="{FF2B5EF4-FFF2-40B4-BE49-F238E27FC236}">
                <a16:creationId xmlns:a16="http://schemas.microsoft.com/office/drawing/2014/main" id="{5BD54328-0724-497E-BBFE-B5E065DE7D64}"/>
              </a:ext>
            </a:extLst>
          </p:cNvPr>
          <p:cNvSpPr>
            <a:spLocks xmlns:a="http://schemas.openxmlformats.org/drawingml/2006/main" noGrp="1"/>
          </p:cNvSpPr>
          <p:nvPr/>
        </p:nvSpPr>
        <p:spPr>
          <a:xfrm xmlns:a="http://schemas.openxmlformats.org/drawingml/2006/main">
            <a:off x="390525" y="1352550"/>
            <a:ext cx="11401425"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Company benchmark, July 2026. Llama 3.1 8B, BF16, vLLM 0.23.0.</a:t>
            </a:r>
          </a:p>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4 H100 80 GB GPUs, one replica/GPU. Fixed capacity, 1,024 input / 256 output tokens, concurrency 128.</a:t>
            </a:r>
          </a:p>
        </p:txBody>
      </p:sp>
      <p:graphicFrame>
        <p:nvGraphicFramePr>
          <p:cNvPr id="546" name=""/>
          <p:cNvGraphicFramePr/>
          <p:nvPr/>
        </p:nvGraphicFramePr>
        <p:xfrm>
          <a:off xmlns:a="http://schemas.openxmlformats.org/drawingml/2006/main" x="390525" y="2486025"/>
          <a:ext xmlns:a="http://schemas.openxmlformats.org/drawingml/2006/main" cx="5610225" cy="2990850"/>
        </p:xfrm>
        <a:graphic xmlns:a="http://schemas.openxmlformats.org/drawingml/2006/main">
          <a:graphicData uri="http://schemas.openxmlformats.org/drawingml/2006/table">
            <a:tbl>
              <a:tblPr firstRow="0" bandRow="0"/>
              <a:tblGrid>
                <a:gridCol w="2962275"/>
                <a:gridCol w="2647950"/>
              </a:tblGrid>
              <a:tr h="498475">
                <a:tc>
                  <a:txBody>
                    <a:bodyPr/>
                    <a:lstStyle/>
                    <a:p>
                      <a:r>
                        <a:rPr sz="1725" b="1">
                          <a:solidFill>
                            <a:srgbClr val="000000"/>
                          </a:solidFill>
                          <a:latin typeface="Helvetica Neue"/>
                          <a:ea typeface="Helvetica Neue"/>
                          <a:cs typeface="Helvetica Neue"/>
                        </a:rPr>
                        <a:t>Routing strategy</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p95 TTFT (ms)</a:t>
                      </a:r>
                    </a:p>
                  </a:txBody>
                  <a:tcPr marL="95250" marR="95250" marT="76200" marB="57150" anchor="t">
                    <a:solidFill>
                      <a:srgbClr val="EAF6FD"/>
                    </a:solidFill>
                  </a:tcPr>
                </a:tc>
              </a:tr>
              <a:tr h="498475">
                <a:tc>
                  <a:txBody>
                    <a:bodyPr/>
                    <a:lstStyle/>
                    <a:p>
                      <a:r>
                        <a:rPr sz="1725">
                          <a:solidFill>
                            <a:srgbClr val="000000"/>
                          </a:solidFill>
                          <a:latin typeface="Helvetica Neue"/>
                          <a:ea typeface="Helvetica Neue"/>
                          <a:cs typeface="Helvetica Neue"/>
                        </a:rPr>
                        <a:t>Least Request</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394</a:t>
                      </a:r>
                    </a:p>
                  </a:txBody>
                  <a:tcPr marL="95250" marR="95250" marT="76200" marB="57150" anchor="t">
                    <a:solidFill>
                      <a:srgbClr val="FFFFFF"/>
                    </a:solidFill>
                  </a:tcPr>
                </a:tc>
              </a:tr>
              <a:tr h="498475">
                <a:tc>
                  <a:txBody>
                    <a:bodyPr/>
                    <a:lstStyle/>
                    <a:p>
                      <a:r>
                        <a:rPr sz="1725">
                          <a:solidFill>
                            <a:srgbClr val="000000"/>
                          </a:solidFill>
                          <a:latin typeface="Helvetica Neue"/>
                          <a:ea typeface="Helvetica Neue"/>
                          <a:cs typeface="Helvetica Neue"/>
                        </a:rPr>
                        <a:t>Multi-strategy</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399</a:t>
                      </a:r>
                    </a:p>
                  </a:txBody>
                  <a:tcPr marL="95250" marR="95250" marT="76200" marB="57150" anchor="t">
                    <a:solidFill>
                      <a:srgbClr val="FFFFFF"/>
                    </a:solidFill>
                  </a:tcPr>
                </a:tc>
              </a:tr>
              <a:tr h="498475">
                <a:tc>
                  <a:txBody>
                    <a:bodyPr/>
                    <a:lstStyle/>
                    <a:p>
                      <a:r>
                        <a:rPr sz="1725">
                          <a:solidFill>
                            <a:srgbClr val="000000"/>
                          </a:solidFill>
                          <a:latin typeface="Helvetica Neue"/>
                          <a:ea typeface="Helvetica Neue"/>
                          <a:cs typeface="Helvetica Neue"/>
                        </a:rPr>
                        <a:t>Least Latency</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442</a:t>
                      </a:r>
                    </a:p>
                  </a:txBody>
                  <a:tcPr marL="95250" marR="95250" marT="76200" marB="57150" anchor="t">
                    <a:solidFill>
                      <a:srgbClr val="FFFFFF"/>
                    </a:solidFill>
                  </a:tcPr>
                </a:tc>
              </a:tr>
              <a:tr h="498475">
                <a:tc>
                  <a:txBody>
                    <a:bodyPr/>
                    <a:lstStyle/>
                    <a:p>
                      <a:r>
                        <a:rPr sz="1725">
                          <a:solidFill>
                            <a:srgbClr val="000000"/>
                          </a:solidFill>
                          <a:latin typeface="Helvetica Neue"/>
                          <a:ea typeface="Helvetica Neue"/>
                          <a:cs typeface="Helvetica Neue"/>
                        </a:rPr>
                        <a:t>Throughput</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450</a:t>
                      </a:r>
                    </a:p>
                  </a:txBody>
                  <a:tcPr marL="95250" marR="95250" marT="76200" marB="57150" anchor="t">
                    <a:solidFill>
                      <a:srgbClr val="FFFFFF"/>
                    </a:solidFill>
                  </a:tcPr>
                </a:tc>
              </a:tr>
              <a:tr h="498475">
                <a:tc>
                  <a:txBody>
                    <a:bodyPr/>
                    <a:lstStyle/>
                    <a:p>
                      <a:r>
                        <a:rPr sz="1725">
                          <a:solidFill>
                            <a:srgbClr val="000000"/>
                          </a:solidFill>
                          <a:latin typeface="Helvetica Neue"/>
                          <a:ea typeface="Helvetica Neue"/>
                          <a:cs typeface="Helvetica Neue"/>
                        </a:rPr>
                        <a:t>Random</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461</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155EDDBC-4396-4F83-9BE3-9BFCDF4BD7C0}"/>
              </a:ext>
            </a:extLst>
          </p:cNvPr>
          <p:cNvSpPr>
            <a:spLocks xmlns:a="http://schemas.openxmlformats.org/drawingml/2006/main" noGrp="1"/>
          </p:cNvSpPr>
          <p:nvPr/>
        </p:nvSpPr>
        <p:spPr>
          <a:xfrm xmlns:a="http://schemas.openxmlformats.org/drawingml/2006/main">
            <a:off x="390525" y="5695950"/>
            <a:ext cx="5610225"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TTFT measures first-token delay.</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All strategies meet the 1,000 ms target.</a:t>
            </a:r>
          </a:p>
        </p:txBody>
      </p:sp>
      <p:sp>
        <p:nvSpPr>
          <p:cNvPr id="537" name="">
            <a:extLst xmlns:a="http://schemas.openxmlformats.org/drawingml/2006/main">
              <a:ext uri="{FF2B5EF4-FFF2-40B4-BE49-F238E27FC236}">
                <a16:creationId xmlns:a16="http://schemas.microsoft.com/office/drawing/2014/main" id="{1C9AB05D-B89B-4670-9272-DBC18CE459F3}"/>
              </a:ext>
            </a:extLst>
          </p:cNvPr>
          <p:cNvSpPr>
            <a:spLocks xmlns:a="http://schemas.openxmlformats.org/drawingml/2006/main" noGrp="1"/>
          </p:cNvSpPr>
          <p:nvPr/>
        </p:nvSpPr>
        <p:spPr>
          <a:xfrm xmlns:a="http://schemas.openxmlformats.org/drawingml/2006/main">
            <a:off x="6496050" y="2447925"/>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What it does</a:t>
            </a:r>
          </a:p>
        </p:txBody>
      </p:sp>
      <p:sp>
        <p:nvSpPr>
          <p:cNvPr id="538" name="">
            <a:extLst xmlns:a="http://schemas.openxmlformats.org/drawingml/2006/main">
              <a:ext uri="{FF2B5EF4-FFF2-40B4-BE49-F238E27FC236}">
                <a16:creationId xmlns:a16="http://schemas.microsoft.com/office/drawing/2014/main" id="{9F9E1DDF-3A42-4C0C-9D24-76FEBF44A690}"/>
              </a:ext>
            </a:extLst>
          </p:cNvPr>
          <p:cNvSpPr>
            <a:spLocks xmlns:a="http://schemas.openxmlformats.org/drawingml/2006/main" noGrp="1"/>
          </p:cNvSpPr>
          <p:nvPr/>
        </p:nvSpPr>
        <p:spPr>
          <a:xfrm xmlns:a="http://schemas.openxmlformats.org/drawingml/2006/main">
            <a:off x="6496050" y="2857500"/>
            <a:ext cx="529590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Routes requests across existing engines. The platform also advertises autoscaling and cache reuse.</a:t>
            </a:r>
          </a:p>
        </p:txBody>
      </p:sp>
      <p:sp>
        <p:nvSpPr>
          <p:cNvPr id="539" name="">
            <a:extLst xmlns:a="http://schemas.openxmlformats.org/drawingml/2006/main">
              <a:ext uri="{FF2B5EF4-FFF2-40B4-BE49-F238E27FC236}">
                <a16:creationId xmlns:a16="http://schemas.microsoft.com/office/drawing/2014/main" id="{E00C3D56-356D-4530-9854-69686D1D77A5}"/>
              </a:ext>
            </a:extLst>
          </p:cNvPr>
          <p:cNvSpPr>
            <a:spLocks xmlns:a="http://schemas.openxmlformats.org/drawingml/2006/main" noGrp="1"/>
          </p:cNvSpPr>
          <p:nvPr/>
        </p:nvSpPr>
        <p:spPr>
          <a:xfrm xmlns:a="http://schemas.openxmlformats.org/drawingml/2006/main">
            <a:off x="6496050" y="394335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Reported performance</a:t>
            </a:r>
          </a:p>
        </p:txBody>
      </p:sp>
      <p:sp>
        <p:nvSpPr>
          <p:cNvPr id="540" name="">
            <a:extLst xmlns:a="http://schemas.openxmlformats.org/drawingml/2006/main">
              <a:ext uri="{FF2B5EF4-FFF2-40B4-BE49-F238E27FC236}">
                <a16:creationId xmlns:a16="http://schemas.microsoft.com/office/drawing/2014/main" id="{610C11C8-073A-4EA3-8026-9FBF08095441}"/>
              </a:ext>
            </a:extLst>
          </p:cNvPr>
          <p:cNvSpPr>
            <a:spLocks xmlns:a="http://schemas.openxmlformats.org/drawingml/2006/main" noGrp="1"/>
          </p:cNvSpPr>
          <p:nvPr/>
        </p:nvSpPr>
        <p:spPr>
          <a:xfrm xmlns:a="http://schemas.openxmlformats.org/drawingml/2006/main">
            <a:off x="6496050" y="4352925"/>
            <a:ext cx="52959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About 2,200 output tokens/s per GPU and 80% GPU utilization. Throughput is similar across strategies.</a:t>
            </a:r>
          </a:p>
        </p:txBody>
      </p:sp>
      <p:sp>
        <p:nvSpPr>
          <p:cNvPr id="541" name="">
            <a:extLst xmlns:a="http://schemas.openxmlformats.org/drawingml/2006/main">
              <a:ext uri="{FF2B5EF4-FFF2-40B4-BE49-F238E27FC236}">
                <a16:creationId xmlns:a16="http://schemas.microsoft.com/office/drawing/2014/main" id="{F5BCBEA5-A283-40CC-8B50-0807559518C8}"/>
              </a:ext>
            </a:extLst>
          </p:cNvPr>
          <p:cNvSpPr>
            <a:spLocks xmlns:a="http://schemas.openxmlformats.org/drawingml/2006/main" noGrp="1"/>
          </p:cNvSpPr>
          <p:nvPr/>
        </p:nvSpPr>
        <p:spPr>
          <a:xfrm xmlns:a="http://schemas.openxmlformats.org/drawingml/2006/main">
            <a:off x="6496050" y="5467350"/>
            <a:ext cx="5295900" cy="752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This uniform workload establishes SLA compliance. It does not quantify recovered GPU capacity.</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b159c4df7dc14b50"/>
              </a:rPr>
              <a:t>TensorPath README: Forge, reported RMSNorm results and integration scope</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88657AE-30A1-5A7A-6A7F-315D84436430}" type="slidenum">
              <a:rPr sz="1125" b="0">
                <a:solidFill>
                  <a:srgbClr val="000000"/>
                </a:solidFill>
                <a:latin typeface="Helvetica Neue"/>
                <a:ea typeface="Helvetica Neue"/>
                <a:cs typeface="Helvetica Neue"/>
              </a:rPr>
              <a:t>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TensorPath: optimizing GPU kernels</a:t>
            </a:r>
          </a:p>
        </p:txBody>
      </p:sp>
      <p:sp>
        <p:nvSpPr>
          <p:cNvPr id="534" name="">
            <a:extLst xmlns:a="http://schemas.openxmlformats.org/drawingml/2006/main">
              <a:ext uri="{FF2B5EF4-FFF2-40B4-BE49-F238E27FC236}">
                <a16:creationId xmlns:a16="http://schemas.microsoft.com/office/drawing/2014/main" id="{7AC20150-4514-4FD1-A0AA-5DACC24C59E9}"/>
              </a:ext>
            </a:extLst>
          </p:cNvPr>
          <p:cNvSpPr>
            <a:spLocks xmlns:a="http://schemas.openxmlformats.org/drawingml/2006/main" noGrp="1"/>
          </p:cNvSpPr>
          <p:nvPr/>
        </p:nvSpPr>
        <p:spPr>
          <a:xfrm xmlns:a="http://schemas.openxmlformats.org/drawingml/2006/main">
            <a:off x="390525" y="137160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Tensormux’s separate Forge project generates Triton kernels and checks them against a PyTorch reference.</a:t>
            </a:r>
          </a:p>
        </p:txBody>
      </p:sp>
      <p:sp>
        <p:nvSpPr>
          <p:cNvPr id="535" name="">
            <a:extLst xmlns:a="http://schemas.openxmlformats.org/drawingml/2006/main">
              <a:ext uri="{FF2B5EF4-FFF2-40B4-BE49-F238E27FC236}">
                <a16:creationId xmlns:a16="http://schemas.microsoft.com/office/drawing/2014/main" id="{2612C2BF-A50C-4B2A-BA02-A82A2FE0A13E}"/>
              </a:ext>
            </a:extLst>
          </p:cNvPr>
          <p:cNvSpPr>
            <a:spLocks xmlns:a="http://schemas.openxmlformats.org/drawingml/2006/main" noGrp="1"/>
          </p:cNvSpPr>
          <p:nvPr/>
        </p:nvSpPr>
        <p:spPr>
          <a:xfrm xmlns:a="http://schemas.openxmlformats.org/drawingml/2006/main">
            <a:off x="390525" y="2533650"/>
            <a:ext cx="5429250" cy="1057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5850" b="1">
                <a:solidFill>
                  <a:srgbClr val="000000"/>
                </a:solidFill>
                <a:latin typeface="Helvetica Neue"/>
                <a:ea typeface="Helvetica Neue"/>
                <a:cs typeface="Helvetica Neue"/>
              </a:defRPr>
            </a:pPr>
            <a:r>
              <a:rPr sz="5850" b="1">
                <a:solidFill>
                  <a:srgbClr val="000000"/>
                </a:solidFill>
                <a:latin typeface="Helvetica Neue"/>
                <a:ea typeface="Helvetica Neue"/>
                <a:cs typeface="Helvetica Neue"/>
              </a:rPr>
              <a:t>3.66×</a:t>
            </a:r>
          </a:p>
        </p:txBody>
      </p:sp>
      <p:sp>
        <p:nvSpPr>
          <p:cNvPr id="536" name="">
            <a:extLst xmlns:a="http://schemas.openxmlformats.org/drawingml/2006/main">
              <a:ext uri="{FF2B5EF4-FFF2-40B4-BE49-F238E27FC236}">
                <a16:creationId xmlns:a16="http://schemas.microsoft.com/office/drawing/2014/main" id="{A8CA8720-EE2F-4D11-AB20-5FF9509C53AD}"/>
              </a:ext>
            </a:extLst>
          </p:cNvPr>
          <p:cNvSpPr>
            <a:spLocks xmlns:a="http://schemas.openxmlformats.org/drawingml/2006/main" noGrp="1"/>
          </p:cNvSpPr>
          <p:nvPr/>
        </p:nvSpPr>
        <p:spPr>
          <a:xfrm xmlns:a="http://schemas.openxmlformats.org/drawingml/2006/main">
            <a:off x="390525" y="3714750"/>
            <a:ext cx="5429250" cy="752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000000"/>
                </a:solidFill>
                <a:latin typeface="Helvetica Neue"/>
                <a:ea typeface="Helvetica Neue"/>
                <a:cs typeface="Helvetica Neue"/>
              </a:defRPr>
            </a:pPr>
            <a:r>
              <a:rPr sz="2250" b="1">
                <a:solidFill>
                  <a:srgbClr val="000000"/>
                </a:solidFill>
                <a:latin typeface="Helvetica Neue"/>
                <a:ea typeface="Helvetica Neue"/>
                <a:cs typeface="Helvetica Neue"/>
              </a:rPr>
              <a:t>Reported RMSNorm speedup</a:t>
            </a:r>
          </a:p>
          <a:p xmlns:a="http://schemas.openxmlformats.org/drawingml/2006/main">
            <a:pPr algn="l">
              <a:defRPr sz="2250" b="1">
                <a:solidFill>
                  <a:srgbClr val="000000"/>
                </a:solidFill>
                <a:latin typeface="Helvetica Neue"/>
                <a:ea typeface="Helvetica Neue"/>
                <a:cs typeface="Helvetica Neue"/>
              </a:defRPr>
            </a:pPr>
            <a:r>
              <a:rPr sz="2250" b="1">
                <a:solidFill>
                  <a:srgbClr val="000000"/>
                </a:solidFill>
                <a:latin typeface="Helvetica Neue"/>
                <a:ea typeface="Helvetica Neue"/>
                <a:cs typeface="Helvetica Neue"/>
              </a:rPr>
              <a:t>against PyTorch eager</a:t>
            </a:r>
          </a:p>
        </p:txBody>
      </p:sp>
      <p:sp>
        <p:nvSpPr>
          <p:cNvPr id="537" name="">
            <a:extLst xmlns:a="http://schemas.openxmlformats.org/drawingml/2006/main">
              <a:ext uri="{FF2B5EF4-FFF2-40B4-BE49-F238E27FC236}">
                <a16:creationId xmlns:a16="http://schemas.microsoft.com/office/drawing/2014/main" id="{34689E9C-8212-4C36-8102-BB2CC9CCC651}"/>
              </a:ext>
            </a:extLst>
          </p:cNvPr>
          <p:cNvSpPr>
            <a:spLocks xmlns:a="http://schemas.openxmlformats.org/drawingml/2006/main" noGrp="1"/>
          </p:cNvSpPr>
          <p:nvPr/>
        </p:nvSpPr>
        <p:spPr>
          <a:xfrm xmlns:a="http://schemas.openxmlformats.org/drawingml/2006/main">
            <a:off x="390525" y="4838700"/>
            <a:ext cx="5429250" cy="1133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RTX 4070, FP16</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Batch 16, hidden size 4,096</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RMSNorm normalizes model activations.</a:t>
            </a:r>
          </a:p>
        </p:txBody>
      </p:sp>
      <p:sp>
        <p:nvSpPr>
          <p:cNvPr id="538" name="">
            <a:extLst xmlns:a="http://schemas.openxmlformats.org/drawingml/2006/main">
              <a:ext uri="{FF2B5EF4-FFF2-40B4-BE49-F238E27FC236}">
                <a16:creationId xmlns:a16="http://schemas.microsoft.com/office/drawing/2014/main" id="{C1F657EF-08AC-4BE2-9EBB-98A6A09BE623}"/>
              </a:ext>
            </a:extLst>
          </p:cNvPr>
          <p:cNvSpPr>
            <a:spLocks xmlns:a="http://schemas.openxmlformats.org/drawingml/2006/main" noGrp="1"/>
          </p:cNvSpPr>
          <p:nvPr/>
        </p:nvSpPr>
        <p:spPr>
          <a:xfrm xmlns:a="http://schemas.openxmlformats.org/drawingml/2006/main">
            <a:off x="6496050" y="2466975"/>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What the result covers</a:t>
            </a:r>
          </a:p>
        </p:txBody>
      </p:sp>
      <p:sp>
        <p:nvSpPr>
          <p:cNvPr id="539" name="">
            <a:extLst xmlns:a="http://schemas.openxmlformats.org/drawingml/2006/main">
              <a:ext uri="{FF2B5EF4-FFF2-40B4-BE49-F238E27FC236}">
                <a16:creationId xmlns:a16="http://schemas.microsoft.com/office/drawing/2014/main" id="{A727BFC6-C615-47BA-851D-4387FA9BA764}"/>
              </a:ext>
            </a:extLst>
          </p:cNvPr>
          <p:cNvSpPr>
            <a:spLocks xmlns:a="http://schemas.openxmlformats.org/drawingml/2006/main" noGrp="1"/>
          </p:cNvSpPr>
          <p:nvPr/>
        </p:nvSpPr>
        <p:spPr>
          <a:xfrm xmlns:a="http://schemas.openxmlformats.org/drawingml/2006/main">
            <a:off x="6496050" y="2876550"/>
            <a:ext cx="5295900" cy="1019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One operation at one shape. The repository lists integration into the serving runtime as future work.</a:t>
            </a:r>
          </a:p>
        </p:txBody>
      </p:sp>
      <p:sp>
        <p:nvSpPr>
          <p:cNvPr id="540" name="">
            <a:extLst xmlns:a="http://schemas.openxmlformats.org/drawingml/2006/main">
              <a:ext uri="{FF2B5EF4-FFF2-40B4-BE49-F238E27FC236}">
                <a16:creationId xmlns:a16="http://schemas.microsoft.com/office/drawing/2014/main" id="{1362D2A7-488C-4C8B-ACA8-EE6D90C4997A}"/>
              </a:ext>
            </a:extLst>
          </p:cNvPr>
          <p:cNvSpPr>
            <a:spLocks xmlns:a="http://schemas.openxmlformats.org/drawingml/2006/main" noGrp="1"/>
          </p:cNvSpPr>
          <p:nvPr/>
        </p:nvSpPr>
        <p:spPr>
          <a:xfrm xmlns:a="http://schemas.openxmlformats.org/drawingml/2006/main">
            <a:off x="6496050" y="405765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Relation to our execution study</a:t>
            </a:r>
          </a:p>
        </p:txBody>
      </p:sp>
      <p:sp>
        <p:nvSpPr>
          <p:cNvPr id="541" name="">
            <a:extLst xmlns:a="http://schemas.openxmlformats.org/drawingml/2006/main">
              <a:ext uri="{FF2B5EF4-FFF2-40B4-BE49-F238E27FC236}">
                <a16:creationId xmlns:a16="http://schemas.microsoft.com/office/drawing/2014/main" id="{E78ADA2D-E0C1-41A6-A43B-499CCF83F650}"/>
              </a:ext>
            </a:extLst>
          </p:cNvPr>
          <p:cNvSpPr>
            <a:spLocks xmlns:a="http://schemas.openxmlformats.org/drawingml/2006/main" noGrp="1"/>
          </p:cNvSpPr>
          <p:nvPr/>
        </p:nvSpPr>
        <p:spPr>
          <a:xfrm xmlns:a="http://schemas.openxmlformats.org/drawingml/2006/main">
            <a:off x="6496050" y="4467225"/>
            <a:ext cx="5295900" cy="1257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We changed CUDA graph capture sizes in vLLM and timed full generation. We found no established gain from exact matching.</a:t>
            </a:r>
          </a:p>
        </p:txBody>
      </p:sp>
      <p:sp>
        <p:nvSpPr>
          <p:cNvPr id="542" name="">
            <a:extLst xmlns:a="http://schemas.openxmlformats.org/drawingml/2006/main">
              <a:ext uri="{FF2B5EF4-FFF2-40B4-BE49-F238E27FC236}">
                <a16:creationId xmlns:a16="http://schemas.microsoft.com/office/drawing/2014/main" id="{21FE67EA-E319-4C01-A97D-70BBAFB5E494}"/>
              </a:ext>
            </a:extLst>
          </p:cNvPr>
          <p:cNvSpPr>
            <a:spLocks xmlns:a="http://schemas.openxmlformats.org/drawingml/2006/main" noGrp="1"/>
          </p:cNvSpPr>
          <p:nvPr/>
        </p:nvSpPr>
        <p:spPr>
          <a:xfrm xmlns:a="http://schemas.openxmlformats.org/drawingml/2006/main">
            <a:off x="6496050" y="5619750"/>
            <a:ext cx="5295900"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Our next test would integrate the change and measure complete serving performance.</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B7BEEEC-A170-5376-2B6E-CB54687B0CB1}" type="slidenum">
              <a:rPr sz="1125" b="0">
                <a:solidFill>
                  <a:srgbClr val="000000"/>
                </a:solidFill>
                <a:latin typeface="Helvetica Neue"/>
                <a:ea typeface="Helvetica Neue"/>
                <a:cs typeface="Helvetica Neue"/>
              </a:rPr>
              <a:t>10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Our Experiments</a:t>
            </a:r>
          </a:p>
        </p:txBody>
      </p:sp>
      <p:sp>
        <p:nvSpPr>
          <p:cNvPr id="534" name="">
            <a:extLst xmlns:a="http://schemas.openxmlformats.org/drawingml/2006/main">
              <a:ext uri="{FF2B5EF4-FFF2-40B4-BE49-F238E27FC236}">
                <a16:creationId xmlns:a16="http://schemas.microsoft.com/office/drawing/2014/main" id="{DA372C71-3D70-4C69-BCAF-AE732C658CBA}"/>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893cf7fcdf49416c"/>
              </a:rPr>
              <a:t>Recorded system and model revisions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0fbc5197d35349fd"/>
              </a:rPr>
              <a:t>NVIDIA metric definition</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0394428-F1DC-E5F6-DB0C-7DE31F3D8A23}" type="slidenum">
              <a:rPr sz="1125" b="0">
                <a:solidFill>
                  <a:srgbClr val="000000"/>
                </a:solidFill>
                <a:latin typeface="Helvetica Neue"/>
                <a:ea typeface="Helvetica Neue"/>
                <a:cs typeface="Helvetica Neue"/>
              </a:rPr>
              <a:t>11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experimental system and performance measures</a:t>
            </a:r>
          </a:p>
        </p:txBody>
      </p:sp>
      <p:graphicFrame>
        <p:nvGraphicFramePr>
          <p:cNvPr id="545" name=""/>
          <p:cNvGraphicFramePr/>
          <p:nvPr/>
        </p:nvGraphicFramePr>
        <p:xfrm>
          <a:off xmlns:a="http://schemas.openxmlformats.org/drawingml/2006/main" x="390525" y="1476375"/>
          <a:ext xmlns:a="http://schemas.openxmlformats.org/drawingml/2006/main" cx="5610225" cy="3705225"/>
        </p:xfrm>
        <a:graphic xmlns:a="http://schemas.openxmlformats.org/drawingml/2006/main">
          <a:graphicData uri="http://schemas.openxmlformats.org/drawingml/2006/table">
            <a:tbl>
              <a:tblPr firstRow="0" bandRow="0"/>
              <a:tblGrid>
                <a:gridCol w="2009775"/>
                <a:gridCol w="3600450"/>
              </a:tblGrid>
              <a:tr h="617538">
                <a:tc>
                  <a:txBody>
                    <a:bodyPr/>
                    <a:lstStyle/>
                    <a:p>
                      <a:r>
                        <a:rPr sz="1650" b="1">
                          <a:solidFill>
                            <a:srgbClr val="000000"/>
                          </a:solidFill>
                          <a:latin typeface="Helvetica Neue"/>
                          <a:ea typeface="Helvetica Neue"/>
                          <a:cs typeface="Helvetica Neue"/>
                        </a:rPr>
                        <a:t>Component</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Recorded setup</a:t>
                      </a:r>
                    </a:p>
                  </a:txBody>
                  <a:tcPr marL="95250" marR="95250" marT="76200" marB="57150" anchor="t">
                    <a:solidFill>
                      <a:srgbClr val="EAF6FD"/>
                    </a:solidFill>
                  </a:tcPr>
                </a:tc>
              </a:tr>
              <a:tr h="617538">
                <a:tc>
                  <a:txBody>
                    <a:bodyPr/>
                    <a:lstStyle/>
                    <a:p>
                      <a:r>
                        <a:rPr sz="1650">
                          <a:solidFill>
                            <a:srgbClr val="000000"/>
                          </a:solidFill>
                          <a:latin typeface="Helvetica Neue"/>
                          <a:ea typeface="Helvetica Neue"/>
                          <a:cs typeface="Helvetica Neue"/>
                        </a:rPr>
                        <a:t>GPU</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NVIDIA A100 PCIe, 40 GB</a:t>
                      </a:r>
                    </a:p>
                    <a:p>
                      <a:r>
                        <a:rPr sz="1650">
                          <a:solidFill>
                            <a:srgbClr val="000000"/>
                          </a:solidFill>
                          <a:latin typeface="Helvetica Neue"/>
                          <a:ea typeface="Helvetica Neue"/>
                          <a:cs typeface="Helvetica Neue"/>
                        </a:rPr>
                        <a:t>JarvisLabs, 250 W limit</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Precision</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BF16</a:t>
                      </a:r>
                    </a:p>
                    <a:p>
                      <a:r>
                        <a:rPr sz="1650">
                          <a:solidFill>
                            <a:srgbClr val="000000"/>
                          </a:solidFill>
                          <a:latin typeface="Helvetica Neue"/>
                          <a:ea typeface="Helvetica Neue"/>
                          <a:cs typeface="Helvetica Neue"/>
                        </a:rPr>
                        <a:t>One GPU per model</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Serving software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vLLM 0.28.0</a:t>
                      </a:r>
                    </a:p>
                    <a:p>
                      <a:r>
                        <a:rPr sz="1650">
                          <a:solidFill>
                            <a:srgbClr val="000000"/>
                          </a:solidFill>
                          <a:latin typeface="Helvetica Neue"/>
                          <a:ea typeface="Helvetica Neue"/>
                          <a:cs typeface="Helvetica Neue"/>
                        </a:rPr>
                        <a:t>PyTorch 2.13.0</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Runtime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Python 3.12.13</a:t>
                      </a:r>
                    </a:p>
                    <a:p>
                      <a:r>
                        <a:rPr sz="1650">
                          <a:solidFill>
                            <a:srgbClr val="000000"/>
                          </a:solidFill>
                          <a:latin typeface="Helvetica Neue"/>
                          <a:ea typeface="Helvetica Neue"/>
                          <a:cs typeface="Helvetica Neue"/>
                        </a:rPr>
                        <a:t>CUDA package 13.0.96</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Inputs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WikiText-2 test text</a:t>
                      </a:r>
                    </a:p>
                    <a:p>
                      <a:r>
                        <a:rPr sz="1650">
                          <a:solidFill>
                            <a:srgbClr val="000000"/>
                          </a:solidFill>
                          <a:latin typeface="Helvetica Neue"/>
                          <a:ea typeface="Helvetica Neue"/>
                          <a:cs typeface="Helvetica Neue"/>
                        </a:rPr>
                        <a:t>128 generated tokens/request</a:t>
                      </a:r>
                    </a:p>
                  </a:txBody>
                  <a:tcPr marL="95250" marR="95250" marT="76200" marB="57150" anchor="t">
                    <a:solidFill>
                      <a:srgbClr val="FFFFFF"/>
                    </a:solidFill>
                  </a:tcPr>
                </a:tc>
              </a:tr>
            </a:tbl>
          </a:graphicData>
        </a:graphic>
      </p:graphicFrame>
      <p:sp>
        <p:nvSpPr>
          <p:cNvPr id="535" name="">
            <a:extLst xmlns:a="http://schemas.openxmlformats.org/drawingml/2006/main">
              <a:ext uri="{FF2B5EF4-FFF2-40B4-BE49-F238E27FC236}">
                <a16:creationId xmlns:a16="http://schemas.microsoft.com/office/drawing/2014/main" id="{8B19BEB6-AFE3-49DA-AB51-E9010714712B}"/>
              </a:ext>
            </a:extLst>
          </p:cNvPr>
          <p:cNvSpPr>
            <a:spLocks xmlns:a="http://schemas.openxmlformats.org/drawingml/2006/main" noGrp="1"/>
          </p:cNvSpPr>
          <p:nvPr/>
        </p:nvSpPr>
        <p:spPr>
          <a:xfrm xmlns:a="http://schemas.openxmlformats.org/drawingml/2006/main">
            <a:off x="6496050" y="1552575"/>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Throughput</a:t>
            </a:r>
          </a:p>
        </p:txBody>
      </p:sp>
      <p:sp>
        <p:nvSpPr>
          <p:cNvPr id="536" name="">
            <a:extLst xmlns:a="http://schemas.openxmlformats.org/drawingml/2006/main">
              <a:ext uri="{FF2B5EF4-FFF2-40B4-BE49-F238E27FC236}">
                <a16:creationId xmlns:a16="http://schemas.microsoft.com/office/drawing/2014/main" id="{96512B56-2BCC-4E56-BF15-46F964AE6AE4}"/>
              </a:ext>
            </a:extLst>
          </p:cNvPr>
          <p:cNvSpPr>
            <a:spLocks xmlns:a="http://schemas.openxmlformats.org/drawingml/2006/main" noGrp="1"/>
          </p:cNvSpPr>
          <p:nvPr/>
        </p:nvSpPr>
        <p:spPr>
          <a:xfrm xmlns:a="http://schemas.openxmlformats.org/drawingml/2006/main">
            <a:off x="6496050" y="1962150"/>
            <a:ext cx="5295900" cy="752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Generated output tokens divided by elapsed seconds.</a:t>
            </a:r>
          </a:p>
        </p:txBody>
      </p:sp>
      <p:sp>
        <p:nvSpPr>
          <p:cNvPr id="537" name="">
            <a:extLst xmlns:a="http://schemas.openxmlformats.org/drawingml/2006/main">
              <a:ext uri="{FF2B5EF4-FFF2-40B4-BE49-F238E27FC236}">
                <a16:creationId xmlns:a16="http://schemas.microsoft.com/office/drawing/2014/main" id="{767AFBD3-4470-427C-8397-A90F2EEDB647}"/>
              </a:ext>
            </a:extLst>
          </p:cNvPr>
          <p:cNvSpPr>
            <a:spLocks xmlns:a="http://schemas.openxmlformats.org/drawingml/2006/main" noGrp="1"/>
          </p:cNvSpPr>
          <p:nvPr/>
        </p:nvSpPr>
        <p:spPr>
          <a:xfrm xmlns:a="http://schemas.openxmlformats.org/drawingml/2006/main">
            <a:off x="6496050" y="295275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SLO goodput</a:t>
            </a:r>
          </a:p>
        </p:txBody>
      </p:sp>
      <p:sp>
        <p:nvSpPr>
          <p:cNvPr id="538" name="">
            <a:extLst xmlns:a="http://schemas.openxmlformats.org/drawingml/2006/main">
              <a:ext uri="{FF2B5EF4-FFF2-40B4-BE49-F238E27FC236}">
                <a16:creationId xmlns:a16="http://schemas.microsoft.com/office/drawing/2014/main" id="{77977107-5AFD-4F2F-B283-799AC25F7C0E}"/>
              </a:ext>
            </a:extLst>
          </p:cNvPr>
          <p:cNvSpPr>
            <a:spLocks xmlns:a="http://schemas.openxmlformats.org/drawingml/2006/main" noGrp="1"/>
          </p:cNvSpPr>
          <p:nvPr/>
        </p:nvSpPr>
        <p:spPr>
          <a:xfrm xmlns:a="http://schemas.openxmlformats.org/drawingml/2006/main">
            <a:off x="6496050" y="3362325"/>
            <a:ext cx="529590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Requests meeting both latency targets divided by the full replay-and-drain duration.</a:t>
            </a:r>
          </a:p>
        </p:txBody>
      </p:sp>
      <p:sp>
        <p:nvSpPr>
          <p:cNvPr id="539" name="">
            <a:extLst xmlns:a="http://schemas.openxmlformats.org/drawingml/2006/main">
              <a:ext uri="{FF2B5EF4-FFF2-40B4-BE49-F238E27FC236}">
                <a16:creationId xmlns:a16="http://schemas.microsoft.com/office/drawing/2014/main" id="{707C6A55-78F2-4E26-AE2A-FD3EAFFB37A4}"/>
              </a:ext>
            </a:extLst>
          </p:cNvPr>
          <p:cNvSpPr>
            <a:spLocks xmlns:a="http://schemas.openxmlformats.org/drawingml/2006/main" noGrp="1"/>
          </p:cNvSpPr>
          <p:nvPr/>
        </p:nvSpPr>
        <p:spPr>
          <a:xfrm xmlns:a="http://schemas.openxmlformats.org/drawingml/2006/main">
            <a:off x="6496050" y="434340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Latency and GPU busy time</a:t>
            </a:r>
          </a:p>
        </p:txBody>
      </p:sp>
      <p:sp>
        <p:nvSpPr>
          <p:cNvPr id="540" name="">
            <a:extLst xmlns:a="http://schemas.openxmlformats.org/drawingml/2006/main">
              <a:ext uri="{FF2B5EF4-FFF2-40B4-BE49-F238E27FC236}">
                <a16:creationId xmlns:a16="http://schemas.microsoft.com/office/drawing/2014/main" id="{205A45A6-3F4C-4996-8E68-AB04A96FC4A7}"/>
              </a:ext>
            </a:extLst>
          </p:cNvPr>
          <p:cNvSpPr>
            <a:spLocks xmlns:a="http://schemas.openxmlformats.org/drawingml/2006/main" noGrp="1"/>
          </p:cNvSpPr>
          <p:nvPr/>
        </p:nvSpPr>
        <p:spPr>
          <a:xfrm xmlns:a="http://schemas.openxmlformats.org/drawingml/2006/main">
            <a:off x="6496050" y="4752975"/>
            <a:ext cx="5295900" cy="1390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TTFT measures first-token delay. TPOT measures average later-token delay. NVML busy time records kernel activity, not compute efficiency.</a:t>
            </a:r>
          </a:p>
        </p:txBody>
      </p:sp>
      <p:sp>
        <p:nvSpPr>
          <p:cNvPr id="541" name="">
            <a:extLst xmlns:a="http://schemas.openxmlformats.org/drawingml/2006/main">
              <a:ext uri="{FF2B5EF4-FFF2-40B4-BE49-F238E27FC236}">
                <a16:creationId xmlns:a16="http://schemas.microsoft.com/office/drawing/2014/main" id="{1F15A14E-04E5-48AB-9E81-FA8DC7D00840}"/>
              </a:ext>
            </a:extLst>
          </p:cNvPr>
          <p:cNvSpPr>
            <a:spLocks xmlns:a="http://schemas.openxmlformats.org/drawingml/2006/main" noGrp="1"/>
          </p:cNvSpPr>
          <p:nvPr/>
        </p:nvSpPr>
        <p:spPr>
          <a:xfrm xmlns:a="http://schemas.openxmlformats.org/drawingml/2006/main">
            <a:off x="390525" y="5695950"/>
            <a:ext cx="5610225"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Experiment 1 uses five models and fixed batches. Experiment 2 uses Gemma 4 12B and timed arrivals.</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5e7f3af5ce0d4bb8"/>
              </a:rPr>
              <a:t>Our executed capture protocol</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d8e5980b5cd84441"/>
              </a:rPr>
              <a:t>NVIDIA capture-size tradeoff</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4DB16885-0D3F-A391-B669-3211DB3B26E8}" type="slidenum">
              <a:rPr sz="1125" b="0">
                <a:solidFill>
                  <a:srgbClr val="000000"/>
                </a:solidFill>
                <a:latin typeface="Helvetica Neue"/>
                <a:ea typeface="Helvetica Neue"/>
                <a:cs typeface="Helvetica Neue"/>
              </a:rPr>
              <a:t>12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CUDA graph configuration</a:t>
            </a:r>
          </a:p>
        </p:txBody>
      </p:sp>
      <p:sp>
        <p:nvSpPr>
          <p:cNvPr id="534" name="">
            <a:extLst xmlns:a="http://schemas.openxmlformats.org/drawingml/2006/main">
              <a:ext uri="{FF2B5EF4-FFF2-40B4-BE49-F238E27FC236}">
                <a16:creationId xmlns:a16="http://schemas.microsoft.com/office/drawing/2014/main" id="{051B1800-6845-48A8-A1DF-76DD55ACEF06}"/>
              </a:ext>
            </a:extLst>
          </p:cNvPr>
          <p:cNvSpPr>
            <a:spLocks xmlns:a="http://schemas.openxmlformats.org/drawingml/2006/main" noGrp="1"/>
          </p:cNvSpPr>
          <p:nvPr/>
        </p:nvSpPr>
        <p:spPr>
          <a:xfrm xmlns:a="http://schemas.openxmlformats.org/drawingml/2006/main">
            <a:off x="390525" y="1314450"/>
            <a:ext cx="11401425"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Question: does matching recorded GPU execution sizes to our batches improve throughput?</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CUDA graphs replay recorded GPU operations. Their sizes affect padding and memory use.</a:t>
            </a:r>
          </a:p>
        </p:txBody>
      </p:sp>
      <p:graphicFrame>
        <p:nvGraphicFramePr>
          <p:cNvPr id="542" name=""/>
          <p:cNvGraphicFramePr/>
          <p:nvPr/>
        </p:nvGraphicFramePr>
        <p:xfrm>
          <a:off xmlns:a="http://schemas.openxmlformats.org/drawingml/2006/main" x="390525" y="2371725"/>
          <a:ext xmlns:a="http://schemas.openxmlformats.org/drawingml/2006/main" cx="11401425" cy="2238375"/>
        </p:xfrm>
        <a:graphic xmlns:a="http://schemas.openxmlformats.org/drawingml/2006/main">
          <a:graphicData uri="http://schemas.openxmlformats.org/drawingml/2006/table">
            <a:tbl>
              <a:tblPr firstRow="0" bandRow="0"/>
              <a:tblGrid>
                <a:gridCol w="3219450"/>
                <a:gridCol w="4181475"/>
                <a:gridCol w="4000500"/>
              </a:tblGrid>
              <a:tr h="559594">
                <a:tc>
                  <a:txBody>
                    <a:bodyPr/>
                    <a:lstStyle/>
                    <a:p>
                      <a:r>
                        <a:rPr sz="1650" b="1">
                          <a:solidFill>
                            <a:srgbClr val="000000"/>
                          </a:solidFill>
                          <a:latin typeface="Helvetica Neue"/>
                          <a:ea typeface="Helvetica Neue"/>
                          <a:cs typeface="Helvetica Neue"/>
                        </a:rPr>
                        <a:t>Configuration changed</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Captured sizes</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Role in the comparison</a:t>
                      </a:r>
                    </a:p>
                  </a:txBody>
                  <a:tcPr marL="95250" marR="95250" marT="76200" marB="57150" anchor="t">
                    <a:solidFill>
                      <a:srgbClr val="EAF6FD"/>
                    </a:solidFill>
                  </a:tcPr>
                </a:tc>
              </a:tr>
              <a:tr h="559594">
                <a:tc>
                  <a:txBody>
                    <a:bodyPr/>
                    <a:lstStyle/>
                    <a:p>
                      <a:r>
                        <a:rPr sz="1650">
                          <a:solidFill>
                            <a:srgbClr val="000000"/>
                          </a:solidFill>
                          <a:latin typeface="Helvetica Neue"/>
                          <a:ea typeface="Helvetica Neue"/>
                          <a:cs typeface="Helvetica Neue"/>
                        </a:rPr>
                        <a:t>vLLM default captures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35 sizes from the engine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Current engine baseline</a:t>
                      </a:r>
                    </a:p>
                  </a:txBody>
                  <a:tcPr marL="95250" marR="95250" marT="76200" marB="57150" anchor="t">
                    <a:solidFill>
                      <a:srgbClr val="FFFFFF"/>
                    </a:solidFill>
                  </a:tcPr>
                </a:tc>
              </a:tr>
              <a:tr h="559594">
                <a:tc>
                  <a:txBody>
                    <a:bodyPr/>
                    <a:lstStyle/>
                    <a:p>
                      <a:r>
                        <a:rPr sz="1650">
                          <a:solidFill>
                            <a:srgbClr val="000000"/>
                          </a:solidFill>
                          <a:latin typeface="Helvetica Neue"/>
                          <a:ea typeface="Helvetica Neue"/>
                          <a:cs typeface="Helvetica Neue"/>
                        </a:rPr>
                        <a:t>Coarse capture grid</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9 powers-of-two sizes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Test the cost of a sparse set</a:t>
                      </a:r>
                    </a:p>
                  </a:txBody>
                  <a:tcPr marL="95250" marR="95250" marT="76200" marB="57150" anchor="t">
                    <a:solidFill>
                      <a:srgbClr val="FFFFFF"/>
                    </a:solidFill>
                  </a:tcPr>
                </a:tc>
              </a:tr>
              <a:tr h="559594">
                <a:tc>
                  <a:txBody>
                    <a:bodyPr/>
                    <a:lstStyle/>
                    <a:p>
                      <a:r>
                        <a:rPr sz="1650">
                          <a:solidFill>
                            <a:srgbClr val="000000"/>
                          </a:solidFill>
                          <a:latin typeface="Helvetica Neue"/>
                          <a:ea typeface="Helvetica Neue"/>
                          <a:cs typeface="Helvetica Neue"/>
                        </a:rPr>
                        <a:t>Exact batch matches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17 sizes; covers all 8 tested batches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Test whether exact coverage helps</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0D6A8BD3-F6F4-42A7-AECC-F27CE3E9CF05}"/>
              </a:ext>
            </a:extLst>
          </p:cNvPr>
          <p:cNvSpPr>
            <a:spLocks xmlns:a="http://schemas.openxmlformats.org/drawingml/2006/main" noGrp="1"/>
          </p:cNvSpPr>
          <p:nvPr/>
        </p:nvSpPr>
        <p:spPr>
          <a:xfrm xmlns:a="http://schemas.openxmlformats.org/drawingml/2006/main">
            <a:off x="390525" y="4857750"/>
            <a:ext cx="11401425"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Held fixed: A100 40 GB, BF16, 128 input + 128 output tokens/request, and graph ceiling 256.</a:t>
            </a:r>
          </a:p>
        </p:txBody>
      </p:sp>
      <p:sp>
        <p:nvSpPr>
          <p:cNvPr id="537" name="">
            <a:extLst xmlns:a="http://schemas.openxmlformats.org/drawingml/2006/main">
              <a:ext uri="{FF2B5EF4-FFF2-40B4-BE49-F238E27FC236}">
                <a16:creationId xmlns:a16="http://schemas.microsoft.com/office/drawing/2014/main" id="{D95681FC-3314-4288-A605-ECC0B8F84A23}"/>
              </a:ext>
            </a:extLst>
          </p:cNvPr>
          <p:cNvSpPr>
            <a:spLocks xmlns:a="http://schemas.openxmlformats.org/drawingml/2006/main" noGrp="1"/>
          </p:cNvSpPr>
          <p:nvPr/>
        </p:nvSpPr>
        <p:spPr>
          <a:xfrm xmlns:a="http://schemas.openxmlformats.org/drawingml/2006/main">
            <a:off x="390525" y="5543550"/>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8 batches × 3 configurations × 3 warmed repeats × 5 models = 360 timing calls.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We time full generation calls. Initialization and separate profiler runs are excluded.</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d5fbdb7cc0d74edd"/>
              </a:rPr>
              <a:t>Our frozen protocol and exact settings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65a3044edaa6439f"/>
              </a:rPr>
              <a:t>W&amp;B runs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DD23107-4986-8758-3A93-3D74F35908CC}" type="slidenum">
              <a:rPr sz="1125" b="0">
                <a:solidFill>
                  <a:srgbClr val="000000"/>
                </a:solidFill>
                <a:latin typeface="Helvetica Neue"/>
                <a:ea typeface="Helvetica Neue"/>
                <a:cs typeface="Helvetica Neue"/>
              </a:rPr>
              <a:t>13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2: admission during a long-prompt burst</a:t>
            </a:r>
          </a:p>
        </p:txBody>
      </p:sp>
      <p:sp>
        <p:nvSpPr>
          <p:cNvPr id="534" name="">
            <a:extLst xmlns:a="http://schemas.openxmlformats.org/drawingml/2006/main">
              <a:ext uri="{FF2B5EF4-FFF2-40B4-BE49-F238E27FC236}">
                <a16:creationId xmlns:a16="http://schemas.microsoft.com/office/drawing/2014/main" id="{E52B6196-CC76-4FF3-A406-EF716B797512}"/>
              </a:ext>
            </a:extLst>
          </p:cNvPr>
          <p:cNvSpPr>
            <a:spLocks xmlns:a="http://schemas.openxmlformats.org/drawingml/2006/main" noGrp="1"/>
          </p:cNvSpPr>
          <p:nvPr/>
        </p:nvSpPr>
        <p:spPr>
          <a:xfrm xmlns:a="http://schemas.openxmlformats.org/drawingml/2006/main">
            <a:off x="390525" y="1333500"/>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Gemma 4 12B on the same A100. We replay saved arrivals through each admission rule before vLLM.</a:t>
            </a:r>
          </a:p>
        </p:txBody>
      </p:sp>
      <p:graphicFrame>
        <p:nvGraphicFramePr>
          <p:cNvPr id="543" name=""/>
          <p:cNvGraphicFramePr/>
          <p:nvPr/>
        </p:nvGraphicFramePr>
        <p:xfrm>
          <a:off xmlns:a="http://schemas.openxmlformats.org/drawingml/2006/main" x="390525" y="2133600"/>
          <a:ext xmlns:a="http://schemas.openxmlformats.org/drawingml/2006/main" cx="11401425" cy="2133600"/>
        </p:xfrm>
        <a:graphic xmlns:a="http://schemas.openxmlformats.org/drawingml/2006/main">
          <a:graphicData uri="http://schemas.openxmlformats.org/drawingml/2006/table">
            <a:tbl>
              <a:tblPr firstRow="0" bandRow="0"/>
              <a:tblGrid>
                <a:gridCol w="3333750"/>
                <a:gridCol w="8067675"/>
              </a:tblGrid>
              <a:tr h="533400">
                <a:tc>
                  <a:txBody>
                    <a:bodyPr/>
                    <a:lstStyle/>
                    <a:p>
                      <a:r>
                        <a:rPr sz="1650" b="1">
                          <a:solidFill>
                            <a:srgbClr val="000000"/>
                          </a:solidFill>
                          <a:latin typeface="Helvetica Neue"/>
                          <a:ea typeface="Helvetica Neue"/>
                          <a:cs typeface="Helvetica Neue"/>
                        </a:rPr>
                        <a:t>Policy changed</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How requests enter the model</a:t>
                      </a:r>
                    </a:p>
                  </a:txBody>
                  <a:tcPr marL="95250" marR="95250" marT="76200" marB="57150" anchor="t">
                    <a:solidFill>
                      <a:srgbClr val="EAF6FD"/>
                    </a:solidFill>
                  </a:tcPr>
                </a:tc>
              </a:tr>
              <a:tr h="533400">
                <a:tc>
                  <a:txBody>
                    <a:bodyPr/>
                    <a:lstStyle/>
                    <a:p>
                      <a:r>
                        <a:rPr sz="1650">
                          <a:solidFill>
                            <a:srgbClr val="000000"/>
                          </a:solidFill>
                          <a:latin typeface="Helvetica Neue"/>
                          <a:ea typeface="Helvetica Neue"/>
                          <a:cs typeface="Helvetica Neue"/>
                        </a:rPr>
                        <a:t>Direct vLLM submission</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Submit on arrival. The engine manages continuous batching.</a:t>
                      </a:r>
                    </a:p>
                  </a:txBody>
                  <a:tcPr marL="95250" marR="95250" marT="76200" marB="57150" anchor="t">
                    <a:solidFill>
                      <a:srgbClr val="FFFFFF"/>
                    </a:solidFill>
                  </a:tcPr>
                </a:tc>
              </a:tr>
              <a:tr h="533400">
                <a:tc>
                  <a:txBody>
                    <a:bodyPr/>
                    <a:lstStyle/>
                    <a:p>
                      <a:r>
                        <a:rPr sz="1650">
                          <a:solidFill>
                            <a:srgbClr val="000000"/>
                          </a:solidFill>
                          <a:latin typeface="Helvetica Neue"/>
                          <a:ea typeface="Helvetica Neue"/>
                          <a:cs typeface="Helvetica Neue"/>
                        </a:rPr>
                        <a:t>Fixed limit 32</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Admit at most 32 unfinished requests, in arrival order.</a:t>
                      </a:r>
                    </a:p>
                  </a:txBody>
                  <a:tcPr marL="95250" marR="95250" marT="76200" marB="57150" anchor="t">
                    <a:solidFill>
                      <a:srgbClr val="FFFFFF"/>
                    </a:solidFill>
                  </a:tcPr>
                </a:tc>
              </a:tr>
              <a:tr h="533400">
                <a:tc>
                  <a:txBody>
                    <a:bodyPr/>
                    <a:lstStyle/>
                    <a:p>
                      <a:r>
                        <a:rPr sz="1650">
                          <a:solidFill>
                            <a:srgbClr val="000000"/>
                          </a:solidFill>
                          <a:latin typeface="Helvetica Neue"/>
                          <a:ea typeface="Helvetica Neue"/>
                          <a:cs typeface="Helvetica Neue"/>
                        </a:rPr>
                        <a:t>Context-budget rule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Reserve input + 128 output tokens/request, up to 20,000 total.</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D993EB12-F97E-4FC9-B6D5-B1C01199A54B}"/>
              </a:ext>
            </a:extLst>
          </p:cNvPr>
          <p:cNvSpPr>
            <a:spLocks xmlns:a="http://schemas.openxmlformats.org/drawingml/2006/main" noGrp="1"/>
          </p:cNvSpPr>
          <p:nvPr/>
        </p:nvSpPr>
        <p:spPr>
          <a:xfrm xmlns:a="http://schemas.openxmlformats.org/drawingml/2006/main">
            <a:off x="390525" y="4448175"/>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Each trace: 96 short, 48 long, 96 short prompts (128 / 2,048 input tokens).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Arrivals average 8 requests/s. All requests generate 128 output tokens.</a:t>
            </a:r>
          </a:p>
        </p:txBody>
      </p:sp>
      <p:sp>
        <p:nvSpPr>
          <p:cNvPr id="537" name="">
            <a:extLst xmlns:a="http://schemas.openxmlformats.org/drawingml/2006/main">
              <a:ext uri="{FF2B5EF4-FFF2-40B4-BE49-F238E27FC236}">
                <a16:creationId xmlns:a16="http://schemas.microsoft.com/office/drawing/2014/main" id="{FD0AF8AF-4749-43ED-A671-1DBD1FEE0CF1}"/>
              </a:ext>
            </a:extLst>
          </p:cNvPr>
          <p:cNvSpPr>
            <a:spLocks xmlns:a="http://schemas.openxmlformats.org/drawingml/2006/main" noGrp="1"/>
          </p:cNvSpPr>
          <p:nvPr/>
        </p:nvSpPr>
        <p:spPr>
          <a:xfrm xmlns:a="http://schemas.openxmlformats.org/drawingml/2006/main">
            <a:off x="390525" y="5219700"/>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Targets: first token ≤2 s and mean later-token time ≤100 ms, including admission waiting.</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240 requests × 3 policies × 3 engine repetitions = 2,160 completed requests.</a:t>
            </a:r>
          </a:p>
        </p:txBody>
      </p:sp>
      <p:sp>
        <p:nvSpPr>
          <p:cNvPr id="538" name="">
            <a:extLst xmlns:a="http://schemas.openxmlformats.org/drawingml/2006/main">
              <a:ext uri="{FF2B5EF4-FFF2-40B4-BE49-F238E27FC236}">
                <a16:creationId xmlns:a16="http://schemas.microsoft.com/office/drawing/2014/main" id="{DF59DC0A-AC73-4C85-930A-63F4825C93AB}"/>
              </a:ext>
            </a:extLst>
          </p:cNvPr>
          <p:cNvSpPr>
            <a:spLocks xmlns:a="http://schemas.openxmlformats.org/drawingml/2006/main" noGrp="1"/>
          </p:cNvSpPr>
          <p:nvPr/>
        </p:nvSpPr>
        <p:spPr>
          <a:xfrm xmlns:a="http://schemas.openxmlformats.org/drawingml/2006/main">
            <a:off x="390525" y="5953125"/>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Pass rule: ≥5% higher goodput than both controls in every repetition, with no worse tail latency.</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27921A4-25C4-3DB4-06B1-32693CEE2241}" type="slidenum">
              <a:rPr sz="1125" b="0">
                <a:solidFill>
                  <a:srgbClr val="000000"/>
                </a:solidFill>
                <a:latin typeface="Helvetica Neue"/>
                <a:ea typeface="Helvetica Neue"/>
                <a:cs typeface="Helvetica Neue"/>
              </a:rPr>
              <a:t>14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Our Results</a:t>
            </a:r>
          </a:p>
        </p:txBody>
      </p:sp>
      <p:sp>
        <p:nvSpPr>
          <p:cNvPr id="534" name="">
            <a:extLst xmlns:a="http://schemas.openxmlformats.org/drawingml/2006/main">
              <a:ext uri="{FF2B5EF4-FFF2-40B4-BE49-F238E27FC236}">
                <a16:creationId xmlns:a16="http://schemas.microsoft.com/office/drawing/2014/main" id="{432BE52A-84BB-4CC1-891B-74B9181B9D0D}"/>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f97fe54a2c1141d8"/>
              </a:rPr>
              <a:t>Source: our raw timing records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A83FA91-883A-0168-8075-96CEB9DCA3C2}" type="slidenum">
              <a:rPr sz="1125" b="0">
                <a:solidFill>
                  <a:srgbClr val="000000"/>
                </a:solidFill>
                <a:latin typeface="Helvetica Neue"/>
                <a:ea typeface="Helvetica Neue"/>
                <a:cs typeface="Helvetica Neue"/>
              </a:rPr>
              <a:t>15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results: three current models</a:t>
            </a:r>
          </a:p>
        </p:txBody>
      </p:sp>
      <p:sp>
        <p:nvSpPr>
          <p:cNvPr id="534" name="">
            <a:extLst xmlns:a="http://schemas.openxmlformats.org/drawingml/2006/main">
              <a:ext uri="{FF2B5EF4-FFF2-40B4-BE49-F238E27FC236}">
                <a16:creationId xmlns:a16="http://schemas.microsoft.com/office/drawing/2014/main" id="{B09C32D5-C14E-4C90-A546-3B41C7985027}"/>
              </a:ext>
            </a:extLst>
          </p:cNvPr>
          <p:cNvSpPr>
            <a:spLocks xmlns:a="http://schemas.openxmlformats.org/drawingml/2006/main" noGrp="1"/>
          </p:cNvSpPr>
          <p:nvPr/>
        </p:nvSpPr>
        <p:spPr>
          <a:xfrm xmlns:a="http://schemas.openxmlformats.org/drawingml/2006/main">
            <a:off x="390525" y="127635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A100 40 GB, BF16, 128 input + 128 output tokens/request. Output tokens/s: higher is better.</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Points show all 216 timings. Lines show configuration means from three warmed repeats.</a:t>
            </a:r>
          </a:p>
        </p:txBody>
      </p:sp>
      <p:sp>
        <p:nvSpPr>
          <p:cNvPr id="535" name="">
            <a:extLst xmlns:a="http://schemas.openxmlformats.org/drawingml/2006/main">
              <a:ext uri="{FF2B5EF4-FFF2-40B4-BE49-F238E27FC236}">
                <a16:creationId xmlns:a16="http://schemas.microsoft.com/office/drawing/2014/main" id="{B96C4891-033E-4D15-ACD9-52DB878C3512}"/>
              </a:ext>
            </a:extLst>
          </p:cNvPr>
          <p:cNvSpPr>
            <a:spLocks xmlns:a="http://schemas.openxmlformats.org/drawingml/2006/main" noGrp="1"/>
          </p:cNvSpPr>
          <p:nvPr/>
        </p:nvSpPr>
        <p:spPr>
          <a:xfrm xmlns:a="http://schemas.openxmlformats.org/drawingml/2006/main">
            <a:off x="390525"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12B</a:t>
            </a:r>
          </a:p>
        </p:txBody>
      </p:sp>
      <p:graphicFrame>
        <p:nvGraphicFramePr>
          <p:cNvPr id="556" name="Chart"/>
          <p:cNvGraphicFramePr/>
          <p:nvPr/>
        </p:nvGraphicFramePr>
        <p:xfrm>
          <a:off xmlns:a="http://schemas.openxmlformats.org/drawingml/2006/main" x="390525"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7faeaf0b90e3457a"/>
          </a:graphicData>
        </a:graphic>
      </p:graphicFrame>
      <p:sp>
        <p:nvSpPr>
          <p:cNvPr id="537" name="">
            <a:extLst xmlns:a="http://schemas.openxmlformats.org/drawingml/2006/main">
              <a:ext uri="{FF2B5EF4-FFF2-40B4-BE49-F238E27FC236}">
                <a16:creationId xmlns:a16="http://schemas.microsoft.com/office/drawing/2014/main" id="{589578CD-48D6-4706-906A-06D9631B0625}"/>
              </a:ext>
            </a:extLst>
          </p:cNvPr>
          <p:cNvSpPr>
            <a:spLocks xmlns:a="http://schemas.openxmlformats.org/drawingml/2006/main" noGrp="1"/>
          </p:cNvSpPr>
          <p:nvPr/>
        </p:nvSpPr>
        <p:spPr>
          <a:xfrm xmlns:a="http://schemas.openxmlformats.org/drawingml/2006/main">
            <a:off x="885825"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64AD326D-F469-4436-BF0F-54BE9C40DC26}"/>
              </a:ext>
            </a:extLst>
          </p:cNvPr>
          <p:cNvSpPr>
            <a:spLocks xmlns:a="http://schemas.openxmlformats.org/drawingml/2006/main" noGrp="1"/>
          </p:cNvSpPr>
          <p:nvPr/>
        </p:nvSpPr>
        <p:spPr>
          <a:xfrm xmlns:a="http://schemas.openxmlformats.org/drawingml/2006/main">
            <a:off x="390525"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2,130 tokens/s, batch 95</a:t>
            </a:r>
          </a:p>
        </p:txBody>
      </p:sp>
      <p:sp>
        <p:nvSpPr>
          <p:cNvPr id="539" name="">
            <a:extLst xmlns:a="http://schemas.openxmlformats.org/drawingml/2006/main">
              <a:ext uri="{FF2B5EF4-FFF2-40B4-BE49-F238E27FC236}">
                <a16:creationId xmlns:a16="http://schemas.microsoft.com/office/drawing/2014/main" id="{6FAF598E-21C3-4715-86B2-905D2709776D}"/>
              </a:ext>
            </a:extLst>
          </p:cNvPr>
          <p:cNvSpPr>
            <a:spLocks xmlns:a="http://schemas.openxmlformats.org/drawingml/2006/main" noGrp="1"/>
          </p:cNvSpPr>
          <p:nvPr/>
        </p:nvSpPr>
        <p:spPr>
          <a:xfrm xmlns:a="http://schemas.openxmlformats.org/drawingml/2006/main">
            <a:off x="4305300"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Qwen3.5-9B</a:t>
            </a:r>
          </a:p>
        </p:txBody>
      </p:sp>
      <p:graphicFrame>
        <p:nvGraphicFramePr>
          <p:cNvPr id="560" name="Chart"/>
          <p:cNvGraphicFramePr/>
          <p:nvPr/>
        </p:nvGraphicFramePr>
        <p:xfrm>
          <a:off xmlns:a="http://schemas.openxmlformats.org/drawingml/2006/main" x="4305300"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b499f1ab5a804373"/>
          </a:graphicData>
        </a:graphic>
      </p:graphicFrame>
      <p:sp>
        <p:nvSpPr>
          <p:cNvPr id="541" name="">
            <a:extLst xmlns:a="http://schemas.openxmlformats.org/drawingml/2006/main">
              <a:ext uri="{FF2B5EF4-FFF2-40B4-BE49-F238E27FC236}">
                <a16:creationId xmlns:a16="http://schemas.microsoft.com/office/drawing/2014/main" id="{5383B16B-AD4C-4427-B9C0-55E4C0F0BFA4}"/>
              </a:ext>
            </a:extLst>
          </p:cNvPr>
          <p:cNvSpPr>
            <a:spLocks xmlns:a="http://schemas.openxmlformats.org/drawingml/2006/main" noGrp="1"/>
          </p:cNvSpPr>
          <p:nvPr/>
        </p:nvSpPr>
        <p:spPr>
          <a:xfrm xmlns:a="http://schemas.openxmlformats.org/drawingml/2006/main">
            <a:off x="4800600"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2" name="">
            <a:extLst xmlns:a="http://schemas.openxmlformats.org/drawingml/2006/main">
              <a:ext uri="{FF2B5EF4-FFF2-40B4-BE49-F238E27FC236}">
                <a16:creationId xmlns:a16="http://schemas.microsoft.com/office/drawing/2014/main" id="{A9C68DCF-5B94-436A-AD75-8AB28FB83558}"/>
              </a:ext>
            </a:extLst>
          </p:cNvPr>
          <p:cNvSpPr>
            <a:spLocks xmlns:a="http://schemas.openxmlformats.org/drawingml/2006/main" noGrp="1"/>
          </p:cNvSpPr>
          <p:nvPr/>
        </p:nvSpPr>
        <p:spPr>
          <a:xfrm xmlns:a="http://schemas.openxmlformats.org/drawingml/2006/main">
            <a:off x="4305300"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3,378 tokens/s, batch 127</a:t>
            </a:r>
          </a:p>
        </p:txBody>
      </p:sp>
      <p:sp>
        <p:nvSpPr>
          <p:cNvPr id="543" name="">
            <a:extLst xmlns:a="http://schemas.openxmlformats.org/drawingml/2006/main">
              <a:ext uri="{FF2B5EF4-FFF2-40B4-BE49-F238E27FC236}">
                <a16:creationId xmlns:a16="http://schemas.microsoft.com/office/drawing/2014/main" id="{A6314877-B7A2-4B4F-AE4A-40CD5AC67BF3}"/>
              </a:ext>
            </a:extLst>
          </p:cNvPr>
          <p:cNvSpPr>
            <a:spLocks xmlns:a="http://schemas.openxmlformats.org/drawingml/2006/main" noGrp="1"/>
          </p:cNvSpPr>
          <p:nvPr/>
        </p:nvSpPr>
        <p:spPr>
          <a:xfrm xmlns:a="http://schemas.openxmlformats.org/drawingml/2006/main">
            <a:off x="8220075"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E4B</a:t>
            </a:r>
          </a:p>
        </p:txBody>
      </p:sp>
      <p:graphicFrame>
        <p:nvGraphicFramePr>
          <p:cNvPr id="564" name="Chart"/>
          <p:cNvGraphicFramePr/>
          <p:nvPr/>
        </p:nvGraphicFramePr>
        <p:xfrm>
          <a:off xmlns:a="http://schemas.openxmlformats.org/drawingml/2006/main" x="8220075"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c22e32c170d5409c"/>
          </a:graphicData>
        </a:graphic>
      </p:graphicFrame>
      <p:sp>
        <p:nvSpPr>
          <p:cNvPr id="545" name="">
            <a:extLst xmlns:a="http://schemas.openxmlformats.org/drawingml/2006/main">
              <a:ext uri="{FF2B5EF4-FFF2-40B4-BE49-F238E27FC236}">
                <a16:creationId xmlns:a16="http://schemas.microsoft.com/office/drawing/2014/main" id="{F79D0584-321C-47C4-9D42-9B0CA14ABF14}"/>
              </a:ext>
            </a:extLst>
          </p:cNvPr>
          <p:cNvSpPr>
            <a:spLocks xmlns:a="http://schemas.openxmlformats.org/drawingml/2006/main" noGrp="1"/>
          </p:cNvSpPr>
          <p:nvPr/>
        </p:nvSpPr>
        <p:spPr>
          <a:xfrm xmlns:a="http://schemas.openxmlformats.org/drawingml/2006/main">
            <a:off x="8715375"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6" name="">
            <a:extLst xmlns:a="http://schemas.openxmlformats.org/drawingml/2006/main">
              <a:ext uri="{FF2B5EF4-FFF2-40B4-BE49-F238E27FC236}">
                <a16:creationId xmlns:a16="http://schemas.microsoft.com/office/drawing/2014/main" id="{7B060FFF-7F47-4318-A2C3-369805139BF9}"/>
              </a:ext>
            </a:extLst>
          </p:cNvPr>
          <p:cNvSpPr>
            <a:spLocks xmlns:a="http://schemas.openxmlformats.org/drawingml/2006/main" noGrp="1"/>
          </p:cNvSpPr>
          <p:nvPr/>
        </p:nvSpPr>
        <p:spPr>
          <a:xfrm xmlns:a="http://schemas.openxmlformats.org/drawingml/2006/main">
            <a:off x="8220075"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6,076 tokens/s, batch 127</a:t>
            </a:r>
          </a:p>
        </p:txBody>
      </p:sp>
      <p:sp>
        <p:nvSpPr>
          <p:cNvPr id="547" name="">
            <a:extLst xmlns:a="http://schemas.openxmlformats.org/drawingml/2006/main">
              <a:ext uri="{FF2B5EF4-FFF2-40B4-BE49-F238E27FC236}">
                <a16:creationId xmlns:a16="http://schemas.microsoft.com/office/drawing/2014/main" id="{D28D1B5B-6836-4F7B-8883-F658A27A9C20}"/>
              </a:ext>
            </a:extLst>
          </p:cNvPr>
          <p:cNvSpPr>
            <a:spLocks xmlns:a="http://schemas.openxmlformats.org/drawingml/2006/main" noGrp="1"/>
          </p:cNvSpPr>
          <p:nvPr/>
        </p:nvSpPr>
        <p:spPr>
          <a:xfrm xmlns:a="http://schemas.openxmlformats.org/drawingml/2006/main">
            <a:off x="5524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vLLM default captures</a:t>
            </a:r>
          </a:p>
        </p:txBody>
      </p:sp>
      <p:sp>
        <p:nvSpPr>
          <p:cNvPr id="548" name="">
            <a:extLst xmlns:a="http://schemas.openxmlformats.org/drawingml/2006/main">
              <a:ext uri="{FF2B5EF4-FFF2-40B4-BE49-F238E27FC236}">
                <a16:creationId xmlns:a16="http://schemas.microsoft.com/office/drawing/2014/main" id="{83903705-66DF-419C-9B0B-DB39068AE798}"/>
              </a:ext>
            </a:extLst>
          </p:cNvPr>
          <p:cNvSpPr>
            <a:spLocks xmlns:a="http://schemas.openxmlformats.org/drawingml/2006/main" noGrp="1"/>
          </p:cNvSpPr>
          <p:nvPr/>
        </p:nvSpPr>
        <p:spPr>
          <a:xfrm xmlns:a="http://schemas.openxmlformats.org/drawingml/2006/main">
            <a:off x="438150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3D8DFF"/>
                </a:solidFill>
                <a:latin typeface="Helvetica Neue"/>
                <a:ea typeface="Helvetica Neue"/>
                <a:cs typeface="Helvetica Neue"/>
              </a:defRPr>
            </a:pPr>
            <a:r>
              <a:rPr sz="1575" b="0">
                <a:solidFill>
                  <a:srgbClr val="3D8DFF"/>
                </a:solidFill>
                <a:latin typeface="Helvetica Neue"/>
                <a:ea typeface="Helvetica Neue"/>
                <a:cs typeface="Helvetica Neue"/>
              </a:rPr>
              <a:t>Exact batch matches</a:t>
            </a:r>
          </a:p>
        </p:txBody>
      </p:sp>
      <p:sp>
        <p:nvSpPr>
          <p:cNvPr id="549" name="">
            <a:extLst xmlns:a="http://schemas.openxmlformats.org/drawingml/2006/main">
              <a:ext uri="{FF2B5EF4-FFF2-40B4-BE49-F238E27FC236}">
                <a16:creationId xmlns:a16="http://schemas.microsoft.com/office/drawing/2014/main" id="{36054A7A-65CC-4D9D-9B9E-F7E61EB605E8}"/>
              </a:ext>
            </a:extLst>
          </p:cNvPr>
          <p:cNvSpPr>
            <a:spLocks xmlns:a="http://schemas.openxmlformats.org/drawingml/2006/main" noGrp="1"/>
          </p:cNvSpPr>
          <p:nvPr/>
        </p:nvSpPr>
        <p:spPr>
          <a:xfrm xmlns:a="http://schemas.openxmlformats.org/drawingml/2006/main">
            <a:off x="82105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909AA8"/>
                </a:solidFill>
                <a:latin typeface="Helvetica Neue"/>
                <a:ea typeface="Helvetica Neue"/>
                <a:cs typeface="Helvetica Neue"/>
              </a:defRPr>
            </a:pPr>
            <a:r>
              <a:rPr sz="1575" b="0">
                <a:solidFill>
                  <a:srgbClr val="909AA8"/>
                </a:solidFill>
                <a:latin typeface="Helvetica Neue"/>
                <a:ea typeface="Helvetica Neue"/>
                <a:cs typeface="Helvetica Neue"/>
              </a:rPr>
              <a:t>Coarse capture grid</a:t>
            </a:r>
          </a:p>
        </p:txBody>
      </p:sp>
      <p:sp>
        <p:nvSpPr>
          <p:cNvPr id="550" name="">
            <a:extLst xmlns:a="http://schemas.openxmlformats.org/drawingml/2006/main">
              <a:ext uri="{FF2B5EF4-FFF2-40B4-BE49-F238E27FC236}">
                <a16:creationId xmlns:a16="http://schemas.microsoft.com/office/drawing/2014/main" id="{2F08B84F-3CB8-42C9-9A2B-64022CEDA376}"/>
              </a:ext>
            </a:extLst>
          </p:cNvPr>
          <p:cNvSpPr>
            <a:spLocks xmlns:a="http://schemas.openxmlformats.org/drawingml/2006/main" noGrp="1"/>
          </p:cNvSpPr>
          <p:nvPr/>
        </p:nvSpPr>
        <p:spPr>
          <a:xfrm xmlns:a="http://schemas.openxmlformats.org/drawingml/2006/main">
            <a:off x="390525" y="6048375"/>
            <a:ext cx="11401425"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Matched changes: -0.6% to +0.3%. No established gain. Coarse grids lose up to 3.8%.</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07f9b17448274073"/>
              </a:rPr>
              <a:t>Source: our earlier Qwen timing records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C9C7607-4BA3-B4DC-A00F-2E67A9FCFF7E}" type="slidenum">
              <a:rPr sz="1125" b="0">
                <a:solidFill>
                  <a:srgbClr val="000000"/>
                </a:solidFill>
                <a:latin typeface="Helvetica Neue"/>
                <a:ea typeface="Helvetica Neue"/>
                <a:cs typeface="Helvetica Neue"/>
              </a:rPr>
              <a:t>16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results: two earlier model controls</a:t>
            </a:r>
          </a:p>
        </p:txBody>
      </p:sp>
      <p:sp>
        <p:nvSpPr>
          <p:cNvPr id="534" name="">
            <a:extLst xmlns:a="http://schemas.openxmlformats.org/drawingml/2006/main">
              <a:ext uri="{FF2B5EF4-FFF2-40B4-BE49-F238E27FC236}">
                <a16:creationId xmlns:a16="http://schemas.microsoft.com/office/drawing/2014/main" id="{0F2A90CB-AD3B-4D5B-BA7F-57B1F25A43D0}"/>
              </a:ext>
            </a:extLst>
          </p:cNvPr>
          <p:cNvSpPr>
            <a:spLocks xmlns:a="http://schemas.openxmlformats.org/drawingml/2006/main" noGrp="1"/>
          </p:cNvSpPr>
          <p:nvPr/>
        </p:nvSpPr>
        <p:spPr>
          <a:xfrm xmlns:a="http://schemas.openxmlformats.org/drawingml/2006/main">
            <a:off x="390525" y="127635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A100 40 GB, BF16, 128 input + 128 output tokens/request. Output tokens/s: higher is better.</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Points show all 144 timings. Lines show configuration means from three warmed repeats.</a:t>
            </a:r>
          </a:p>
        </p:txBody>
      </p:sp>
      <p:sp>
        <p:nvSpPr>
          <p:cNvPr id="535" name="">
            <a:extLst xmlns:a="http://schemas.openxmlformats.org/drawingml/2006/main">
              <a:ext uri="{FF2B5EF4-FFF2-40B4-BE49-F238E27FC236}">
                <a16:creationId xmlns:a16="http://schemas.microsoft.com/office/drawing/2014/main" id="{1697FAF0-E99E-4F62-BD7E-B7D74FD67B78}"/>
              </a:ext>
            </a:extLst>
          </p:cNvPr>
          <p:cNvSpPr>
            <a:spLocks xmlns:a="http://schemas.openxmlformats.org/drawingml/2006/main" noGrp="1"/>
          </p:cNvSpPr>
          <p:nvPr/>
        </p:nvSpPr>
        <p:spPr>
          <a:xfrm xmlns:a="http://schemas.openxmlformats.org/drawingml/2006/main">
            <a:off x="390525" y="207645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Qwen2.5-1.5B</a:t>
            </a:r>
          </a:p>
        </p:txBody>
      </p:sp>
      <p:graphicFrame>
        <p:nvGraphicFramePr>
          <p:cNvPr id="552" name="Chart"/>
          <p:cNvGraphicFramePr/>
          <p:nvPr/>
        </p:nvGraphicFramePr>
        <p:xfrm>
          <a:off xmlns:a="http://schemas.openxmlformats.org/drawingml/2006/main" x="390525" y="2457450"/>
          <a:ext xmlns:a="http://schemas.openxmlformats.org/drawingml/2006/main" cx="5495925" cy="2571750"/>
        </p:xfrm>
        <a:graphic xmlns:a="http://schemas.openxmlformats.org/drawingml/2006/main">
          <a:graphicData uri="http://schemas.openxmlformats.org/drawingml/2006/chart">
            <c:chart xmlns:r="http://schemas.openxmlformats.org/officeDocument/2006/relationships" xmlns:c="http://schemas.openxmlformats.org/drawingml/2006/chart" r:id="Re9c9cb1df2074d8d"/>
          </a:graphicData>
        </a:graphic>
      </p:graphicFrame>
      <p:sp>
        <p:nvSpPr>
          <p:cNvPr id="537" name="">
            <a:extLst xmlns:a="http://schemas.openxmlformats.org/drawingml/2006/main">
              <a:ext uri="{FF2B5EF4-FFF2-40B4-BE49-F238E27FC236}">
                <a16:creationId xmlns:a16="http://schemas.microsoft.com/office/drawing/2014/main" id="{03F5613D-2D1F-4A37-9911-74A662B1D9D3}"/>
              </a:ext>
            </a:extLst>
          </p:cNvPr>
          <p:cNvSpPr>
            <a:spLocks xmlns:a="http://schemas.openxmlformats.org/drawingml/2006/main" noGrp="1"/>
          </p:cNvSpPr>
          <p:nvPr/>
        </p:nvSpPr>
        <p:spPr>
          <a:xfrm xmlns:a="http://schemas.openxmlformats.org/drawingml/2006/main">
            <a:off x="2057400" y="5114925"/>
            <a:ext cx="3714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22BB250D-029A-41BC-9B74-03D73AE1D664}"/>
              </a:ext>
            </a:extLst>
          </p:cNvPr>
          <p:cNvSpPr>
            <a:spLocks xmlns:a="http://schemas.openxmlformats.org/drawingml/2006/main" noGrp="1"/>
          </p:cNvSpPr>
          <p:nvPr/>
        </p:nvSpPr>
        <p:spPr>
          <a:xfrm xmlns:a="http://schemas.openxmlformats.org/drawingml/2006/main">
            <a:off x="942975" y="5429250"/>
            <a:ext cx="4857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Default peak: 16,453 tokens/s at batch 127</a:t>
            </a:r>
          </a:p>
        </p:txBody>
      </p:sp>
      <p:sp>
        <p:nvSpPr>
          <p:cNvPr id="539" name="">
            <a:extLst xmlns:a="http://schemas.openxmlformats.org/drawingml/2006/main">
              <a:ext uri="{FF2B5EF4-FFF2-40B4-BE49-F238E27FC236}">
                <a16:creationId xmlns:a16="http://schemas.microsoft.com/office/drawing/2014/main" id="{6F1FBEFF-39DE-46D4-87ED-A43719103795}"/>
              </a:ext>
            </a:extLst>
          </p:cNvPr>
          <p:cNvSpPr>
            <a:spLocks xmlns:a="http://schemas.openxmlformats.org/drawingml/2006/main" noGrp="1"/>
          </p:cNvSpPr>
          <p:nvPr/>
        </p:nvSpPr>
        <p:spPr>
          <a:xfrm xmlns:a="http://schemas.openxmlformats.org/drawingml/2006/main">
            <a:off x="6267450" y="207645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Qwen2.5-7B</a:t>
            </a:r>
          </a:p>
        </p:txBody>
      </p:sp>
      <p:graphicFrame>
        <p:nvGraphicFramePr>
          <p:cNvPr id="556" name="Chart"/>
          <p:cNvGraphicFramePr/>
          <p:nvPr/>
        </p:nvGraphicFramePr>
        <p:xfrm>
          <a:off xmlns:a="http://schemas.openxmlformats.org/drawingml/2006/main" x="6267450" y="2457450"/>
          <a:ext xmlns:a="http://schemas.openxmlformats.org/drawingml/2006/main" cx="5495925" cy="2571750"/>
        </p:xfrm>
        <a:graphic xmlns:a="http://schemas.openxmlformats.org/drawingml/2006/main">
          <a:graphicData uri="http://schemas.openxmlformats.org/drawingml/2006/chart">
            <c:chart xmlns:r="http://schemas.openxmlformats.org/officeDocument/2006/relationships" xmlns:c="http://schemas.openxmlformats.org/drawingml/2006/chart" r:id="R751d6c9576384f70"/>
          </a:graphicData>
        </a:graphic>
      </p:graphicFrame>
      <p:sp>
        <p:nvSpPr>
          <p:cNvPr id="541" name="">
            <a:extLst xmlns:a="http://schemas.openxmlformats.org/drawingml/2006/main">
              <a:ext uri="{FF2B5EF4-FFF2-40B4-BE49-F238E27FC236}">
                <a16:creationId xmlns:a16="http://schemas.microsoft.com/office/drawing/2014/main" id="{A00DC7B1-C152-4066-A63E-0B6A085170F9}"/>
              </a:ext>
            </a:extLst>
          </p:cNvPr>
          <p:cNvSpPr>
            <a:spLocks xmlns:a="http://schemas.openxmlformats.org/drawingml/2006/main" noGrp="1"/>
          </p:cNvSpPr>
          <p:nvPr/>
        </p:nvSpPr>
        <p:spPr>
          <a:xfrm xmlns:a="http://schemas.openxmlformats.org/drawingml/2006/main">
            <a:off x="7934325" y="5114925"/>
            <a:ext cx="3714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Requests in fixed batch</a:t>
            </a:r>
          </a:p>
        </p:txBody>
      </p:sp>
      <p:sp>
        <p:nvSpPr>
          <p:cNvPr id="542" name="">
            <a:extLst xmlns:a="http://schemas.openxmlformats.org/drawingml/2006/main">
              <a:ext uri="{FF2B5EF4-FFF2-40B4-BE49-F238E27FC236}">
                <a16:creationId xmlns:a16="http://schemas.microsoft.com/office/drawing/2014/main" id="{74577980-73BD-4832-AE7E-E577ACCE4CFB}"/>
              </a:ext>
            </a:extLst>
          </p:cNvPr>
          <p:cNvSpPr>
            <a:spLocks xmlns:a="http://schemas.openxmlformats.org/drawingml/2006/main" noGrp="1"/>
          </p:cNvSpPr>
          <p:nvPr/>
        </p:nvSpPr>
        <p:spPr>
          <a:xfrm xmlns:a="http://schemas.openxmlformats.org/drawingml/2006/main">
            <a:off x="6819900" y="5429250"/>
            <a:ext cx="4857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Default peak: 4,881 tokens/s at batch 127</a:t>
            </a:r>
          </a:p>
        </p:txBody>
      </p:sp>
      <p:sp>
        <p:nvSpPr>
          <p:cNvPr id="543" name="">
            <a:extLst xmlns:a="http://schemas.openxmlformats.org/drawingml/2006/main">
              <a:ext uri="{FF2B5EF4-FFF2-40B4-BE49-F238E27FC236}">
                <a16:creationId xmlns:a16="http://schemas.microsoft.com/office/drawing/2014/main" id="{84CDFF4F-3B23-4B3A-A222-2A832F405362}"/>
              </a:ext>
            </a:extLst>
          </p:cNvPr>
          <p:cNvSpPr>
            <a:spLocks xmlns:a="http://schemas.openxmlformats.org/drawingml/2006/main" noGrp="1"/>
          </p:cNvSpPr>
          <p:nvPr/>
        </p:nvSpPr>
        <p:spPr>
          <a:xfrm xmlns:a="http://schemas.openxmlformats.org/drawingml/2006/main">
            <a:off x="5524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vLLM default captures</a:t>
            </a:r>
          </a:p>
        </p:txBody>
      </p:sp>
      <p:sp>
        <p:nvSpPr>
          <p:cNvPr id="544" name="">
            <a:extLst xmlns:a="http://schemas.openxmlformats.org/drawingml/2006/main">
              <a:ext uri="{FF2B5EF4-FFF2-40B4-BE49-F238E27FC236}">
                <a16:creationId xmlns:a16="http://schemas.microsoft.com/office/drawing/2014/main" id="{D710C6C9-E19D-4D98-814B-0D75C2E20F6A}"/>
              </a:ext>
            </a:extLst>
          </p:cNvPr>
          <p:cNvSpPr>
            <a:spLocks xmlns:a="http://schemas.openxmlformats.org/drawingml/2006/main" noGrp="1"/>
          </p:cNvSpPr>
          <p:nvPr/>
        </p:nvSpPr>
        <p:spPr>
          <a:xfrm xmlns:a="http://schemas.openxmlformats.org/drawingml/2006/main">
            <a:off x="438150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3D8DFF"/>
                </a:solidFill>
                <a:latin typeface="Helvetica Neue"/>
                <a:ea typeface="Helvetica Neue"/>
                <a:cs typeface="Helvetica Neue"/>
              </a:defRPr>
            </a:pPr>
            <a:r>
              <a:rPr sz="1575" b="0">
                <a:solidFill>
                  <a:srgbClr val="3D8DFF"/>
                </a:solidFill>
                <a:latin typeface="Helvetica Neue"/>
                <a:ea typeface="Helvetica Neue"/>
                <a:cs typeface="Helvetica Neue"/>
              </a:rPr>
              <a:t>Exact batch matches</a:t>
            </a:r>
          </a:p>
        </p:txBody>
      </p:sp>
      <p:sp>
        <p:nvSpPr>
          <p:cNvPr id="545" name="">
            <a:extLst xmlns:a="http://schemas.openxmlformats.org/drawingml/2006/main">
              <a:ext uri="{FF2B5EF4-FFF2-40B4-BE49-F238E27FC236}">
                <a16:creationId xmlns:a16="http://schemas.microsoft.com/office/drawing/2014/main" id="{EE251F77-1005-4931-A19D-537488BE9640}"/>
              </a:ext>
            </a:extLst>
          </p:cNvPr>
          <p:cNvSpPr>
            <a:spLocks xmlns:a="http://schemas.openxmlformats.org/drawingml/2006/main" noGrp="1"/>
          </p:cNvSpPr>
          <p:nvPr/>
        </p:nvSpPr>
        <p:spPr>
          <a:xfrm xmlns:a="http://schemas.openxmlformats.org/drawingml/2006/main">
            <a:off x="82105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909AA8"/>
                </a:solidFill>
                <a:latin typeface="Helvetica Neue"/>
                <a:ea typeface="Helvetica Neue"/>
                <a:cs typeface="Helvetica Neue"/>
              </a:defRPr>
            </a:pPr>
            <a:r>
              <a:rPr sz="1575" b="0">
                <a:solidFill>
                  <a:srgbClr val="909AA8"/>
                </a:solidFill>
                <a:latin typeface="Helvetica Neue"/>
                <a:ea typeface="Helvetica Neue"/>
                <a:cs typeface="Helvetica Neue"/>
              </a:rPr>
              <a:t>Coarse capture grid</a:t>
            </a:r>
          </a:p>
        </p:txBody>
      </p:sp>
      <p:sp>
        <p:nvSpPr>
          <p:cNvPr id="546" name="">
            <a:extLst xmlns:a="http://schemas.openxmlformats.org/drawingml/2006/main">
              <a:ext uri="{FF2B5EF4-FFF2-40B4-BE49-F238E27FC236}">
                <a16:creationId xmlns:a16="http://schemas.microsoft.com/office/drawing/2014/main" id="{7A09876F-B59B-474F-9EDA-AD0A20494E92}"/>
              </a:ext>
            </a:extLst>
          </p:cNvPr>
          <p:cNvSpPr>
            <a:spLocks xmlns:a="http://schemas.openxmlformats.org/drawingml/2006/main" noGrp="1"/>
          </p:cNvSpPr>
          <p:nvPr/>
        </p:nvSpPr>
        <p:spPr>
          <a:xfrm xmlns:a="http://schemas.openxmlformats.org/drawingml/2006/main">
            <a:off x="390525" y="6048375"/>
            <a:ext cx="114014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These older-model controls test the same configuration change. They do not validate an improved scheduler.</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8d4e99b58aa941c3"/>
              </a:rPr>
              <a:t>Source: our saved requests, timing summaries and telemetry</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90F7333B-44AC-F7E9-D49D-FE92F45E0477}" type="slidenum">
              <a:rPr sz="1125" b="0">
                <a:solidFill>
                  <a:srgbClr val="000000"/>
                </a:solidFill>
                <a:latin typeface="Helvetica Neue"/>
                <a:ea typeface="Helvetica Neue"/>
                <a:cs typeface="Helvetica Neue"/>
              </a:rPr>
              <a:t>17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2 results: throughput, latency and GPU activity</a:t>
            </a:r>
          </a:p>
        </p:txBody>
      </p:sp>
      <p:sp>
        <p:nvSpPr>
          <p:cNvPr id="534" name="">
            <a:extLst xmlns:a="http://schemas.openxmlformats.org/drawingml/2006/main">
              <a:ext uri="{FF2B5EF4-FFF2-40B4-BE49-F238E27FC236}">
                <a16:creationId xmlns:a16="http://schemas.microsoft.com/office/drawing/2014/main" id="{03E7C44D-FA90-44D8-8E39-387D1C02D487}"/>
              </a:ext>
            </a:extLst>
          </p:cNvPr>
          <p:cNvSpPr>
            <a:spLocks xmlns:a="http://schemas.openxmlformats.org/drawingml/2006/main" noGrp="1"/>
          </p:cNvSpPr>
          <p:nvPr/>
        </p:nvSpPr>
        <p:spPr>
          <a:xfrm xmlns:a="http://schemas.openxmlformats.org/drawingml/2006/main">
            <a:off x="390525" y="1285875"/>
            <a:ext cx="11401425"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Gemma 4 12B, A100 40 GB, timed burst workload. Points: 3 runs/policy. Diamonds: means.</a:t>
            </a:r>
          </a:p>
        </p:txBody>
      </p:sp>
      <p:sp>
        <p:nvSpPr>
          <p:cNvPr id="535" name="">
            <a:extLst xmlns:a="http://schemas.openxmlformats.org/drawingml/2006/main">
              <a:ext uri="{FF2B5EF4-FFF2-40B4-BE49-F238E27FC236}">
                <a16:creationId xmlns:a16="http://schemas.microsoft.com/office/drawing/2014/main" id="{28B70666-E8C8-4E74-9D57-E7F815251613}"/>
              </a:ext>
            </a:extLst>
          </p:cNvPr>
          <p:cNvSpPr>
            <a:spLocks xmlns:a="http://schemas.openxmlformats.org/drawingml/2006/main" noGrp="1"/>
          </p:cNvSpPr>
          <p:nvPr/>
        </p:nvSpPr>
        <p:spPr>
          <a:xfrm xmlns:a="http://schemas.openxmlformats.org/drawingml/2006/main">
            <a:off x="390525" y="19145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SLO goodput (requests/s), higher is better</a:t>
            </a:r>
          </a:p>
        </p:txBody>
      </p:sp>
      <p:graphicFrame>
        <p:nvGraphicFramePr>
          <p:cNvPr id="548" name="Chart"/>
          <p:cNvGraphicFramePr/>
          <p:nvPr/>
        </p:nvGraphicFramePr>
        <p:xfrm>
          <a:off xmlns:a="http://schemas.openxmlformats.org/drawingml/2006/main" x="390525" y="22955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50877b779ed04d4b"/>
          </a:graphicData>
        </a:graphic>
      </p:graphicFrame>
      <p:sp>
        <p:nvSpPr>
          <p:cNvPr id="537" name="">
            <a:extLst xmlns:a="http://schemas.openxmlformats.org/drawingml/2006/main">
              <a:ext uri="{FF2B5EF4-FFF2-40B4-BE49-F238E27FC236}">
                <a16:creationId xmlns:a16="http://schemas.microsoft.com/office/drawing/2014/main" id="{C7578C7D-7D45-4425-A173-F50721FEC740}"/>
              </a:ext>
            </a:extLst>
          </p:cNvPr>
          <p:cNvSpPr>
            <a:spLocks xmlns:a="http://schemas.openxmlformats.org/drawingml/2006/main" noGrp="1"/>
          </p:cNvSpPr>
          <p:nvPr/>
        </p:nvSpPr>
        <p:spPr>
          <a:xfrm xmlns:a="http://schemas.openxmlformats.org/drawingml/2006/main">
            <a:off x="6267450" y="19145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Output tokens/s, higher is better</a:t>
            </a:r>
          </a:p>
        </p:txBody>
      </p:sp>
      <p:graphicFrame>
        <p:nvGraphicFramePr>
          <p:cNvPr id="550" name="Chart"/>
          <p:cNvGraphicFramePr/>
          <p:nvPr/>
        </p:nvGraphicFramePr>
        <p:xfrm>
          <a:off xmlns:a="http://schemas.openxmlformats.org/drawingml/2006/main" x="6267450" y="22955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06a0035468f848f1"/>
          </a:graphicData>
        </a:graphic>
      </p:graphicFrame>
      <p:sp>
        <p:nvSpPr>
          <p:cNvPr id="539" name="">
            <a:extLst xmlns:a="http://schemas.openxmlformats.org/drawingml/2006/main">
              <a:ext uri="{FF2B5EF4-FFF2-40B4-BE49-F238E27FC236}">
                <a16:creationId xmlns:a16="http://schemas.microsoft.com/office/drawing/2014/main" id="{D7E48501-EF17-4FAE-AB58-4BBCBDE3C6F7}"/>
              </a:ext>
            </a:extLst>
          </p:cNvPr>
          <p:cNvSpPr>
            <a:spLocks xmlns:a="http://schemas.openxmlformats.org/drawingml/2006/main" noGrp="1"/>
          </p:cNvSpPr>
          <p:nvPr/>
        </p:nvSpPr>
        <p:spPr>
          <a:xfrm xmlns:a="http://schemas.openxmlformats.org/drawingml/2006/main">
            <a:off x="390525" y="40100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p99 first-token delay (s), lower is better</a:t>
            </a:r>
          </a:p>
        </p:txBody>
      </p:sp>
      <p:graphicFrame>
        <p:nvGraphicFramePr>
          <p:cNvPr id="552" name="Chart"/>
          <p:cNvGraphicFramePr/>
          <p:nvPr/>
        </p:nvGraphicFramePr>
        <p:xfrm>
          <a:off xmlns:a="http://schemas.openxmlformats.org/drawingml/2006/main" x="390525" y="43910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3f725e38ad474ffd"/>
          </a:graphicData>
        </a:graphic>
      </p:graphicFrame>
      <p:sp>
        <p:nvSpPr>
          <p:cNvPr id="541" name="">
            <a:extLst xmlns:a="http://schemas.openxmlformats.org/drawingml/2006/main">
              <a:ext uri="{FF2B5EF4-FFF2-40B4-BE49-F238E27FC236}">
                <a16:creationId xmlns:a16="http://schemas.microsoft.com/office/drawing/2014/main" id="{E9B6F020-D793-40BA-84E9-06795DD9006B}"/>
              </a:ext>
            </a:extLst>
          </p:cNvPr>
          <p:cNvSpPr>
            <a:spLocks xmlns:a="http://schemas.openxmlformats.org/drawingml/2006/main" noGrp="1"/>
          </p:cNvSpPr>
          <p:nvPr/>
        </p:nvSpPr>
        <p:spPr>
          <a:xfrm xmlns:a="http://schemas.openxmlformats.org/drawingml/2006/main">
            <a:off x="6267450" y="40100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NVML GPU busy time (%)</a:t>
            </a:r>
          </a:p>
        </p:txBody>
      </p:sp>
      <p:graphicFrame>
        <p:nvGraphicFramePr>
          <p:cNvPr id="554" name="Chart"/>
          <p:cNvGraphicFramePr/>
          <p:nvPr/>
        </p:nvGraphicFramePr>
        <p:xfrm>
          <a:off xmlns:a="http://schemas.openxmlformats.org/drawingml/2006/main" x="6267450" y="43910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9cc32814a2194eed"/>
          </a:graphicData>
        </a:graphic>
      </p:graphicFrame>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a8846fe6c08b4afc"/>
              </a:rPr>
              <a:t>Our measured comparison</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476d7929a8cd45c2"/>
              </a:rPr>
              <a:t>Post-hoc phase analysis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1C6C81E-38B9-7560-621D-5A151A79DF9B}" type="slidenum">
              <a:rPr sz="1125" b="0">
                <a:solidFill>
                  <a:srgbClr val="000000"/>
                </a:solidFill>
                <a:latin typeface="Helvetica Neue"/>
                <a:ea typeface="Helvetica Neue"/>
                <a:cs typeface="Helvetica Neue"/>
              </a:rPr>
              <a:t>18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results: what the scheduling comparison means</a:t>
            </a:r>
          </a:p>
        </p:txBody>
      </p:sp>
      <p:sp>
        <p:nvSpPr>
          <p:cNvPr id="534" name="">
            <a:extLst xmlns:a="http://schemas.openxmlformats.org/drawingml/2006/main">
              <a:ext uri="{FF2B5EF4-FFF2-40B4-BE49-F238E27FC236}">
                <a16:creationId xmlns:a16="http://schemas.microsoft.com/office/drawing/2014/main" id="{6055381C-121C-44CC-9F2E-2424B43A36BB}"/>
              </a:ext>
            </a:extLst>
          </p:cNvPr>
          <p:cNvSpPr>
            <a:spLocks xmlns:a="http://schemas.openxmlformats.org/drawingml/2006/main" noGrp="1"/>
          </p:cNvSpPr>
          <p:nvPr/>
        </p:nvSpPr>
        <p:spPr>
          <a:xfrm xmlns:a="http://schemas.openxmlformats.org/drawingml/2006/main">
            <a:off x="390525" y="1371600"/>
            <a:ext cx="11401425"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Means across three engine runs on Gemma 4 12B and the A100 40 GB.</a:t>
            </a:r>
          </a:p>
        </p:txBody>
      </p:sp>
      <p:graphicFrame>
        <p:nvGraphicFramePr>
          <p:cNvPr id="544" name=""/>
          <p:cNvGraphicFramePr/>
          <p:nvPr/>
        </p:nvGraphicFramePr>
        <p:xfrm>
          <a:off xmlns:a="http://schemas.openxmlformats.org/drawingml/2006/main" x="390525" y="2047875"/>
          <a:ext xmlns:a="http://schemas.openxmlformats.org/drawingml/2006/main" cx="11401425" cy="2076450"/>
        </p:xfrm>
        <a:graphic xmlns:a="http://schemas.openxmlformats.org/drawingml/2006/main">
          <a:graphicData uri="http://schemas.openxmlformats.org/drawingml/2006/table">
            <a:tbl>
              <a:tblPr firstRow="0" bandRow="0"/>
              <a:tblGrid>
                <a:gridCol w="2962275"/>
                <a:gridCol w="2095500"/>
                <a:gridCol w="2066925"/>
                <a:gridCol w="2247900"/>
                <a:gridCol w="2028825"/>
              </a:tblGrid>
              <a:tr h="519113">
                <a:tc>
                  <a:txBody>
                    <a:bodyPr/>
                    <a:lstStyle/>
                    <a:p>
                      <a:r>
                        <a:rPr sz="1725" b="1">
                          <a:solidFill>
                            <a:srgbClr val="000000"/>
                          </a:solidFill>
                          <a:latin typeface="Helvetica Neue"/>
                          <a:ea typeface="Helvetica Neue"/>
                          <a:cs typeface="Helvetica Neue"/>
                        </a:rPr>
                        <a:t>Policy</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SLO goodput</a:t>
                      </a:r>
                    </a:p>
                    <a:p>
                      <a:r>
                        <a:rPr sz="1725" b="1">
                          <a:solidFill>
                            <a:srgbClr val="000000"/>
                          </a:solidFill>
                          <a:latin typeface="Helvetica Neue"/>
                          <a:ea typeface="Helvetica Neue"/>
                          <a:cs typeface="Helvetica Neue"/>
                        </a:rPr>
                        <a:t>requests/s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Output</a:t>
                      </a:r>
                    </a:p>
                    <a:p>
                      <a:r>
                        <a:rPr sz="1725" b="1">
                          <a:solidFill>
                            <a:srgbClr val="000000"/>
                          </a:solidFill>
                          <a:latin typeface="Helvetica Neue"/>
                          <a:ea typeface="Helvetica Neue"/>
                          <a:cs typeface="Helvetica Neue"/>
                        </a:rPr>
                        <a:t>tokens/s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p99 first-token</a:t>
                      </a:r>
                    </a:p>
                    <a:p>
                      <a:r>
                        <a:rPr sz="1725" b="1">
                          <a:solidFill>
                            <a:srgbClr val="000000"/>
                          </a:solidFill>
                          <a:latin typeface="Helvetica Neue"/>
                          <a:ea typeface="Helvetica Neue"/>
                          <a:cs typeface="Helvetica Neue"/>
                        </a:rPr>
                        <a:t>delay (s)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GPU busy</a:t>
                      </a:r>
                    </a:p>
                    <a:p>
                      <a:r>
                        <a:rPr sz="1725" b="1">
                          <a:solidFill>
                            <a:srgbClr val="000000"/>
                          </a:solidFill>
                          <a:latin typeface="Helvetica Neue"/>
                          <a:ea typeface="Helvetica Neue"/>
                          <a:cs typeface="Helvetica Neue"/>
                        </a:rPr>
                        <a:t>(%)</a:t>
                      </a:r>
                    </a:p>
                  </a:txBody>
                  <a:tcPr marL="95250" marR="95250" marT="76200" marB="57150" anchor="t">
                    <a:solidFill>
                      <a:srgbClr val="EAF6FD"/>
                    </a:solidFill>
                  </a:tcPr>
                </a:tc>
              </a:tr>
              <a:tr h="519113">
                <a:tc>
                  <a:txBody>
                    <a:bodyPr/>
                    <a:lstStyle/>
                    <a:p>
                      <a:r>
                        <a:rPr sz="1725">
                          <a:solidFill>
                            <a:srgbClr val="000000"/>
                          </a:solidFill>
                          <a:latin typeface="Helvetica Neue"/>
                          <a:ea typeface="Helvetica Neue"/>
                          <a:cs typeface="Helvetica Neue"/>
                        </a:rPr>
                        <a:t>Direct vLLM</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2.588</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766.6</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13.70</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99.46</a:t>
                      </a:r>
                    </a:p>
                  </a:txBody>
                  <a:tcPr marL="95250" marR="95250" marT="76200" marB="57150" anchor="t">
                    <a:solidFill>
                      <a:srgbClr val="FFFFFF"/>
                    </a:solidFill>
                  </a:tcPr>
                </a:tc>
              </a:tr>
              <a:tr h="519113">
                <a:tc>
                  <a:txBody>
                    <a:bodyPr/>
                    <a:lstStyle/>
                    <a:p>
                      <a:r>
                        <a:rPr sz="1725">
                          <a:solidFill>
                            <a:srgbClr val="000000"/>
                          </a:solidFill>
                          <a:latin typeface="Helvetica Neue"/>
                          <a:ea typeface="Helvetica Neue"/>
                          <a:cs typeface="Helvetica Neue"/>
                        </a:rPr>
                        <a:t>Fixed 32</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2.202</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665.3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14.99</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99.67</a:t>
                      </a:r>
                    </a:p>
                  </a:txBody>
                  <a:tcPr marL="95250" marR="95250" marT="76200" marB="57150" anchor="t">
                    <a:solidFill>
                      <a:srgbClr val="FFFFFF"/>
                    </a:solidFill>
                  </a:tcPr>
                </a:tc>
              </a:tr>
              <a:tr h="519113">
                <a:tc>
                  <a:txBody>
                    <a:bodyPr/>
                    <a:lstStyle/>
                    <a:p>
                      <a:r>
                        <a:rPr sz="1725">
                          <a:solidFill>
                            <a:srgbClr val="000000"/>
                          </a:solidFill>
                          <a:latin typeface="Helvetica Neue"/>
                          <a:ea typeface="Helvetica Neue"/>
                          <a:cs typeface="Helvetica Neue"/>
                        </a:rPr>
                        <a:t>Context budget</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2.013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608.3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23.89</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99.78</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27336616-D7A4-4CB5-86E4-36ECD1B955CD}"/>
              </a:ext>
            </a:extLst>
          </p:cNvPr>
          <p:cNvSpPr>
            <a:spLocks xmlns:a="http://schemas.openxmlformats.org/drawingml/2006/main" noGrp="1"/>
          </p:cNvSpPr>
          <p:nvPr/>
        </p:nvSpPr>
        <p:spPr>
          <a:xfrm xmlns:a="http://schemas.openxmlformats.org/drawingml/2006/main">
            <a:off x="390525" y="4410075"/>
            <a:ext cx="11401425"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The context-budget rule reduces SLO goodput by 20–24% versus default vLLM.</a:t>
            </a:r>
          </a:p>
        </p:txBody>
      </p:sp>
      <p:sp>
        <p:nvSpPr>
          <p:cNvPr id="537" name="">
            <a:extLst xmlns:a="http://schemas.openxmlformats.org/drawingml/2006/main">
              <a:ext uri="{FF2B5EF4-FFF2-40B4-BE49-F238E27FC236}">
                <a16:creationId xmlns:a16="http://schemas.microsoft.com/office/drawing/2014/main" id="{7F8F6E7F-4774-4458-B3C6-0F14EC8AB855}"/>
              </a:ext>
            </a:extLst>
          </p:cNvPr>
          <p:cNvSpPr>
            <a:spLocks xmlns:a="http://schemas.openxmlformats.org/drawingml/2006/main" noGrp="1"/>
          </p:cNvSpPr>
          <p:nvPr/>
        </p:nvSpPr>
        <p:spPr>
          <a:xfrm xmlns:a="http://schemas.openxmlformats.org/drawingml/2006/main">
            <a:off x="390525" y="4886325"/>
            <a:ext cx="11401425"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Near-100% GPU busy time coexists with missed latency targets and lower SLO goodput.</a:t>
            </a:r>
          </a:p>
        </p:txBody>
      </p:sp>
      <p:sp>
        <p:nvSpPr>
          <p:cNvPr id="538" name="">
            <a:extLst xmlns:a="http://schemas.openxmlformats.org/drawingml/2006/main">
              <a:ext uri="{FF2B5EF4-FFF2-40B4-BE49-F238E27FC236}">
                <a16:creationId xmlns:a16="http://schemas.microsoft.com/office/drawing/2014/main" id="{7F6F3BE0-2CD2-4200-BF5F-CE6F6AE61266}"/>
              </a:ext>
            </a:extLst>
          </p:cNvPr>
          <p:cNvSpPr>
            <a:spLocks xmlns:a="http://schemas.openxmlformats.org/drawingml/2006/main" noGrp="1"/>
          </p:cNvSpPr>
          <p:nvPr/>
        </p:nvSpPr>
        <p:spPr>
          <a:xfrm xmlns:a="http://schemas.openxmlformats.org/drawingml/2006/main">
            <a:off x="390525" y="5305425"/>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Burst finding: in every trial, 96/96 initial short requests meet our targets.</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After the long prompts, 0/96 later short requests meet them.</a:t>
            </a:r>
          </a:p>
        </p:txBody>
      </p:sp>
      <p:sp>
        <p:nvSpPr>
          <p:cNvPr id="539" name="">
            <a:extLst xmlns:a="http://schemas.openxmlformats.org/drawingml/2006/main">
              <a:ext uri="{FF2B5EF4-FFF2-40B4-BE49-F238E27FC236}">
                <a16:creationId xmlns:a16="http://schemas.microsoft.com/office/drawing/2014/main" id="{596B2A6E-C569-4D61-A8CE-64FE9E3E0374}"/>
              </a:ext>
            </a:extLst>
          </p:cNvPr>
          <p:cNvSpPr>
            <a:spLocks xmlns:a="http://schemas.openxmlformats.org/drawingml/2006/main" noGrp="1"/>
          </p:cNvSpPr>
          <p:nvPr/>
        </p:nvSpPr>
        <p:spPr>
          <a:xfrm xmlns:a="http://schemas.openxmlformats.org/drawingml/2006/main">
            <a:off x="390525" y="6029325"/>
            <a:ext cx="11401425" cy="257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The p99 column averages per-run p99s. This finite workload does not measure sustainable serving capacity.</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9d6c8d1dcb124120"/>
              </a:rPr>
              <a:t>Our measured results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740c8a7222ea4faf"/>
              </a:rPr>
              <a:t>Tensormux</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ba75c46129094e55"/>
              </a:rPr>
              <a:t>TensorPath</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2359313f61f34219"/>
              </a:rPr>
              <a:t>NVIDIA metric definition</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CCF91274-D221-1BB4-3BF9-836E3AD31EBE}" type="slidenum">
              <a:rPr sz="1125" b="0">
                <a:solidFill>
                  <a:srgbClr val="000000"/>
                </a:solidFill>
                <a:latin typeface="Helvetica Neue"/>
                <a:ea typeface="Helvetica Neue"/>
                <a:cs typeface="Helvetica Neue"/>
              </a:rPr>
              <a:t>19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How our experiments extend this work</a:t>
            </a:r>
          </a:p>
        </p:txBody>
      </p:sp>
      <p:sp>
        <p:nvSpPr>
          <p:cNvPr id="534" name="">
            <a:extLst xmlns:a="http://schemas.openxmlformats.org/drawingml/2006/main">
              <a:ext uri="{FF2B5EF4-FFF2-40B4-BE49-F238E27FC236}">
                <a16:creationId xmlns:a16="http://schemas.microsoft.com/office/drawing/2014/main" id="{EE196265-A89A-4959-8DF1-A2FE7CBB2484}"/>
              </a:ext>
            </a:extLst>
          </p:cNvPr>
          <p:cNvSpPr>
            <a:spLocks xmlns:a="http://schemas.openxmlformats.org/drawingml/2006/main" noGrp="1"/>
          </p:cNvSpPr>
          <p:nvPr/>
        </p:nvSpPr>
        <p:spPr>
          <a:xfrm xmlns:a="http://schemas.openxmlformats.org/drawingml/2006/main">
            <a:off x="390525" y="1362075"/>
            <a:ext cx="11401425" cy="971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1">
                <a:solidFill>
                  <a:srgbClr val="000000"/>
                </a:solidFill>
                <a:latin typeface="Helvetica Neue"/>
                <a:ea typeface="Helvetica Neue"/>
                <a:cs typeface="Helvetica Neue"/>
              </a:defRPr>
            </a:pPr>
            <a:r>
              <a:rPr sz="2400" b="1">
                <a:solidFill>
                  <a:srgbClr val="000000"/>
                </a:solidFill>
                <a:latin typeface="Helvetica Neue"/>
                <a:ea typeface="Helvetica Neue"/>
                <a:cs typeface="Helvetica Neue"/>
              </a:rPr>
              <a:t>The open question is how much unused GPU capacity we can recover while meeting latency targets.</a:t>
            </a:r>
          </a:p>
        </p:txBody>
      </p:sp>
      <p:graphicFrame>
        <p:nvGraphicFramePr>
          <p:cNvPr id="542" name=""/>
          <p:cNvGraphicFramePr/>
          <p:nvPr/>
        </p:nvGraphicFramePr>
        <p:xfrm>
          <a:off xmlns:a="http://schemas.openxmlformats.org/drawingml/2006/main" x="390525" y="2628900"/>
          <a:ext xmlns:a="http://schemas.openxmlformats.org/drawingml/2006/main" cx="11401425" cy="2495550"/>
        </p:xfrm>
        <a:graphic xmlns:a="http://schemas.openxmlformats.org/drawingml/2006/main">
          <a:graphicData uri="http://schemas.openxmlformats.org/drawingml/2006/table">
            <a:tbl>
              <a:tblPr firstRow="0" bandRow="0"/>
              <a:tblGrid>
                <a:gridCol w="2924175"/>
                <a:gridCol w="3829050"/>
                <a:gridCol w="4648200"/>
              </a:tblGrid>
              <a:tr h="831850">
                <a:tc>
                  <a:txBody>
                    <a:bodyPr/>
                    <a:lstStyle/>
                    <a:p>
                      <a:r>
                        <a:rPr sz="1725" b="1">
                          <a:solidFill>
                            <a:srgbClr val="000000"/>
                          </a:solidFill>
                          <a:latin typeface="Helvetica Neue"/>
                          <a:ea typeface="Helvetica Neue"/>
                          <a:cs typeface="Helvetica Neue"/>
                        </a:rPr>
                        <a:t>Our completed study</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Measured finding</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Implication for the extension</a:t>
                      </a:r>
                    </a:p>
                  </a:txBody>
                  <a:tcPr marL="95250" marR="95250" marT="76200" marB="57150" anchor="t">
                    <a:solidFill>
                      <a:srgbClr val="EAF6FD"/>
                    </a:solidFill>
                  </a:tcPr>
                </a:tc>
              </a:tr>
              <a:tr h="831850">
                <a:tc>
                  <a:txBody>
                    <a:bodyPr/>
                    <a:lstStyle/>
                    <a:p>
                      <a:r>
                        <a:rPr sz="1725">
                          <a:solidFill>
                            <a:srgbClr val="000000"/>
                          </a:solidFill>
                          <a:latin typeface="Helvetica Neue"/>
                          <a:ea typeface="Helvetica Neue"/>
                          <a:cs typeface="Helvetica Neue"/>
                        </a:rPr>
                        <a:t>CUDA graph configuration</a:t>
                      </a:r>
                    </a:p>
                    <a:p>
                      <a:r>
                        <a:rPr sz="1725">
                          <a:solidFill>
                            <a:srgbClr val="000000"/>
                          </a:solidFill>
                          <a:latin typeface="Helvetica Neue"/>
                          <a:ea typeface="Helvetica Neue"/>
                          <a:cs typeface="Helvetica Neue"/>
                        </a:rPr>
                        <a:t>Five models, 360 calls</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Exact matching gives no established gain in the three current models.</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Like TensorPath, investigate execution cost. Use the engine’s actual implementation as the baseline.</a:t>
                      </a:r>
                    </a:p>
                  </a:txBody>
                  <a:tcPr marL="95250" marR="95250" marT="76200" marB="57150" anchor="t">
                    <a:solidFill>
                      <a:srgbClr val="FFFFFF"/>
                    </a:solidFill>
                  </a:tcPr>
                </a:tc>
              </a:tr>
              <a:tr h="831850">
                <a:tc>
                  <a:txBody>
                    <a:bodyPr/>
                    <a:lstStyle/>
                    <a:p>
                      <a:r>
                        <a:rPr sz="1725">
                          <a:solidFill>
                            <a:srgbClr val="000000"/>
                          </a:solidFill>
                          <a:latin typeface="Helvetica Neue"/>
                          <a:ea typeface="Helvetica Neue"/>
                          <a:cs typeface="Helvetica Neue"/>
                        </a:rPr>
                        <a:t>Admission during bursts</a:t>
                      </a:r>
                    </a:p>
                    <a:p>
                      <a:r>
                        <a:rPr sz="1725">
                          <a:solidFill>
                            <a:srgbClr val="000000"/>
                          </a:solidFill>
                          <a:latin typeface="Helvetica Neue"/>
                          <a:ea typeface="Helvetica Neue"/>
                          <a:cs typeface="Helvetica Neue"/>
                        </a:rPr>
                        <a:t>Gemma 4 12B, 2,160 requests</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The context-budget gate lowers SLO goodput by 20–24%, despite ~99–100% GPU busy time.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Like Tensormux, study where work waits. Our initial scope is one engine on one GPU.</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22CA99DC-D341-4D6B-AA16-3E29BDF35BFE}"/>
              </a:ext>
            </a:extLst>
          </p:cNvPr>
          <p:cNvSpPr>
            <a:spLocks xmlns:a="http://schemas.openxmlformats.org/drawingml/2006/main" noGrp="1"/>
          </p:cNvSpPr>
          <p:nvPr/>
        </p:nvSpPr>
        <p:spPr>
          <a:xfrm xmlns:a="http://schemas.openxmlformats.org/drawingml/2006/main">
            <a:off x="390525" y="5400675"/>
            <a:ext cx="11401425"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These results motivate profiling. They do not identify the causal bottleneck or demonstrate a better scheduler.</a:t>
            </a:r>
          </a:p>
        </p:txBody>
      </p:sp>
      <p:sp>
        <p:nvSpPr>
          <p:cNvPr id="537" name="">
            <a:extLst xmlns:a="http://schemas.openxmlformats.org/drawingml/2006/main">
              <a:ext uri="{FF2B5EF4-FFF2-40B4-BE49-F238E27FC236}">
                <a16:creationId xmlns:a16="http://schemas.microsoft.com/office/drawing/2014/main" id="{ABE756D0-E7C0-4226-94D2-2DD905C40674}"/>
              </a:ext>
            </a:extLst>
          </p:cNvPr>
          <p:cNvSpPr>
            <a:spLocks xmlns:a="http://schemas.openxmlformats.org/drawingml/2006/main" noGrp="1"/>
          </p:cNvSpPr>
          <p:nvPr/>
        </p:nvSpPr>
        <p:spPr>
          <a:xfrm xmlns:a="http://schemas.openxmlformats.org/drawingml/2006/main">
            <a:off x="390525" y="6000750"/>
            <a:ext cx="11401425"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The 47% / 53% split is illustrative. GPU busy time does not measure achieved compute efficiency.</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4c3b948903a448d3"/>
              </a:rPr>
              <a:t>Nsight Systems: execution timeline</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b2275a3efc3f4ddc"/>
              </a:rPr>
              <a:t>Nsight Compute: kernel resource use</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f9d2cec4376648e7"/>
              </a:rPr>
              <a:t>Proposed protocol</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844E025A-983C-6D44-79C6-4612AACD43FC}" type="slidenum">
              <a:rPr sz="1125" b="0">
                <a:solidFill>
                  <a:srgbClr val="000000"/>
                </a:solidFill>
                <a:latin typeface="Helvetica Neue"/>
                <a:ea typeface="Helvetica Neue"/>
                <a:cs typeface="Helvetica Neue"/>
              </a:rPr>
              <a:t>20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Next experiment: recoverable GPU underutilization</a:t>
            </a:r>
          </a:p>
        </p:txBody>
      </p:sp>
      <p:sp>
        <p:nvSpPr>
          <p:cNvPr id="534" name="">
            <a:extLst xmlns:a="http://schemas.openxmlformats.org/drawingml/2006/main">
              <a:ext uri="{FF2B5EF4-FFF2-40B4-BE49-F238E27FC236}">
                <a16:creationId xmlns:a16="http://schemas.microsoft.com/office/drawing/2014/main" id="{4FABEFFC-E052-41B5-B171-C417CEFFBA10}"/>
              </a:ext>
            </a:extLst>
          </p:cNvPr>
          <p:cNvSpPr>
            <a:spLocks xmlns:a="http://schemas.openxmlformats.org/drawingml/2006/main" noGrp="1"/>
          </p:cNvSpPr>
          <p:nvPr/>
        </p:nvSpPr>
        <p:spPr>
          <a:xfrm xmlns:a="http://schemas.openxmlformats.org/drawingml/2006/main">
            <a:off x="390525" y="1390650"/>
            <a:ext cx="11401425"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One controlled study on the same model and GPU, extending our saved burst workload.</a:t>
            </a:r>
          </a:p>
        </p:txBody>
      </p:sp>
      <p:sp>
        <p:nvSpPr>
          <p:cNvPr id="535" name="">
            <a:extLst xmlns:a="http://schemas.openxmlformats.org/drawingml/2006/main">
              <a:ext uri="{FF2B5EF4-FFF2-40B4-BE49-F238E27FC236}">
                <a16:creationId xmlns:a16="http://schemas.microsoft.com/office/drawing/2014/main" id="{F6004EAF-ABC2-4FBE-9787-B073845D7114}"/>
              </a:ext>
            </a:extLst>
          </p:cNvPr>
          <p:cNvSpPr>
            <a:spLocks xmlns:a="http://schemas.openxmlformats.org/drawingml/2006/main" noGrp="1"/>
          </p:cNvSpPr>
          <p:nvPr/>
        </p:nvSpPr>
        <p:spPr>
          <a:xfrm xmlns:a="http://schemas.openxmlformats.org/drawingml/2006/main">
            <a:off x="390525" y="2409825"/>
            <a:ext cx="53816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1. Locate the bottleneck</a:t>
            </a:r>
          </a:p>
        </p:txBody>
      </p:sp>
      <p:sp>
        <p:nvSpPr>
          <p:cNvPr id="536" name="">
            <a:extLst xmlns:a="http://schemas.openxmlformats.org/drawingml/2006/main">
              <a:ext uri="{FF2B5EF4-FFF2-40B4-BE49-F238E27FC236}">
                <a16:creationId xmlns:a16="http://schemas.microsoft.com/office/drawing/2014/main" id="{2401C83F-37C4-4B93-8E98-2F7165F1B673}"/>
              </a:ext>
            </a:extLst>
          </p:cNvPr>
          <p:cNvSpPr>
            <a:spLocks xmlns:a="http://schemas.openxmlformats.org/drawingml/2006/main" noGrp="1"/>
          </p:cNvSpPr>
          <p:nvPr/>
        </p:nvSpPr>
        <p:spPr>
          <a:xfrm xmlns:a="http://schemas.openxmlformats.org/drawingml/2006/main">
            <a:off x="390525" y="2819400"/>
            <a:ext cx="5381625" cy="1343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Sweep arrival rate around serving capacity. Separate low demand from idle gaps with pending work. Trace CPU scheduling, GPU kernels and memory activity.</a:t>
            </a:r>
          </a:p>
        </p:txBody>
      </p:sp>
      <p:sp>
        <p:nvSpPr>
          <p:cNvPr id="537" name="">
            <a:extLst xmlns:a="http://schemas.openxmlformats.org/drawingml/2006/main">
              <a:ext uri="{FF2B5EF4-FFF2-40B4-BE49-F238E27FC236}">
                <a16:creationId xmlns:a16="http://schemas.microsoft.com/office/drawing/2014/main" id="{CB4A667A-2E39-4F2E-9984-C2B93C01E042}"/>
              </a:ext>
            </a:extLst>
          </p:cNvPr>
          <p:cNvSpPr>
            <a:spLocks xmlns:a="http://schemas.openxmlformats.org/drawingml/2006/main" noGrp="1"/>
          </p:cNvSpPr>
          <p:nvPr/>
        </p:nvSpPr>
        <p:spPr>
          <a:xfrm xmlns:a="http://schemas.openxmlformats.org/drawingml/2006/main">
            <a:off x="6257925" y="2409825"/>
            <a:ext cx="55340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2. Test one targeted change</a:t>
            </a:r>
          </a:p>
        </p:txBody>
      </p:sp>
      <p:sp>
        <p:nvSpPr>
          <p:cNvPr id="538" name="">
            <a:extLst xmlns:a="http://schemas.openxmlformats.org/drawingml/2006/main">
              <a:ext uri="{FF2B5EF4-FFF2-40B4-BE49-F238E27FC236}">
                <a16:creationId xmlns:a16="http://schemas.microsoft.com/office/drawing/2014/main" id="{9DA94AEE-249F-4BCF-8AFE-A06795B9452B}"/>
              </a:ext>
            </a:extLst>
          </p:cNvPr>
          <p:cNvSpPr>
            <a:spLocks xmlns:a="http://schemas.openxmlformats.org/drawingml/2006/main" noGrp="1"/>
          </p:cNvSpPr>
          <p:nvPr/>
        </p:nvSpPr>
        <p:spPr>
          <a:xfrm xmlns:a="http://schemas.openxmlformats.org/drawingml/2006/main">
            <a:off x="6257925" y="2819400"/>
            <a:ext cx="5534025" cy="1343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Choose the mechanism from the profile: admission or batching if work waits, or execution changes if a kernel dominates. Freeze the change before evaluation.</a:t>
            </a:r>
          </a:p>
        </p:txBody>
      </p:sp>
      <p:sp>
        <p:nvSpPr>
          <p:cNvPr id="539" name="">
            <a:extLst xmlns:a="http://schemas.openxmlformats.org/drawingml/2006/main">
              <a:ext uri="{FF2B5EF4-FFF2-40B4-BE49-F238E27FC236}">
                <a16:creationId xmlns:a16="http://schemas.microsoft.com/office/drawing/2014/main" id="{636BF990-2B9A-40A0-A4B4-2C2E12273493}"/>
              </a:ext>
            </a:extLst>
          </p:cNvPr>
          <p:cNvSpPr>
            <a:spLocks xmlns:a="http://schemas.openxmlformats.org/drawingml/2006/main" noGrp="1"/>
          </p:cNvSpPr>
          <p:nvPr/>
        </p:nvSpPr>
        <p:spPr>
          <a:xfrm xmlns:a="http://schemas.openxmlformats.org/drawingml/2006/main">
            <a:off x="390525" y="4505325"/>
            <a:ext cx="11401425"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Compare current vLLM, the candidate and a control with that change disabled. Use unseen traces, balanced independent repetitions and all-request accounting.</a:t>
            </a:r>
          </a:p>
        </p:txBody>
      </p:sp>
      <p:sp>
        <p:nvSpPr>
          <p:cNvPr id="540" name="">
            <a:extLst xmlns:a="http://schemas.openxmlformats.org/drawingml/2006/main">
              <a:ext uri="{FF2B5EF4-FFF2-40B4-BE49-F238E27FC236}">
                <a16:creationId xmlns:a16="http://schemas.microsoft.com/office/drawing/2014/main" id="{A39EA8EF-18F1-444D-A2AD-40D30214B863}"/>
              </a:ext>
            </a:extLst>
          </p:cNvPr>
          <p:cNvSpPr>
            <a:spLocks xmlns:a="http://schemas.openxmlformats.org/drawingml/2006/main" noGrp="1"/>
          </p:cNvSpPr>
          <p:nvPr/>
        </p:nvSpPr>
        <p:spPr>
          <a:xfrm xmlns:a="http://schemas.openxmlformats.org/drawingml/2006/main">
            <a:off x="390525" y="5543550"/>
            <a:ext cx="11401425"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Success: higher throughput and SLO goodput within fixed latency targets, supported by a reduction in the identified bottleneck.</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4dbe2985b71b4b70"/>
              </a:rPr>
              <a:t>Full references and additional background</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F6DF2BE2-2DFA-1C03-677D-BDC2260D6D92}" type="slidenum">
              <a:rPr sz="1125" b="0">
                <a:solidFill>
                  <a:srgbClr val="000000"/>
                </a:solidFill>
                <a:latin typeface="Helvetica Neue"/>
                <a:ea typeface="Helvetica Neue"/>
                <a:cs typeface="Helvetica Neue"/>
              </a:rPr>
              <a:t>21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References and reproducibility records</a:t>
            </a:r>
          </a:p>
        </p:txBody>
      </p:sp>
      <p:sp>
        <p:nvSpPr>
          <p:cNvPr id="534" name="">
            <a:extLst xmlns:a="http://schemas.openxmlformats.org/drawingml/2006/main">
              <a:ext uri="{FF2B5EF4-FFF2-40B4-BE49-F238E27FC236}">
                <a16:creationId xmlns:a16="http://schemas.microsoft.com/office/drawing/2014/main" id="{BFA39FB4-E6FC-4C15-9815-31EA9257EC8E}"/>
              </a:ext>
            </a:extLst>
          </p:cNvPr>
          <p:cNvSpPr>
            <a:spLocks xmlns:a="http://schemas.openxmlformats.org/drawingml/2006/main" noGrp="1"/>
          </p:cNvSpPr>
          <p:nvPr/>
        </p:nvSpPr>
        <p:spPr>
          <a:xfrm xmlns:a="http://schemas.openxmlformats.org/drawingml/2006/main">
            <a:off x="390525" y="15049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253bb2dfbdb04dd4"/>
              </a:rPr>
              <a:t>[1] Hong et al. SOLA: state-aware scheduling. MLSys 2025. Figure 1</a:t>
            </a:r>
          </a:p>
        </p:txBody>
      </p:sp>
      <p:sp>
        <p:nvSpPr>
          <p:cNvPr id="535" name="">
            <a:extLst xmlns:a="http://schemas.openxmlformats.org/drawingml/2006/main">
              <a:ext uri="{FF2B5EF4-FFF2-40B4-BE49-F238E27FC236}">
                <a16:creationId xmlns:a16="http://schemas.microsoft.com/office/drawing/2014/main" id="{0048D0E2-4BA0-4B3F-BB12-514B4B8B944F}"/>
              </a:ext>
            </a:extLst>
          </p:cNvPr>
          <p:cNvSpPr>
            <a:spLocks xmlns:a="http://schemas.openxmlformats.org/drawingml/2006/main" noGrp="1"/>
          </p:cNvSpPr>
          <p:nvPr/>
        </p:nvSpPr>
        <p:spPr>
          <a:xfrm xmlns:a="http://schemas.openxmlformats.org/drawingml/2006/main">
            <a:off x="390525" y="19621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f0b9bff76fcc4b3b"/>
              </a:rPr>
              <a:t>[2] Gao et al. DuetServe: adaptive GPU multiplexing. ICML 2026. Figure 6</a:t>
            </a:r>
          </a:p>
        </p:txBody>
      </p:sp>
      <p:sp>
        <p:nvSpPr>
          <p:cNvPr id="536" name="">
            <a:extLst xmlns:a="http://schemas.openxmlformats.org/drawingml/2006/main">
              <a:ext uri="{FF2B5EF4-FFF2-40B4-BE49-F238E27FC236}">
                <a16:creationId xmlns:a16="http://schemas.microsoft.com/office/drawing/2014/main" id="{85135F41-4A97-4F84-B6F8-781C2F72138B}"/>
              </a:ext>
            </a:extLst>
          </p:cNvPr>
          <p:cNvSpPr>
            <a:spLocks xmlns:a="http://schemas.openxmlformats.org/drawingml/2006/main" noGrp="1"/>
          </p:cNvSpPr>
          <p:nvPr/>
        </p:nvSpPr>
        <p:spPr>
          <a:xfrm xmlns:a="http://schemas.openxmlformats.org/drawingml/2006/main">
            <a:off x="390525" y="24193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eb675b4b52694a61"/>
              </a:rPr>
              <a:t>[3] Yang et al. GPU-disaggregated DLRM serving. NSDI 2025. Figure 17</a:t>
            </a:r>
          </a:p>
        </p:txBody>
      </p:sp>
      <p:sp>
        <p:nvSpPr>
          <p:cNvPr id="537" name="">
            <a:extLst xmlns:a="http://schemas.openxmlformats.org/drawingml/2006/main">
              <a:ext uri="{FF2B5EF4-FFF2-40B4-BE49-F238E27FC236}">
                <a16:creationId xmlns:a16="http://schemas.microsoft.com/office/drawing/2014/main" id="{2695EE92-2A92-4785-8456-ED7B2A1E339E}"/>
              </a:ext>
            </a:extLst>
          </p:cNvPr>
          <p:cNvSpPr>
            <a:spLocks xmlns:a="http://schemas.openxmlformats.org/drawingml/2006/main" noGrp="1"/>
          </p:cNvSpPr>
          <p:nvPr/>
        </p:nvSpPr>
        <p:spPr>
          <a:xfrm xmlns:a="http://schemas.openxmlformats.org/drawingml/2006/main">
            <a:off x="390525" y="28765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70a950b511c542a9"/>
              </a:rPr>
              <a:t>[4] NVIDIA. Tuning CUDA graph batch sizes. Engineering report, August 2026</a:t>
            </a:r>
          </a:p>
        </p:txBody>
      </p:sp>
      <p:sp>
        <p:nvSpPr>
          <p:cNvPr id="538" name="">
            <a:extLst xmlns:a="http://schemas.openxmlformats.org/drawingml/2006/main">
              <a:ext uri="{FF2B5EF4-FFF2-40B4-BE49-F238E27FC236}">
                <a16:creationId xmlns:a16="http://schemas.microsoft.com/office/drawing/2014/main" id="{8AAFD490-AA25-4028-9791-787964C3B117}"/>
              </a:ext>
            </a:extLst>
          </p:cNvPr>
          <p:cNvSpPr>
            <a:spLocks xmlns:a="http://schemas.openxmlformats.org/drawingml/2006/main" noGrp="1"/>
          </p:cNvSpPr>
          <p:nvPr/>
        </p:nvSpPr>
        <p:spPr>
          <a:xfrm xmlns:a="http://schemas.openxmlformats.org/drawingml/2006/main">
            <a:off x="390525" y="33337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2bcc951acc0f4b6a"/>
              </a:rPr>
              <a:t>[5] vLLM. CUDA graph design and serving implementation documentation</a:t>
            </a:r>
          </a:p>
        </p:txBody>
      </p:sp>
      <p:sp>
        <p:nvSpPr>
          <p:cNvPr id="539" name="">
            <a:extLst xmlns:a="http://schemas.openxmlformats.org/drawingml/2006/main">
              <a:ext uri="{FF2B5EF4-FFF2-40B4-BE49-F238E27FC236}">
                <a16:creationId xmlns:a16="http://schemas.microsoft.com/office/drawing/2014/main" id="{8CD586D3-F01E-40B6-80BA-C81991F0FA57}"/>
              </a:ext>
            </a:extLst>
          </p:cNvPr>
          <p:cNvSpPr>
            <a:spLocks xmlns:a="http://schemas.openxmlformats.org/drawingml/2006/main" noGrp="1"/>
          </p:cNvSpPr>
          <p:nvPr/>
        </p:nvSpPr>
        <p:spPr>
          <a:xfrm xmlns:a="http://schemas.openxmlformats.org/drawingml/2006/main">
            <a:off x="390525" y="37909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638171967c354078"/>
              </a:rPr>
              <a:t>[6] NVIDIA. NVML GPU-utilization metric definition</a:t>
            </a:r>
          </a:p>
        </p:txBody>
      </p:sp>
      <p:sp>
        <p:nvSpPr>
          <p:cNvPr id="540" name="">
            <a:extLst xmlns:a="http://schemas.openxmlformats.org/drawingml/2006/main">
              <a:ext uri="{FF2B5EF4-FFF2-40B4-BE49-F238E27FC236}">
                <a16:creationId xmlns:a16="http://schemas.microsoft.com/office/drawing/2014/main" id="{14865A19-233B-4FDB-A670-53DB9A8EEAAC}"/>
              </a:ext>
            </a:extLst>
          </p:cNvPr>
          <p:cNvSpPr>
            <a:spLocks xmlns:a="http://schemas.openxmlformats.org/drawingml/2006/main" noGrp="1"/>
          </p:cNvSpPr>
          <p:nvPr/>
        </p:nvSpPr>
        <p:spPr>
          <a:xfrm xmlns:a="http://schemas.openxmlformats.org/drawingml/2006/main">
            <a:off x="390525" y="42481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72156774f835444b"/>
              </a:rPr>
              <a:t>[7] Official model and WikiText revisions: saved experiment manifests</a:t>
            </a:r>
          </a:p>
        </p:txBody>
      </p:sp>
      <p:sp>
        <p:nvSpPr>
          <p:cNvPr id="541" name="">
            <a:extLst xmlns:a="http://schemas.openxmlformats.org/drawingml/2006/main">
              <a:ext uri="{FF2B5EF4-FFF2-40B4-BE49-F238E27FC236}">
                <a16:creationId xmlns:a16="http://schemas.microsoft.com/office/drawing/2014/main" id="{3DF6D0D3-422A-4883-89D7-3F64A9309305}"/>
              </a:ext>
            </a:extLst>
          </p:cNvPr>
          <p:cNvSpPr>
            <a:spLocks xmlns:a="http://schemas.openxmlformats.org/drawingml/2006/main" noGrp="1"/>
          </p:cNvSpPr>
          <p:nvPr/>
        </p:nvSpPr>
        <p:spPr>
          <a:xfrm xmlns:a="http://schemas.openxmlformats.org/drawingml/2006/main">
            <a:off x="390525" y="47053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f211168af6b34a0a"/>
              </a:rPr>
              <a:t>[8] Our experiment code, raw results, graph data and full bibliography</a:t>
            </a:r>
          </a:p>
        </p:txBody>
      </p:sp>
      <p:sp>
        <p:nvSpPr>
          <p:cNvPr id="542" name="">
            <a:extLst xmlns:a="http://schemas.openxmlformats.org/drawingml/2006/main">
              <a:ext uri="{FF2B5EF4-FFF2-40B4-BE49-F238E27FC236}">
                <a16:creationId xmlns:a16="http://schemas.microsoft.com/office/drawing/2014/main" id="{1FA7445E-E25B-4B7D-B705-78806BF3C708}"/>
              </a:ext>
            </a:extLst>
          </p:cNvPr>
          <p:cNvSpPr>
            <a:spLocks xmlns:a="http://schemas.openxmlformats.org/drawingml/2006/main" noGrp="1"/>
          </p:cNvSpPr>
          <p:nvPr/>
        </p:nvSpPr>
        <p:spPr>
          <a:xfrm xmlns:a="http://schemas.openxmlformats.org/drawingml/2006/main">
            <a:off x="390525" y="51625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0cd5e6c7bb0b4609"/>
              </a:rPr>
              <a:t>[9] Our W&amp;B project and exact run records</a:t>
            </a:r>
          </a:p>
        </p:txBody>
      </p:sp>
      <p:sp>
        <p:nvSpPr>
          <p:cNvPr id="543" name="">
            <a:extLst xmlns:a="http://schemas.openxmlformats.org/drawingml/2006/main">
              <a:ext uri="{FF2B5EF4-FFF2-40B4-BE49-F238E27FC236}">
                <a16:creationId xmlns:a16="http://schemas.microsoft.com/office/drawing/2014/main" id="{B628D3DD-179C-4B3F-965F-FB96F151C03B}"/>
              </a:ext>
            </a:extLst>
          </p:cNvPr>
          <p:cNvSpPr>
            <a:spLocks xmlns:a="http://schemas.openxmlformats.org/drawingml/2006/main" noGrp="1"/>
          </p:cNvSpPr>
          <p:nvPr/>
        </p:nvSpPr>
        <p:spPr>
          <a:xfrm xmlns:a="http://schemas.openxmlformats.org/drawingml/2006/main">
            <a:off x="390525" y="5867400"/>
            <a:ext cx="11401425" cy="3905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Paper figures retain their original measurements. Our figures use saved A100 experiment records.</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7989629e0474458e"/>
              </a:rPr>
              <a:t>Full bibliography and evidence boundaries, checked 9 September 2026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0BB18BA8-60F4-C50D-CD9B-1BB87D3E8506}" type="slidenum">
              <a:rPr sz="1125" b="0">
                <a:solidFill>
                  <a:srgbClr val="000000"/>
                </a:solidFill>
                <a:latin typeface="Helvetica Neue"/>
                <a:ea typeface="Helvetica Neue"/>
                <a:cs typeface="Helvetica Neue"/>
              </a:rPr>
              <a:t>22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Industry sources and profiling references</a:t>
            </a:r>
          </a:p>
        </p:txBody>
      </p:sp>
      <p:sp>
        <p:nvSpPr>
          <p:cNvPr id="534" name="">
            <a:extLst xmlns:a="http://schemas.openxmlformats.org/drawingml/2006/main">
              <a:ext uri="{FF2B5EF4-FFF2-40B4-BE49-F238E27FC236}">
                <a16:creationId xmlns:a16="http://schemas.microsoft.com/office/drawing/2014/main" id="{FB9B1931-8F41-42DB-93AF-6B004F81FCA4}"/>
              </a:ext>
            </a:extLst>
          </p:cNvPr>
          <p:cNvSpPr>
            <a:spLocks xmlns:a="http://schemas.openxmlformats.org/drawingml/2006/main" noGrp="1"/>
          </p:cNvSpPr>
          <p:nvPr/>
        </p:nvSpPr>
        <p:spPr>
          <a:xfrm xmlns:a="http://schemas.openxmlformats.org/drawingml/2006/main">
            <a:off x="390525" y="1600200"/>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a:solidFill>
                  <a:srgbClr val="235E9C"/>
                </a:solidFill>
                <a:latin typeface="Helvetica Neue"/>
                <a:ea typeface="Helvetica Neue"/>
                <a:cs typeface="Helvetica Neue"/>
                <a:hlinkClick xmlns:r="http://schemas.openxmlformats.org/officeDocument/2006/relationships" r:id="R35b6ade3534c41f3"/>
              </a:rPr>
              <a:t>[10] Tensormux. Inference control plane and stated product scope</a:t>
            </a:r>
          </a:p>
        </p:txBody>
      </p:sp>
      <p:sp>
        <p:nvSpPr>
          <p:cNvPr id="535" name="">
            <a:extLst xmlns:a="http://schemas.openxmlformats.org/drawingml/2006/main">
              <a:ext uri="{FF2B5EF4-FFF2-40B4-BE49-F238E27FC236}">
                <a16:creationId xmlns:a16="http://schemas.microsoft.com/office/drawing/2014/main" id="{0B5926B6-85A2-485D-8C4E-C73EB42E29FD}"/>
              </a:ext>
            </a:extLst>
          </p:cNvPr>
          <p:cNvSpPr>
            <a:spLocks xmlns:a="http://schemas.openxmlformats.org/drawingml/2006/main" noGrp="1"/>
          </p:cNvSpPr>
          <p:nvPr/>
        </p:nvSpPr>
        <p:spPr>
          <a:xfrm xmlns:a="http://schemas.openxmlformats.org/drawingml/2006/main">
            <a:off x="390525" y="2171700"/>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a:solidFill>
                  <a:srgbClr val="235E9C"/>
                </a:solidFill>
                <a:latin typeface="Helvetica Neue"/>
                <a:ea typeface="Helvetica Neue"/>
                <a:cs typeface="Helvetica Neue"/>
                <a:hlinkClick xmlns:r="http://schemas.openxmlformats.org/officeDocument/2006/relationships" r:id="R8ee396a5a2694a54"/>
              </a:rPr>
              <a:t>[11] Tensormux. H100 serving benchmark, 3 July 2026. Table 1</a:t>
            </a:r>
          </a:p>
        </p:txBody>
      </p:sp>
      <p:sp>
        <p:nvSpPr>
          <p:cNvPr id="536" name="">
            <a:extLst xmlns:a="http://schemas.openxmlformats.org/drawingml/2006/main">
              <a:ext uri="{FF2B5EF4-FFF2-40B4-BE49-F238E27FC236}">
                <a16:creationId xmlns:a16="http://schemas.microsoft.com/office/drawing/2014/main" id="{58C4B4C1-CBE1-40F1-90B1-1A6DDCB52EE7}"/>
              </a:ext>
            </a:extLst>
          </p:cNvPr>
          <p:cNvSpPr>
            <a:spLocks xmlns:a="http://schemas.openxmlformats.org/drawingml/2006/main" noGrp="1"/>
          </p:cNvSpPr>
          <p:nvPr/>
        </p:nvSpPr>
        <p:spPr>
          <a:xfrm xmlns:a="http://schemas.openxmlformats.org/drawingml/2006/main">
            <a:off x="390525" y="2743200"/>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a:solidFill>
                  <a:srgbClr val="235E9C"/>
                </a:solidFill>
                <a:latin typeface="Helvetica Neue"/>
                <a:ea typeface="Helvetica Neue"/>
                <a:cs typeface="Helvetica Neue"/>
                <a:hlinkClick xmlns:r="http://schemas.openxmlformats.org/officeDocument/2006/relationships" r:id="Rd72f3643b6c44b15"/>
              </a:rPr>
              <a:t>[12] Tensormux Gateway. Routing implementation and scope</a:t>
            </a:r>
          </a:p>
        </p:txBody>
      </p:sp>
      <p:sp>
        <p:nvSpPr>
          <p:cNvPr id="537" name="">
            <a:extLst xmlns:a="http://schemas.openxmlformats.org/drawingml/2006/main">
              <a:ext uri="{FF2B5EF4-FFF2-40B4-BE49-F238E27FC236}">
                <a16:creationId xmlns:a16="http://schemas.microsoft.com/office/drawing/2014/main" id="{21EC38F8-912F-4033-AA5F-A036AD5E2EB6}"/>
              </a:ext>
            </a:extLst>
          </p:cNvPr>
          <p:cNvSpPr>
            <a:spLocks xmlns:a="http://schemas.openxmlformats.org/drawingml/2006/main" noGrp="1"/>
          </p:cNvSpPr>
          <p:nvPr/>
        </p:nvSpPr>
        <p:spPr>
          <a:xfrm xmlns:a="http://schemas.openxmlformats.org/drawingml/2006/main">
            <a:off x="390525" y="3314700"/>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a:solidFill>
                  <a:srgbClr val="235E9C"/>
                </a:solidFill>
                <a:latin typeface="Helvetica Neue"/>
                <a:ea typeface="Helvetica Neue"/>
                <a:cs typeface="Helvetica Neue"/>
                <a:hlinkClick xmlns:r="http://schemas.openxmlformats.org/officeDocument/2006/relationships" r:id="R1f0e95feaafe4288"/>
              </a:rPr>
              <a:t>[13] TensorPath. Forge results, hardware conditions and integration limits</a:t>
            </a:r>
          </a:p>
        </p:txBody>
      </p:sp>
      <p:sp>
        <p:nvSpPr>
          <p:cNvPr id="538" name="">
            <a:extLst xmlns:a="http://schemas.openxmlformats.org/drawingml/2006/main">
              <a:ext uri="{FF2B5EF4-FFF2-40B4-BE49-F238E27FC236}">
                <a16:creationId xmlns:a16="http://schemas.microsoft.com/office/drawing/2014/main" id="{3095A234-626F-47BA-9D64-AF6752247787}"/>
              </a:ext>
            </a:extLst>
          </p:cNvPr>
          <p:cNvSpPr>
            <a:spLocks xmlns:a="http://schemas.openxmlformats.org/drawingml/2006/main" noGrp="1"/>
          </p:cNvSpPr>
          <p:nvPr/>
        </p:nvSpPr>
        <p:spPr>
          <a:xfrm xmlns:a="http://schemas.openxmlformats.org/drawingml/2006/main">
            <a:off x="390525" y="3886200"/>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a:solidFill>
                  <a:srgbClr val="235E9C"/>
                </a:solidFill>
                <a:latin typeface="Helvetica Neue"/>
                <a:ea typeface="Helvetica Neue"/>
                <a:cs typeface="Helvetica Neue"/>
                <a:hlinkClick xmlns:r="http://schemas.openxmlformats.org/officeDocument/2006/relationships" r:id="R7fd526b5eb10480e"/>
              </a:rPr>
              <a:t>[14] NVIDIA Nsight Systems. Post-Collection Analysis Guide</a:t>
            </a:r>
          </a:p>
        </p:txBody>
      </p:sp>
      <p:sp>
        <p:nvSpPr>
          <p:cNvPr id="539" name="">
            <a:extLst xmlns:a="http://schemas.openxmlformats.org/drawingml/2006/main">
              <a:ext uri="{FF2B5EF4-FFF2-40B4-BE49-F238E27FC236}">
                <a16:creationId xmlns:a16="http://schemas.microsoft.com/office/drawing/2014/main" id="{8F4A7D99-C133-4E1A-B188-2AF4E32B1F0A}"/>
              </a:ext>
            </a:extLst>
          </p:cNvPr>
          <p:cNvSpPr>
            <a:spLocks xmlns:a="http://schemas.openxmlformats.org/drawingml/2006/main" noGrp="1"/>
          </p:cNvSpPr>
          <p:nvPr/>
        </p:nvSpPr>
        <p:spPr>
          <a:xfrm xmlns:a="http://schemas.openxmlformats.org/drawingml/2006/main">
            <a:off x="390525" y="4457700"/>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a:solidFill>
                  <a:srgbClr val="235E9C"/>
                </a:solidFill>
                <a:latin typeface="Helvetica Neue"/>
                <a:ea typeface="Helvetica Neue"/>
                <a:cs typeface="Helvetica Neue"/>
                <a:hlinkClick xmlns:r="http://schemas.openxmlformats.org/officeDocument/2006/relationships" r:id="Re99ebd27d4354190"/>
              </a:rPr>
              <a:t>[15] NVIDIA Nsight Compute. Profiling Guide</a:t>
            </a:r>
          </a:p>
        </p:txBody>
      </p:sp>
      <p:sp>
        <p:nvSpPr>
          <p:cNvPr id="540" name="">
            <a:extLst xmlns:a="http://schemas.openxmlformats.org/drawingml/2006/main">
              <a:ext uri="{FF2B5EF4-FFF2-40B4-BE49-F238E27FC236}">
                <a16:creationId xmlns:a16="http://schemas.microsoft.com/office/drawing/2014/main" id="{A3FA267F-D4D5-4F0D-B156-B795DAFC99E6}"/>
              </a:ext>
            </a:extLst>
          </p:cNvPr>
          <p:cNvSpPr>
            <a:spLocks xmlns:a="http://schemas.openxmlformats.org/drawingml/2006/main" noGrp="1"/>
          </p:cNvSpPr>
          <p:nvPr/>
        </p:nvSpPr>
        <p:spPr>
          <a:xfrm xmlns:a="http://schemas.openxmlformats.org/drawingml/2006/main">
            <a:off x="390525" y="5410200"/>
            <a:ext cx="11401425"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Tensormux and TensorPath results are self-reported industry evidence.</a:t>
            </a:r>
          </a:p>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Their setups differ from our A100 experiments. No direct performance ranking follows.</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2026-09-08T21:21:40.7320000Z</dcterms:created>
  <dcterms:modified xsi:type="dcterms:W3CDTF">2026-09-08T21:21:40.7320000Z</dcterms:modified>
</coreProperties>
</file>