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2e4a5c7382424d" /><Relationship Type="http://schemas.openxmlformats.org/officeDocument/2006/relationships/extended-properties" Target="/docProps/app.xml" Id="R2a5ab86595194cd4" /><Relationship Type="http://schemas.openxmlformats.org/officeDocument/2006/relationships/officeDocument" Target="/ppt/presentation.xml" Id="Rb49a72bf534544d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c7c341d59e04c78"/>
  </p:sldMasterIdLst>
  <p:notesMasterIdLst>
    <p:notesMasterId xmlns:r="http://schemas.openxmlformats.org/officeDocument/2006/relationships" r:id="R9fdfae68cffe4cf0"/>
  </p:notesMasterIdLst>
  <p:sldIdLst>
    <p:sldId xmlns:r="http://schemas.openxmlformats.org/officeDocument/2006/relationships" id="256" r:id="R3726e3434c3d412c"/>
    <p:sldId xmlns:r="http://schemas.openxmlformats.org/officeDocument/2006/relationships" id="257" r:id="Ree07c08cfd2449c8"/>
    <p:sldId xmlns:r="http://schemas.openxmlformats.org/officeDocument/2006/relationships" id="258" r:id="Rfa2a19c0ee7c4693"/>
    <p:sldId xmlns:r="http://schemas.openxmlformats.org/officeDocument/2006/relationships" id="259" r:id="R0741ad89c3c24b9d"/>
    <p:sldId xmlns:r="http://schemas.openxmlformats.org/officeDocument/2006/relationships" id="260" r:id="R8e6c18cbce81464a"/>
    <p:sldId xmlns:r="http://schemas.openxmlformats.org/officeDocument/2006/relationships" id="261" r:id="Rc3d7f9ce40254f59"/>
    <p:sldId xmlns:r="http://schemas.openxmlformats.org/officeDocument/2006/relationships" id="262" r:id="Rff798ad1940341c1"/>
    <p:sldId xmlns:r="http://schemas.openxmlformats.org/officeDocument/2006/relationships" id="263" r:id="R1d8333cde8bc4958"/>
    <p:sldId xmlns:r="http://schemas.openxmlformats.org/officeDocument/2006/relationships" id="264" r:id="R330c258cf6f74bdd"/>
    <p:sldId xmlns:r="http://schemas.openxmlformats.org/officeDocument/2006/relationships" id="265" r:id="R6d577c4a0a084d23"/>
    <p:sldId xmlns:r="http://schemas.openxmlformats.org/officeDocument/2006/relationships" id="266" r:id="R892e80431dcc446a"/>
    <p:sldId xmlns:r="http://schemas.openxmlformats.org/officeDocument/2006/relationships" id="267" r:id="Rc4ada68def7c4df9"/>
    <p:sldId xmlns:r="http://schemas.openxmlformats.org/officeDocument/2006/relationships" id="268" r:id="R12853195cd814ef9"/>
    <p:sldId xmlns:r="http://schemas.openxmlformats.org/officeDocument/2006/relationships" id="269" r:id="R19540b3b8d4c4106"/>
    <p:sldId xmlns:r="http://schemas.openxmlformats.org/officeDocument/2006/relationships" id="270" r:id="R804d3243776f486a"/>
    <p:sldId xmlns:r="http://schemas.openxmlformats.org/officeDocument/2006/relationships" id="271" r:id="R559998c9ea144e50"/>
    <p:sldId xmlns:r="http://schemas.openxmlformats.org/officeDocument/2006/relationships" id="272" r:id="Re2dcbad94dfd4d01"/>
    <p:sldId xmlns:r="http://schemas.openxmlformats.org/officeDocument/2006/relationships" id="273" r:id="R622c2b4194374845"/>
  </p:sldIdLst>
  <p:sldSz cx="12192000" cy="6858000"/>
  <p:notesSz cx="6858000" cy="9144000"/>
  <p:embeddedFontLst>
    <p:embeddedFont>
      <p:font typeface="OpenAI Sans"/>
      <p:regular xmlns:r="http://schemas.openxmlformats.org/officeDocument/2006/relationships" r:id="Ra2a245ba46404730"/>
      <p:bold xmlns:r="http://schemas.openxmlformats.org/officeDocument/2006/relationships" r:id="Rb5892e2b0be94e64"/>
      <p:italic xmlns:r="http://schemas.openxmlformats.org/officeDocument/2006/relationships" r:id="Ra882ca89d6084324"/>
      <p:boldItalic xmlns:r="http://schemas.openxmlformats.org/officeDocument/2006/relationships" r:id="Ra1ba33c2b0d744c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411ff7944e245fc" /><Relationship Type="http://schemas.openxmlformats.org/officeDocument/2006/relationships/slideMaster" Target="/ppt/slideMasters/slideMaster1.xml" Id="Rdc7c341d59e04c78" /><Relationship Type="http://schemas.openxmlformats.org/officeDocument/2006/relationships/notesMaster" Target="/ppt/notesMasters/notesMaster1.xml" Id="R9fdfae68cffe4cf0" /><Relationship Type="http://schemas.openxmlformats.org/officeDocument/2006/relationships/presProps" Target="/ppt/presProps.xml" Id="R47485bb463c44729" /><Relationship Type="http://schemas.openxmlformats.org/officeDocument/2006/relationships/viewProps" Target="/ppt/viewProps.xml" Id="Rf70876731cdc42d5" /><Relationship Type="http://schemas.openxmlformats.org/officeDocument/2006/relationships/tableStyles" Target="/ppt/tableStyles.xml" Id="R3fb1ce26d1d04929" /><Relationship Type="http://schemas.openxmlformats.org/officeDocument/2006/relationships/font" Target="/ppt/fonts/font.dat" Id="Ra2a245ba46404730" /><Relationship Type="http://schemas.openxmlformats.org/officeDocument/2006/relationships/font" Target="/ppt/fonts/font2.dat" Id="Rb5892e2b0be94e64" /><Relationship Type="http://schemas.openxmlformats.org/officeDocument/2006/relationships/font" Target="/ppt/fonts/font3.dat" Id="Ra882ca89d6084324" /><Relationship Type="http://schemas.openxmlformats.org/officeDocument/2006/relationships/font" Target="/ppt/fonts/font4.dat" Id="Ra1ba33c2b0d744cd" /><Relationship Type="http://schemas.openxmlformats.org/officeDocument/2006/relationships/slide" Target="/ppt/slides/slide1.xml" Id="R3726e3434c3d412c" /><Relationship Type="http://schemas.openxmlformats.org/officeDocument/2006/relationships/slide" Target="/ppt/slides/slide2.xml" Id="Ree07c08cfd2449c8" /><Relationship Type="http://schemas.openxmlformats.org/officeDocument/2006/relationships/slide" Target="/ppt/slides/slide3.xml" Id="Rfa2a19c0ee7c4693" /><Relationship Type="http://schemas.openxmlformats.org/officeDocument/2006/relationships/slide" Target="/ppt/slides/slide4.xml" Id="R0741ad89c3c24b9d" /><Relationship Type="http://schemas.openxmlformats.org/officeDocument/2006/relationships/slide" Target="/ppt/slides/slide5.xml" Id="R8e6c18cbce81464a" /><Relationship Type="http://schemas.openxmlformats.org/officeDocument/2006/relationships/slide" Target="/ppt/slides/slide6.xml" Id="Rc3d7f9ce40254f59" /><Relationship Type="http://schemas.openxmlformats.org/officeDocument/2006/relationships/slide" Target="/ppt/slides/slide7.xml" Id="Rff798ad1940341c1" /><Relationship Type="http://schemas.openxmlformats.org/officeDocument/2006/relationships/slide" Target="/ppt/slides/slide8.xml" Id="R1d8333cde8bc4958" /><Relationship Type="http://schemas.openxmlformats.org/officeDocument/2006/relationships/slide" Target="/ppt/slides/slide9.xml" Id="R330c258cf6f74bdd" /><Relationship Type="http://schemas.openxmlformats.org/officeDocument/2006/relationships/slide" Target="/ppt/slides/slide10.xml" Id="R6d577c4a0a084d23" /><Relationship Type="http://schemas.openxmlformats.org/officeDocument/2006/relationships/slide" Target="/ppt/slides/slide11.xml" Id="R892e80431dcc446a" /><Relationship Type="http://schemas.openxmlformats.org/officeDocument/2006/relationships/slide" Target="/ppt/slides/slide12.xml" Id="Rc4ada68def7c4df9" /><Relationship Type="http://schemas.openxmlformats.org/officeDocument/2006/relationships/slide" Target="/ppt/slides/slide13.xml" Id="R12853195cd814ef9" /><Relationship Type="http://schemas.openxmlformats.org/officeDocument/2006/relationships/slide" Target="/ppt/slides/slide14.xml" Id="R19540b3b8d4c4106" /><Relationship Type="http://schemas.openxmlformats.org/officeDocument/2006/relationships/slide" Target="/ppt/slides/slide15.xml" Id="R804d3243776f486a" /><Relationship Type="http://schemas.openxmlformats.org/officeDocument/2006/relationships/slide" Target="/ppt/slides/slide16.xml" Id="R559998c9ea144e50" /><Relationship Type="http://schemas.openxmlformats.org/officeDocument/2006/relationships/slide" Target="/ppt/slides/slide17.xml" Id="Re2dcbad94dfd4d01" /><Relationship Type="http://schemas.openxmlformats.org/officeDocument/2006/relationships/slide" Target="/ppt/slides/slide18.xml" Id="R622c2b41943748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e46c0e222746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6526ac0fe24090" /><Relationship Type="http://schemas.openxmlformats.org/officeDocument/2006/relationships/notesMaster" Target="/ppt/notesMasters/notesMaster1.xml" Id="Rbdf31ab3cb9c42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42d98d8738450d" /><Relationship Type="http://schemas.openxmlformats.org/officeDocument/2006/relationships/notesMaster" Target="/ppt/notesMasters/notesMaster1.xml" Id="R095e0ec5e6ba48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0a905aad3940c1" /><Relationship Type="http://schemas.openxmlformats.org/officeDocument/2006/relationships/notesMaster" Target="/ppt/notesMasters/notesMaster1.xml" Id="Rd50bc0b44a874f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fee6df22fc496c" /><Relationship Type="http://schemas.openxmlformats.org/officeDocument/2006/relationships/notesMaster" Target="/ppt/notesMasters/notesMaster1.xml" Id="R1ca00fa697a742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227b6d5d3745b8" /><Relationship Type="http://schemas.openxmlformats.org/officeDocument/2006/relationships/notesMaster" Target="/ppt/notesMasters/notesMaster1.xml" Id="R5ff80c0b45db42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d4add4b35344d8" /><Relationship Type="http://schemas.openxmlformats.org/officeDocument/2006/relationships/notesMaster" Target="/ppt/notesMasters/notesMaster1.xml" Id="R924448c9e5634b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b2a332de92421f" /><Relationship Type="http://schemas.openxmlformats.org/officeDocument/2006/relationships/notesMaster" Target="/ppt/notesMasters/notesMaster1.xml" Id="Ra2f0a8064c0e41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e1828f8bd44b95" /><Relationship Type="http://schemas.openxmlformats.org/officeDocument/2006/relationships/notesMaster" Target="/ppt/notesMasters/notesMaster1.xml" Id="R5f0f039ae2144c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32a85bec824a6c" /><Relationship Type="http://schemas.openxmlformats.org/officeDocument/2006/relationships/notesMaster" Target="/ppt/notesMasters/notesMaster1.xml" Id="Ra467dec14a1948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ccf936ebf246d1" /><Relationship Type="http://schemas.openxmlformats.org/officeDocument/2006/relationships/notesMaster" Target="/ppt/notesMasters/notesMaster1.xml" Id="R78de1d4f997b47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619c0be8ac4f6a" /><Relationship Type="http://schemas.openxmlformats.org/officeDocument/2006/relationships/notesMaster" Target="/ppt/notesMasters/notesMaster1.xml" Id="R91b0f8f2cf8c4e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319615525d4ef0" /><Relationship Type="http://schemas.openxmlformats.org/officeDocument/2006/relationships/notesMaster" Target="/ppt/notesMasters/notesMaster1.xml" Id="Rab7fbe10e74644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597d04862e4fd9" /><Relationship Type="http://schemas.openxmlformats.org/officeDocument/2006/relationships/notesMaster" Target="/ppt/notesMasters/notesMaster1.xml" Id="R3cda55e8bca848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aa80040bb24ff7" /><Relationship Type="http://schemas.openxmlformats.org/officeDocument/2006/relationships/notesMaster" Target="/ppt/notesMasters/notesMaster1.xml" Id="Rbbdbd114e68f47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90739ba84c460c" /><Relationship Type="http://schemas.openxmlformats.org/officeDocument/2006/relationships/notesMaster" Target="/ppt/notesMasters/notesMaster1.xml" Id="R8ad36569a5d843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ec227773d94be1" /><Relationship Type="http://schemas.openxmlformats.org/officeDocument/2006/relationships/notesMaster" Target="/ppt/notesMasters/notesMaster1.xml" Id="R0d00950261ef4e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f3c4171e4d4053" /><Relationship Type="http://schemas.openxmlformats.org/officeDocument/2006/relationships/notesMaster" Target="/ppt/notesMasters/notesMaster1.xml" Id="Rc771de71e8664cf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e94332d7b04664" /><Relationship Type="http://schemas.openxmlformats.org/officeDocument/2006/relationships/notesMaster" Target="/ppt/notesMasters/notesMaster1.xml" Id="R85d2823c061042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is called Inference Optimization. The goal is to get more useful inference work from the same GPU while keeping response times acceptable.</a:t>
            </a:r>
          </a:p>
          <a:p xmlns:a="http://schemas.openxmlformats.org/drawingml/2006/main">
            <a:r>
              <a:t/>
            </a:r>
          </a:p>
          <a:p xmlns:a="http://schemas.openxmlformats.org/drawingml/2006/main">
            <a:r>
              <a:t>We are studying the software decisions around an already trained model. We are not training a new language model. I will first explain the question, then show what published systems do, followed by our own experiments and their results.</a:t>
            </a:r>
          </a:p>
          <a:p xmlns:a="http://schemas.openxmlformats.org/drawingml/2006/main">
            <a:r>
              <a:t/>
            </a:r>
          </a:p>
          <a:p xmlns:a="http://schemas.openxmlformats.org/drawingml/2006/main">
            <a:r>
              <a:t>The important starting point is that our current experiment did not produce a better scheduler. It gave us a reproducible problem and evidence about a rule that failed.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AI service receiving short questions, followed by several long documents, and then more short questions. Processing the long inputs takes work, and the later requests may wait.</a:t>
            </a:r>
          </a:p>
          <a:p xmlns:a="http://schemas.openxmlformats.org/drawingml/2006/main">
            <a:r>
              <a:t/>
            </a:r>
          </a:p>
          <a:p xmlns:a="http://schemas.openxmlformats.org/drawingml/2006/main">
            <a:r>
              <a:t>The research question is whether scheduling can make more requests finish within our latency targets on the same GPU. Admission means deciding when a waiting request is submitted to the model-serving engine. Continuous batching means the engine can bring requests into an ongoing batch as other requests finish.</a:t>
            </a:r>
          </a:p>
          <a:p xmlns:a="http://schemas.openxmlformats.org/drawingml/2006/main">
            <a:r>
              <a:t/>
            </a:r>
          </a:p>
          <a:p xmlns:a="http://schemas.openxmlformats.org/drawingml/2006/main">
            <a:r>
              <a:t>Our hypothesis is that an estimate of processing cost and remaining deadline time may improve those decisions. The alternative is that an extra admission gate simply delays requests and reduces useful concurrency. Both outcomes must remain possible.</a:t>
            </a:r>
          </a:p>
          <a:p xmlns:a="http://schemas.openxmlformats.org/drawingml/2006/main">
            <a:r>
              <a:t/>
            </a:r>
          </a:p>
          <a:p xmlns:a="http://schemas.openxmlformats.org/drawingml/2006/main">
            <a:r>
              <a:t>Evidence: https://github.com/nileshsarkar-ai/Inference-Optimization/blob/master/outputs/Research_Question.md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contains results from other researchers. For each paper, I will explain the objective, the experimental setup, the axes and the result.</a:t>
            </a:r>
          </a:p>
          <a:p xmlns:a="http://schemas.openxmlformats.org/drawingml/2006/main">
            <a:r>
              <a:t/>
            </a:r>
          </a:p>
          <a:p xmlns:a="http://schemas.openxmlformats.org/drawingml/2006/main">
            <a:r>
              <a:t>Their results provide background for our investigation. They are not results from our GPU, and their headline gains cannot be compared directly because the hardware, models and workloads differ.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literature shows several different places where inference can be improved. SOLA studies request scheduling and the amount of work performed in each iteration. DuetServe studies how prompt processing and output generation share GPU execution resources. Prism studies how recommendation inference uses CPU and GPU resources across machines.</a:t>
            </a:r>
          </a:p>
          <a:p xmlns:a="http://schemas.openxmlformats.org/drawingml/2006/main">
            <a:r>
              <a:t/>
            </a:r>
          </a:p>
          <a:p xmlns:a="http://schemas.openxmlformats.org/drawingml/2006/main">
            <a:r>
              <a:t>We selected these examples to understand why a GPU utilization problem may come from scheduling, execution overlap or another part of the system. This is a map of selected approaches, not a claim that one system wins every benchmark.</a:t>
            </a:r>
          </a:p>
          <a:p xmlns:a="http://schemas.openxmlformats.org/drawingml/2006/main">
            <a:r>
              <a:t/>
            </a:r>
          </a:p>
          <a:p xmlns:a="http://schemas.openxmlformats.org/drawingml/2006/main">
            <a:r>
              <a:t>The next three slides each show an original published figure with its own conditions.</a:t>
            </a:r>
          </a:p>
          <a:p xmlns:a="http://schemas.openxmlformats.org/drawingml/2006/main">
            <a:r>
              <a:t/>
            </a:r>
          </a:p>
          <a:p xmlns:a="http://schemas.openxmlformats.org/drawingml/2006/main">
            <a:r>
              <a:t>Sources: SOLA https://proceedings.mlsys.org/paper_files/paper/2025/file/bc82dbfbfa43232be85b8d9838f49c3e-Paper-Conference.pdf</a:t>
            </a:r>
          </a:p>
          <a:p xmlns:a="http://schemas.openxmlformats.org/drawingml/2006/main">
            <a:r>
              <a:t>DuetServe https://pages.cs.wisc.edu/~markhill/papers/icml2026_DuetServe.pdf</a:t>
            </a:r>
          </a:p>
          <a:p xmlns:a="http://schemas.openxmlformats.org/drawingml/2006/main">
            <a:r>
              <a:t>Prism https://www.usenix.org/system/files/nsdi25-yang.pdf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 tries to increase the proportion of requests meeting response-time targets. It uses request and system state to change execution order and work per iteration.</a:t>
            </a:r>
          </a:p>
          <a:p xmlns:a="http://schemas.openxmlformats.org/drawingml/2006/main">
            <a:r>
              <a:t/>
            </a:r>
          </a:p>
          <a:p xmlns:a="http://schemas.openxmlformats.org/drawingml/2006/main">
            <a:r>
              <a:t>Read the two panels from left to right: the paper's vLLM baseline and SOLA. Each point is a request. Moving right means waiting longer for the first token. Moving up means more time per output token. The shaded lower-left region meets both targets.</a:t>
            </a:r>
          </a:p>
          <a:p xmlns:a="http://schemas.openxmlformats.org/drawingml/2006/main">
            <a:r>
              <a:t/>
            </a:r>
          </a:p>
          <a:p xmlns:a="http://schemas.openxmlformats.org/drawingml/2006/main">
            <a:r>
              <a:t>In this Llama3-70B test on four A100 GPUs, the reported attainment increases from 65% to 98%. This supports investigating state-aware scheduling, but it does not establish the same gain on our model or newer vLLM version.</a:t>
            </a:r>
          </a:p>
          <a:p xmlns:a="http://schemas.openxmlformats.org/drawingml/2006/main">
            <a:r>
              <a:t/>
            </a:r>
          </a:p>
          <a:p xmlns:a="http://schemas.openxmlformats.org/drawingml/2006/main">
            <a:r>
              <a:t>Source, Figure 1: https://proceedings.mlsys.org/paper_files/paper/2025/file/bc82dbfbfa43232be85b8d9838f49c3e-Paper-Conference.pdf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DuetServe aims to keep token generation progressing while prompt processing also uses the GPU. It adaptively shares execution resources between these phases.</a:t>
            </a:r>
          </a:p>
          <a:p xmlns:a="http://schemas.openxmlformats.org/drawingml/2006/main">
            <a:r>
              <a:t/>
            </a:r>
          </a:p>
          <a:p xmlns:a="http://schemas.openxmlformats.org/drawingml/2006/main">
            <a:r>
              <a:t>The horizontal axis is the incoming request rate, called QPS. The vertical axis is the rate of completed requests. The orange curve is DuetServe. The panel uses AzureCode requests and Qwen3-8B on one H100 80 GB.</a:t>
            </a:r>
          </a:p>
          <a:p xmlns:a="http://schemas.openxmlformats.org/drawingml/2006/main">
            <a:r>
              <a:t/>
            </a:r>
          </a:p>
          <a:p xmlns:a="http://schemas.openxmlformats.org/drawingml/2006/main">
            <a:r>
              <a:t>At sixteen incoming requests per second, section 5.2 reports 13.57 completed requests per second for DuetServe and 12.43 for SGLang-Default. The 9.2 percent difference is our calculation from those reported values. This is throughput, not an SLO-attainment percentage. The paper also discusses a first-token versus later-token latency tradeoff.</a:t>
            </a:r>
          </a:p>
          <a:p xmlns:a="http://schemas.openxmlformats.org/drawingml/2006/main">
            <a:r>
              <a:t/>
            </a:r>
          </a:p>
          <a:p xmlns:a="http://schemas.openxmlformats.org/drawingml/2006/main">
            <a:r>
              <a:t>Source, Figure 6 and section 5.2: https://pages.cs.wisc.edu/~markhill/papers/icml2026_DuetServe.pdf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Prism shows that inference efficiency also matters outside language models. Recommendation models can need substantial CPU work and memory, which limits how much of a GPU node can be used.</a:t>
            </a:r>
          </a:p>
          <a:p xmlns:a="http://schemas.openxmlformats.org/drawingml/2006/main">
            <a:r>
              <a:t/>
            </a:r>
          </a:p>
          <a:p xmlns:a="http://schemas.openxmlformats.org/drawingml/2006/main">
            <a:r>
              <a:t>The graph compares two recommendation models. Different bars represent different deployments. In Prism's labels, the two numbers count CPU-side and GPU-side inference instances. Taller bars mean more goodput under the paper's twenty-five-millisecond latency condition.</a:t>
            </a:r>
          </a:p>
          <a:p xmlns:a="http://schemas.openxmlformats.org/drawingml/2006/main">
            <a:r>
              <a:t/>
            </a:r>
          </a:p>
          <a:p xmlns:a="http://schemas.openxmlformats.org/drawingml/2006/main">
            <a:r>
              <a:t>The reported five-to-nine-times gains use added CPU nodes. The nine-times case also partitions GPUs with MIG. Therefore this is evidence about resource balance, not a claim that unchanged total hardware became nine times faster. It does not validate our admission rule beyond language models.</a:t>
            </a:r>
          </a:p>
          <a:p xmlns:a="http://schemas.openxmlformats.org/drawingml/2006/main">
            <a:r>
              <a:t/>
            </a:r>
          </a:p>
          <a:p xmlns:a="http://schemas.openxmlformats.org/drawingml/2006/main">
            <a:r>
              <a:t>Source, Figure 17 and section 5.3: https://www.usenix.org/system/files/nsdi25-yang.pdf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this point, the experiments and measurements are our own. We used one rented A100 40 GB GPU and saved the code, inputs, configurations and outputs.</a:t>
            </a:r>
          </a:p>
          <a:p xmlns:a="http://schemas.openxmlformats.org/drawingml/2006/main">
            <a:r>
              <a:t/>
            </a:r>
          </a:p>
          <a:p xmlns:a="http://schemas.openxmlformats.org/drawingml/2006/main">
            <a:r>
              <a:t>There are two different studies. The first changes CUDA-graph capture sizes on five models. The second changes when requests enter vLLM during a burst, using Gemma 4 12B. They answer different questions and their throughput numbers should not be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system we actually used. All experiments ran on the same A100 PCIe 40 GB GPU, with BF16 precision and one GPU per model. The table records the installed software versions. CPU model and total host RAM were not reliably recorded, so we do not claim those specifications.</a:t>
            </a:r>
          </a:p>
          <a:p xmlns:a="http://schemas.openxmlformats.org/drawingml/2006/main">
            <a:r>
              <a:t/>
            </a:r>
          </a:p>
          <a:p xmlns:a="http://schemas.openxmlformats.org/drawingml/2006/main">
            <a:r>
              <a:t>Throughput counts output tokens per second. Goodput counts requests that meet both response-time targets per second. In the scheduling study, the denominator includes replaying arrivals and finishing outstanding work.</a:t>
            </a:r>
          </a:p>
          <a:p xmlns:a="http://schemas.openxmlformats.org/drawingml/2006/main">
            <a:r>
              <a:t/>
            </a:r>
          </a:p>
          <a:p xmlns:a="http://schemas.openxmlformats.org/drawingml/2006/main">
            <a:r>
              <a:t>GPU busy time comes from NVIDIA telemetry. It reports time with a kernel running, not achieved compute efficiency. More VRAM occupied is not itself a performance improvement.</a:t>
            </a:r>
          </a:p>
          <a:p xmlns:a="http://schemas.openxmlformats.org/drawingml/2006/main">
            <a:r>
              <a:t/>
            </a:r>
          </a:p>
          <a:p xmlns:a="http://schemas.openxmlformats.org/drawingml/2006/main">
            <a:r>
              <a:t>Additional settings: NVIDIA driver 595.58.03, Transformers 5.16.1, engine memory fraction 0.85, maximum 128 sequences, 4096 batched tokens, prefix cache off and chunked prefill on. Capture maximum context is 512; scheduling maximum context is 4096.</a:t>
            </a:r>
          </a:p>
          <a:p xmlns:a="http://schemas.openxmlformats.org/drawingml/2006/main">
            <a:r>
              <a:t/>
            </a:r>
          </a:p>
          <a:p xmlns:a="http://schemas.openxmlformats.org/drawingml/2006/main">
            <a:r>
              <a:t>Evidence: https://github.com/nileshsarkar-ai/Inference-Optimization/blob/master/outputs/Experiment_Inventory.md</a:t>
            </a:r>
          </a:p>
          <a:p xmlns:a="http://schemas.openxmlformats.org/drawingml/2006/main">
            <a:r>
              <a:t>Metric: https://docs.nvidia.com/deploy/nvml-api/structnvmlUtilization__t.html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a bounded execution-setting experiment before designing a scheduler. CUDA graphs record GPU operations so they can be replayed. A captured size that does not fit the workload exactly can involve padding, while storing many graphs has a memory cost.</a:t>
            </a:r>
          </a:p>
          <a:p xmlns:a="http://schemas.openxmlformats.org/drawingml/2006/main">
            <a:r>
              <a:t/>
            </a:r>
          </a:p>
          <a:p xmlns:a="http://schemas.openxmlformats.org/drawingml/2006/main">
            <a:r>
              <a:t>We compared the engine's default set, a coarse set and a set including our exact tested batch sizes. Everything else was held fixed within each model. Each request had 128 input and 128 output tokens. We timed eight batch sizes with three warmed repetitions for each configuration.</a:t>
            </a:r>
          </a:p>
          <a:p xmlns:a="http://schemas.openxmlformats.org/drawingml/2006/main">
            <a:r>
              <a:t/>
            </a:r>
          </a:p>
          <a:p xmlns:a="http://schemas.openxmlformats.org/drawingml/2006/main">
            <a:r>
              <a:t>A fresh engine process was used per configuration, but configuration order was fixed. The repetitions within a configuration are not independent process repetitions. Timing includes prompt processing and host work. The separate profiler runs are excluded.</a:t>
            </a:r>
          </a:p>
          <a:p xmlns:a="http://schemas.openxmlformats.org/drawingml/2006/main">
            <a:r>
              <a:t/>
            </a:r>
          </a:p>
          <a:p xmlns:a="http://schemas.openxmlformats.org/drawingml/2006/main">
            <a:r>
              <a:t>Why this experiment: it tests whether an accessible execution setting leaves a useful improvement before adding queueing logic.</a:t>
            </a:r>
          </a:p>
          <a:p xmlns:a="http://schemas.openxmlformats.org/drawingml/2006/main">
            <a:r>
              <a:t/>
            </a:r>
          </a:p>
          <a:p xmlns:a="http://schemas.openxmlformats.org/drawingml/2006/main">
            <a:r>
              <a:t>Protocol: https://github.com/nileshsarkar-ai/Inference-Optimization/blob/master/outputs/model_suite/README.md</a:t>
            </a:r>
          </a:p>
          <a:p xmlns:a="http://schemas.openxmlformats.org/drawingml/2006/main">
            <a:r>
              <a:t>Engineering background: https://nvidia.github.io/TensorRT-LLM/latest/blogs/tech_blog/blog20_Tuning_CUDA_Graph_Batch_Sizes_for_Higher_Output_Throughput.html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study introduces changing arrivals and queueing, which the fixed-batch experiment does not test. We replay the same short-long-short request trace for each policy within a repetition.</a:t>
            </a:r>
          </a:p>
          <a:p xmlns:a="http://schemas.openxmlformats.org/drawingml/2006/main">
            <a:r>
              <a:t/>
            </a:r>
          </a:p>
          <a:p xmlns:a="http://schemas.openxmlformats.org/drawingml/2006/main">
            <a:r>
              <a:t>Direct submission lets vLLM receive each request on arrival. Fixed 32 adds a FIFO gate. The candidate reserves input length plus the known 128-token output budget, with at most twenty thousand estimated tokens admitted. This is a token heuristic, not actual measured compute cost or live KV bytes.</a:t>
            </a:r>
          </a:p>
          <a:p xmlns:a="http://schemas.openxmlformats.org/drawingml/2006/main">
            <a:r>
              <a:t/>
            </a:r>
          </a:p>
          <a:p xmlns:a="http://schemas.openxmlformats.org/drawingml/2006/main">
            <a:r>
              <a:t>Our targets are a first token within two seconds and mean subsequent-token time within one hundred milliseconds. All waiting counts from the scheduled arrival. Three independent engine processes each run all policies, with rotated policy order. Every request completes before moving to the next policy.</a:t>
            </a:r>
          </a:p>
          <a:p xmlns:a="http://schemas.openxmlformats.org/drawingml/2006/main">
            <a:r>
              <a:t/>
            </a:r>
          </a:p>
          <a:p xmlns:a="http://schemas.openxmlformats.org/drawingml/2006/main">
            <a:r>
              <a:t>The declared success criterion requires at least five percent more goodput than both controls in every paired repetition, without worsening p99 first-token delay or p99 stream gap. A p99 is a ninety-ninth-percentile value.</a:t>
            </a:r>
          </a:p>
          <a:p xmlns:a="http://schemas.openxmlformats.org/drawingml/2006/main">
            <a:r>
              <a:t/>
            </a:r>
          </a:p>
          <a:p xmlns:a="http://schemas.openxmlformats.org/drawingml/2006/main">
            <a:r>
              <a:t>Protocol: https://github.com/nileshsarkar-ai/Inference-Optimization/blob/master/outputs/scheduling_validation/PROTOCOL.md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following graphs are our measurements, taken from the saved experiment records. The CUDA-graph comparison comes first, followed by the request-admission comparison.</a:t>
            </a:r>
          </a:p>
          <a:p xmlns:a="http://schemas.openxmlformats.org/drawingml/2006/main">
            <a:r>
              <a:t/>
            </a:r>
          </a:p>
          <a:p xmlns:a="http://schemas.openxmlformats.org/drawingml/2006/main">
            <a:r>
              <a:t>The chart points show actual repetitions. The lines or diamonds show calculated means. We will separate what was observed from what it suggests, and we will not describe the unsuccessful candidate as an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panels show Gemma 4 12B, Qwen3.5-9B and Gemma 4 E4B. The horizontal axis is the number of requests submitted in a fixed batch. The vertical axis is generated output tokens per second. Compare configurations within each panel because the vertical ranges differ.</a:t>
            </a:r>
          </a:p>
          <a:p xmlns:a="http://schemas.openxmlformats.org/drawingml/2006/main">
            <a:r>
              <a:t/>
            </a:r>
          </a:p>
          <a:p xmlns:a="http://schemas.openxmlformats.org/drawingml/2006/main">
            <a:r>
              <a:t>Black shows vLLM's default capture sizes, blue the exact matched set and gray the coarse grid. Every recorded repeat appears as a point, and lines connect the means. Closely overlapping points are expected.</a:t>
            </a:r>
          </a:p>
          <a:p xmlns:a="http://schemas.openxmlformats.org/drawingml/2006/main">
            <a:r>
              <a:t/>
            </a:r>
          </a:p>
          <a:p xmlns:a="http://schemas.openxmlformats.org/drawingml/2006/main">
            <a:r>
              <a:t>Matched settings differ from default by approximately minus 0.6 to plus 0.3 percent. This study does not establish a useful gain from manual matching. Coarse grids lose up to 3.8 percent. Gemma 12B throughput falls at the largest batches, but high KV occupancy in logs does not prove the cause.</a:t>
            </a:r>
          </a:p>
          <a:p xmlns:a="http://schemas.openxmlformats.org/drawingml/2006/main">
            <a:r>
              <a:t/>
            </a:r>
          </a:p>
          <a:p xmlns:a="http://schemas.openxmlformats.org/drawingml/2006/main">
            <a:r>
              <a:t>The peaks label the best tested default batch for each model. They are not general model benchmarks or online serving capacity.</a:t>
            </a:r>
          </a:p>
          <a:p xmlns:a="http://schemas.openxmlformats.org/drawingml/2006/main">
            <a:r>
              <a:t/>
            </a:r>
          </a:p>
          <a:p xmlns:a="http://schemas.openxmlformats.org/drawingml/2006/main">
            <a:r>
              <a:t>Measurements: https://github.com/nileshsarkar-ai/Inference-Optimization/tree/master/outputs/current_model_summary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retained our earlier Qwen2.5 controls. They use the same batch-size and capture-size comparison, with all 144 recorded timing calls shown.</a:t>
            </a:r>
          </a:p>
          <a:p xmlns:a="http://schemas.openxmlformats.org/drawingml/2006/main">
            <a:r>
              <a:t/>
            </a:r>
          </a:p>
          <a:p xmlns:a="http://schemas.openxmlformats.org/drawingml/2006/main">
            <a:r>
              <a:t>Read the axes and colors the same way as the previous slide. The smaller model achieves more tokens per second in these tests, but the purpose here is the configuration comparison within a model. These are older controls and are not presented as the newest available models.</a:t>
            </a:r>
          </a:p>
          <a:p xmlns:a="http://schemas.openxmlformats.org/drawingml/2006/main">
            <a:r>
              <a:t/>
            </a:r>
          </a:p>
          <a:p xmlns:a="http://schemas.openxmlformats.org/drawingml/2006/main">
            <a:r>
              <a:t>The five-model coverage applies to the CUDA-graph study. It does not mean that the scheduling candidate has been evaluated on five models. Scheduling was tested on Gemma 4 12B only.</a:t>
            </a:r>
          </a:p>
          <a:p xmlns:a="http://schemas.openxmlformats.org/drawingml/2006/main">
            <a:r>
              <a:t/>
            </a:r>
          </a:p>
          <a:p xmlns:a="http://schemas.openxmlformats.org/drawingml/2006/main">
            <a:r>
              <a:t>Raw records: https://github.com/nileshsarkar-ai/Inference-Optimization/tree/master/outputs/experiment_data</a:t>
            </a:r>
          </a:p>
          <a:p xmlns:a="http://schemas.openxmlformats.org/drawingml/2006/main">
            <a:r>
              <a:t>https://github.com/nileshsarkar-ai/Inference-Optimization/tree/master/outputs/experiment_data_qwen7b_complete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performance measures for our scheduling comparison. Each point represents a policy in one independent engine repetition, and each diamond is its mean. Some points overlap.</a:t>
            </a:r>
          </a:p>
          <a:p xmlns:a="http://schemas.openxmlformats.org/drawingml/2006/main">
            <a:r>
              <a:t/>
            </a:r>
          </a:p>
          <a:p xmlns:a="http://schemas.openxmlformats.org/drawingml/2006/main">
            <a:r>
              <a:t>The upper-left panel is requests meeting both latency targets per second, where higher is better. The upper-right is total generated tokens per second. The lower-left is first-token tail latency, where lower is better. The lower-right is the GPU-busy percentage.</a:t>
            </a:r>
          </a:p>
          <a:p xmlns:a="http://schemas.openxmlformats.org/drawingml/2006/main">
            <a:r>
              <a:t/>
            </a:r>
          </a:p>
          <a:p xmlns:a="http://schemas.openxmlformats.org/drawingml/2006/main">
            <a:r>
              <a:t>The context-budget rule performs worse on goodput and throughput and increases first-token delay. Yet GPU busy time is near one hundred percent for every policy. This shows why that percentage alone is an inadequate optimization target.</a:t>
            </a:r>
          </a:p>
          <a:p xmlns:a="http://schemas.openxmlformats.org/drawingml/2006/main">
            <a:r>
              <a:t/>
            </a:r>
          </a:p>
          <a:p xmlns:a="http://schemas.openxmlformats.org/drawingml/2006/main">
            <a:r>
              <a:t>These are timed burst workloads. Do not compare the tokens-per-second values directly against the fixed-batch graphs as a performance regression because the inputs, arrival behavior and timing procedure differ.</a:t>
            </a:r>
          </a:p>
          <a:p xmlns:a="http://schemas.openxmlformats.org/drawingml/2006/main">
            <a:r>
              <a:t/>
            </a:r>
          </a:p>
          <a:p xmlns:a="http://schemas.openxmlformats.org/drawingml/2006/main">
            <a:r>
              <a:t>Data: https://github.com/nileshsarkar-ai/Inference-Optimization/blob/master/outputs/scheduling_results/analysis/validation.json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gives the exact means behind the scheduling graphs. Direct vLLM produces about 2.588 latency-compliant requests per second, compared with 2.013 for the context rule. Across paired repetitions, that is a twenty-to-twenty-four-percent loss. The latency column is the mean of each run's p99, not a percentile pooled across all requests.</a:t>
            </a:r>
          </a:p>
          <a:p xmlns:a="http://schemas.openxmlformats.org/drawingml/2006/main">
            <a:r>
              <a:t/>
            </a:r>
          </a:p>
          <a:p xmlns:a="http://schemas.openxmlformats.org/drawingml/2006/main">
            <a:r>
              <a:t>The phase analysis exposes the specific problem: all ninety-six initial short requests meet our targets, while none of the ninety-six short requests after the long burst meet them in any trial. The candidate takes longer to finish the outstanding workload. Almost the same number of requests pass, so a longer replay-and-drain time explains much of the goodput difference.</a:t>
            </a:r>
          </a:p>
          <a:p xmlns:a="http://schemas.openxmlformats.org/drawingml/2006/main">
            <a:r>
              <a:t/>
            </a:r>
          </a:p>
          <a:p xmlns:a="http://schemas.openxmlformats.org/drawingml/2006/main">
            <a:r>
              <a:t>This rejects the tested setting. It does not prove the causal bottleneck, and it does not establish sustainable capacity at eight requests per second.</a:t>
            </a:r>
          </a:p>
          <a:p xmlns:a="http://schemas.openxmlformats.org/drawingml/2006/main">
            <a:r>
              <a:t/>
            </a:r>
          </a:p>
          <a:p xmlns:a="http://schemas.openxmlformats.org/drawingml/2006/main">
            <a:r>
              <a:t>Results: https://github.com/nileshsarkar-ai/Inference-Optimization/blob/master/outputs/scheduling_results/analysis/validation.json</a:t>
            </a:r>
          </a:p>
          <a:p xmlns:a="http://schemas.openxmlformats.org/drawingml/2006/main">
            <a:r>
              <a:t>Phase analysis: https://github.com/nileshsarkar-ai/Inference-Optimization/blob/master/outputs/scheduling_results/analysis/phase_diagnostics.json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remains open: can better admission preserve useful concurrency and improve recovery after a long-prompt burst?</a:t>
            </a:r>
          </a:p>
          <a:p xmlns:a="http://schemas.openxmlformats.org/drawingml/2006/main">
            <a:r>
              <a:t/>
            </a:r>
          </a:p>
          <a:p xmlns:a="http://schemas.openxmlformats.org/drawingml/2006/main">
            <a:r>
              <a:t>Our next experiment should test whether measured processing cost and remaining deadline time add value beyond a calibrated simple limit. We would use separate data for calibration, freeze the decision rule and compare on unseen bursts at declared arrival rates. All requested work and waiting must remain accounted for, including any dropped requests and long-request fairness.</a:t>
            </a:r>
          </a:p>
          <a:p xmlns:a="http://schemas.openxmlformats.org/drawingml/2006/main">
            <a:r>
              <a:t/>
            </a:r>
          </a:p>
          <a:p xmlns:a="http://schemas.openxmlformats.org/drawingml/2006/main">
            <a:r>
              <a:t>The current rule admits at most nine requests when all are long. It changes throttling, ordering and age protection together, so we cannot isolate their contributions. A controlled comparison should hold fairness conditions fixed and include a version without the adaptive decision.</a:t>
            </a:r>
          </a:p>
          <a:p xmlns:a="http://schemas.openxmlformats.org/drawingml/2006/main">
            <a:r>
              <a:t/>
            </a:r>
          </a:p>
          <a:p xmlns:a="http://schemas.openxmlformats.org/drawingml/2006/main">
            <a:r>
              <a:t>One model and one workload do not establish generalization. We did not measure achieved SM efficiency or answer-quality equivalence. A negative result remains informative if the experiment honestly determines where a policy helps or fails.</a:t>
            </a:r>
          </a:p>
          <a:p xmlns:a="http://schemas.openxmlformats.org/drawingml/2006/main">
            <a:r>
              <a:t/>
            </a:r>
          </a:p>
          <a:p xmlns:a="http://schemas.openxmlformats.org/drawingml/2006/main">
            <a:r>
              <a:t>Assessment: https://github.com/nileshsarkar-ai/Inference-Optimization/blob/master/outputs/Methodology_Assessment.md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links identify the original published figures, official engineering documentation and our reproducibility records. The three papers discussed in detail are SOLA, DuetServe and the recommendation-serving Prism system.</a:t>
            </a:r>
          </a:p>
          <a:p xmlns:a="http://schemas.openxmlformats.org/drawingml/2006/main">
            <a:r>
              <a:t/>
            </a:r>
          </a:p>
          <a:p xmlns:a="http://schemas.openxmlformats.org/drawingml/2006/main">
            <a:r>
              <a:t>NVIDIA's graph-tuning article is an engineering report, not a peer-reviewed paper. The vLLM and NVML links document implementation behavior and metric definitions. The repository contains model and dataset revisions, the executed code, raw requests, measurements, plots and the full bibliography.</a:t>
            </a:r>
          </a:p>
          <a:p xmlns:a="http://schemas.openxmlformats.org/drawingml/2006/main">
            <a:r>
              <a:t/>
            </a:r>
          </a:p>
          <a:p xmlns:a="http://schemas.openxmlformats.org/drawingml/2006/main">
            <a:r>
              <a:t>The final research message is that we have measured a burst-recovery failure and rejected one simple admission rule. We are proposing a controlled investigation into better decisions, without claiming a solved algorithm or a proven increase in compute efficiency.</a:t>
            </a:r>
          </a:p>
          <a:p xmlns:a="http://schemas.openxmlformats.org/drawingml/2006/main">
            <a:r>
              <a:t/>
            </a:r>
          </a:p>
          <a:p xmlns:a="http://schemas.openxmlformats.org/drawingml/2006/main">
            <a:r>
              <a:t>Full references: https://github.com/nileshsarkar-ai/Inference-Optimization/blob/master/outputs/References.md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7a04283dd349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7dd8e5704243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cb59de0bf043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0e5aa065d84e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f93fbfa7fd49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81a377d6cb4a8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ded142254fc497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5d95333a63544d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4f721e6519428a" /><Relationship Type="http://schemas.openxmlformats.org/officeDocument/2006/relationships/slideLayout" Target="/ppt/slideLayouts/slideLayout1.xml" Id="R768045dfd20b43dd" /><Relationship Type="http://schemas.openxmlformats.org/officeDocument/2006/relationships/slideLayout" Target="/ppt/slideLayouts/slideLayout2.xml" Id="Ra859fd1d01384966" /><Relationship Type="http://schemas.openxmlformats.org/officeDocument/2006/relationships/slideLayout" Target="/ppt/slideLayouts/slideLayout3.xml" Id="Rf87ec76a897f4887" /><Relationship Type="http://schemas.openxmlformats.org/officeDocument/2006/relationships/slideLayout" Target="/ppt/slideLayouts/slideLayout4.xml" Id="Rdb7fc0ee77e042e8" /><Relationship Type="http://schemas.openxmlformats.org/officeDocument/2006/relationships/slideLayout" Target="/ppt/slideLayouts/slideLayout5.xml" Id="Rad6f2837db7a4496" /><Relationship Type="http://schemas.openxmlformats.org/officeDocument/2006/relationships/slideLayout" Target="/ppt/slideLayouts/slideLayout6.xml" Id="R4ec302fb235d4961" /><Relationship Type="http://schemas.openxmlformats.org/officeDocument/2006/relationships/slideLayout" Target="/ppt/slideLayouts/slideLayout7.xml" Id="R62a644a3e66b4624" /><Relationship Type="http://schemas.openxmlformats.org/officeDocument/2006/relationships/slideLayout" Target="/ppt/slideLayouts/slideLayout8.xml" Id="R96b2f7d0521b436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8045dfd20b43dd"/>
    <p:sldLayoutId xmlns:r="http://schemas.openxmlformats.org/officeDocument/2006/relationships" id="2147483650" r:id="Ra859fd1d01384966"/>
    <p:sldLayoutId xmlns:r="http://schemas.openxmlformats.org/officeDocument/2006/relationships" id="2147483651" r:id="Rf87ec76a897f4887"/>
    <p:sldLayoutId xmlns:r="http://schemas.openxmlformats.org/officeDocument/2006/relationships" id="2147483652" r:id="Rdb7fc0ee77e042e8"/>
    <p:sldLayoutId xmlns:r="http://schemas.openxmlformats.org/officeDocument/2006/relationships" id="2147483653" r:id="Rad6f2837db7a4496"/>
    <p:sldLayoutId xmlns:r="http://schemas.openxmlformats.org/officeDocument/2006/relationships" id="2147483654" r:id="R4ec302fb235d4961"/>
    <p:sldLayoutId xmlns:r="http://schemas.openxmlformats.org/officeDocument/2006/relationships" id="2147483655" r:id="R62a644a3e66b4624"/>
    <p:sldLayoutId xmlns:r="http://schemas.openxmlformats.org/officeDocument/2006/relationships" id="2147483656" r:id="R96b2f7d0521b4366"/>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e93303cd8e418f" /><Relationship Type="http://schemas.openxmlformats.org/officeDocument/2006/relationships/notesSlide" Target="/ppt/notesSlides/notesSlide1.xml" Id="R5233b80a8840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bed4a299464e82" /><Relationship Type="http://schemas.openxmlformats.org/officeDocument/2006/relationships/hyperlink" Target="https://github.com/nileshsarkar-ai/Inference-Optimization/blob/master/outputs/Research_Question.md" TargetMode="External" Id="R4931dd51216b48ea" /><Relationship Type="http://schemas.openxmlformats.org/officeDocument/2006/relationships/notesSlide" Target="/ppt/notesSlides/notesSlide2.xml" Id="R1e8e32d7683540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d944b4895d496a" /><Relationship Type="http://schemas.openxmlformats.org/officeDocument/2006/relationships/notesSlide" Target="/ppt/notesSlides/notesSlide3.xml" Id="Ra30f65e9943c4f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eabfaabbf943cb" /><Relationship Type="http://schemas.openxmlformats.org/officeDocument/2006/relationships/hyperlink" Target="https://proceedings.mlsys.org/paper_files/paper/2025/file/bc82dbfbfa43232be85b8d9838f49c3e-Paper-Conference.pdf" TargetMode="External" Id="R1ece2e6b659f4840" /><Relationship Type="http://schemas.openxmlformats.org/officeDocument/2006/relationships/hyperlink" Target="https://pages.cs.wisc.edu/~markhill/papers/icml2026_DuetServe.pdf" TargetMode="External" Id="R3e21068cb5a648b8" /><Relationship Type="http://schemas.openxmlformats.org/officeDocument/2006/relationships/hyperlink" Target="https://www.usenix.org/system/files/nsdi25-yang.pdf" TargetMode="External" Id="Racf9f0f031684497" /><Relationship Type="http://schemas.openxmlformats.org/officeDocument/2006/relationships/notesSlide" Target="/ppt/notesSlides/notesSlide4.xml" Id="R4324a7e32f784e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ffb1d582a74738" /><Relationship Type="http://schemas.openxmlformats.org/officeDocument/2006/relationships/hyperlink" Target="https://proceedings.mlsys.org/paper_files/paper/2025/file/bc82dbfbfa43232be85b8d9838f49c3e-Paper-Conference.pdf" TargetMode="External" Id="R2ad4b702158a4064" /><Relationship Type="http://schemas.openxmlformats.org/officeDocument/2006/relationships/image" Target="/ppt/media/image.png" Id="R3a74ed1078974eeb" /><Relationship Type="http://schemas.openxmlformats.org/officeDocument/2006/relationships/notesSlide" Target="/ppt/notesSlides/notesSlide5.xml" Id="Re9836f4bd7b64a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840bc83f054d12" /><Relationship Type="http://schemas.openxmlformats.org/officeDocument/2006/relationships/hyperlink" Target="https://pages.cs.wisc.edu/~markhill/papers/icml2026_DuetServe.pdf" TargetMode="External" Id="Ra6fecedc4e9e4390" /><Relationship Type="http://schemas.openxmlformats.org/officeDocument/2006/relationships/image" Target="/ppt/media/image2.png" Id="R09e6e82d889f4e54" /><Relationship Type="http://schemas.openxmlformats.org/officeDocument/2006/relationships/image" Target="/ppt/media/image3.png" Id="Rda874ec98da34abe" /><Relationship Type="http://schemas.openxmlformats.org/officeDocument/2006/relationships/notesSlide" Target="/ppt/notesSlides/notesSlide6.xml" Id="R9a84bc15891f48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0b93bee6d042a2" /><Relationship Type="http://schemas.openxmlformats.org/officeDocument/2006/relationships/hyperlink" Target="https://www.usenix.org/system/files/nsdi25-yang.pdf" TargetMode="External" Id="Rb16fa643e9ee4e34" /><Relationship Type="http://schemas.openxmlformats.org/officeDocument/2006/relationships/image" Target="/ppt/media/image4.png" Id="R14f40248b07f4934" /><Relationship Type="http://schemas.openxmlformats.org/officeDocument/2006/relationships/notesSlide" Target="/ppt/notesSlides/notesSlide7.xml" Id="Rad3f31ed38b54d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f3594276684588" /><Relationship Type="http://schemas.openxmlformats.org/officeDocument/2006/relationships/notesSlide" Target="/ppt/notesSlides/notesSlide8.xml" Id="Rd70be15e601543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7bcd41fd374670" /><Relationship Type="http://schemas.openxmlformats.org/officeDocument/2006/relationships/hyperlink" Target="https://github.com/nileshsarkar-ai/Inference-Optimization/blob/master/outputs/Experiment_Inventory.md" TargetMode="External" Id="Rde2cf3068e934eca" /><Relationship Type="http://schemas.openxmlformats.org/officeDocument/2006/relationships/hyperlink" Target="https://docs.nvidia.com/deploy/nvml-api/structnvmlUtilization__t.html" TargetMode="External" Id="Rae8ac7e3bcbb4991" /><Relationship Type="http://schemas.openxmlformats.org/officeDocument/2006/relationships/notesSlide" Target="/ppt/notesSlides/notesSlide9.xml" Id="Ra942f82b93cb44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c542fcf9f7487d" /><Relationship Type="http://schemas.openxmlformats.org/officeDocument/2006/relationships/hyperlink" Target="https://github.com/nileshsarkar-ai/Inference-Optimization/blob/master/outputs/model_suite/README.md" TargetMode="External" Id="R3f06c149006f42a4" /><Relationship Type="http://schemas.openxmlformats.org/officeDocument/2006/relationships/hyperlink" Target="https://nvidia.github.io/TensorRT-LLM/latest/blogs/tech_blog/blog20_Tuning_CUDA_Graph_Batch_Sizes_for_Higher_Output_Throughput.html" TargetMode="External" Id="R7397f6e4960e4758" /><Relationship Type="http://schemas.openxmlformats.org/officeDocument/2006/relationships/notesSlide" Target="/ppt/notesSlides/notesSlide10.xml" Id="R845f5c44b74444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894d3089f94f79" /><Relationship Type="http://schemas.openxmlformats.org/officeDocument/2006/relationships/hyperlink" Target="https://github.com/nileshsarkar-ai/Inference-Optimization/blob/master/outputs/scheduling_validation/PROTOCOL.md" TargetMode="External" Id="R2c81fb890c5845ce" /><Relationship Type="http://schemas.openxmlformats.org/officeDocument/2006/relationships/hyperlink" Target="https://wandb.ai/nileshsarkar-ai/saturatellm-feasibility" TargetMode="External" Id="Rf8ce2cf8813540a1" /><Relationship Type="http://schemas.openxmlformats.org/officeDocument/2006/relationships/notesSlide" Target="/ppt/notesSlides/notesSlide11.xml" Id="R4dec4384a4fa47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9c2ae965ed0420a" /><Relationship Type="http://schemas.openxmlformats.org/officeDocument/2006/relationships/notesSlide" Target="/ppt/notesSlides/notesSlide12.xml" Id="R4f224e92237b4c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4d0654482474f74" /><Relationship Type="http://schemas.openxmlformats.org/officeDocument/2006/relationships/hyperlink" Target="https://wandb.ai/nileshsarkar-ai/saturatellm-feasibility" TargetMode="External" Id="Red881a2820694fae" /><Relationship Type="http://schemas.openxmlformats.org/officeDocument/2006/relationships/chart" Target="/ppt/slides/charts/chart1.xml" Id="R3a843dc101c84a47" /><Relationship Type="http://schemas.openxmlformats.org/officeDocument/2006/relationships/chart" Target="/ppt/slides/charts/chart2.xml" Id="R8ba54b1a4f354396" /><Relationship Type="http://schemas.openxmlformats.org/officeDocument/2006/relationships/chart" Target="/ppt/slides/charts/chart3.xml" Id="R71e75670dc94424f" /><Relationship Type="http://schemas.openxmlformats.org/officeDocument/2006/relationships/notesSlide" Target="/ppt/notesSlides/notesSlide13.xml" Id="Rcac75b3611ad47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d22bc573a14fb1" /><Relationship Type="http://schemas.openxmlformats.org/officeDocument/2006/relationships/hyperlink" Target="https://wandb.ai/nileshsarkar-ai/saturatellm-feasibility" TargetMode="External" Id="R936a3a84c2e64a18" /><Relationship Type="http://schemas.openxmlformats.org/officeDocument/2006/relationships/chart" Target="/ppt/slides/charts/chart4.xml" Id="R3f4f3bf280564aff" /><Relationship Type="http://schemas.openxmlformats.org/officeDocument/2006/relationships/chart" Target="/ppt/slides/charts/chart5.xml" Id="R0dd59f08aed54d86" /><Relationship Type="http://schemas.openxmlformats.org/officeDocument/2006/relationships/notesSlide" Target="/ppt/notesSlides/notesSlide14.xml" Id="Ra92be0f7b16545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03f9b7d56c4d45" /><Relationship Type="http://schemas.openxmlformats.org/officeDocument/2006/relationships/hyperlink" Target="https://github.com/nileshsarkar-ai/Inference-Optimization/blob/master/outputs/scheduling_results/analysis/validation.json" TargetMode="External" Id="R2cac0dc7b2484e48" /><Relationship Type="http://schemas.openxmlformats.org/officeDocument/2006/relationships/chart" Target="/ppt/slides/charts/chart6.xml" Id="R592e3f30b1104688" /><Relationship Type="http://schemas.openxmlformats.org/officeDocument/2006/relationships/chart" Target="/ppt/slides/charts/chart7.xml" Id="Rfba47a542b6e4526" /><Relationship Type="http://schemas.openxmlformats.org/officeDocument/2006/relationships/chart" Target="/ppt/slides/charts/chart8.xml" Id="R87f3953635a44b04" /><Relationship Type="http://schemas.openxmlformats.org/officeDocument/2006/relationships/chart" Target="/ppt/slides/charts/chart9.xml" Id="Rb423fcbd91524eae" /><Relationship Type="http://schemas.openxmlformats.org/officeDocument/2006/relationships/notesSlide" Target="/ppt/notesSlides/notesSlide15.xml" Id="R3d2586e5d14140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8e91cf4a6524ec8" /><Relationship Type="http://schemas.openxmlformats.org/officeDocument/2006/relationships/hyperlink" Target="https://github.com/nileshsarkar-ai/Inference-Optimization/blob/master/outputs/scheduling_results/analysis/validation.json" TargetMode="External" Id="R813131261af148d8" /><Relationship Type="http://schemas.openxmlformats.org/officeDocument/2006/relationships/hyperlink" Target="https://github.com/nileshsarkar-ai/Inference-Optimization/blob/master/outputs/scheduling_results/analysis/phase_diagnostics.json" TargetMode="External" Id="Red34c38d7c894c89" /><Relationship Type="http://schemas.openxmlformats.org/officeDocument/2006/relationships/notesSlide" Target="/ppt/notesSlides/notesSlide16.xml" Id="R1c02a4a9a41146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ef5709d42544905" /><Relationship Type="http://schemas.openxmlformats.org/officeDocument/2006/relationships/hyperlink" Target="https://github.com/nileshsarkar-ai/Inference-Optimization/blob/master/outputs/Methodology_Assessment.md" TargetMode="External" Id="R014dea2fabf94849" /><Relationship Type="http://schemas.openxmlformats.org/officeDocument/2006/relationships/notesSlide" Target="/ppt/notesSlides/notesSlide17.xml" Id="Rf6a2375f959541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4267623be3a4e5f" /><Relationship Type="http://schemas.openxmlformats.org/officeDocument/2006/relationships/hyperlink" Target="https://github.com/nileshsarkar-ai/Inference-Optimization/blob/master/outputs/References.md" TargetMode="External" Id="Rd6b5dad5bdcf4f78" /><Relationship Type="http://schemas.openxmlformats.org/officeDocument/2006/relationships/hyperlink" Target="https://proceedings.mlsys.org/paper_files/paper/2025/file/bc82dbfbfa43232be85b8d9838f49c3e-Paper-Conference.pdf" TargetMode="External" Id="R0d4276af2e52447d" /><Relationship Type="http://schemas.openxmlformats.org/officeDocument/2006/relationships/hyperlink" Target="https://pages.cs.wisc.edu/~markhill/papers/icml2026_DuetServe.pdf" TargetMode="External" Id="R83ec86b4f6994f93" /><Relationship Type="http://schemas.openxmlformats.org/officeDocument/2006/relationships/hyperlink" Target="https://www.usenix.org/system/files/nsdi25-yang.pdf" TargetMode="External" Id="R56c1497504254250" /><Relationship Type="http://schemas.openxmlformats.org/officeDocument/2006/relationships/hyperlink" Target="https://nvidia.github.io/TensorRT-LLM/latest/blogs/tech_blog/blog20_Tuning_CUDA_Graph_Batch_Sizes_for_Higher_Output_Throughput.html" TargetMode="External" Id="R5f8af2e629d74c16" /><Relationship Type="http://schemas.openxmlformats.org/officeDocument/2006/relationships/hyperlink" Target="https://docs.vllm.ai/en/stable/design/cuda_graphs/" TargetMode="External" Id="R29eb873dd0c040f1" /><Relationship Type="http://schemas.openxmlformats.org/officeDocument/2006/relationships/hyperlink" Target="https://docs.nvidia.com/deploy/nvml-api/structnvmlUtilization__t.html" TargetMode="External" Id="R7095c60cca2944e4" /><Relationship Type="http://schemas.openxmlformats.org/officeDocument/2006/relationships/hyperlink" Target="https://github.com/nileshsarkar-ai/Inference-Optimization/blob/master/outputs/Experiment_Inventory.md" TargetMode="External" Id="Rf82f88f2bf2948e3" /><Relationship Type="http://schemas.openxmlformats.org/officeDocument/2006/relationships/hyperlink" Target="https://github.com/nileshsarkar-ai/Inference-Optimization" TargetMode="External" Id="R9f9de0ef98f74f68" /><Relationship Type="http://schemas.openxmlformats.org/officeDocument/2006/relationships/hyperlink" Target="https://wandb.ai/nileshsarkar-ai/saturatellm-feasibility" TargetMode="External" Id="Re1da8f1d0ab84392" /><Relationship Type="http://schemas.openxmlformats.org/officeDocument/2006/relationships/notesSlide" Target="/ppt/notesSlides/notesSlide18.xml" Id="R9a597983b4cf490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vLLM default captures mean</c:v>
          </c:tx>
          <c:spPr>
            <a:solidFill xmlns:a="http://schemas.openxmlformats.org/drawingml/2006/main">
              <a:srgbClr val="222222"/>
            </a:solidFill>
            <a:ln xmlns:a="http://schemas.openxmlformats.org/drawingml/2006/main" w="19050">
              <a:solidFill>
                <a:srgbClr val="222222"/>
              </a:solidFill>
            </a:ln>
          </c:spPr>
          <c:marker>
            <c:symbol val="none"/>
            <c:size val="2"/>
          </c:marker>
          <c:xVal>
            <c:numRef>
              <c:f>'Chart Data'!$A$2:$A$9</c:f>
              <c:numCache>
                <c:formatCode>General</c:formatCode>
                <c:ptCount val="8"/>
                <c:pt idx="0">
                  <c:v>24</c:v>
                </c:pt>
                <c:pt idx="1">
                  <c:v>31</c:v>
                </c:pt>
                <c:pt idx="2">
                  <c:v>48</c:v>
                </c:pt>
                <c:pt idx="3">
                  <c:v>63</c:v>
                </c:pt>
                <c:pt idx="4">
                  <c:v>80</c:v>
                </c:pt>
                <c:pt idx="5">
                  <c:v>95</c:v>
                </c:pt>
                <c:pt idx="6">
                  <c:v>112</c:v>
                </c:pt>
                <c:pt idx="7">
                  <c:v>127</c:v>
                </c:pt>
              </c:numCache>
            </c:numRef>
          </c:xVal>
          <c:yVal>
            <c:numRef>
              <c:f>'Chart Data'!$B$2:$B$9</c:f>
              <c:numCache>
                <c:formatCode>0.000000</c:formatCode>
                <c:ptCount val="8"/>
                <c:pt idx="0">
                  <c:v>900.026292</c:v>
                </c:pt>
                <c:pt idx="1">
                  <c:v>1086.87851</c:v>
                </c:pt>
                <c:pt idx="2">
                  <c:v>1411.592573</c:v>
                </c:pt>
                <c:pt idx="3">
                  <c:v>1686.367271</c:v>
                </c:pt>
                <c:pt idx="4">
                  <c:v>1939.569993</c:v>
                </c:pt>
                <c:pt idx="5">
                  <c:v>2129.999211</c:v>
                </c:pt>
                <c:pt idx="6">
                  <c:v>2031.520295</c:v>
                </c:pt>
                <c:pt idx="7">
                  <c:v>1913.990544</c:v>
                </c:pt>
              </c:numCache>
            </c:numRef>
          </c:yVal>
        </c:ser>
        <c:ser>
          <c:idx val="1"/>
          <c:order val="1"/>
          <c:tx>
            <c:v>vLLM default captures all measured repetitions</c:v>
          </c:tx>
          <c:spPr>
            <a:solidFill xmlns:a="http://schemas.openxmlformats.org/drawingml/2006/main">
              <a:srgbClr val="222222"/>
            </a:solidFill>
            <a:ln xmlns:a="http://schemas.openxmlformats.org/drawingml/2006/main" w="0">
              <a:solidFill>
                <a:srgbClr val="222222"/>
              </a:solidFill>
            </a:ln>
          </c:spPr>
          <c:marker>
            <c:symbol val="circle"/>
            <c:size val="4"/>
            <c:spPr>
              <a:solidFill xmlns:a="http://schemas.openxmlformats.org/drawingml/2006/main">
                <a:srgbClr val="222222"/>
              </a:solidFill>
            </c:spPr>
          </c:marker>
          <c:xVal>
            <c:numRef>
              <c:f>'Chart Data'!$C$2:$C$25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Data'!$D$2:$D$25</c:f>
              <c:numCache>
                <c:formatCode>0.000000</c:formatCode>
                <c:ptCount val="24"/>
                <c:pt idx="0">
                  <c:v>901.504014</c:v>
                </c:pt>
                <c:pt idx="1">
                  <c:v>900.298264</c:v>
                </c:pt>
                <c:pt idx="2">
                  <c:v>898.276596</c:v>
                </c:pt>
                <c:pt idx="3">
                  <c:v>1087.05495</c:v>
                </c:pt>
                <c:pt idx="4">
                  <c:v>1084.635628</c:v>
                </c:pt>
                <c:pt idx="5">
                  <c:v>1088.944951</c:v>
                </c:pt>
                <c:pt idx="6">
                  <c:v>1413.144787</c:v>
                </c:pt>
                <c:pt idx="7">
                  <c:v>1411.771275</c:v>
                </c:pt>
                <c:pt idx="8">
                  <c:v>1409.861656</c:v>
                </c:pt>
                <c:pt idx="9">
                  <c:v>1687.92451</c:v>
                </c:pt>
                <c:pt idx="10">
                  <c:v>1686.576692</c:v>
                </c:pt>
                <c:pt idx="11">
                  <c:v>1684.600612</c:v>
                </c:pt>
                <c:pt idx="12">
                  <c:v>1940.408872</c:v>
                </c:pt>
                <c:pt idx="13">
                  <c:v>1940.682095</c:v>
                </c:pt>
                <c:pt idx="14">
                  <c:v>1937.619012</c:v>
                </c:pt>
                <c:pt idx="15">
                  <c:v>2130.0822</c:v>
                </c:pt>
                <c:pt idx="16">
                  <c:v>2131.768513</c:v>
                </c:pt>
                <c:pt idx="17">
                  <c:v>2128.146918</c:v>
                </c:pt>
                <c:pt idx="18">
                  <c:v>2032.414347</c:v>
                </c:pt>
                <c:pt idx="19">
                  <c:v>2031.936647</c:v>
                </c:pt>
                <c:pt idx="20">
                  <c:v>2030.209892</c:v>
                </c:pt>
                <c:pt idx="21">
                  <c:v>1917.128089</c:v>
                </c:pt>
                <c:pt idx="22">
                  <c:v>1911.583453</c:v>
                </c:pt>
                <c:pt idx="23">
                  <c:v>1913.26009</c:v>
                </c:pt>
              </c:numCache>
            </c:numRef>
          </c:yVal>
        </c:ser>
        <c:ser>
          <c:idx val="2"/>
          <c:order val="2"/>
          <c:tx>
            <c:v>Exact batch matches mean</c:v>
          </c:tx>
          <c:spPr>
            <a:solidFill xmlns:a="http://schemas.openxmlformats.org/drawingml/2006/main">
              <a:srgbClr val="3D8DFF"/>
            </a:solidFill>
            <a:ln xmlns:a="http://schemas.openxmlformats.org/drawingml/2006/main" w="19050">
              <a:solidFill>
                <a:srgbClr val="3D8DFF"/>
              </a:solidFill>
            </a:ln>
          </c:spPr>
          <c:marker>
            <c:symbol val="none"/>
            <c:size val="2"/>
          </c:marker>
          <c:xVal>
            <c:numRef>
              <c:f>'Chart Data'!$E$2:$E$9</c:f>
              <c:numCache>
                <c:formatCode>General</c:formatCode>
                <c:ptCount val="8"/>
                <c:pt idx="0">
                  <c:v>24</c:v>
                </c:pt>
                <c:pt idx="1">
                  <c:v>31</c:v>
                </c:pt>
                <c:pt idx="2">
                  <c:v>48</c:v>
                </c:pt>
                <c:pt idx="3">
                  <c:v>63</c:v>
                </c:pt>
                <c:pt idx="4">
                  <c:v>80</c:v>
                </c:pt>
                <c:pt idx="5">
                  <c:v>95</c:v>
                </c:pt>
                <c:pt idx="6">
                  <c:v>112</c:v>
                </c:pt>
                <c:pt idx="7">
                  <c:v>127</c:v>
                </c:pt>
              </c:numCache>
            </c:numRef>
          </c:xVal>
          <c:yVal>
            <c:numRef>
              <c:f>'Chart Data'!$F$2:$F$9</c:f>
              <c:numCache>
                <c:formatCode>0.000000</c:formatCode>
                <c:ptCount val="8"/>
                <c:pt idx="0">
                  <c:v>894.684273</c:v>
                </c:pt>
                <c:pt idx="1">
                  <c:v>1080.475892</c:v>
                </c:pt>
                <c:pt idx="2">
                  <c:v>1408.19504</c:v>
                </c:pt>
                <c:pt idx="3">
                  <c:v>1683.783917</c:v>
                </c:pt>
                <c:pt idx="4">
                  <c:v>1938.5039</c:v>
                </c:pt>
                <c:pt idx="5">
                  <c:v>2131.403691</c:v>
                </c:pt>
                <c:pt idx="6">
                  <c:v>2029.961391</c:v>
                </c:pt>
                <c:pt idx="7">
                  <c:v>1913.815254</c:v>
                </c:pt>
              </c:numCache>
            </c:numRef>
          </c:yVal>
        </c:ser>
        <c:ser>
          <c:idx val="3"/>
          <c:order val="3"/>
          <c:tx>
            <c:v>Exact batch matches all measured repetitions</c:v>
          </c:tx>
          <c:spPr>
            <a:solidFill xmlns:a="http://schemas.openxmlformats.org/drawingml/2006/main">
              <a:srgbClr val="3D8DFF"/>
            </a:solidFill>
            <a:ln xmlns:a="http://schemas.openxmlformats.org/drawingml/2006/main" w="0">
              <a:solidFill>
                <a:srgbClr val="3D8DFF"/>
              </a:solidFill>
            </a:ln>
          </c:spPr>
          <c:marker>
            <c:symbol val="diamond"/>
            <c:size val="4"/>
            <c:spPr>
              <a:solidFill xmlns:a="http://schemas.openxmlformats.org/drawingml/2006/main">
                <a:srgbClr val="3D8DFF"/>
              </a:solidFill>
            </c:spPr>
          </c:marker>
          <c:xVal>
            <c:numRef>
              <c:f>'Chart Data'!$G$2:$G$25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Data'!$H$2:$H$25</c:f>
              <c:numCache>
                <c:formatCode>0.000000</c:formatCode>
                <c:ptCount val="24"/>
                <c:pt idx="0">
                  <c:v>893.90188</c:v>
                </c:pt>
                <c:pt idx="1">
                  <c:v>895.872549</c:v>
                </c:pt>
                <c:pt idx="2">
                  <c:v>894.278391</c:v>
                </c:pt>
                <c:pt idx="3">
                  <c:v>1082.656111</c:v>
                </c:pt>
                <c:pt idx="4">
                  <c:v>1079.993231</c:v>
                </c:pt>
                <c:pt idx="5">
                  <c:v>1078.778334</c:v>
                </c:pt>
                <c:pt idx="6">
                  <c:v>1408.921922</c:v>
                </c:pt>
                <c:pt idx="7">
                  <c:v>1407.793742</c:v>
                </c:pt>
                <c:pt idx="8">
                  <c:v>1407.869457</c:v>
                </c:pt>
                <c:pt idx="9">
                  <c:v>1684.420444</c:v>
                </c:pt>
                <c:pt idx="10">
                  <c:v>1683.064618</c:v>
                </c:pt>
                <c:pt idx="11">
                  <c:v>1683.86669</c:v>
                </c:pt>
                <c:pt idx="12">
                  <c:v>1941.325854</c:v>
                </c:pt>
                <c:pt idx="13">
                  <c:v>1938.585973</c:v>
                </c:pt>
                <c:pt idx="14">
                  <c:v>1935.599874</c:v>
                </c:pt>
                <c:pt idx="15">
                  <c:v>2132.278562</c:v>
                </c:pt>
                <c:pt idx="16">
                  <c:v>2133.863087</c:v>
                </c:pt>
                <c:pt idx="17">
                  <c:v>2128.069422</c:v>
                </c:pt>
                <c:pt idx="18">
                  <c:v>2030.252336</c:v>
                </c:pt>
                <c:pt idx="19">
                  <c:v>2029.912295</c:v>
                </c:pt>
                <c:pt idx="20">
                  <c:v>2029.719543</c:v>
                </c:pt>
                <c:pt idx="21">
                  <c:v>1917.509538</c:v>
                </c:pt>
                <c:pt idx="22">
                  <c:v>1912.905662</c:v>
                </c:pt>
                <c:pt idx="23">
                  <c:v>1911.030563</c:v>
                </c:pt>
              </c:numCache>
            </c:numRef>
          </c:yVal>
        </c:ser>
        <c:ser>
          <c:idx val="4"/>
          <c:order val="4"/>
          <c:tx>
            <c:v>Coarse capture grid mean</c:v>
          </c:tx>
          <c:spPr>
            <a:solidFill xmlns:a="http://schemas.openxmlformats.org/drawingml/2006/main">
              <a:srgbClr val="909AA8"/>
            </a:solidFill>
            <a:ln xmlns:a="http://schemas.openxmlformats.org/drawingml/2006/main" w="19050">
              <a:solidFill>
                <a:srgbClr val="909AA8"/>
              </a:solidFill>
            </a:ln>
          </c:spPr>
          <c:marker>
            <c:symbol val="none"/>
            <c:size val="2"/>
          </c:marker>
          <c:xVal>
            <c:numRef>
              <c:f>'Chart Data'!$I$2:$I$9</c:f>
              <c:numCache>
                <c:formatCode>General</c:formatCode>
                <c:ptCount val="8"/>
                <c:pt idx="0">
                  <c:v>24</c:v>
                </c:pt>
                <c:pt idx="1">
                  <c:v>31</c:v>
                </c:pt>
                <c:pt idx="2">
                  <c:v>48</c:v>
                </c:pt>
                <c:pt idx="3">
                  <c:v>63</c:v>
                </c:pt>
                <c:pt idx="4">
                  <c:v>80</c:v>
                </c:pt>
                <c:pt idx="5">
                  <c:v>95</c:v>
                </c:pt>
                <c:pt idx="6">
                  <c:v>112</c:v>
                </c:pt>
                <c:pt idx="7">
                  <c:v>127</c:v>
                </c:pt>
              </c:numCache>
            </c:numRef>
          </c:xVal>
          <c:yVal>
            <c:numRef>
              <c:f>'Chart Data'!$J$2:$J$9</c:f>
              <c:numCache>
                <c:formatCode>0.000000</c:formatCode>
                <c:ptCount val="8"/>
                <c:pt idx="0">
                  <c:v>894.531817</c:v>
                </c:pt>
                <c:pt idx="1">
                  <c:v>1086.356924</c:v>
                </c:pt>
                <c:pt idx="2">
                  <c:v>1398.151453</c:v>
                </c:pt>
                <c:pt idx="3">
                  <c:v>1687.272907</c:v>
                </c:pt>
                <c:pt idx="4">
                  <c:v>1889.709748</c:v>
                </c:pt>
                <c:pt idx="5">
                  <c:v>2099.712776</c:v>
                </c:pt>
                <c:pt idx="6">
                  <c:v>2021.259706</c:v>
                </c:pt>
                <c:pt idx="7">
                  <c:v>1911.305704</c:v>
                </c:pt>
              </c:numCache>
            </c:numRef>
          </c:yVal>
        </c:ser>
        <c:ser>
          <c:idx val="5"/>
          <c:order val="5"/>
          <c:tx>
            <c:v>Coarse capture grid all measured repetitions</c:v>
          </c:tx>
          <c:spPr>
            <a:solidFill xmlns:a="http://schemas.openxmlformats.org/drawingml/2006/main">
              <a:srgbClr val="909AA8"/>
            </a:solidFill>
            <a:ln xmlns:a="http://schemas.openxmlformats.org/drawingml/2006/main" w="0">
              <a:solidFill>
                <a:srgbClr val="909AA8"/>
              </a:solidFill>
            </a:ln>
          </c:spPr>
          <c:marker>
            <c:symbol val="triangle"/>
            <c:size val="4"/>
            <c:spPr>
              <a:solidFill xmlns:a="http://schemas.openxmlformats.org/drawingml/2006/main">
                <a:srgbClr val="909AA8"/>
              </a:solidFill>
            </c:spPr>
          </c:marker>
          <c:xVal>
            <c:numRef>
              <c:f>'Chart Data'!$K$2:$K$25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Data'!$L$2:$L$25</c:f>
              <c:numCache>
                <c:formatCode>0.000000</c:formatCode>
                <c:ptCount val="24"/>
                <c:pt idx="0">
                  <c:v>895.228028</c:v>
                </c:pt>
                <c:pt idx="1">
                  <c:v>894.832305</c:v>
                </c:pt>
                <c:pt idx="2">
                  <c:v>893.535117</c:v>
                </c:pt>
                <c:pt idx="3">
                  <c:v>1087.747273</c:v>
                </c:pt>
                <c:pt idx="4">
                  <c:v>1085.852238</c:v>
                </c:pt>
                <c:pt idx="5">
                  <c:v>1085.47126</c:v>
                </c:pt>
                <c:pt idx="6">
                  <c:v>1398.417761</c:v>
                </c:pt>
                <c:pt idx="7">
                  <c:v>1397.733271</c:v>
                </c:pt>
                <c:pt idx="8">
                  <c:v>1398.303328</c:v>
                </c:pt>
                <c:pt idx="9">
                  <c:v>1688.05738</c:v>
                </c:pt>
                <c:pt idx="10">
                  <c:v>1688.497269</c:v>
                </c:pt>
                <c:pt idx="11">
                  <c:v>1685.264071</c:v>
                </c:pt>
                <c:pt idx="12">
                  <c:v>1892.275657</c:v>
                </c:pt>
                <c:pt idx="13">
                  <c:v>1889.889974</c:v>
                </c:pt>
                <c:pt idx="14">
                  <c:v>1886.963614</c:v>
                </c:pt>
                <c:pt idx="15">
                  <c:v>2101.49107</c:v>
                </c:pt>
                <c:pt idx="16">
                  <c:v>2102.720468</c:v>
                </c:pt>
                <c:pt idx="17">
                  <c:v>2094.926791</c:v>
                </c:pt>
                <c:pt idx="18">
                  <c:v>2022.982661</c:v>
                </c:pt>
                <c:pt idx="19">
                  <c:v>2019.771997</c:v>
                </c:pt>
                <c:pt idx="20">
                  <c:v>2021.024459</c:v>
                </c:pt>
                <c:pt idx="21">
                  <c:v>1915.298242</c:v>
                </c:pt>
                <c:pt idx="22">
                  <c:v>1910.669936</c:v>
                </c:pt>
                <c:pt idx="23">
                  <c:v>1907.948934</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3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000"/>
      </c:valAx>
      <c:valAx>
        <c:axId val="48650112"/>
        <c:scaling>
          <c:orientation val="minMax"/>
          <c:max val="130"/>
          <c:min val="2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vLLM default captures mean</c:v>
          </c:tx>
          <c:spPr>
            <a:solidFill xmlns:a="http://schemas.openxmlformats.org/drawingml/2006/main">
              <a:srgbClr val="222222"/>
            </a:solidFill>
            <a:ln xmlns:a="http://schemas.openxmlformats.org/drawingml/2006/main" w="19050">
              <a:solidFill>
                <a:srgbClr val="222222"/>
              </a:solidFill>
            </a:ln>
          </c:spPr>
          <c:marker>
            <c:symbol val="none"/>
            <c:size val="2"/>
          </c:marker>
          <c:xVal>
            <c:numRef>
              <c:f>'Chart Data'!$A$2:$A$9</c:f>
              <c:numCache>
                <c:formatCode>General</c:formatCode>
                <c:ptCount val="8"/>
                <c:pt idx="0">
                  <c:v>24</c:v>
                </c:pt>
                <c:pt idx="1">
                  <c:v>31</c:v>
                </c:pt>
                <c:pt idx="2">
                  <c:v>48</c:v>
                </c:pt>
                <c:pt idx="3">
                  <c:v>63</c:v>
                </c:pt>
                <c:pt idx="4">
                  <c:v>80</c:v>
                </c:pt>
                <c:pt idx="5">
                  <c:v>95</c:v>
                </c:pt>
                <c:pt idx="6">
                  <c:v>112</c:v>
                </c:pt>
                <c:pt idx="7">
                  <c:v>127</c:v>
                </c:pt>
              </c:numCache>
            </c:numRef>
          </c:xVal>
          <c:yVal>
            <c:numRef>
              <c:f>'Chart Data'!$B$2:$B$9</c:f>
              <c:numCache>
                <c:formatCode>0.000000</c:formatCode>
                <c:ptCount val="8"/>
                <c:pt idx="0">
                  <c:v>1322.507892</c:v>
                </c:pt>
                <c:pt idx="1">
                  <c:v>1587.132297</c:v>
                </c:pt>
                <c:pt idx="2">
                  <c:v>2137.436155</c:v>
                </c:pt>
                <c:pt idx="3">
                  <c:v>2509.912128</c:v>
                </c:pt>
                <c:pt idx="4">
                  <c:v>2756.969241</c:v>
                </c:pt>
                <c:pt idx="5">
                  <c:v>2957.513531</c:v>
                </c:pt>
                <c:pt idx="6">
                  <c:v>3193.111389</c:v>
                </c:pt>
                <c:pt idx="7">
                  <c:v>3377.973406</c:v>
                </c:pt>
              </c:numCache>
            </c:numRef>
          </c:yVal>
        </c:ser>
        <c:ser>
          <c:idx val="1"/>
          <c:order val="1"/>
          <c:tx>
            <c:v>vLLM default captures all measured repetitions</c:v>
          </c:tx>
          <c:spPr>
            <a:solidFill xmlns:a="http://schemas.openxmlformats.org/drawingml/2006/main">
              <a:srgbClr val="222222"/>
            </a:solidFill>
            <a:ln xmlns:a="http://schemas.openxmlformats.org/drawingml/2006/main" w="0">
              <a:solidFill>
                <a:srgbClr val="222222"/>
              </a:solidFill>
            </a:ln>
          </c:spPr>
          <c:marker>
            <c:symbol val="circle"/>
            <c:size val="4"/>
            <c:spPr>
              <a:solidFill xmlns:a="http://schemas.openxmlformats.org/drawingml/2006/main">
                <a:srgbClr val="222222"/>
              </a:solidFill>
            </c:spPr>
          </c:marker>
          <c:xVal>
            <c:numRef>
              <c:f>'Chart Data'!$C$2:$C$25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Data'!$D$2:$D$25</c:f>
              <c:numCache>
                <c:formatCode>0.000000</c:formatCode>
                <c:ptCount val="24"/>
                <c:pt idx="0">
                  <c:v>1323.914125</c:v>
                </c:pt>
                <c:pt idx="1">
                  <c:v>1322.516235</c:v>
                </c:pt>
                <c:pt idx="2">
                  <c:v>1321.093317</c:v>
                </c:pt>
                <c:pt idx="3">
                  <c:v>1589.343199</c:v>
                </c:pt>
                <c:pt idx="4">
                  <c:v>1586.407963</c:v>
                </c:pt>
                <c:pt idx="5">
                  <c:v>1585.645728</c:v>
                </c:pt>
                <c:pt idx="6">
                  <c:v>2139.665182</c:v>
                </c:pt>
                <c:pt idx="7">
                  <c:v>2138.403481</c:v>
                </c:pt>
                <c:pt idx="8">
                  <c:v>2134.239801</c:v>
                </c:pt>
                <c:pt idx="9">
                  <c:v>2510.685256</c:v>
                </c:pt>
                <c:pt idx="10">
                  <c:v>2510.345465</c:v>
                </c:pt>
                <c:pt idx="11">
                  <c:v>2508.705664</c:v>
                </c:pt>
                <c:pt idx="12">
                  <c:v>2762.470293</c:v>
                </c:pt>
                <c:pt idx="13">
                  <c:v>2756.506916</c:v>
                </c:pt>
                <c:pt idx="14">
                  <c:v>2751.930513</c:v>
                </c:pt>
                <c:pt idx="15">
                  <c:v>2960.751852</c:v>
                </c:pt>
                <c:pt idx="16">
                  <c:v>2959.500444</c:v>
                </c:pt>
                <c:pt idx="17">
                  <c:v>2952.288296</c:v>
                </c:pt>
                <c:pt idx="18">
                  <c:v>3192.854005</c:v>
                </c:pt>
                <c:pt idx="19">
                  <c:v>3200.049124</c:v>
                </c:pt>
                <c:pt idx="20">
                  <c:v>3186.431038</c:v>
                </c:pt>
                <c:pt idx="21">
                  <c:v>3382.66727</c:v>
                </c:pt>
                <c:pt idx="22">
                  <c:v>3376.044949</c:v>
                </c:pt>
                <c:pt idx="23">
                  <c:v>3375.208001</c:v>
                </c:pt>
              </c:numCache>
            </c:numRef>
          </c:yVal>
        </c:ser>
        <c:ser>
          <c:idx val="2"/>
          <c:order val="2"/>
          <c:tx>
            <c:v>Exact batch matches mean</c:v>
          </c:tx>
          <c:spPr>
            <a:solidFill xmlns:a="http://schemas.openxmlformats.org/drawingml/2006/main">
              <a:srgbClr val="3D8DFF"/>
            </a:solidFill>
            <a:ln xmlns:a="http://schemas.openxmlformats.org/drawingml/2006/main" w="19050">
              <a:solidFill>
                <a:srgbClr val="3D8DFF"/>
              </a:solidFill>
            </a:ln>
          </c:spPr>
          <c:marker>
            <c:symbol val="none"/>
            <c:size val="2"/>
          </c:marker>
          <c:xVal>
            <c:numRef>
              <c:f>'Chart Data'!$E$2:$E$9</c:f>
              <c:numCache>
                <c:formatCode>General</c:formatCode>
                <c:ptCount val="8"/>
                <c:pt idx="0">
                  <c:v>24</c:v>
                </c:pt>
                <c:pt idx="1">
                  <c:v>31</c:v>
                </c:pt>
                <c:pt idx="2">
                  <c:v>48</c:v>
                </c:pt>
                <c:pt idx="3">
                  <c:v>63</c:v>
                </c:pt>
                <c:pt idx="4">
                  <c:v>80</c:v>
                </c:pt>
                <c:pt idx="5">
                  <c:v>95</c:v>
                </c:pt>
                <c:pt idx="6">
                  <c:v>112</c:v>
                </c:pt>
                <c:pt idx="7">
                  <c:v>127</c:v>
                </c:pt>
              </c:numCache>
            </c:numRef>
          </c:xVal>
          <c:yVal>
            <c:numRef>
              <c:f>'Chart Data'!$F$2:$F$9</c:f>
              <c:numCache>
                <c:formatCode>0.000000</c:formatCode>
                <c:ptCount val="8"/>
                <c:pt idx="0">
                  <c:v>1321.170765</c:v>
                </c:pt>
                <c:pt idx="1">
                  <c:v>1590.053502</c:v>
                </c:pt>
                <c:pt idx="2">
                  <c:v>2135.403175</c:v>
                </c:pt>
                <c:pt idx="3">
                  <c:v>2511.327119</c:v>
                </c:pt>
                <c:pt idx="4">
                  <c:v>2754.923832</c:v>
                </c:pt>
                <c:pt idx="5">
                  <c:v>2958.690167</c:v>
                </c:pt>
                <c:pt idx="6">
                  <c:v>3190.404815</c:v>
                </c:pt>
                <c:pt idx="7">
                  <c:v>3376.199171</c:v>
                </c:pt>
              </c:numCache>
            </c:numRef>
          </c:yVal>
        </c:ser>
        <c:ser>
          <c:idx val="3"/>
          <c:order val="3"/>
          <c:tx>
            <c:v>Exact batch matches all measured repetitions</c:v>
          </c:tx>
          <c:spPr>
            <a:solidFill xmlns:a="http://schemas.openxmlformats.org/drawingml/2006/main">
              <a:srgbClr val="3D8DFF"/>
            </a:solidFill>
            <a:ln xmlns:a="http://schemas.openxmlformats.org/drawingml/2006/main" w="0">
              <a:solidFill>
                <a:srgbClr val="3D8DFF"/>
              </a:solidFill>
            </a:ln>
          </c:spPr>
          <c:marker>
            <c:symbol val="diamond"/>
            <c:size val="4"/>
            <c:spPr>
              <a:solidFill xmlns:a="http://schemas.openxmlformats.org/drawingml/2006/main">
                <a:srgbClr val="3D8DFF"/>
              </a:solidFill>
            </c:spPr>
          </c:marker>
          <c:xVal>
            <c:numRef>
              <c:f>'Chart Data'!$G$2:$G$25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Data'!$H$2:$H$25</c:f>
              <c:numCache>
                <c:formatCode>0.000000</c:formatCode>
                <c:ptCount val="24"/>
                <c:pt idx="0">
                  <c:v>1323.236409</c:v>
                </c:pt>
                <c:pt idx="1">
                  <c:v>1318.602869</c:v>
                </c:pt>
                <c:pt idx="2">
                  <c:v>1321.673017</c:v>
                </c:pt>
                <c:pt idx="3">
                  <c:v>1591.798092</c:v>
                </c:pt>
                <c:pt idx="4">
                  <c:v>1589.409134</c:v>
                </c:pt>
                <c:pt idx="5">
                  <c:v>1588.95328</c:v>
                </c:pt>
                <c:pt idx="6">
                  <c:v>2138.616564</c:v>
                </c:pt>
                <c:pt idx="7">
                  <c:v>2134.832101</c:v>
                </c:pt>
                <c:pt idx="8">
                  <c:v>2132.760859</c:v>
                </c:pt>
                <c:pt idx="9">
                  <c:v>2515.032032</c:v>
                </c:pt>
                <c:pt idx="10">
                  <c:v>2510.231579</c:v>
                </c:pt>
                <c:pt idx="11">
                  <c:v>2508.717745</c:v>
                </c:pt>
                <c:pt idx="12">
                  <c:v>2760.347553</c:v>
                </c:pt>
                <c:pt idx="13">
                  <c:v>2753.84543</c:v>
                </c:pt>
                <c:pt idx="14">
                  <c:v>2750.578511</c:v>
                </c:pt>
                <c:pt idx="15">
                  <c:v>2959.08614</c:v>
                </c:pt>
                <c:pt idx="16">
                  <c:v>2958.524294</c:v>
                </c:pt>
                <c:pt idx="17">
                  <c:v>2958.460066</c:v>
                </c:pt>
                <c:pt idx="18">
                  <c:v>3191.561261</c:v>
                </c:pt>
                <c:pt idx="19">
                  <c:v>3188.996005</c:v>
                </c:pt>
                <c:pt idx="20">
                  <c:v>3190.657179</c:v>
                </c:pt>
                <c:pt idx="21">
                  <c:v>3383.558852</c:v>
                </c:pt>
                <c:pt idx="22">
                  <c:v>3374.013824</c:v>
                </c:pt>
                <c:pt idx="23">
                  <c:v>3371.024837</c:v>
                </c:pt>
              </c:numCache>
            </c:numRef>
          </c:yVal>
        </c:ser>
        <c:ser>
          <c:idx val="4"/>
          <c:order val="4"/>
          <c:tx>
            <c:v>Coarse capture grid mean</c:v>
          </c:tx>
          <c:spPr>
            <a:solidFill xmlns:a="http://schemas.openxmlformats.org/drawingml/2006/main">
              <a:srgbClr val="909AA8"/>
            </a:solidFill>
            <a:ln xmlns:a="http://schemas.openxmlformats.org/drawingml/2006/main" w="19050">
              <a:solidFill>
                <a:srgbClr val="909AA8"/>
              </a:solidFill>
            </a:ln>
          </c:spPr>
          <c:marker>
            <c:symbol val="none"/>
            <c:size val="2"/>
          </c:marker>
          <c:xVal>
            <c:numRef>
              <c:f>'Chart Data'!$I$2:$I$9</c:f>
              <c:numCache>
                <c:formatCode>General</c:formatCode>
                <c:ptCount val="8"/>
                <c:pt idx="0">
                  <c:v>24</c:v>
                </c:pt>
                <c:pt idx="1">
                  <c:v>31</c:v>
                </c:pt>
                <c:pt idx="2">
                  <c:v>48</c:v>
                </c:pt>
                <c:pt idx="3">
                  <c:v>63</c:v>
                </c:pt>
                <c:pt idx="4">
                  <c:v>80</c:v>
                </c:pt>
                <c:pt idx="5">
                  <c:v>95</c:v>
                </c:pt>
                <c:pt idx="6">
                  <c:v>112</c:v>
                </c:pt>
                <c:pt idx="7">
                  <c:v>127</c:v>
                </c:pt>
              </c:numCache>
            </c:numRef>
          </c:xVal>
          <c:yVal>
            <c:numRef>
              <c:f>'Chart Data'!$J$2:$J$9</c:f>
              <c:numCache>
                <c:formatCode>0.000000</c:formatCode>
                <c:ptCount val="8"/>
                <c:pt idx="0">
                  <c:v>1306.347245</c:v>
                </c:pt>
                <c:pt idx="1">
                  <c:v>1587.908435</c:v>
                </c:pt>
                <c:pt idx="2">
                  <c:v>2124.102188</c:v>
                </c:pt>
                <c:pt idx="3">
                  <c:v>2511.272852</c:v>
                </c:pt>
                <c:pt idx="4">
                  <c:v>2675.412627</c:v>
                </c:pt>
                <c:pt idx="5">
                  <c:v>2934.041232</c:v>
                </c:pt>
                <c:pt idx="6">
                  <c:v>3174.819922</c:v>
                </c:pt>
                <c:pt idx="7">
                  <c:v>3379.578496</c:v>
                </c:pt>
              </c:numCache>
            </c:numRef>
          </c:yVal>
        </c:ser>
        <c:ser>
          <c:idx val="5"/>
          <c:order val="5"/>
          <c:tx>
            <c:v>Coarse capture grid all measured repetitions</c:v>
          </c:tx>
          <c:spPr>
            <a:solidFill xmlns:a="http://schemas.openxmlformats.org/drawingml/2006/main">
              <a:srgbClr val="909AA8"/>
            </a:solidFill>
            <a:ln xmlns:a="http://schemas.openxmlformats.org/drawingml/2006/main" w="0">
              <a:solidFill>
                <a:srgbClr val="909AA8"/>
              </a:solidFill>
            </a:ln>
          </c:spPr>
          <c:marker>
            <c:symbol val="triangle"/>
            <c:size val="4"/>
            <c:spPr>
              <a:solidFill xmlns:a="http://schemas.openxmlformats.org/drawingml/2006/main">
                <a:srgbClr val="909AA8"/>
              </a:solidFill>
            </c:spPr>
          </c:marker>
          <c:xVal>
            <c:numRef>
              <c:f>'Chart Data'!$K$2:$K$25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Data'!$L$2:$L$25</c:f>
              <c:numCache>
                <c:formatCode>0.000000</c:formatCode>
                <c:ptCount val="24"/>
                <c:pt idx="0">
                  <c:v>1307.394277</c:v>
                </c:pt>
                <c:pt idx="1">
                  <c:v>1306.772505</c:v>
                </c:pt>
                <c:pt idx="2">
                  <c:v>1304.874951</c:v>
                </c:pt>
                <c:pt idx="3">
                  <c:v>1589.063091</c:v>
                </c:pt>
                <c:pt idx="4">
                  <c:v>1589.246658</c:v>
                </c:pt>
                <c:pt idx="5">
                  <c:v>1585.415556</c:v>
                </c:pt>
                <c:pt idx="6">
                  <c:v>2123.949014</c:v>
                </c:pt>
                <c:pt idx="7">
                  <c:v>2125.635926</c:v>
                </c:pt>
                <c:pt idx="8">
                  <c:v>2122.721625</c:v>
                </c:pt>
                <c:pt idx="9">
                  <c:v>2513.501603</c:v>
                </c:pt>
                <c:pt idx="10">
                  <c:v>2511.165799</c:v>
                </c:pt>
                <c:pt idx="11">
                  <c:v>2509.151155</c:v>
                </c:pt>
                <c:pt idx="12">
                  <c:v>2676.760449</c:v>
                </c:pt>
                <c:pt idx="13">
                  <c:v>2675.271505</c:v>
                </c:pt>
                <c:pt idx="14">
                  <c:v>2674.205927</c:v>
                </c:pt>
                <c:pt idx="15">
                  <c:v>2935.424049</c:v>
                </c:pt>
                <c:pt idx="16">
                  <c:v>2934.508755</c:v>
                </c:pt>
                <c:pt idx="17">
                  <c:v>2932.190893</c:v>
                </c:pt>
                <c:pt idx="18">
                  <c:v>3173.665127</c:v>
                </c:pt>
                <c:pt idx="19">
                  <c:v>3180.366305</c:v>
                </c:pt>
                <c:pt idx="20">
                  <c:v>3170.428334</c:v>
                </c:pt>
                <c:pt idx="21">
                  <c:v>3385.953085</c:v>
                </c:pt>
                <c:pt idx="22">
                  <c:v>3377.426204</c:v>
                </c:pt>
                <c:pt idx="23">
                  <c:v>3375.3562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000"/>
      </c:valAx>
      <c:valAx>
        <c:axId val="48650112"/>
        <c:scaling>
          <c:orientation val="minMax"/>
          <c:max val="130"/>
          <c:min val="2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20"/>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vLLM default captures mean</c:v>
          </c:tx>
          <c:spPr>
            <a:solidFill xmlns:a="http://schemas.openxmlformats.org/drawingml/2006/main">
              <a:srgbClr val="222222"/>
            </a:solidFill>
            <a:ln xmlns:a="http://schemas.openxmlformats.org/drawingml/2006/main" w="19050">
              <a:solidFill>
                <a:srgbClr val="222222"/>
              </a:solidFill>
            </a:ln>
          </c:spPr>
          <c:marker>
            <c:symbol val="none"/>
            <c:size val="2"/>
          </c:marker>
          <c:xVal>
            <c:numRef>
              <c:f>'Chart Data'!$A$2:$A$9</c:f>
              <c:numCache>
                <c:formatCode>General</c:formatCode>
                <c:ptCount val="8"/>
                <c:pt idx="0">
                  <c:v>24</c:v>
                </c:pt>
                <c:pt idx="1">
                  <c:v>31</c:v>
                </c:pt>
                <c:pt idx="2">
                  <c:v>48</c:v>
                </c:pt>
                <c:pt idx="3">
                  <c:v>63</c:v>
                </c:pt>
                <c:pt idx="4">
                  <c:v>80</c:v>
                </c:pt>
                <c:pt idx="5">
                  <c:v>95</c:v>
                </c:pt>
                <c:pt idx="6">
                  <c:v>112</c:v>
                </c:pt>
                <c:pt idx="7">
                  <c:v>127</c:v>
                </c:pt>
              </c:numCache>
            </c:numRef>
          </c:xVal>
          <c:yVal>
            <c:numRef>
              <c:f>'Chart Data'!$B$2:$B$9</c:f>
              <c:numCache>
                <c:formatCode>0.000000</c:formatCode>
                <c:ptCount val="8"/>
                <c:pt idx="0">
                  <c:v>1967.004321</c:v>
                </c:pt>
                <c:pt idx="1">
                  <c:v>2436.258479</c:v>
                </c:pt>
                <c:pt idx="2">
                  <c:v>3344.837721</c:v>
                </c:pt>
                <c:pt idx="3">
                  <c:v>3983.462435</c:v>
                </c:pt>
                <c:pt idx="4">
                  <c:v>4775.490641</c:v>
                </c:pt>
                <c:pt idx="5">
                  <c:v>5317.520088</c:v>
                </c:pt>
                <c:pt idx="6">
                  <c:v>5674.003347</c:v>
                </c:pt>
                <c:pt idx="7">
                  <c:v>6075.754284</c:v>
                </c:pt>
              </c:numCache>
            </c:numRef>
          </c:yVal>
        </c:ser>
        <c:ser>
          <c:idx val="1"/>
          <c:order val="1"/>
          <c:tx>
            <c:v>vLLM default captures all measured repetitions</c:v>
          </c:tx>
          <c:spPr>
            <a:solidFill xmlns:a="http://schemas.openxmlformats.org/drawingml/2006/main">
              <a:srgbClr val="222222"/>
            </a:solidFill>
            <a:ln xmlns:a="http://schemas.openxmlformats.org/drawingml/2006/main" w="0">
              <a:solidFill>
                <a:srgbClr val="222222"/>
              </a:solidFill>
            </a:ln>
          </c:spPr>
          <c:marker>
            <c:symbol val="circle"/>
            <c:size val="4"/>
            <c:spPr>
              <a:solidFill xmlns:a="http://schemas.openxmlformats.org/drawingml/2006/main">
                <a:srgbClr val="222222"/>
              </a:solidFill>
            </c:spPr>
          </c:marker>
          <c:xVal>
            <c:numRef>
              <c:f>'Chart Data'!$C$2:$C$25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Data'!$D$2:$D$25</c:f>
              <c:numCache>
                <c:formatCode>0.000000</c:formatCode>
                <c:ptCount val="24"/>
                <c:pt idx="0">
                  <c:v>1966.68284</c:v>
                </c:pt>
                <c:pt idx="1">
                  <c:v>1966.504381</c:v>
                </c:pt>
                <c:pt idx="2">
                  <c:v>1967.825743</c:v>
                </c:pt>
                <c:pt idx="3">
                  <c:v>2432.673321</c:v>
                </c:pt>
                <c:pt idx="4">
                  <c:v>2437.023283</c:v>
                </c:pt>
                <c:pt idx="5">
                  <c:v>2439.078834</c:v>
                </c:pt>
                <c:pt idx="6">
                  <c:v>3344.732114</c:v>
                </c:pt>
                <c:pt idx="7">
                  <c:v>3348.275115</c:v>
                </c:pt>
                <c:pt idx="8">
                  <c:v>3341.505933</c:v>
                </c:pt>
                <c:pt idx="9">
                  <c:v>3992.864306</c:v>
                </c:pt>
                <c:pt idx="10">
                  <c:v>3976.839528</c:v>
                </c:pt>
                <c:pt idx="11">
                  <c:v>3980.683473</c:v>
                </c:pt>
                <c:pt idx="12">
                  <c:v>4779.850473</c:v>
                </c:pt>
                <c:pt idx="13">
                  <c:v>4771.240551</c:v>
                </c:pt>
                <c:pt idx="14">
                  <c:v>4775.380898</c:v>
                </c:pt>
                <c:pt idx="15">
                  <c:v>5311.905001</c:v>
                </c:pt>
                <c:pt idx="16">
                  <c:v>5329.292162</c:v>
                </c:pt>
                <c:pt idx="17">
                  <c:v>5311.363101</c:v>
                </c:pt>
                <c:pt idx="18">
                  <c:v>5681.137315</c:v>
                </c:pt>
                <c:pt idx="19">
                  <c:v>5676.054415</c:v>
                </c:pt>
                <c:pt idx="20">
                  <c:v>5664.818309</c:v>
                </c:pt>
                <c:pt idx="21">
                  <c:v>6092.749581</c:v>
                </c:pt>
                <c:pt idx="22">
                  <c:v>6064.900474</c:v>
                </c:pt>
                <c:pt idx="23">
                  <c:v>6069.612798</c:v>
                </c:pt>
              </c:numCache>
            </c:numRef>
          </c:yVal>
        </c:ser>
        <c:ser>
          <c:idx val="2"/>
          <c:order val="2"/>
          <c:tx>
            <c:v>Exact batch matches mean</c:v>
          </c:tx>
          <c:spPr>
            <a:solidFill xmlns:a="http://schemas.openxmlformats.org/drawingml/2006/main">
              <a:srgbClr val="3D8DFF"/>
            </a:solidFill>
            <a:ln xmlns:a="http://schemas.openxmlformats.org/drawingml/2006/main" w="19050">
              <a:solidFill>
                <a:srgbClr val="3D8DFF"/>
              </a:solidFill>
            </a:ln>
          </c:spPr>
          <c:marker>
            <c:symbol val="none"/>
            <c:size val="2"/>
          </c:marker>
          <c:xVal>
            <c:numRef>
              <c:f>'Chart Data'!$E$2:$E$9</c:f>
              <c:numCache>
                <c:formatCode>General</c:formatCode>
                <c:ptCount val="8"/>
                <c:pt idx="0">
                  <c:v>24</c:v>
                </c:pt>
                <c:pt idx="1">
                  <c:v>31</c:v>
                </c:pt>
                <c:pt idx="2">
                  <c:v>48</c:v>
                </c:pt>
                <c:pt idx="3">
                  <c:v>63</c:v>
                </c:pt>
                <c:pt idx="4">
                  <c:v>80</c:v>
                </c:pt>
                <c:pt idx="5">
                  <c:v>95</c:v>
                </c:pt>
                <c:pt idx="6">
                  <c:v>112</c:v>
                </c:pt>
                <c:pt idx="7">
                  <c:v>127</c:v>
                </c:pt>
              </c:numCache>
            </c:numRef>
          </c:xVal>
          <c:yVal>
            <c:numRef>
              <c:f>'Chart Data'!$F$2:$F$9</c:f>
              <c:numCache>
                <c:formatCode>0.000000</c:formatCode>
                <c:ptCount val="8"/>
                <c:pt idx="0">
                  <c:v>1972.48731</c:v>
                </c:pt>
                <c:pt idx="1">
                  <c:v>2443.823385</c:v>
                </c:pt>
                <c:pt idx="2">
                  <c:v>3351.299354</c:v>
                </c:pt>
                <c:pt idx="3">
                  <c:v>3986.617807</c:v>
                </c:pt>
                <c:pt idx="4">
                  <c:v>4783.261346</c:v>
                </c:pt>
                <c:pt idx="5">
                  <c:v>5327.221157</c:v>
                </c:pt>
                <c:pt idx="6">
                  <c:v>5685.588463</c:v>
                </c:pt>
                <c:pt idx="7">
                  <c:v>6093.866958</c:v>
                </c:pt>
              </c:numCache>
            </c:numRef>
          </c:yVal>
        </c:ser>
        <c:ser>
          <c:idx val="3"/>
          <c:order val="3"/>
          <c:tx>
            <c:v>Exact batch matches all measured repetitions</c:v>
          </c:tx>
          <c:spPr>
            <a:solidFill xmlns:a="http://schemas.openxmlformats.org/drawingml/2006/main">
              <a:srgbClr val="3D8DFF"/>
            </a:solidFill>
            <a:ln xmlns:a="http://schemas.openxmlformats.org/drawingml/2006/main" w="0">
              <a:solidFill>
                <a:srgbClr val="3D8DFF"/>
              </a:solidFill>
            </a:ln>
          </c:spPr>
          <c:marker>
            <c:symbol val="diamond"/>
            <c:size val="4"/>
            <c:spPr>
              <a:solidFill xmlns:a="http://schemas.openxmlformats.org/drawingml/2006/main">
                <a:srgbClr val="3D8DFF"/>
              </a:solidFill>
            </c:spPr>
          </c:marker>
          <c:xVal>
            <c:numRef>
              <c:f>'Chart Data'!$G$2:$G$25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Data'!$H$2:$H$25</c:f>
              <c:numCache>
                <c:formatCode>0.000000</c:formatCode>
                <c:ptCount val="24"/>
                <c:pt idx="0">
                  <c:v>1971.774553</c:v>
                </c:pt>
                <c:pt idx="1">
                  <c:v>1973.066101</c:v>
                </c:pt>
                <c:pt idx="2">
                  <c:v>1972.621276</c:v>
                </c:pt>
                <c:pt idx="3">
                  <c:v>2440.446039</c:v>
                </c:pt>
                <c:pt idx="4">
                  <c:v>2444.793745</c:v>
                </c:pt>
                <c:pt idx="5">
                  <c:v>2446.230372</c:v>
                </c:pt>
                <c:pt idx="6">
                  <c:v>3357.33263</c:v>
                </c:pt>
                <c:pt idx="7">
                  <c:v>3352.598404</c:v>
                </c:pt>
                <c:pt idx="8">
                  <c:v>3343.967029</c:v>
                </c:pt>
                <c:pt idx="9">
                  <c:v>3985.526612</c:v>
                </c:pt>
                <c:pt idx="10">
                  <c:v>3990.341389</c:v>
                </c:pt>
                <c:pt idx="11">
                  <c:v>3983.98542</c:v>
                </c:pt>
                <c:pt idx="12">
                  <c:v>4799.329675</c:v>
                </c:pt>
                <c:pt idx="13">
                  <c:v>4780.965889</c:v>
                </c:pt>
                <c:pt idx="14">
                  <c:v>4769.488475</c:v>
                </c:pt>
                <c:pt idx="15">
                  <c:v>5327.975643</c:v>
                </c:pt>
                <c:pt idx="16">
                  <c:v>5341.367638</c:v>
                </c:pt>
                <c:pt idx="17">
                  <c:v>5312.32019</c:v>
                </c:pt>
                <c:pt idx="18">
                  <c:v>5685.404555</c:v>
                </c:pt>
                <c:pt idx="19">
                  <c:v>5697.342375</c:v>
                </c:pt>
                <c:pt idx="20">
                  <c:v>5674.018459</c:v>
                </c:pt>
                <c:pt idx="21">
                  <c:v>6113.753747</c:v>
                </c:pt>
                <c:pt idx="22">
                  <c:v>6088.549788</c:v>
                </c:pt>
                <c:pt idx="23">
                  <c:v>6079.297341</c:v>
                </c:pt>
              </c:numCache>
            </c:numRef>
          </c:yVal>
        </c:ser>
        <c:ser>
          <c:idx val="4"/>
          <c:order val="4"/>
          <c:tx>
            <c:v>Coarse capture grid mean</c:v>
          </c:tx>
          <c:spPr>
            <a:solidFill xmlns:a="http://schemas.openxmlformats.org/drawingml/2006/main">
              <a:srgbClr val="909AA8"/>
            </a:solidFill>
            <a:ln xmlns:a="http://schemas.openxmlformats.org/drawingml/2006/main" w="19050">
              <a:solidFill>
                <a:srgbClr val="909AA8"/>
              </a:solidFill>
            </a:ln>
          </c:spPr>
          <c:marker>
            <c:symbol val="none"/>
            <c:size val="2"/>
          </c:marker>
          <c:xVal>
            <c:numRef>
              <c:f>'Chart Data'!$I$2:$I$9</c:f>
              <c:numCache>
                <c:formatCode>General</c:formatCode>
                <c:ptCount val="8"/>
                <c:pt idx="0">
                  <c:v>24</c:v>
                </c:pt>
                <c:pt idx="1">
                  <c:v>31</c:v>
                </c:pt>
                <c:pt idx="2">
                  <c:v>48</c:v>
                </c:pt>
                <c:pt idx="3">
                  <c:v>63</c:v>
                </c:pt>
                <c:pt idx="4">
                  <c:v>80</c:v>
                </c:pt>
                <c:pt idx="5">
                  <c:v>95</c:v>
                </c:pt>
                <c:pt idx="6">
                  <c:v>112</c:v>
                </c:pt>
                <c:pt idx="7">
                  <c:v>127</c:v>
                </c:pt>
              </c:numCache>
            </c:numRef>
          </c:xVal>
          <c:yVal>
            <c:numRef>
              <c:f>'Chart Data'!$J$2:$J$9</c:f>
              <c:numCache>
                <c:formatCode>0.000000</c:formatCode>
                <c:ptCount val="8"/>
                <c:pt idx="0">
                  <c:v>1964.726974</c:v>
                </c:pt>
                <c:pt idx="1">
                  <c:v>2439.417597</c:v>
                </c:pt>
                <c:pt idx="2">
                  <c:v>3294.988753</c:v>
                </c:pt>
                <c:pt idx="3">
                  <c:v>3989.242286</c:v>
                </c:pt>
                <c:pt idx="4">
                  <c:v>4595.886111</c:v>
                </c:pt>
                <c:pt idx="5">
                  <c:v>5183.731848</c:v>
                </c:pt>
                <c:pt idx="6">
                  <c:v>5614.946929</c:v>
                </c:pt>
                <c:pt idx="7">
                  <c:v>6079.909263</c:v>
                </c:pt>
              </c:numCache>
            </c:numRef>
          </c:yVal>
        </c:ser>
        <c:ser>
          <c:idx val="5"/>
          <c:order val="5"/>
          <c:tx>
            <c:v>Coarse capture grid all measured repetitions</c:v>
          </c:tx>
          <c:spPr>
            <a:solidFill xmlns:a="http://schemas.openxmlformats.org/drawingml/2006/main">
              <a:srgbClr val="909AA8"/>
            </a:solidFill>
            <a:ln xmlns:a="http://schemas.openxmlformats.org/drawingml/2006/main" w="0">
              <a:solidFill>
                <a:srgbClr val="909AA8"/>
              </a:solidFill>
            </a:ln>
          </c:spPr>
          <c:marker>
            <c:symbol val="triangle"/>
            <c:size val="4"/>
            <c:spPr>
              <a:solidFill xmlns:a="http://schemas.openxmlformats.org/drawingml/2006/main">
                <a:srgbClr val="909AA8"/>
              </a:solidFill>
            </c:spPr>
          </c:marker>
          <c:xVal>
            <c:numRef>
              <c:f>'Chart Data'!$K$2:$K$25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Data'!$L$2:$L$25</c:f>
              <c:numCache>
                <c:formatCode>0.000000</c:formatCode>
                <c:ptCount val="24"/>
                <c:pt idx="0">
                  <c:v>1964.017234</c:v>
                </c:pt>
                <c:pt idx="1">
                  <c:v>1963.287749</c:v>
                </c:pt>
                <c:pt idx="2">
                  <c:v>1966.875941</c:v>
                </c:pt>
                <c:pt idx="3">
                  <c:v>2437.867433</c:v>
                </c:pt>
                <c:pt idx="4">
                  <c:v>2438.890673</c:v>
                </c:pt>
                <c:pt idx="5">
                  <c:v>2441.494684</c:v>
                </c:pt>
                <c:pt idx="6">
                  <c:v>3299.283734</c:v>
                </c:pt>
                <c:pt idx="7">
                  <c:v>3295.18601</c:v>
                </c:pt>
                <c:pt idx="8">
                  <c:v>3290.496515</c:v>
                </c:pt>
                <c:pt idx="9">
                  <c:v>3989.683592</c:v>
                </c:pt>
                <c:pt idx="10">
                  <c:v>3988.159579</c:v>
                </c:pt>
                <c:pt idx="11">
                  <c:v>3989.883688</c:v>
                </c:pt>
                <c:pt idx="12">
                  <c:v>4600.379203</c:v>
                </c:pt>
                <c:pt idx="13">
                  <c:v>4600.647439</c:v>
                </c:pt>
                <c:pt idx="14">
                  <c:v>4586.631691</c:v>
                </c:pt>
                <c:pt idx="15">
                  <c:v>5181.531182</c:v>
                </c:pt>
                <c:pt idx="16">
                  <c:v>5190.854356</c:v>
                </c:pt>
                <c:pt idx="17">
                  <c:v>5178.810006</c:v>
                </c:pt>
                <c:pt idx="18">
                  <c:v>5627.299321</c:v>
                </c:pt>
                <c:pt idx="19">
                  <c:v>5608.31202</c:v>
                </c:pt>
                <c:pt idx="20">
                  <c:v>5609.229446</c:v>
                </c:pt>
                <c:pt idx="21">
                  <c:v>6098.484973</c:v>
                </c:pt>
                <c:pt idx="22">
                  <c:v>6076.067467</c:v>
                </c:pt>
                <c:pt idx="23">
                  <c:v>6065.17535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8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2000"/>
      </c:valAx>
      <c:valAx>
        <c:axId val="48650112"/>
        <c:scaling>
          <c:orientation val="minMax"/>
          <c:max val="130"/>
          <c:min val="2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20"/>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vLLM default captures mean</c:v>
          </c:tx>
          <c:spPr>
            <a:solidFill xmlns:a="http://schemas.openxmlformats.org/drawingml/2006/main">
              <a:srgbClr val="222222"/>
            </a:solidFill>
            <a:ln xmlns:a="http://schemas.openxmlformats.org/drawingml/2006/main" w="19050">
              <a:solidFill>
                <a:srgbClr val="222222"/>
              </a:solidFill>
            </a:ln>
          </c:spPr>
          <c:marker>
            <c:symbol val="none"/>
            <c:size val="2"/>
          </c:marker>
          <c:xVal>
            <c:numRef>
              <c:f>'Chart Data'!$A$2:$A$9</c:f>
              <c:numCache>
                <c:formatCode>General</c:formatCode>
                <c:ptCount val="8"/>
                <c:pt idx="0">
                  <c:v>24</c:v>
                </c:pt>
                <c:pt idx="1">
                  <c:v>31</c:v>
                </c:pt>
                <c:pt idx="2">
                  <c:v>48</c:v>
                </c:pt>
                <c:pt idx="3">
                  <c:v>63</c:v>
                </c:pt>
                <c:pt idx="4">
                  <c:v>80</c:v>
                </c:pt>
                <c:pt idx="5">
                  <c:v>95</c:v>
                </c:pt>
                <c:pt idx="6">
                  <c:v>112</c:v>
                </c:pt>
                <c:pt idx="7">
                  <c:v>127</c:v>
                </c:pt>
              </c:numCache>
            </c:numRef>
          </c:xVal>
          <c:yVal>
            <c:numRef>
              <c:f>'Chart Data'!$B$2:$B$9</c:f>
              <c:numCache>
                <c:formatCode>0.000000</c:formatCode>
                <c:ptCount val="8"/>
                <c:pt idx="0">
                  <c:v>5040.818198</c:v>
                </c:pt>
                <c:pt idx="1">
                  <c:v>6239.597221</c:v>
                </c:pt>
                <c:pt idx="2">
                  <c:v>9017.996025</c:v>
                </c:pt>
                <c:pt idx="3">
                  <c:v>10743.351354</c:v>
                </c:pt>
                <c:pt idx="4">
                  <c:v>12088.661067</c:v>
                </c:pt>
                <c:pt idx="5">
                  <c:v>14153.666311</c:v>
                </c:pt>
                <c:pt idx="6">
                  <c:v>15279.372457</c:v>
                </c:pt>
                <c:pt idx="7">
                  <c:v>16453.324265</c:v>
                </c:pt>
              </c:numCache>
            </c:numRef>
          </c:yVal>
        </c:ser>
        <c:ser>
          <c:idx val="1"/>
          <c:order val="1"/>
          <c:tx>
            <c:v>vLLM default captures all measured repetitions</c:v>
          </c:tx>
          <c:spPr>
            <a:solidFill xmlns:a="http://schemas.openxmlformats.org/drawingml/2006/main">
              <a:srgbClr val="222222"/>
            </a:solidFill>
            <a:ln xmlns:a="http://schemas.openxmlformats.org/drawingml/2006/main" w="0">
              <a:solidFill>
                <a:srgbClr val="222222"/>
              </a:solidFill>
            </a:ln>
          </c:spPr>
          <c:marker>
            <c:symbol val="circle"/>
            <c:size val="4"/>
            <c:spPr>
              <a:solidFill xmlns:a="http://schemas.openxmlformats.org/drawingml/2006/main">
                <a:srgbClr val="222222"/>
              </a:solidFill>
            </c:spPr>
          </c:marker>
          <c:xVal>
            <c:numRef>
              <c:f>'Chart Data'!$C$2:$C$25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Data'!$D$2:$D$25</c:f>
              <c:numCache>
                <c:formatCode>0.000000</c:formatCode>
                <c:ptCount val="24"/>
                <c:pt idx="0">
                  <c:v>5042.917462</c:v>
                </c:pt>
                <c:pt idx="1">
                  <c:v>5034.09264</c:v>
                </c:pt>
                <c:pt idx="2">
                  <c:v>5045.444492</c:v>
                </c:pt>
                <c:pt idx="3">
                  <c:v>6238.669838</c:v>
                </c:pt>
                <c:pt idx="4">
                  <c:v>6240.879967</c:v>
                </c:pt>
                <c:pt idx="5">
                  <c:v>6239.241858</c:v>
                </c:pt>
                <c:pt idx="6">
                  <c:v>9031.840782</c:v>
                </c:pt>
                <c:pt idx="7">
                  <c:v>9007.585171</c:v>
                </c:pt>
                <c:pt idx="8">
                  <c:v>9014.562122</c:v>
                </c:pt>
                <c:pt idx="9">
                  <c:v>10727.414553</c:v>
                </c:pt>
                <c:pt idx="10">
                  <c:v>10771.802923</c:v>
                </c:pt>
                <c:pt idx="11">
                  <c:v>10730.836587</c:v>
                </c:pt>
                <c:pt idx="12">
                  <c:v>12106.222517</c:v>
                </c:pt>
                <c:pt idx="13">
                  <c:v>12103.775865</c:v>
                </c:pt>
                <c:pt idx="14">
                  <c:v>12055.98482</c:v>
                </c:pt>
                <c:pt idx="15">
                  <c:v>14157.51458</c:v>
                </c:pt>
                <c:pt idx="16">
                  <c:v>14148.847079</c:v>
                </c:pt>
                <c:pt idx="17">
                  <c:v>14154.637275</c:v>
                </c:pt>
                <c:pt idx="18">
                  <c:v>15269.042055</c:v>
                </c:pt>
                <c:pt idx="19">
                  <c:v>15278.784684</c:v>
                </c:pt>
                <c:pt idx="20">
                  <c:v>15290.290631</c:v>
                </c:pt>
                <c:pt idx="21">
                  <c:v>16440.287185</c:v>
                </c:pt>
                <c:pt idx="22">
                  <c:v>16499.48739</c:v>
                </c:pt>
                <c:pt idx="23">
                  <c:v>16420.19822</c:v>
                </c:pt>
              </c:numCache>
            </c:numRef>
          </c:yVal>
        </c:ser>
        <c:ser>
          <c:idx val="2"/>
          <c:order val="2"/>
          <c:tx>
            <c:v>Exact batch matches mean</c:v>
          </c:tx>
          <c:spPr>
            <a:solidFill xmlns:a="http://schemas.openxmlformats.org/drawingml/2006/main">
              <a:srgbClr val="3D8DFF"/>
            </a:solidFill>
            <a:ln xmlns:a="http://schemas.openxmlformats.org/drawingml/2006/main" w="19050">
              <a:solidFill>
                <a:srgbClr val="3D8DFF"/>
              </a:solidFill>
            </a:ln>
          </c:spPr>
          <c:marker>
            <c:symbol val="none"/>
            <c:size val="2"/>
          </c:marker>
          <c:xVal>
            <c:numRef>
              <c:f>'Chart Data'!$E$2:$E$9</c:f>
              <c:numCache>
                <c:formatCode>General</c:formatCode>
                <c:ptCount val="8"/>
                <c:pt idx="0">
                  <c:v>24</c:v>
                </c:pt>
                <c:pt idx="1">
                  <c:v>31</c:v>
                </c:pt>
                <c:pt idx="2">
                  <c:v>48</c:v>
                </c:pt>
                <c:pt idx="3">
                  <c:v>63</c:v>
                </c:pt>
                <c:pt idx="4">
                  <c:v>80</c:v>
                </c:pt>
                <c:pt idx="5">
                  <c:v>95</c:v>
                </c:pt>
                <c:pt idx="6">
                  <c:v>112</c:v>
                </c:pt>
                <c:pt idx="7">
                  <c:v>127</c:v>
                </c:pt>
              </c:numCache>
            </c:numRef>
          </c:xVal>
          <c:yVal>
            <c:numRef>
              <c:f>'Chart Data'!$F$2:$F$9</c:f>
              <c:numCache>
                <c:formatCode>0.000000</c:formatCode>
                <c:ptCount val="8"/>
                <c:pt idx="0">
                  <c:v>5039.477869</c:v>
                </c:pt>
                <c:pt idx="1">
                  <c:v>6269.132124</c:v>
                </c:pt>
                <c:pt idx="2">
                  <c:v>9026.535306</c:v>
                </c:pt>
                <c:pt idx="3">
                  <c:v>10735.29812</c:v>
                </c:pt>
                <c:pt idx="4">
                  <c:v>12098.720228</c:v>
                </c:pt>
                <c:pt idx="5">
                  <c:v>14134.311014</c:v>
                </c:pt>
                <c:pt idx="6">
                  <c:v>15261.174298</c:v>
                </c:pt>
                <c:pt idx="7">
                  <c:v>16438.472888</c:v>
                </c:pt>
              </c:numCache>
            </c:numRef>
          </c:yVal>
        </c:ser>
        <c:ser>
          <c:idx val="3"/>
          <c:order val="3"/>
          <c:tx>
            <c:v>Exact batch matches all measured repetitions</c:v>
          </c:tx>
          <c:spPr>
            <a:solidFill xmlns:a="http://schemas.openxmlformats.org/drawingml/2006/main">
              <a:srgbClr val="3D8DFF"/>
            </a:solidFill>
            <a:ln xmlns:a="http://schemas.openxmlformats.org/drawingml/2006/main" w="0">
              <a:solidFill>
                <a:srgbClr val="3D8DFF"/>
              </a:solidFill>
            </a:ln>
          </c:spPr>
          <c:marker>
            <c:symbol val="diamond"/>
            <c:size val="4"/>
            <c:spPr>
              <a:solidFill xmlns:a="http://schemas.openxmlformats.org/drawingml/2006/main">
                <a:srgbClr val="3D8DFF"/>
              </a:solidFill>
            </c:spPr>
          </c:marker>
          <c:xVal>
            <c:numRef>
              <c:f>'Chart Data'!$G$2:$G$25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Data'!$H$2:$H$25</c:f>
              <c:numCache>
                <c:formatCode>0.000000</c:formatCode>
                <c:ptCount val="24"/>
                <c:pt idx="0">
                  <c:v>5043.099772</c:v>
                </c:pt>
                <c:pt idx="1">
                  <c:v>5040.435788</c:v>
                </c:pt>
                <c:pt idx="2">
                  <c:v>5034.898047</c:v>
                </c:pt>
                <c:pt idx="3">
                  <c:v>6280.064203</c:v>
                </c:pt>
                <c:pt idx="4">
                  <c:v>6264.736686</c:v>
                </c:pt>
                <c:pt idx="5">
                  <c:v>6262.595484</c:v>
                </c:pt>
                <c:pt idx="6">
                  <c:v>9024.312313</c:v>
                </c:pt>
                <c:pt idx="7">
                  <c:v>9023.14273</c:v>
                </c:pt>
                <c:pt idx="8">
                  <c:v>9032.150875</c:v>
                </c:pt>
                <c:pt idx="9">
                  <c:v>10730.712114</c:v>
                </c:pt>
                <c:pt idx="10">
                  <c:v>10729.429941</c:v>
                </c:pt>
                <c:pt idx="11">
                  <c:v>10745.752304</c:v>
                </c:pt>
                <c:pt idx="12">
                  <c:v>12113.67235</c:v>
                </c:pt>
                <c:pt idx="13">
                  <c:v>12119.759672</c:v>
                </c:pt>
                <c:pt idx="14">
                  <c:v>12062.728663</c:v>
                </c:pt>
                <c:pt idx="15">
                  <c:v>14165.044432</c:v>
                </c:pt>
                <c:pt idx="16">
                  <c:v>14123.376526</c:v>
                </c:pt>
                <c:pt idx="17">
                  <c:v>14114.512085</c:v>
                </c:pt>
                <c:pt idx="18">
                  <c:v>15284.472061</c:v>
                </c:pt>
                <c:pt idx="19">
                  <c:v>15241.455955</c:v>
                </c:pt>
                <c:pt idx="20">
                  <c:v>15257.594878</c:v>
                </c:pt>
                <c:pt idx="21">
                  <c:v>16446.247826</c:v>
                </c:pt>
                <c:pt idx="22">
                  <c:v>16453.352804</c:v>
                </c:pt>
                <c:pt idx="23">
                  <c:v>16415.818034</c:v>
                </c:pt>
              </c:numCache>
            </c:numRef>
          </c:yVal>
        </c:ser>
        <c:ser>
          <c:idx val="4"/>
          <c:order val="4"/>
          <c:tx>
            <c:v>Coarse capture grid mean</c:v>
          </c:tx>
          <c:spPr>
            <a:solidFill xmlns:a="http://schemas.openxmlformats.org/drawingml/2006/main">
              <a:srgbClr val="909AA8"/>
            </a:solidFill>
            <a:ln xmlns:a="http://schemas.openxmlformats.org/drawingml/2006/main" w="19050">
              <a:solidFill>
                <a:srgbClr val="909AA8"/>
              </a:solidFill>
            </a:ln>
          </c:spPr>
          <c:marker>
            <c:symbol val="none"/>
            <c:size val="2"/>
          </c:marker>
          <c:xVal>
            <c:numRef>
              <c:f>'Chart Data'!$I$2:$I$9</c:f>
              <c:numCache>
                <c:formatCode>General</c:formatCode>
                <c:ptCount val="8"/>
                <c:pt idx="0">
                  <c:v>24</c:v>
                </c:pt>
                <c:pt idx="1">
                  <c:v>31</c:v>
                </c:pt>
                <c:pt idx="2">
                  <c:v>48</c:v>
                </c:pt>
                <c:pt idx="3">
                  <c:v>63</c:v>
                </c:pt>
                <c:pt idx="4">
                  <c:v>80</c:v>
                </c:pt>
                <c:pt idx="5">
                  <c:v>95</c:v>
                </c:pt>
                <c:pt idx="6">
                  <c:v>112</c:v>
                </c:pt>
                <c:pt idx="7">
                  <c:v>127</c:v>
                </c:pt>
              </c:numCache>
            </c:numRef>
          </c:xVal>
          <c:yVal>
            <c:numRef>
              <c:f>'Chart Data'!$J$2:$J$9</c:f>
              <c:numCache>
                <c:formatCode>0.000000</c:formatCode>
                <c:ptCount val="8"/>
                <c:pt idx="0">
                  <c:v>5050.223912</c:v>
                </c:pt>
                <c:pt idx="1">
                  <c:v>6245.429683</c:v>
                </c:pt>
                <c:pt idx="2">
                  <c:v>8752.189963</c:v>
                </c:pt>
                <c:pt idx="3">
                  <c:v>10737.430781</c:v>
                </c:pt>
                <c:pt idx="4">
                  <c:v>12258.264537</c:v>
                </c:pt>
                <c:pt idx="5">
                  <c:v>13859.055323</c:v>
                </c:pt>
                <c:pt idx="6">
                  <c:v>15154.353684</c:v>
                </c:pt>
                <c:pt idx="7">
                  <c:v>16451.725988</c:v>
                </c:pt>
              </c:numCache>
            </c:numRef>
          </c:yVal>
        </c:ser>
        <c:ser>
          <c:idx val="5"/>
          <c:order val="5"/>
          <c:tx>
            <c:v>Coarse capture grid all measured repetitions</c:v>
          </c:tx>
          <c:spPr>
            <a:solidFill xmlns:a="http://schemas.openxmlformats.org/drawingml/2006/main">
              <a:srgbClr val="909AA8"/>
            </a:solidFill>
            <a:ln xmlns:a="http://schemas.openxmlformats.org/drawingml/2006/main" w="0">
              <a:solidFill>
                <a:srgbClr val="909AA8"/>
              </a:solidFill>
            </a:ln>
          </c:spPr>
          <c:marker>
            <c:symbol val="triangle"/>
            <c:size val="4"/>
            <c:spPr>
              <a:solidFill xmlns:a="http://schemas.openxmlformats.org/drawingml/2006/main">
                <a:srgbClr val="909AA8"/>
              </a:solidFill>
            </c:spPr>
          </c:marker>
          <c:xVal>
            <c:numRef>
              <c:f>'Chart Data'!$K$2:$K$25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Data'!$L$2:$L$25</c:f>
              <c:numCache>
                <c:formatCode>0.000000</c:formatCode>
                <c:ptCount val="24"/>
                <c:pt idx="0">
                  <c:v>5077.454361</c:v>
                </c:pt>
                <c:pt idx="1">
                  <c:v>5016.165442</c:v>
                </c:pt>
                <c:pt idx="2">
                  <c:v>5057.051934</c:v>
                </c:pt>
                <c:pt idx="3">
                  <c:v>6236.225973</c:v>
                </c:pt>
                <c:pt idx="4">
                  <c:v>6245.048374</c:v>
                </c:pt>
                <c:pt idx="5">
                  <c:v>6255.014701</c:v>
                </c:pt>
                <c:pt idx="6">
                  <c:v>8752.894788</c:v>
                </c:pt>
                <c:pt idx="7">
                  <c:v>8741.261713</c:v>
                </c:pt>
                <c:pt idx="8">
                  <c:v>8762.41339</c:v>
                </c:pt>
                <c:pt idx="9">
                  <c:v>10761.252108</c:v>
                </c:pt>
                <c:pt idx="10">
                  <c:v>10735.031649</c:v>
                </c:pt>
                <c:pt idx="11">
                  <c:v>10716.008584</c:v>
                </c:pt>
                <c:pt idx="12">
                  <c:v>12282.74963</c:v>
                </c:pt>
                <c:pt idx="13">
                  <c:v>12267.109803</c:v>
                </c:pt>
                <c:pt idx="14">
                  <c:v>12224.934176</c:v>
                </c:pt>
                <c:pt idx="15">
                  <c:v>13871.395089</c:v>
                </c:pt>
                <c:pt idx="16">
                  <c:v>13872.260145</c:v>
                </c:pt>
                <c:pt idx="17">
                  <c:v>13833.510734</c:v>
                </c:pt>
                <c:pt idx="18">
                  <c:v>15176.348003</c:v>
                </c:pt>
                <c:pt idx="19">
                  <c:v>15139.157609</c:v>
                </c:pt>
                <c:pt idx="20">
                  <c:v>15147.55544</c:v>
                </c:pt>
                <c:pt idx="21">
                  <c:v>16437.569094</c:v>
                </c:pt>
                <c:pt idx="22">
                  <c:v>16499.899987</c:v>
                </c:pt>
                <c:pt idx="23">
                  <c:v>16417.708883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20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5000"/>
      </c:valAx>
      <c:valAx>
        <c:axId val="48650112"/>
        <c:scaling>
          <c:orientation val="minMax"/>
          <c:max val="130"/>
          <c:min val="2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20"/>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vLLM default captures mean</c:v>
          </c:tx>
          <c:spPr>
            <a:solidFill xmlns:a="http://schemas.openxmlformats.org/drawingml/2006/main">
              <a:srgbClr val="222222"/>
            </a:solidFill>
            <a:ln xmlns:a="http://schemas.openxmlformats.org/drawingml/2006/main" w="19050">
              <a:solidFill>
                <a:srgbClr val="222222"/>
              </a:solidFill>
            </a:ln>
          </c:spPr>
          <c:marker>
            <c:symbol val="none"/>
            <c:size val="2"/>
          </c:marker>
          <c:xVal>
            <c:numRef>
              <c:f>'Chart Data'!$A$2:$A$9</c:f>
              <c:numCache>
                <c:formatCode>General</c:formatCode>
                <c:ptCount val="8"/>
                <c:pt idx="0">
                  <c:v>24</c:v>
                </c:pt>
                <c:pt idx="1">
                  <c:v>31</c:v>
                </c:pt>
                <c:pt idx="2">
                  <c:v>48</c:v>
                </c:pt>
                <c:pt idx="3">
                  <c:v>63</c:v>
                </c:pt>
                <c:pt idx="4">
                  <c:v>80</c:v>
                </c:pt>
                <c:pt idx="5">
                  <c:v>95</c:v>
                </c:pt>
                <c:pt idx="6">
                  <c:v>112</c:v>
                </c:pt>
                <c:pt idx="7">
                  <c:v>127</c:v>
                </c:pt>
              </c:numCache>
            </c:numRef>
          </c:xVal>
          <c:yVal>
            <c:numRef>
              <c:f>'Chart Data'!$B$2:$B$9</c:f>
              <c:numCache>
                <c:formatCode>0.000000</c:formatCode>
                <c:ptCount val="8"/>
                <c:pt idx="0">
                  <c:v>1641.916522</c:v>
                </c:pt>
                <c:pt idx="1">
                  <c:v>1995.09421</c:v>
                </c:pt>
                <c:pt idx="2">
                  <c:v>2721.561836</c:v>
                </c:pt>
                <c:pt idx="3">
                  <c:v>3238.705963</c:v>
                </c:pt>
                <c:pt idx="4">
                  <c:v>3754.958383</c:v>
                </c:pt>
                <c:pt idx="5">
                  <c:v>4165.499942</c:v>
                </c:pt>
                <c:pt idx="6">
                  <c:v>4534.380999</c:v>
                </c:pt>
                <c:pt idx="7">
                  <c:v>4881.287256</c:v>
                </c:pt>
              </c:numCache>
            </c:numRef>
          </c:yVal>
        </c:ser>
        <c:ser>
          <c:idx val="1"/>
          <c:order val="1"/>
          <c:tx>
            <c:v>vLLM default captures all measured repetitions</c:v>
          </c:tx>
          <c:spPr>
            <a:solidFill xmlns:a="http://schemas.openxmlformats.org/drawingml/2006/main">
              <a:srgbClr val="222222"/>
            </a:solidFill>
            <a:ln xmlns:a="http://schemas.openxmlformats.org/drawingml/2006/main" w="0">
              <a:solidFill>
                <a:srgbClr val="222222"/>
              </a:solidFill>
            </a:ln>
          </c:spPr>
          <c:marker>
            <c:symbol val="circle"/>
            <c:size val="4"/>
            <c:spPr>
              <a:solidFill xmlns:a="http://schemas.openxmlformats.org/drawingml/2006/main">
                <a:srgbClr val="222222"/>
              </a:solidFill>
            </c:spPr>
          </c:marker>
          <c:xVal>
            <c:numRef>
              <c:f>'Chart Data'!$C$2:$C$25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Data'!$D$2:$D$25</c:f>
              <c:numCache>
                <c:formatCode>0.000000</c:formatCode>
                <c:ptCount val="24"/>
                <c:pt idx="0">
                  <c:v>1643.776043</c:v>
                </c:pt>
                <c:pt idx="1">
                  <c:v>1640.221189</c:v>
                </c:pt>
                <c:pt idx="2">
                  <c:v>1641.752336</c:v>
                </c:pt>
                <c:pt idx="3">
                  <c:v>2000.850906</c:v>
                </c:pt>
                <c:pt idx="4">
                  <c:v>1992.251654</c:v>
                </c:pt>
                <c:pt idx="5">
                  <c:v>1992.180071</c:v>
                </c:pt>
                <c:pt idx="6">
                  <c:v>2721.903602</c:v>
                </c:pt>
                <c:pt idx="7">
                  <c:v>2719.754045</c:v>
                </c:pt>
                <c:pt idx="8">
                  <c:v>2723.027862</c:v>
                </c:pt>
                <c:pt idx="9">
                  <c:v>3240.964536</c:v>
                </c:pt>
                <c:pt idx="10">
                  <c:v>3239.118169</c:v>
                </c:pt>
                <c:pt idx="11">
                  <c:v>3236.035182</c:v>
                </c:pt>
                <c:pt idx="12">
                  <c:v>3761.359988</c:v>
                </c:pt>
                <c:pt idx="13">
                  <c:v>3755.527427</c:v>
                </c:pt>
                <c:pt idx="14">
                  <c:v>3747.987735</c:v>
                </c:pt>
                <c:pt idx="15">
                  <c:v>4167.990066</c:v>
                </c:pt>
                <c:pt idx="16">
                  <c:v>4170.217156</c:v>
                </c:pt>
                <c:pt idx="17">
                  <c:v>4158.292604</c:v>
                </c:pt>
                <c:pt idx="18">
                  <c:v>4535.07452</c:v>
                </c:pt>
                <c:pt idx="19">
                  <c:v>4538.703978</c:v>
                </c:pt>
                <c:pt idx="20">
                  <c:v>4529.364499</c:v>
                </c:pt>
                <c:pt idx="21">
                  <c:v>4888.796932</c:v>
                </c:pt>
                <c:pt idx="22">
                  <c:v>4884.788524</c:v>
                </c:pt>
                <c:pt idx="23">
                  <c:v>4870.276311</c:v>
                </c:pt>
              </c:numCache>
            </c:numRef>
          </c:yVal>
        </c:ser>
        <c:ser>
          <c:idx val="2"/>
          <c:order val="2"/>
          <c:tx>
            <c:v>Exact batch matches mean</c:v>
          </c:tx>
          <c:spPr>
            <a:solidFill xmlns:a="http://schemas.openxmlformats.org/drawingml/2006/main">
              <a:srgbClr val="3D8DFF"/>
            </a:solidFill>
            <a:ln xmlns:a="http://schemas.openxmlformats.org/drawingml/2006/main" w="19050">
              <a:solidFill>
                <a:srgbClr val="3D8DFF"/>
              </a:solidFill>
            </a:ln>
          </c:spPr>
          <c:marker>
            <c:symbol val="none"/>
            <c:size val="2"/>
          </c:marker>
          <c:xVal>
            <c:numRef>
              <c:f>'Chart Data'!$E$2:$E$9</c:f>
              <c:numCache>
                <c:formatCode>General</c:formatCode>
                <c:ptCount val="8"/>
                <c:pt idx="0">
                  <c:v>24</c:v>
                </c:pt>
                <c:pt idx="1">
                  <c:v>31</c:v>
                </c:pt>
                <c:pt idx="2">
                  <c:v>48</c:v>
                </c:pt>
                <c:pt idx="3">
                  <c:v>63</c:v>
                </c:pt>
                <c:pt idx="4">
                  <c:v>80</c:v>
                </c:pt>
                <c:pt idx="5">
                  <c:v>95</c:v>
                </c:pt>
                <c:pt idx="6">
                  <c:v>112</c:v>
                </c:pt>
                <c:pt idx="7">
                  <c:v>127</c:v>
                </c:pt>
              </c:numCache>
            </c:numRef>
          </c:xVal>
          <c:yVal>
            <c:numRef>
              <c:f>'Chart Data'!$F$2:$F$9</c:f>
              <c:numCache>
                <c:formatCode>0.000000</c:formatCode>
                <c:ptCount val="8"/>
                <c:pt idx="0">
                  <c:v>1641.211916</c:v>
                </c:pt>
                <c:pt idx="1">
                  <c:v>1996.726808</c:v>
                </c:pt>
                <c:pt idx="2">
                  <c:v>2721.161601</c:v>
                </c:pt>
                <c:pt idx="3">
                  <c:v>3235.417099</c:v>
                </c:pt>
                <c:pt idx="4">
                  <c:v>3751.589766</c:v>
                </c:pt>
                <c:pt idx="5">
                  <c:v>4153.833454</c:v>
                </c:pt>
                <c:pt idx="6">
                  <c:v>4532.879415</c:v>
                </c:pt>
                <c:pt idx="7">
                  <c:v>4875.049191</c:v>
                </c:pt>
              </c:numCache>
            </c:numRef>
          </c:yVal>
        </c:ser>
        <c:ser>
          <c:idx val="3"/>
          <c:order val="3"/>
          <c:tx>
            <c:v>Exact batch matches all measured repetitions</c:v>
          </c:tx>
          <c:spPr>
            <a:solidFill xmlns:a="http://schemas.openxmlformats.org/drawingml/2006/main">
              <a:srgbClr val="3D8DFF"/>
            </a:solidFill>
            <a:ln xmlns:a="http://schemas.openxmlformats.org/drawingml/2006/main" w="0">
              <a:solidFill>
                <a:srgbClr val="3D8DFF"/>
              </a:solidFill>
            </a:ln>
          </c:spPr>
          <c:marker>
            <c:symbol val="diamond"/>
            <c:size val="4"/>
            <c:spPr>
              <a:solidFill xmlns:a="http://schemas.openxmlformats.org/drawingml/2006/main">
                <a:srgbClr val="3D8DFF"/>
              </a:solidFill>
            </c:spPr>
          </c:marker>
          <c:xVal>
            <c:numRef>
              <c:f>'Chart Data'!$G$2:$G$25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Data'!$H$2:$H$25</c:f>
              <c:numCache>
                <c:formatCode>0.000000</c:formatCode>
                <c:ptCount val="24"/>
                <c:pt idx="0">
                  <c:v>1642.506918</c:v>
                </c:pt>
                <c:pt idx="1">
                  <c:v>1639.929288</c:v>
                </c:pt>
                <c:pt idx="2">
                  <c:v>1641.199543</c:v>
                </c:pt>
                <c:pt idx="3">
                  <c:v>2001.437937</c:v>
                </c:pt>
                <c:pt idx="4">
                  <c:v>1992.266818</c:v>
                </c:pt>
                <c:pt idx="5">
                  <c:v>1996.475669</c:v>
                </c:pt>
                <c:pt idx="6">
                  <c:v>2716.472555</c:v>
                </c:pt>
                <c:pt idx="7">
                  <c:v>2723.659561</c:v>
                </c:pt>
                <c:pt idx="8">
                  <c:v>2723.352685</c:v>
                </c:pt>
                <c:pt idx="9">
                  <c:v>3235.630487</c:v>
                </c:pt>
                <c:pt idx="10">
                  <c:v>3238.858464</c:v>
                </c:pt>
                <c:pt idx="11">
                  <c:v>3231.762346</c:v>
                </c:pt>
                <c:pt idx="12">
                  <c:v>3758.00892</c:v>
                </c:pt>
                <c:pt idx="13">
                  <c:v>3752.177551</c:v>
                </c:pt>
                <c:pt idx="14">
                  <c:v>3744.582827</c:v>
                </c:pt>
                <c:pt idx="15">
                  <c:v>4152.225337</c:v>
                </c:pt>
                <c:pt idx="16">
                  <c:v>4159.444432</c:v>
                </c:pt>
                <c:pt idx="17">
                  <c:v>4149.830592</c:v>
                </c:pt>
                <c:pt idx="18">
                  <c:v>4534.065045</c:v>
                </c:pt>
                <c:pt idx="19">
                  <c:v>4537.6535</c:v>
                </c:pt>
                <c:pt idx="20">
                  <c:v>4526.919702</c:v>
                </c:pt>
                <c:pt idx="21">
                  <c:v>4889.705447</c:v>
                </c:pt>
                <c:pt idx="22">
                  <c:v>4868.257886</c:v>
                </c:pt>
                <c:pt idx="23">
                  <c:v>4867.18424</c:v>
                </c:pt>
              </c:numCache>
            </c:numRef>
          </c:yVal>
        </c:ser>
        <c:ser>
          <c:idx val="4"/>
          <c:order val="4"/>
          <c:tx>
            <c:v>Coarse capture grid mean</c:v>
          </c:tx>
          <c:spPr>
            <a:solidFill xmlns:a="http://schemas.openxmlformats.org/drawingml/2006/main">
              <a:srgbClr val="909AA8"/>
            </a:solidFill>
            <a:ln xmlns:a="http://schemas.openxmlformats.org/drawingml/2006/main" w="19050">
              <a:solidFill>
                <a:srgbClr val="909AA8"/>
              </a:solidFill>
            </a:ln>
          </c:spPr>
          <c:marker>
            <c:symbol val="none"/>
            <c:size val="2"/>
          </c:marker>
          <c:xVal>
            <c:numRef>
              <c:f>'Chart Data'!$I$2:$I$9</c:f>
              <c:numCache>
                <c:formatCode>General</c:formatCode>
                <c:ptCount val="8"/>
                <c:pt idx="0">
                  <c:v>24</c:v>
                </c:pt>
                <c:pt idx="1">
                  <c:v>31</c:v>
                </c:pt>
                <c:pt idx="2">
                  <c:v>48</c:v>
                </c:pt>
                <c:pt idx="3">
                  <c:v>63</c:v>
                </c:pt>
                <c:pt idx="4">
                  <c:v>80</c:v>
                </c:pt>
                <c:pt idx="5">
                  <c:v>95</c:v>
                </c:pt>
                <c:pt idx="6">
                  <c:v>112</c:v>
                </c:pt>
                <c:pt idx="7">
                  <c:v>127</c:v>
                </c:pt>
              </c:numCache>
            </c:numRef>
          </c:xVal>
          <c:yVal>
            <c:numRef>
              <c:f>'Chart Data'!$J$2:$J$9</c:f>
              <c:numCache>
                <c:formatCode>0.000000</c:formatCode>
                <c:ptCount val="8"/>
                <c:pt idx="0">
                  <c:v>1617.185971</c:v>
                </c:pt>
                <c:pt idx="1">
                  <c:v>2003.009671</c:v>
                </c:pt>
                <c:pt idx="2">
                  <c:v>2658.470135</c:v>
                </c:pt>
                <c:pt idx="3">
                  <c:v>3241.273499</c:v>
                </c:pt>
                <c:pt idx="4">
                  <c:v>3621.339874</c:v>
                </c:pt>
                <c:pt idx="5">
                  <c:v>4076.387127</c:v>
                </c:pt>
                <c:pt idx="6">
                  <c:v>4498.318942</c:v>
                </c:pt>
                <c:pt idx="7">
                  <c:v>4867.875204</c:v>
                </c:pt>
              </c:numCache>
            </c:numRef>
          </c:yVal>
        </c:ser>
        <c:ser>
          <c:idx val="5"/>
          <c:order val="5"/>
          <c:tx>
            <c:v>Coarse capture grid all measured repetitions</c:v>
          </c:tx>
          <c:spPr>
            <a:solidFill xmlns:a="http://schemas.openxmlformats.org/drawingml/2006/main">
              <a:srgbClr val="909AA8"/>
            </a:solidFill>
            <a:ln xmlns:a="http://schemas.openxmlformats.org/drawingml/2006/main" w="0">
              <a:solidFill>
                <a:srgbClr val="909AA8"/>
              </a:solidFill>
            </a:ln>
          </c:spPr>
          <c:marker>
            <c:symbol val="triangle"/>
            <c:size val="4"/>
            <c:spPr>
              <a:solidFill xmlns:a="http://schemas.openxmlformats.org/drawingml/2006/main">
                <a:srgbClr val="909AA8"/>
              </a:solidFill>
            </c:spPr>
          </c:marker>
          <c:xVal>
            <c:numRef>
              <c:f>'Chart Data'!$K$2:$K$25</c:f>
              <c:numCache>
                <c:formatCode>General</c:formatCode>
                <c:ptCount val="24"/>
                <c:pt idx="0">
                  <c:v>24</c:v>
                </c:pt>
                <c:pt idx="1">
                  <c:v>24</c:v>
                </c:pt>
                <c:pt idx="2">
                  <c:v>24</c:v>
                </c:pt>
                <c:pt idx="3">
                  <c:v>31</c:v>
                </c:pt>
                <c:pt idx="4">
                  <c:v>31</c:v>
                </c:pt>
                <c:pt idx="5">
                  <c:v>31</c:v>
                </c:pt>
                <c:pt idx="6">
                  <c:v>48</c:v>
                </c:pt>
                <c:pt idx="7">
                  <c:v>48</c:v>
                </c:pt>
                <c:pt idx="8">
                  <c:v>48</c:v>
                </c:pt>
                <c:pt idx="9">
                  <c:v>63</c:v>
                </c:pt>
                <c:pt idx="10">
                  <c:v>63</c:v>
                </c:pt>
                <c:pt idx="11">
                  <c:v>63</c:v>
                </c:pt>
                <c:pt idx="12">
                  <c:v>80</c:v>
                </c:pt>
                <c:pt idx="13">
                  <c:v>80</c:v>
                </c:pt>
                <c:pt idx="14">
                  <c:v>80</c:v>
                </c:pt>
                <c:pt idx="15">
                  <c:v>95</c:v>
                </c:pt>
                <c:pt idx="16">
                  <c:v>95</c:v>
                </c:pt>
                <c:pt idx="17">
                  <c:v>95</c:v>
                </c:pt>
                <c:pt idx="18">
                  <c:v>112</c:v>
                </c:pt>
                <c:pt idx="19">
                  <c:v>112</c:v>
                </c:pt>
                <c:pt idx="20">
                  <c:v>112</c:v>
                </c:pt>
                <c:pt idx="21">
                  <c:v>127</c:v>
                </c:pt>
                <c:pt idx="22">
                  <c:v>127</c:v>
                </c:pt>
                <c:pt idx="23">
                  <c:v>127</c:v>
                </c:pt>
              </c:numCache>
            </c:numRef>
          </c:xVal>
          <c:yVal>
            <c:numRef>
              <c:f>'Chart Data'!$L$2:$L$25</c:f>
              <c:numCache>
                <c:formatCode>0.000000</c:formatCode>
                <c:ptCount val="24"/>
                <c:pt idx="0">
                  <c:v>1616.045091</c:v>
                </c:pt>
                <c:pt idx="1">
                  <c:v>1615.109922</c:v>
                </c:pt>
                <c:pt idx="2">
                  <c:v>1620.402901</c:v>
                </c:pt>
                <c:pt idx="3">
                  <c:v>2000.788052</c:v>
                </c:pt>
                <c:pt idx="4">
                  <c:v>1996.810621</c:v>
                </c:pt>
                <c:pt idx="5">
                  <c:v>2011.43034</c:v>
                </c:pt>
                <c:pt idx="6">
                  <c:v>2655.712552</c:v>
                </c:pt>
                <c:pt idx="7">
                  <c:v>2658.472716</c:v>
                </c:pt>
                <c:pt idx="8">
                  <c:v>2661.225136</c:v>
                </c:pt>
                <c:pt idx="9">
                  <c:v>3249.552741</c:v>
                </c:pt>
                <c:pt idx="10">
                  <c:v>3235.681023</c:v>
                </c:pt>
                <c:pt idx="11">
                  <c:v>3238.586734</c:v>
                </c:pt>
                <c:pt idx="12">
                  <c:v>3629.990076</c:v>
                </c:pt>
                <c:pt idx="13">
                  <c:v>3617.757859</c:v>
                </c:pt>
                <c:pt idx="14">
                  <c:v>3616.271686</c:v>
                </c:pt>
                <c:pt idx="15">
                  <c:v>4094.636539</c:v>
                </c:pt>
                <c:pt idx="16">
                  <c:v>4076.859337</c:v>
                </c:pt>
                <c:pt idx="17">
                  <c:v>4057.665504</c:v>
                </c:pt>
                <c:pt idx="18">
                  <c:v>4494.686888</c:v>
                </c:pt>
                <c:pt idx="19">
                  <c:v>4502.376717</c:v>
                </c:pt>
                <c:pt idx="20">
                  <c:v>4497.893221</c:v>
                </c:pt>
                <c:pt idx="21">
                  <c:v>4879.280349</c:v>
                </c:pt>
                <c:pt idx="22">
                  <c:v>4862.31611</c:v>
                </c:pt>
                <c:pt idx="23">
                  <c:v>4862.029154</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50112"/>
        <c:majorUnit val="1000"/>
      </c:valAx>
      <c:valAx>
        <c:axId val="48650112"/>
        <c:scaling>
          <c:orientation val="minMax"/>
          <c:max val="130"/>
          <c:min val="2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elvetica Neue"/>
                <a:ea typeface="Helvetica Neue"/>
                <a:cs typeface="Helvetica Neue"/>
              </a:defRPr>
            </a:pPr>
          </a:p>
        </c:txPr>
        <c:crossAx val="48672768"/>
        <c:majorUnit val="20"/>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Independent run 1</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Data'!$A$2:$A$4</c:f>
              <c:strCache>
                <c:ptCount val="3"/>
                <c:pt idx="0">
                  <c:v>Direct vLLM</c:v>
                </c:pt>
                <c:pt idx="1">
                  <c:v>Fixed 32</c:v>
                </c:pt>
                <c:pt idx="2">
                  <c:v>Context budget</c:v>
                </c:pt>
              </c:strCache>
            </c:strRef>
          </c:cat>
          <c:val>
            <c:numRef>
              <c:f>'Chart Data'!$B$2:$B$4</c:f>
              <c:numCache>
                <c:formatCode>0.000000</c:formatCode>
                <c:ptCount val="3"/>
                <c:pt idx="0">
                  <c:v>2.474528</c:v>
                </c:pt>
                <c:pt idx="1">
                  <c:v>2.119759</c:v>
                </c:pt>
                <c:pt idx="2">
                  <c:v>1.980397</c:v>
                </c:pt>
              </c:numCache>
            </c:numRef>
          </c:val>
          <c:smooth val="0"/>
        </c:ser>
        <c:ser>
          <c:idx val="1"/>
          <c:order val="1"/>
          <c:tx>
            <c:v>Independent run 2</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Data'!$C$2:$C$4</c:f>
              <c:strCache>
                <c:ptCount val="3"/>
                <c:pt idx="0">
                  <c:v>Direct vLLM</c:v>
                </c:pt>
                <c:pt idx="1">
                  <c:v>Fixed 32</c:v>
                </c:pt>
                <c:pt idx="2">
                  <c:v>Context budget</c:v>
                </c:pt>
              </c:strCache>
            </c:strRef>
          </c:cat>
          <c:val>
            <c:numRef>
              <c:f>'Chart Data'!$D$2:$D$4</c:f>
              <c:numCache>
                <c:formatCode>0.000000</c:formatCode>
                <c:ptCount val="3"/>
                <c:pt idx="0">
                  <c:v>2.692156</c:v>
                </c:pt>
                <c:pt idx="1">
                  <c:v>2.210569</c:v>
                </c:pt>
                <c:pt idx="2">
                  <c:v>2.045659</c:v>
                </c:pt>
              </c:numCache>
            </c:numRef>
          </c:val>
          <c:smooth val="0"/>
        </c:ser>
        <c:ser>
          <c:idx val="2"/>
          <c:order val="2"/>
          <c:tx>
            <c:v>Independent run 3</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Data'!$E$2:$E$4</c:f>
              <c:strCache>
                <c:ptCount val="3"/>
                <c:pt idx="0">
                  <c:v>Direct vLLM</c:v>
                </c:pt>
                <c:pt idx="1">
                  <c:v>Fixed 32</c:v>
                </c:pt>
                <c:pt idx="2">
                  <c:v>Context budget</c:v>
                </c:pt>
              </c:strCache>
            </c:strRef>
          </c:cat>
          <c:val>
            <c:numRef>
              <c:f>'Chart Data'!$F$2:$F$4</c:f>
              <c:numCache>
                <c:formatCode>0.000000</c:formatCode>
                <c:ptCount val="3"/>
                <c:pt idx="0">
                  <c:v>2.596512</c:v>
                </c:pt>
                <c:pt idx="1">
                  <c:v>2.275168</c:v>
                </c:pt>
                <c:pt idx="2">
                  <c:v>2.013751</c:v>
                </c:pt>
              </c:numCache>
            </c:numRef>
          </c:val>
          <c:smooth val="0"/>
        </c:ser>
        <c:ser>
          <c:idx val="3"/>
          <c:order val="3"/>
          <c:tx>
            <c:v>Mean</c:v>
          </c:tx>
          <c:spPr>
            <a:solidFill xmlns:a="http://schemas.openxmlformats.org/drawingml/2006/main">
              <a:srgbClr val="3D8DFF"/>
            </a:solidFill>
            <a:ln xmlns:a="http://schemas.openxmlformats.org/drawingml/2006/main" w="0">
              <a:solidFill>
                <a:srgbClr val="3D8DFF"/>
              </a:solidFill>
            </a:ln>
          </c:spPr>
          <c:marker>
            <c:symbol val="diamond"/>
            <c:size val="8"/>
            <c:spPr>
              <a:solidFill xmlns:a="http://schemas.openxmlformats.org/drawingml/2006/main">
                <a:srgbClr val="3D8DFF"/>
              </a:solidFill>
            </c:spPr>
          </c:marker>
          <c:cat>
            <c:strRef>
              <c:f>'Chart Data'!$G$2:$G$4</c:f>
              <c:strCache>
                <c:ptCount val="3"/>
                <c:pt idx="0">
                  <c:v>Direct vLLM</c:v>
                </c:pt>
                <c:pt idx="1">
                  <c:v>Fixed 32</c:v>
                </c:pt>
                <c:pt idx="2">
                  <c:v>Context budget</c:v>
                </c:pt>
              </c:strCache>
            </c:strRef>
          </c:cat>
          <c:val>
            <c:numRef>
              <c:f>'Chart Data'!$H$2:$H$4</c:f>
              <c:numCache>
                <c:formatCode>0.000000</c:formatCode>
                <c:ptCount val="3"/>
                <c:pt idx="0">
                  <c:v>2.587732</c:v>
                </c:pt>
                <c:pt idx="1">
                  <c:v>2.201832</c:v>
                </c:pt>
                <c:pt idx="2">
                  <c:v>2.013269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50112"/>
        <c:crossBetween val="between"/>
        <c:majorUnit val="1"/>
      </c:valAx>
    </c:plotArea>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Independent run 1</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Data'!$A$2:$A$4</c:f>
              <c:strCache>
                <c:ptCount val="3"/>
                <c:pt idx="0">
                  <c:v>Direct vLLM</c:v>
                </c:pt>
                <c:pt idx="1">
                  <c:v>Fixed 32</c:v>
                </c:pt>
                <c:pt idx="2">
                  <c:v>Context budget</c:v>
                </c:pt>
              </c:strCache>
            </c:strRef>
          </c:cat>
          <c:val>
            <c:numRef>
              <c:f>'Chart Data'!$B$2:$B$4</c:f>
              <c:numCache>
                <c:formatCode>0.000000</c:formatCode>
                <c:ptCount val="3"/>
                <c:pt idx="0">
                  <c:v>745.269584</c:v>
                </c:pt>
                <c:pt idx="1">
                  <c:v>644.74269</c:v>
                </c:pt>
                <c:pt idx="2">
                  <c:v>602.354447</c:v>
                </c:pt>
              </c:numCache>
            </c:numRef>
          </c:val>
          <c:smooth val="0"/>
        </c:ser>
        <c:ser>
          <c:idx val="1"/>
          <c:order val="1"/>
          <c:tx>
            <c:v>Independent run 2</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Data'!$C$2:$C$4</c:f>
              <c:strCache>
                <c:ptCount val="3"/>
                <c:pt idx="0">
                  <c:v>Direct vLLM</c:v>
                </c:pt>
                <c:pt idx="1">
                  <c:v>Fixed 32</c:v>
                </c:pt>
                <c:pt idx="2">
                  <c:v>Context budget</c:v>
                </c:pt>
              </c:strCache>
            </c:strRef>
          </c:cat>
          <c:val>
            <c:numRef>
              <c:f>'Chart Data'!$D$2:$D$4</c:f>
              <c:numCache>
                <c:formatCode>0.000000</c:formatCode>
                <c:ptCount val="3"/>
                <c:pt idx="0">
                  <c:v>787.647926</c:v>
                </c:pt>
                <c:pt idx="1">
                  <c:v>679.086766</c:v>
                </c:pt>
                <c:pt idx="2">
                  <c:v>616.104375</c:v>
                </c:pt>
              </c:numCache>
            </c:numRef>
          </c:val>
          <c:smooth val="0"/>
        </c:ser>
        <c:ser>
          <c:idx val="2"/>
          <c:order val="2"/>
          <c:tx>
            <c:v>Independent run 3</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Data'!$E$2:$E$4</c:f>
              <c:strCache>
                <c:ptCount val="3"/>
                <c:pt idx="0">
                  <c:v>Direct vLLM</c:v>
                </c:pt>
                <c:pt idx="1">
                  <c:v>Fixed 32</c:v>
                </c:pt>
                <c:pt idx="2">
                  <c:v>Context budget</c:v>
                </c:pt>
              </c:strCache>
            </c:strRef>
          </c:cat>
          <c:val>
            <c:numRef>
              <c:f>'Chart Data'!$F$2:$F$4</c:f>
              <c:numCache>
                <c:formatCode>0.000000</c:formatCode>
                <c:ptCount val="3"/>
                <c:pt idx="0">
                  <c:v>766.969601</c:v>
                </c:pt>
                <c:pt idx="1">
                  <c:v>672.049502</c:v>
                </c:pt>
                <c:pt idx="2">
                  <c:v>606.494352</c:v>
                </c:pt>
              </c:numCache>
            </c:numRef>
          </c:val>
          <c:smooth val="0"/>
        </c:ser>
        <c:ser>
          <c:idx val="3"/>
          <c:order val="3"/>
          <c:tx>
            <c:v>Mean</c:v>
          </c:tx>
          <c:spPr>
            <a:solidFill xmlns:a="http://schemas.openxmlformats.org/drawingml/2006/main">
              <a:srgbClr val="3D8DFF"/>
            </a:solidFill>
            <a:ln xmlns:a="http://schemas.openxmlformats.org/drawingml/2006/main" w="0">
              <a:solidFill>
                <a:srgbClr val="3D8DFF"/>
              </a:solidFill>
            </a:ln>
          </c:spPr>
          <c:marker>
            <c:symbol val="diamond"/>
            <c:size val="8"/>
            <c:spPr>
              <a:solidFill xmlns:a="http://schemas.openxmlformats.org/drawingml/2006/main">
                <a:srgbClr val="3D8DFF"/>
              </a:solidFill>
            </c:spPr>
          </c:marker>
          <c:cat>
            <c:strRef>
              <c:f>'Chart Data'!$G$2:$G$4</c:f>
              <c:strCache>
                <c:ptCount val="3"/>
                <c:pt idx="0">
                  <c:v>Direct vLLM</c:v>
                </c:pt>
                <c:pt idx="1">
                  <c:v>Fixed 32</c:v>
                </c:pt>
                <c:pt idx="2">
                  <c:v>Context budget</c:v>
                </c:pt>
              </c:strCache>
            </c:strRef>
          </c:cat>
          <c:val>
            <c:numRef>
              <c:f>'Chart Data'!$H$2:$H$4</c:f>
              <c:numCache>
                <c:formatCode>0.000000</c:formatCode>
                <c:ptCount val="3"/>
                <c:pt idx="0">
                  <c:v>766.629037</c:v>
                </c:pt>
                <c:pt idx="1">
                  <c:v>665.292986</c:v>
                </c:pt>
                <c:pt idx="2">
                  <c:v>608.317725</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72768"/>
      </c:catAx>
      <c:valAx>
        <c:axId val="48672768"/>
        <c:scaling>
          <c:orientation val="minMax"/>
          <c:max val="100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50112"/>
        <c:crossBetween val="between"/>
        <c:majorUnit val="250"/>
      </c:valAx>
    </c:plotArea>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Independent run 1</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Data'!$A$2:$A$4</c:f>
              <c:strCache>
                <c:ptCount val="3"/>
                <c:pt idx="0">
                  <c:v>Direct vLLM</c:v>
                </c:pt>
                <c:pt idx="1">
                  <c:v>Fixed 32</c:v>
                </c:pt>
                <c:pt idx="2">
                  <c:v>Context budget</c:v>
                </c:pt>
              </c:strCache>
            </c:strRef>
          </c:cat>
          <c:val>
            <c:numRef>
              <c:f>'Chart Data'!$B$2:$B$4</c:f>
              <c:numCache>
                <c:formatCode>0.000000</c:formatCode>
                <c:ptCount val="3"/>
                <c:pt idx="0">
                  <c:v>16.419807</c:v>
                </c:pt>
                <c:pt idx="1">
                  <c:v>16.09527</c:v>
                </c:pt>
                <c:pt idx="2">
                  <c:v>24.324803</c:v>
                </c:pt>
              </c:numCache>
            </c:numRef>
          </c:val>
          <c:smooth val="0"/>
        </c:ser>
        <c:ser>
          <c:idx val="1"/>
          <c:order val="1"/>
          <c:tx>
            <c:v>Independent run 2</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Data'!$C$2:$C$4</c:f>
              <c:strCache>
                <c:ptCount val="3"/>
                <c:pt idx="0">
                  <c:v>Direct vLLM</c:v>
                </c:pt>
                <c:pt idx="1">
                  <c:v>Fixed 32</c:v>
                </c:pt>
                <c:pt idx="2">
                  <c:v>Context budget</c:v>
                </c:pt>
              </c:strCache>
            </c:strRef>
          </c:cat>
          <c:val>
            <c:numRef>
              <c:f>'Chart Data'!$D$2:$D$4</c:f>
              <c:numCache>
                <c:formatCode>0.000000</c:formatCode>
                <c:ptCount val="3"/>
                <c:pt idx="0">
                  <c:v>12.793509</c:v>
                </c:pt>
                <c:pt idx="1">
                  <c:v>15.458788</c:v>
                </c:pt>
                <c:pt idx="2">
                  <c:v>24.316188</c:v>
                </c:pt>
              </c:numCache>
            </c:numRef>
          </c:val>
          <c:smooth val="0"/>
        </c:ser>
        <c:ser>
          <c:idx val="2"/>
          <c:order val="2"/>
          <c:tx>
            <c:v>Independent run 3</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Data'!$E$2:$E$4</c:f>
              <c:strCache>
                <c:ptCount val="3"/>
                <c:pt idx="0">
                  <c:v>Direct vLLM</c:v>
                </c:pt>
                <c:pt idx="1">
                  <c:v>Fixed 32</c:v>
                </c:pt>
                <c:pt idx="2">
                  <c:v>Context budget</c:v>
                </c:pt>
              </c:strCache>
            </c:strRef>
          </c:cat>
          <c:val>
            <c:numRef>
              <c:f>'Chart Data'!$F$2:$F$4</c:f>
              <c:numCache>
                <c:formatCode>0.000000</c:formatCode>
                <c:ptCount val="3"/>
                <c:pt idx="0">
                  <c:v>11.900901</c:v>
                </c:pt>
                <c:pt idx="1">
                  <c:v>13.413897</c:v>
                </c:pt>
                <c:pt idx="2">
                  <c:v>23.042388</c:v>
                </c:pt>
              </c:numCache>
            </c:numRef>
          </c:val>
          <c:smooth val="0"/>
        </c:ser>
        <c:ser>
          <c:idx val="3"/>
          <c:order val="3"/>
          <c:tx>
            <c:v>Mean</c:v>
          </c:tx>
          <c:spPr>
            <a:solidFill xmlns:a="http://schemas.openxmlformats.org/drawingml/2006/main">
              <a:srgbClr val="3D8DFF"/>
            </a:solidFill>
            <a:ln xmlns:a="http://schemas.openxmlformats.org/drawingml/2006/main" w="0">
              <a:solidFill>
                <a:srgbClr val="3D8DFF"/>
              </a:solidFill>
            </a:ln>
          </c:spPr>
          <c:marker>
            <c:symbol val="diamond"/>
            <c:size val="8"/>
            <c:spPr>
              <a:solidFill xmlns:a="http://schemas.openxmlformats.org/drawingml/2006/main">
                <a:srgbClr val="3D8DFF"/>
              </a:solidFill>
            </c:spPr>
          </c:marker>
          <c:cat>
            <c:strRef>
              <c:f>'Chart Data'!$G$2:$G$4</c:f>
              <c:strCache>
                <c:ptCount val="3"/>
                <c:pt idx="0">
                  <c:v>Direct vLLM</c:v>
                </c:pt>
                <c:pt idx="1">
                  <c:v>Fixed 32</c:v>
                </c:pt>
                <c:pt idx="2">
                  <c:v>Context budget</c:v>
                </c:pt>
              </c:strCache>
            </c:strRef>
          </c:cat>
          <c:val>
            <c:numRef>
              <c:f>'Chart Data'!$H$2:$H$4</c:f>
              <c:numCache>
                <c:formatCode>0.000000</c:formatCode>
                <c:ptCount val="3"/>
                <c:pt idx="0">
                  <c:v>13.704739</c:v>
                </c:pt>
                <c:pt idx="1">
                  <c:v>14.989318</c:v>
                </c:pt>
                <c:pt idx="2">
                  <c:v>23.89446</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50112"/>
        <c:crossBetween val="between"/>
        <c:majorUnit val="10"/>
      </c:valAx>
    </c:plotArea>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varyColors val="0"/>
        <c:ser>
          <c:idx val="0"/>
          <c:order val="0"/>
          <c:tx>
            <c:v>Independent run 1</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Data'!$A$2:$A$4</c:f>
              <c:strCache>
                <c:ptCount val="3"/>
                <c:pt idx="0">
                  <c:v>Direct vLLM</c:v>
                </c:pt>
                <c:pt idx="1">
                  <c:v>Fixed 32</c:v>
                </c:pt>
                <c:pt idx="2">
                  <c:v>Context budget</c:v>
                </c:pt>
              </c:strCache>
            </c:strRef>
          </c:cat>
          <c:val>
            <c:numRef>
              <c:f>'Chart Data'!$B$2:$B$4</c:f>
              <c:numCache>
                <c:formatCode>0.000000</c:formatCode>
                <c:ptCount val="3"/>
                <c:pt idx="0">
                  <c:v>99.985437</c:v>
                </c:pt>
                <c:pt idx="1">
                  <c:v>99.508403</c:v>
                </c:pt>
                <c:pt idx="2">
                  <c:v>99.484252</c:v>
                </c:pt>
              </c:numCache>
            </c:numRef>
          </c:val>
          <c:smooth val="0"/>
        </c:ser>
        <c:ser>
          <c:idx val="1"/>
          <c:order val="1"/>
          <c:tx>
            <c:v>Independent run 2</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Data'!$C$2:$C$4</c:f>
              <c:strCache>
                <c:ptCount val="3"/>
                <c:pt idx="0">
                  <c:v>Direct vLLM</c:v>
                </c:pt>
                <c:pt idx="1">
                  <c:v>Fixed 32</c:v>
                </c:pt>
                <c:pt idx="2">
                  <c:v>Context budget</c:v>
                </c:pt>
              </c:strCache>
            </c:strRef>
          </c:cat>
          <c:val>
            <c:numRef>
              <c:f>'Chart Data'!$D$2:$D$4</c:f>
              <c:numCache>
                <c:formatCode>0.000000</c:formatCode>
                <c:ptCount val="3"/>
                <c:pt idx="0">
                  <c:v>99.307692</c:v>
                </c:pt>
                <c:pt idx="1">
                  <c:v>99.99115</c:v>
                </c:pt>
                <c:pt idx="2">
                  <c:v>99.879518</c:v>
                </c:pt>
              </c:numCache>
            </c:numRef>
          </c:val>
          <c:smooth val="0"/>
        </c:ser>
        <c:ser>
          <c:idx val="2"/>
          <c:order val="2"/>
          <c:tx>
            <c:v>Independent run 3</c:v>
          </c:tx>
          <c:spPr>
            <a:solidFill xmlns:a="http://schemas.openxmlformats.org/drawingml/2006/main">
              <a:srgbClr val="555555"/>
            </a:solidFill>
            <a:ln xmlns:a="http://schemas.openxmlformats.org/drawingml/2006/main" w="0">
              <a:solidFill>
                <a:srgbClr val="555555"/>
              </a:solidFill>
            </a:ln>
          </c:spPr>
          <c:marker>
            <c:symbol val="circle"/>
            <c:size val="6"/>
            <c:spPr>
              <a:solidFill xmlns:a="http://schemas.openxmlformats.org/drawingml/2006/main">
                <a:srgbClr val="555555"/>
              </a:solidFill>
            </c:spPr>
          </c:marker>
          <c:cat>
            <c:strRef>
              <c:f>'Chart Data'!$E$2:$E$4</c:f>
              <c:strCache>
                <c:ptCount val="3"/>
                <c:pt idx="0">
                  <c:v>Direct vLLM</c:v>
                </c:pt>
                <c:pt idx="1">
                  <c:v>Fixed 32</c:v>
                </c:pt>
                <c:pt idx="2">
                  <c:v>Context budget</c:v>
                </c:pt>
              </c:strCache>
            </c:strRef>
          </c:cat>
          <c:val>
            <c:numRef>
              <c:f>'Chart Data'!$F$2:$F$4</c:f>
              <c:numCache>
                <c:formatCode>0.000000</c:formatCode>
                <c:ptCount val="3"/>
                <c:pt idx="0">
                  <c:v>99.085</c:v>
                </c:pt>
                <c:pt idx="1">
                  <c:v>99.517544</c:v>
                </c:pt>
                <c:pt idx="2">
                  <c:v>99.980237</c:v>
                </c:pt>
              </c:numCache>
            </c:numRef>
          </c:val>
          <c:smooth val="0"/>
        </c:ser>
        <c:ser>
          <c:idx val="3"/>
          <c:order val="3"/>
          <c:tx>
            <c:v>Mean</c:v>
          </c:tx>
          <c:spPr>
            <a:solidFill xmlns:a="http://schemas.openxmlformats.org/drawingml/2006/main">
              <a:srgbClr val="3D8DFF"/>
            </a:solidFill>
            <a:ln xmlns:a="http://schemas.openxmlformats.org/drawingml/2006/main" w="0">
              <a:solidFill>
                <a:srgbClr val="3D8DFF"/>
              </a:solidFill>
            </a:ln>
          </c:spPr>
          <c:marker>
            <c:symbol val="diamond"/>
            <c:size val="8"/>
            <c:spPr>
              <a:solidFill xmlns:a="http://schemas.openxmlformats.org/drawingml/2006/main">
                <a:srgbClr val="3D8DFF"/>
              </a:solidFill>
            </c:spPr>
          </c:marker>
          <c:cat>
            <c:strRef>
              <c:f>'Chart Data'!$G$2:$G$4</c:f>
              <c:strCache>
                <c:ptCount val="3"/>
                <c:pt idx="0">
                  <c:v>Direct vLLM</c:v>
                </c:pt>
                <c:pt idx="1">
                  <c:v>Fixed 32</c:v>
                </c:pt>
                <c:pt idx="2">
                  <c:v>Context budget</c:v>
                </c:pt>
              </c:strCache>
            </c:strRef>
          </c:cat>
          <c:val>
            <c:numRef>
              <c:f>'Chart Data'!$H$2:$H$4</c:f>
              <c:numCache>
                <c:formatCode>0.000000</c:formatCode>
                <c:ptCount val="3"/>
                <c:pt idx="0">
                  <c:v>99.459376</c:v>
                </c:pt>
                <c:pt idx="1">
                  <c:v>99.672366</c:v>
                </c:pt>
                <c:pt idx="2">
                  <c:v>99.781336</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72768"/>
      </c:catAx>
      <c:valAx>
        <c:axId val="48672768"/>
        <c:scaling>
          <c:orientation val="minMax"/>
          <c:max val="105"/>
          <c:min val="0"/>
        </c:scaling>
        <c:delete val="0"/>
        <c:axPos val="l"/>
        <c:majorGridlines>
          <c:spPr>
            <a:ln xmlns:a="http://schemas.openxmlformats.org/drawingml/2006/main" w="6668">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50112"/>
        <c:crossBetween val="between"/>
        <c:majorUnit val="25"/>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390525" y="2200275"/>
            <a:ext cx="11239500" cy="1809750"/>
          </a:xfrm>
        </p:spPr>
        <p:txBody>
          <a:bodyPr xmlns:a="http://schemas.openxmlformats.org/drawingml/2006/main" lIns="0" tIns="0" rIns="0" bIns="0" anchor="t">
            <a:noAutofit/>
          </a:bodyPr>
          <a:lstStyle xmlns:a="http://schemas.openxmlformats.org/drawingml/2006/main"/>
          <a:p xmlns:a="http://schemas.openxmlformats.org/drawingml/2006/main">
            <a:pPr algn="l">
              <a:buNone/>
              <a:defRPr sz="6150" b="0">
                <a:solidFill>
                  <a:srgbClr val="000000"/>
                </a:solidFill>
                <a:latin typeface="Helvetica Neue"/>
                <a:ea typeface="Helvetica Neue"/>
                <a:cs typeface="Helvetica Neue"/>
              </a:defRPr>
            </a:pPr>
            <a:r>
              <a:rPr sz="6150" b="0">
                <a:solidFill>
                  <a:srgbClr val="000000"/>
                </a:solidFill>
                <a:latin typeface="Helvetica Neue"/>
                <a:ea typeface="Helvetica Neue"/>
                <a:cs typeface="Helvetica Neue"/>
              </a:rPr>
              <a:t>Inference</a:t>
            </a:r>
          </a:p>
          <a:p xmlns:a="http://schemas.openxmlformats.org/drawingml/2006/main">
            <a:pPr algn="l">
              <a:buNone/>
              <a:defRPr sz="6150" b="0">
                <a:solidFill>
                  <a:srgbClr val="000000"/>
                </a:solidFill>
                <a:latin typeface="Helvetica Neue"/>
                <a:ea typeface="Helvetica Neue"/>
                <a:cs typeface="Helvetica Neue"/>
              </a:defRPr>
            </a:pPr>
            <a:r>
              <a:rPr sz="6150" b="0">
                <a:solidFill>
                  <a:srgbClr val="000000"/>
                </a:solidFill>
                <a:latin typeface="Helvetica Neue"/>
                <a:ea typeface="Helvetica Neue"/>
                <a:cs typeface="Helvetica Neue"/>
              </a:rPr>
              <a:t>Optimization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390525" y="4276725"/>
            <a:ext cx="10953750" cy="495300"/>
          </a:xfrm>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400" b="0">
                <a:solidFill>
                  <a:srgbClr val="000000"/>
                </a:solidFill>
                <a:latin typeface="Helvetica Neue"/>
                <a:ea typeface="Helvetica Neue"/>
                <a:cs typeface="Helvetica Neue"/>
              </a:defRPr>
            </a:pPr>
            <a:r>
              <a:rPr sz="2400" b="0">
                <a:solidFill>
                  <a:srgbClr val="000000"/>
                </a:solidFill>
                <a:latin typeface="Helvetica Neue"/>
                <a:ea typeface="Helvetica Neue"/>
                <a:cs typeface="Helvetica Neue"/>
              </a:rPr>
              <a:t>Improving GPU Utilization for LLM Inference</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390525" y="390525"/>
            <a:ext cx="10477500" cy="428625"/>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
            </a:r>
          </a:p>
        </p:txBody>
      </p:sp>
      <p:sp>
        <p:nvSpPr>
          <p:cNvPr id="7" name="SaturateLLM text 1">
            <a:extLst xmlns:a="http://schemas.openxmlformats.org/drawingml/2006/main">
              <a:ext uri="{FF2B5EF4-FFF2-40B4-BE49-F238E27FC236}">
                <a16:creationId xmlns:a16="http://schemas.microsoft.com/office/drawing/2014/main" id="{B953246D-7AD4-4CFC-B7E3-0AC62210C0FD}"/>
              </a:ext>
            </a:extLst>
          </p:cNvPr>
          <p:cNvSpPr>
            <a:spLocks xmlns:a="http://schemas.openxmlformats.org/drawingml/2006/main" noGrp="1"/>
          </p:cNvSpPr>
          <p:nvPr/>
        </p:nvSpPr>
        <p:spPr>
          <a:xfrm xmlns:a="http://schemas.openxmlformats.org/drawingml/2006/main">
            <a:off x="393383" y="5362575"/>
            <a:ext cx="11144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
            </a:r>
          </a:p>
        </p:txBody>
      </p:sp>
      <p:sp>
        <p:nvSpPr>
          <p:cNvPr id="8" name="SaturateLLM text 1">
            <a:extLst xmlns:a="http://schemas.openxmlformats.org/drawingml/2006/main">
              <a:ext uri="{FF2B5EF4-FFF2-40B4-BE49-F238E27FC236}">
                <a16:creationId xmlns:a16="http://schemas.microsoft.com/office/drawing/2014/main" id="{BF686EAB-466A-49BA-8220-640A479A0D72}"/>
              </a:ext>
            </a:extLst>
          </p:cNvPr>
          <p:cNvSpPr>
            <a:spLocks xmlns:a="http://schemas.openxmlformats.org/drawingml/2006/main" noGrp="1"/>
          </p:cNvSpPr>
          <p:nvPr/>
        </p:nvSpPr>
        <p:spPr>
          <a:xfrm xmlns:a="http://schemas.openxmlformats.org/drawingml/2006/main">
            <a:off x="393383" y="6267450"/>
            <a:ext cx="11144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4931dd51216b48ea"/>
              </a:rPr>
              <a:t>Research question and evidence</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E2598689-54C9-18A7-3A19-ED76AA08988F}" type="slidenum">
              <a:rPr sz="1125" b="0">
                <a:solidFill>
                  <a:srgbClr val="000000"/>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Research question</a:t>
            </a:r>
          </a:p>
        </p:txBody>
      </p:sp>
      <p:sp>
        <p:nvSpPr>
          <p:cNvPr id="534" name="">
            <a:extLst xmlns:a="http://schemas.openxmlformats.org/drawingml/2006/main">
              <a:ext uri="{FF2B5EF4-FFF2-40B4-BE49-F238E27FC236}">
                <a16:creationId xmlns:a16="http://schemas.microsoft.com/office/drawing/2014/main" id="{066F6A0C-4466-4074-8103-D701BBA5FDD0}"/>
              </a:ext>
            </a:extLst>
          </p:cNvPr>
          <p:cNvSpPr>
            <a:spLocks xmlns:a="http://schemas.openxmlformats.org/drawingml/2006/main" noGrp="1"/>
          </p:cNvSpPr>
          <p:nvPr/>
        </p:nvSpPr>
        <p:spPr>
          <a:xfrm xmlns:a="http://schemas.openxmlformats.org/drawingml/2006/main">
            <a:off x="390525" y="1371600"/>
            <a:ext cx="11401425"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Can workload-aware admission improve goodput during long-prompt bursts on the same GPU?</a:t>
            </a:r>
          </a:p>
        </p:txBody>
      </p:sp>
      <p:sp>
        <p:nvSpPr>
          <p:cNvPr id="535" name="">
            <a:extLst xmlns:a="http://schemas.openxmlformats.org/drawingml/2006/main">
              <a:ext uri="{FF2B5EF4-FFF2-40B4-BE49-F238E27FC236}">
                <a16:creationId xmlns:a16="http://schemas.microsoft.com/office/drawing/2014/main" id="{D66CF298-08C0-437C-9C82-7CF9774DBC86}"/>
              </a:ext>
            </a:extLst>
          </p:cNvPr>
          <p:cNvSpPr>
            <a:spLocks xmlns:a="http://schemas.openxmlformats.org/drawingml/2006/main" noGrp="1"/>
          </p:cNvSpPr>
          <p:nvPr/>
        </p:nvSpPr>
        <p:spPr>
          <a:xfrm xmlns:a="http://schemas.openxmlformats.org/drawingml/2006/main">
            <a:off x="390525" y="2857500"/>
            <a:ext cx="53816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Scheduling trade-offs</a:t>
            </a:r>
          </a:p>
        </p:txBody>
      </p:sp>
      <p:sp>
        <p:nvSpPr>
          <p:cNvPr id="536" name="">
            <a:extLst xmlns:a="http://schemas.openxmlformats.org/drawingml/2006/main">
              <a:ext uri="{FF2B5EF4-FFF2-40B4-BE49-F238E27FC236}">
                <a16:creationId xmlns:a16="http://schemas.microsoft.com/office/drawing/2014/main" id="{8CB95D54-A0B8-4464-AA60-602F10C22AAC}"/>
              </a:ext>
            </a:extLst>
          </p:cNvPr>
          <p:cNvSpPr>
            <a:spLocks xmlns:a="http://schemas.openxmlformats.org/drawingml/2006/main" noGrp="1"/>
          </p:cNvSpPr>
          <p:nvPr/>
        </p:nvSpPr>
        <p:spPr>
          <a:xfrm xmlns:a="http://schemas.openxmlformats.org/drawingml/2006/main">
            <a:off x="390525" y="3267075"/>
            <a:ext cx="538162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Admission limits can leave capacity unused or delay requests. Increased GPU busy time need not improve timely completions.</a:t>
            </a:r>
          </a:p>
        </p:txBody>
      </p:sp>
      <p:sp>
        <p:nvSpPr>
          <p:cNvPr id="537" name="">
            <a:extLst xmlns:a="http://schemas.openxmlformats.org/drawingml/2006/main">
              <a:ext uri="{FF2B5EF4-FFF2-40B4-BE49-F238E27FC236}">
                <a16:creationId xmlns:a16="http://schemas.microsoft.com/office/drawing/2014/main" id="{62047756-3160-49C8-B430-3E6A15BAB155}"/>
              </a:ext>
            </a:extLst>
          </p:cNvPr>
          <p:cNvSpPr>
            <a:spLocks xmlns:a="http://schemas.openxmlformats.org/drawingml/2006/main" noGrp="1"/>
          </p:cNvSpPr>
          <p:nvPr/>
        </p:nvSpPr>
        <p:spPr>
          <a:xfrm xmlns:a="http://schemas.openxmlformats.org/drawingml/2006/main">
            <a:off x="6257925" y="2857500"/>
            <a:ext cx="55340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Controlled workload</a:t>
            </a:r>
          </a:p>
        </p:txBody>
      </p:sp>
      <p:sp>
        <p:nvSpPr>
          <p:cNvPr id="538" name="">
            <a:extLst xmlns:a="http://schemas.openxmlformats.org/drawingml/2006/main">
              <a:ext uri="{FF2B5EF4-FFF2-40B4-BE49-F238E27FC236}">
                <a16:creationId xmlns:a16="http://schemas.microsoft.com/office/drawing/2014/main" id="{63C54401-5CB4-4242-B3CD-5B0130571FAB}"/>
              </a:ext>
            </a:extLst>
          </p:cNvPr>
          <p:cNvSpPr>
            <a:spLocks xmlns:a="http://schemas.openxmlformats.org/drawingml/2006/main" noGrp="1"/>
          </p:cNvSpPr>
          <p:nvPr/>
        </p:nvSpPr>
        <p:spPr>
          <a:xfrm xmlns:a="http://schemas.openxmlformats.org/drawingml/2006/main">
            <a:off x="6257925" y="3267075"/>
            <a:ext cx="5534025"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Short prompts, a burst of long prompts, then short prompts. Measure recovery, goodput and tail latency.</a:t>
            </a:r>
          </a:p>
        </p:txBody>
      </p:sp>
      <p:sp>
        <p:nvSpPr>
          <p:cNvPr id="539" name="">
            <a:extLst xmlns:a="http://schemas.openxmlformats.org/drawingml/2006/main">
              <a:ext uri="{FF2B5EF4-FFF2-40B4-BE49-F238E27FC236}">
                <a16:creationId xmlns:a16="http://schemas.microsoft.com/office/drawing/2014/main" id="{07B93E80-883A-42D0-A484-43C56DF3C3C3}"/>
              </a:ext>
            </a:extLst>
          </p:cNvPr>
          <p:cNvSpPr>
            <a:spLocks xmlns:a="http://schemas.openxmlformats.org/drawingml/2006/main" noGrp="1"/>
          </p:cNvSpPr>
          <p:nvPr/>
        </p:nvSpPr>
        <p:spPr>
          <a:xfrm xmlns:a="http://schemas.openxmlformats.org/drawingml/2006/main">
            <a:off x="390525" y="4810125"/>
            <a:ext cx="11401425"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Hypothesis: estimated processing cost and remaining latency budget can guide admission to improve goodput without worse tail latency.</a:t>
            </a:r>
          </a:p>
        </p:txBody>
      </p:sp>
      <p:sp>
        <p:nvSpPr>
          <p:cNvPr id="540" name="">
            <a:extLst xmlns:a="http://schemas.openxmlformats.org/drawingml/2006/main">
              <a:ext uri="{FF2B5EF4-FFF2-40B4-BE49-F238E27FC236}">
                <a16:creationId xmlns:a16="http://schemas.microsoft.com/office/drawing/2014/main" id="{105355EB-D56D-4F63-A6E6-5551DBAC5573}"/>
              </a:ext>
            </a:extLst>
          </p:cNvPr>
          <p:cNvSpPr>
            <a:spLocks xmlns:a="http://schemas.openxmlformats.org/drawingml/2006/main" noGrp="1"/>
          </p:cNvSpPr>
          <p:nvPr/>
        </p:nvSpPr>
        <p:spPr>
          <a:xfrm xmlns:a="http://schemas.openxmlformats.org/drawingml/2006/main">
            <a:off x="390525" y="5895975"/>
            <a:ext cx="114014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Initial scope: single-GPU LLM serving, with all requests and waiting time included.</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477500" cy="228600"/>
          </a:xfrm>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000000"/>
                </a:solidFill>
                <a:latin typeface="Helvetica Neue"/>
                <a:ea typeface="Helvetica Neue"/>
                <a:cs typeface="Helvetica Neue"/>
              </a:defRPr>
            </a:pPr>
            <a:r>
              <a:rPr sz="1050" b="0">
                <a:solidFill>
                  <a:srgbClr val="000000"/>
                </a:solidFill>
                <a:latin typeface="Helvetica Neue"/>
                <a:ea typeface="Helvetica Neue"/>
                <a:cs typeface="Helvetica Neue"/>
              </a:rP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202359C0-8A7A-196E-DD58-8E6569619F09}" type="slidenum">
              <a:rPr sz="1125" b="0">
                <a:solidFill>
                  <a:srgbClr val="000000"/>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619125" y="2200275"/>
            <a:ext cx="10953750" cy="106680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Previous Literature Review</a:t>
            </a:r>
          </a:p>
        </p:txBody>
      </p:sp>
      <p:sp>
        <p:nvSpPr>
          <p:cNvPr id="534" name="">
            <a:extLst xmlns:a="http://schemas.openxmlformats.org/drawingml/2006/main">
              <a:ext uri="{FF2B5EF4-FFF2-40B4-BE49-F238E27FC236}">
                <a16:creationId xmlns:a16="http://schemas.microsoft.com/office/drawing/2014/main" id="{EFB460E8-C07B-48D5-B5EC-4B66C986A1ED}"/>
              </a:ext>
            </a:extLst>
          </p:cNvPr>
          <p:cNvSpPr>
            <a:spLocks xmlns:a="http://schemas.openxmlformats.org/drawingml/2006/main" noGrp="1"/>
          </p:cNvSpPr>
          <p:nvPr/>
        </p:nvSpPr>
        <p:spPr>
          <a:xfrm xmlns:a="http://schemas.openxmlformats.org/drawingml/2006/main">
            <a:off x="657225" y="3514725"/>
            <a:ext cx="10382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1ece2e6b659f4840"/>
              </a:rPr>
              <a:t>SOLA</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3e21068cb5a648b8"/>
              </a:rPr>
              <a:t>DuetServe</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acf9f0f031684497"/>
              </a:rPr>
              <a:t>Prism recommendation serving</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EFD6AB9A-5F9E-5F59-51AB-3C8734130965}" type="slidenum">
              <a:rPr sz="1125" b="0">
                <a:solidFill>
                  <a:srgbClr val="000000"/>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What existing inference systems optimize</a:t>
            </a:r>
          </a:p>
        </p:txBody>
      </p:sp>
      <p:sp>
        <p:nvSpPr>
          <p:cNvPr id="534" name="">
            <a:extLst xmlns:a="http://schemas.openxmlformats.org/drawingml/2006/main">
              <a:ext uri="{FF2B5EF4-FFF2-40B4-BE49-F238E27FC236}">
                <a16:creationId xmlns:a16="http://schemas.microsoft.com/office/drawing/2014/main" id="{96CD065C-0F58-44C4-A6CC-79E76F39D5C8}"/>
              </a:ext>
            </a:extLst>
          </p:cNvPr>
          <p:cNvSpPr>
            <a:spLocks xmlns:a="http://schemas.openxmlformats.org/drawingml/2006/main" noGrp="1"/>
          </p:cNvSpPr>
          <p:nvPr/>
        </p:nvSpPr>
        <p:spPr>
          <a:xfrm xmlns:a="http://schemas.openxmlformats.org/drawingml/2006/main">
            <a:off x="390525" y="1362075"/>
            <a:ext cx="11401425"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rPr sz="1950" b="0">
                <a:solidFill>
                  <a:srgbClr val="000000"/>
                </a:solidFill>
                <a:latin typeface="Helvetica Neue"/>
                <a:ea typeface="Helvetica Neue"/>
                <a:cs typeface="Helvetica Neue"/>
              </a:rPr>
              <a:t>Selected systems address request scheduling, GPU execution overlap and resource allocation.</a:t>
            </a:r>
          </a:p>
        </p:txBody>
      </p:sp>
      <p:graphicFrame>
        <p:nvGraphicFramePr>
          <p:cNvPr id="541" name=""/>
          <p:cNvGraphicFramePr/>
          <p:nvPr/>
        </p:nvGraphicFramePr>
        <p:xfrm>
          <a:off xmlns:a="http://schemas.openxmlformats.org/drawingml/2006/main" x="390525" y="2276475"/>
          <a:ext xmlns:a="http://schemas.openxmlformats.org/drawingml/2006/main" cx="11401425" cy="3076575"/>
        </p:xfrm>
        <a:graphic xmlns:a="http://schemas.openxmlformats.org/drawingml/2006/main">
          <a:graphicData uri="http://schemas.openxmlformats.org/drawingml/2006/table">
            <a:tbl>
              <a:tblPr firstRow="0" bandRow="0"/>
              <a:tblGrid>
                <a:gridCol w="2143125"/>
                <a:gridCol w="4772025"/>
                <a:gridCol w="4486275"/>
              </a:tblGrid>
              <a:tr h="769144">
                <a:tc>
                  <a:txBody>
                    <a:bodyPr/>
                    <a:lstStyle/>
                    <a:p>
                      <a:r>
                        <a:rPr sz="1725" b="1">
                          <a:solidFill>
                            <a:srgbClr val="000000"/>
                          </a:solidFill>
                          <a:latin typeface="Helvetica Neue"/>
                          <a:ea typeface="Helvetica Neue"/>
                          <a:cs typeface="Helvetica Neue"/>
                        </a:rPr>
                        <a:t>System</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What it tries to improve</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How the selected experiment tests it</a:t>
                      </a:r>
                    </a:p>
                  </a:txBody>
                  <a:tcPr marL="95250" marR="95250" marT="76200" marB="57150" anchor="t">
                    <a:solidFill>
                      <a:srgbClr val="EAF6FD"/>
                    </a:solidFill>
                  </a:tcPr>
                </a:tc>
              </a:tr>
              <a:tr h="769144">
                <a:tc>
                  <a:txBody>
                    <a:bodyPr/>
                    <a:lstStyle/>
                    <a:p>
                      <a:r>
                        <a:rPr sz="1725">
                          <a:solidFill>
                            <a:srgbClr val="000000"/>
                          </a:solidFill>
                          <a:latin typeface="Helvetica Neue"/>
                          <a:ea typeface="Helvetica Neue"/>
                          <a:cs typeface="Helvetica Neue"/>
                        </a:rPr>
                        <a:t>SOLA</a:t>
                      </a:r>
                    </a:p>
                    <a:p>
                      <a:r>
                        <a:rPr sz="1725">
                          <a:solidFill>
                            <a:srgbClr val="000000"/>
                          </a:solidFill>
                          <a:latin typeface="Helvetica Neue"/>
                          <a:ea typeface="Helvetica Neue"/>
                          <a:cs typeface="Helvetica Neue"/>
                        </a:rPr>
                        <a:t>MLSys 2025</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Request order and work per GPU iteration, using request and system state</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Compare first-token and per-token latency against the paper’s vLLM baseline</a:t>
                      </a:r>
                    </a:p>
                  </a:txBody>
                  <a:tcPr marL="95250" marR="95250" marT="76200" marB="57150" anchor="t">
                    <a:solidFill>
                      <a:srgbClr val="FFFFFF"/>
                    </a:solidFill>
                  </a:tcPr>
                </a:tc>
              </a:tr>
              <a:tr h="769144">
                <a:tc>
                  <a:txBody>
                    <a:bodyPr/>
                    <a:lstStyle/>
                    <a:p>
                      <a:r>
                        <a:rPr sz="1725">
                          <a:solidFill>
                            <a:srgbClr val="000000"/>
                          </a:solidFill>
                          <a:latin typeface="Helvetica Neue"/>
                          <a:ea typeface="Helvetica Neue"/>
                          <a:cs typeface="Helvetica Neue"/>
                        </a:rPr>
                        <a:t>DuetServe</a:t>
                      </a:r>
                    </a:p>
                    <a:p>
                      <a:r>
                        <a:rPr sz="1725">
                          <a:solidFill>
                            <a:srgbClr val="000000"/>
                          </a:solidFill>
                          <a:latin typeface="Helvetica Neue"/>
                          <a:ea typeface="Helvetica Neue"/>
                          <a:cs typeface="Helvetica Neue"/>
                        </a:rPr>
                        <a:t>ICML 2026</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Sharing GPU execution resources between prefill and decode</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Increase offered request rate and compare completed requests/s</a:t>
                      </a:r>
                    </a:p>
                  </a:txBody>
                  <a:tcPr marL="95250" marR="95250" marT="76200" marB="57150" anchor="t">
                    <a:solidFill>
                      <a:srgbClr val="FFFFFF"/>
                    </a:solidFill>
                  </a:tcPr>
                </a:tc>
              </a:tr>
              <a:tr h="769144">
                <a:tc>
                  <a:txBody>
                    <a:bodyPr/>
                    <a:lstStyle/>
                    <a:p>
                      <a:r>
                        <a:rPr sz="1725">
                          <a:solidFill>
                            <a:srgbClr val="000000"/>
                          </a:solidFill>
                          <a:latin typeface="Helvetica Neue"/>
                          <a:ea typeface="Helvetica Neue"/>
                          <a:cs typeface="Helvetica Neue"/>
                        </a:rPr>
                        <a:t>Prism</a:t>
                      </a:r>
                    </a:p>
                    <a:p>
                      <a:r>
                        <a:rPr sz="1725">
                          <a:solidFill>
                            <a:srgbClr val="000000"/>
                          </a:solidFill>
                          <a:latin typeface="Helvetica Neue"/>
                          <a:ea typeface="Helvetica Neue"/>
                          <a:cs typeface="Helvetica Neue"/>
                        </a:rPr>
                        <a:t>NSDI 2025</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CPU/GPU resource use in recommendation inference</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Vary CPU-side and GPU-side instances and compare goodput per GPU node</a:t>
                      </a:r>
                    </a:p>
                  </a:txBody>
                  <a:tcPr marL="95250" marR="95250" marT="76200" marB="57150" anchor="t">
                    <a:solidFill>
                      <a:srgbClr val="FFFFFF"/>
                    </a:solidFill>
                  </a:tcPr>
                </a:tc>
              </a:tr>
            </a:tbl>
          </a:graphicData>
        </a:graphic>
      </p:graphicFrame>
      <p:sp>
        <p:nvSpPr>
          <p:cNvPr id="536" name="">
            <a:extLst xmlns:a="http://schemas.openxmlformats.org/drawingml/2006/main">
              <a:ext uri="{FF2B5EF4-FFF2-40B4-BE49-F238E27FC236}">
                <a16:creationId xmlns:a16="http://schemas.microsoft.com/office/drawing/2014/main" id="{648102C5-73E5-4E11-92F9-5B12B3BB87D2}"/>
              </a:ext>
            </a:extLst>
          </p:cNvPr>
          <p:cNvSpPr>
            <a:spLocks xmlns:a="http://schemas.openxmlformats.org/drawingml/2006/main" noGrp="1"/>
          </p:cNvSpPr>
          <p:nvPr/>
        </p:nvSpPr>
        <p:spPr>
          <a:xfrm xmlns:a="http://schemas.openxmlformats.org/drawingml/2006/main">
            <a:off x="390525" y="5695950"/>
            <a:ext cx="114014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Their gains use different hardware, workloads and latency targets. They do not form a single performance ranking.</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2ad4b702158a4064"/>
              </a:rPr>
              <a:t>Hong et al., SOLA, MLSys 2025. Original Figure 1</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EE5B3003-2C54-13C6-9832-7637201064DE}" type="slidenum">
              <a:rPr sz="1125" b="0">
                <a:solidFill>
                  <a:srgbClr val="000000"/>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SOLA: scheduling to meet latency targets</a:t>
            </a:r>
          </a:p>
        </p:txBody>
      </p:sp>
      <p:pic>
        <p:nvPicPr>
          <p:cNvPr id="545" name=""/>
          <p:cNvPicPr>
            <a:picLocks xmlns:a="http://schemas.openxmlformats.org/drawingml/2006/main" noChangeAspect="1"/>
          </p:cNvPicPr>
          <p:nvPr/>
        </p:nvPicPr>
        <p:blipFill>
          <a:blip xmlns:r="http://schemas.openxmlformats.org/officeDocument/2006/relationships" xmlns:a="http://schemas.openxmlformats.org/drawingml/2006/main" r:embed="R3a74ed1078974eeb"/>
          <a:stretch xmlns:a="http://schemas.openxmlformats.org/drawingml/2006/main"/>
        </p:blipFill>
        <p:spPr>
          <a:xfrm xmlns:a="http://schemas.openxmlformats.org/drawingml/2006/main">
            <a:off x="390525" y="2182403"/>
            <a:ext cx="5600700" cy="2940869"/>
          </a:xfrm>
          <a:prstGeom xmlns:a="http://schemas.openxmlformats.org/drawingml/2006/main" prst="rect">
            <a:avLst/>
          </a:prstGeom>
        </p:spPr>
      </p:pic>
      <p:sp>
        <p:nvSpPr>
          <p:cNvPr id="535" name="">
            <a:extLst xmlns:a="http://schemas.openxmlformats.org/drawingml/2006/main">
              <a:ext uri="{FF2B5EF4-FFF2-40B4-BE49-F238E27FC236}">
                <a16:creationId xmlns:a16="http://schemas.microsoft.com/office/drawing/2014/main" id="{BF76E13B-85BC-4213-BD50-29F2B3C40D88}"/>
              </a:ext>
            </a:extLst>
          </p:cNvPr>
          <p:cNvSpPr>
            <a:spLocks xmlns:a="http://schemas.openxmlformats.org/drawingml/2006/main" noGrp="1"/>
          </p:cNvSpPr>
          <p:nvPr/>
        </p:nvSpPr>
        <p:spPr>
          <a:xfrm xmlns:a="http://schemas.openxmlformats.org/drawingml/2006/main">
            <a:off x="390525" y="5295900"/>
            <a:ext cx="5600700"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Read the graph: each point is a request.</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x = first-token delay (TTFT), y = time per output token (TPOT). The shaded corner meets both targets.</a:t>
            </a:r>
          </a:p>
        </p:txBody>
      </p:sp>
      <p:sp>
        <p:nvSpPr>
          <p:cNvPr id="536" name="">
            <a:extLst xmlns:a="http://schemas.openxmlformats.org/drawingml/2006/main">
              <a:ext uri="{FF2B5EF4-FFF2-40B4-BE49-F238E27FC236}">
                <a16:creationId xmlns:a16="http://schemas.microsoft.com/office/drawing/2014/main" id="{72D9F420-3753-4DA1-AD73-BC2773DA2FAF}"/>
              </a:ext>
            </a:extLst>
          </p:cNvPr>
          <p:cNvSpPr>
            <a:spLocks xmlns:a="http://schemas.openxmlformats.org/drawingml/2006/main" noGrp="1"/>
          </p:cNvSpPr>
          <p:nvPr/>
        </p:nvSpPr>
        <p:spPr>
          <a:xfrm xmlns:a="http://schemas.openxmlformats.org/drawingml/2006/main">
            <a:off x="6505575" y="1457325"/>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Goal and method</a:t>
            </a:r>
          </a:p>
        </p:txBody>
      </p:sp>
      <p:sp>
        <p:nvSpPr>
          <p:cNvPr id="537" name="">
            <a:extLst xmlns:a="http://schemas.openxmlformats.org/drawingml/2006/main">
              <a:ext uri="{FF2B5EF4-FFF2-40B4-BE49-F238E27FC236}">
                <a16:creationId xmlns:a16="http://schemas.microsoft.com/office/drawing/2014/main" id="{59F6CFCB-1CD3-428F-9E1E-DAA0AE4D8829}"/>
              </a:ext>
            </a:extLst>
          </p:cNvPr>
          <p:cNvSpPr>
            <a:spLocks xmlns:a="http://schemas.openxmlformats.org/drawingml/2006/main" noGrp="1"/>
          </p:cNvSpPr>
          <p:nvPr/>
        </p:nvSpPr>
        <p:spPr>
          <a:xfrm xmlns:a="http://schemas.openxmlformats.org/drawingml/2006/main">
            <a:off x="6505575" y="1866900"/>
            <a:ext cx="5286375" cy="8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SOLA changes request order and work per iteration using current request and engine state.</a:t>
            </a:r>
          </a:p>
        </p:txBody>
      </p:sp>
      <p:sp>
        <p:nvSpPr>
          <p:cNvPr id="538" name="">
            <a:extLst xmlns:a="http://schemas.openxmlformats.org/drawingml/2006/main">
              <a:ext uri="{FF2B5EF4-FFF2-40B4-BE49-F238E27FC236}">
                <a16:creationId xmlns:a16="http://schemas.microsoft.com/office/drawing/2014/main" id="{5C661DDC-BF29-4C92-8C74-C129E4563FFF}"/>
              </a:ext>
            </a:extLst>
          </p:cNvPr>
          <p:cNvSpPr>
            <a:spLocks xmlns:a="http://schemas.openxmlformats.org/drawingml/2006/main" noGrp="1"/>
          </p:cNvSpPr>
          <p:nvPr/>
        </p:nvSpPr>
        <p:spPr>
          <a:xfrm xmlns:a="http://schemas.openxmlformats.org/drawingml/2006/main">
            <a:off x="6505575" y="2933700"/>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Experiment shown</a:t>
            </a:r>
          </a:p>
        </p:txBody>
      </p:sp>
      <p:sp>
        <p:nvSpPr>
          <p:cNvPr id="539" name="">
            <a:extLst xmlns:a="http://schemas.openxmlformats.org/drawingml/2006/main">
              <a:ext uri="{FF2B5EF4-FFF2-40B4-BE49-F238E27FC236}">
                <a16:creationId xmlns:a16="http://schemas.microsoft.com/office/drawing/2014/main" id="{0B2A5541-6291-439F-9F22-CCDE0A1EC83C}"/>
              </a:ext>
            </a:extLst>
          </p:cNvPr>
          <p:cNvSpPr>
            <a:spLocks xmlns:a="http://schemas.openxmlformats.org/drawingml/2006/main" noGrp="1"/>
          </p:cNvSpPr>
          <p:nvPr/>
        </p:nvSpPr>
        <p:spPr>
          <a:xfrm xmlns:a="http://schemas.openxmlformats.org/drawingml/2006/main">
            <a:off x="6505575" y="3343275"/>
            <a:ext cx="5286375"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Llama3-70B on 4 A100s. ShareGPT at 4.6 requests/s. Targets: TTFT 0.5 s and TPOT 0.2 s.</a:t>
            </a:r>
          </a:p>
        </p:txBody>
      </p:sp>
      <p:sp>
        <p:nvSpPr>
          <p:cNvPr id="540" name="">
            <a:extLst xmlns:a="http://schemas.openxmlformats.org/drawingml/2006/main">
              <a:ext uri="{FF2B5EF4-FFF2-40B4-BE49-F238E27FC236}">
                <a16:creationId xmlns:a16="http://schemas.microsoft.com/office/drawing/2014/main" id="{4471423A-E32F-4788-8038-9FFB062F2BCA}"/>
              </a:ext>
            </a:extLst>
          </p:cNvPr>
          <p:cNvSpPr>
            <a:spLocks xmlns:a="http://schemas.openxmlformats.org/drawingml/2006/main" noGrp="1"/>
          </p:cNvSpPr>
          <p:nvPr/>
        </p:nvSpPr>
        <p:spPr>
          <a:xfrm xmlns:a="http://schemas.openxmlformats.org/drawingml/2006/main">
            <a:off x="6505575" y="4552950"/>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Result and relevance</a:t>
            </a:r>
          </a:p>
        </p:txBody>
      </p:sp>
      <p:sp>
        <p:nvSpPr>
          <p:cNvPr id="541" name="">
            <a:extLst xmlns:a="http://schemas.openxmlformats.org/drawingml/2006/main">
              <a:ext uri="{FF2B5EF4-FFF2-40B4-BE49-F238E27FC236}">
                <a16:creationId xmlns:a16="http://schemas.microsoft.com/office/drawing/2014/main" id="{389ADF0D-44C4-4031-937F-B96A6E428714}"/>
              </a:ext>
            </a:extLst>
          </p:cNvPr>
          <p:cNvSpPr>
            <a:spLocks xmlns:a="http://schemas.openxmlformats.org/drawingml/2006/main" noGrp="1"/>
          </p:cNvSpPr>
          <p:nvPr/>
        </p:nvSpPr>
        <p:spPr>
          <a:xfrm xmlns:a="http://schemas.openxmlformats.org/drawingml/2006/main">
            <a:off x="6505575" y="4962525"/>
            <a:ext cx="5286375"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Target attainment rises from 65% to 98%. Scheduling can change useful completions. This is the paper’s result, under its own setup.</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a6fecedc4e9e4390"/>
              </a:rPr>
              <a:t>Gao et al., DuetServe, ICML 2026. Figure 6 and §5.2</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8C630A04-5A25-9E0C-9436-126091DB86B3}" type="slidenum">
              <a:rPr sz="1125" b="0">
                <a:solidFill>
                  <a:srgbClr val="000000"/>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DuetServe: sharing GPU resources across inference stages</a:t>
            </a:r>
          </a:p>
        </p:txBody>
      </p:sp>
      <p:pic>
        <p:nvPicPr>
          <p:cNvPr id="546" name=""/>
          <p:cNvPicPr>
            <a:picLocks xmlns:a="http://schemas.openxmlformats.org/drawingml/2006/main" noChangeAspect="1"/>
          </p:cNvPicPr>
          <p:nvPr/>
        </p:nvPicPr>
        <p:blipFill>
          <a:blip xmlns:r="http://schemas.openxmlformats.org/officeDocument/2006/relationships" xmlns:a="http://schemas.openxmlformats.org/drawingml/2006/main" r:embed="R09e6e82d889f4e54"/>
          <a:stretch xmlns:a="http://schemas.openxmlformats.org/drawingml/2006/main"/>
        </p:blipFill>
        <p:spPr>
          <a:xfrm xmlns:a="http://schemas.openxmlformats.org/drawingml/2006/main">
            <a:off x="390525" y="1729154"/>
            <a:ext cx="2057400" cy="1094642"/>
          </a:xfrm>
          <a:prstGeom xmlns:a="http://schemas.openxmlformats.org/drawingml/2006/main" prst="rect">
            <a:avLst/>
          </a:prstGeom>
        </p:spPr>
      </p:pic>
      <p:sp>
        <p:nvSpPr>
          <p:cNvPr id="535" name="">
            <a:extLst xmlns:a="http://schemas.openxmlformats.org/drawingml/2006/main">
              <a:ext uri="{FF2B5EF4-FFF2-40B4-BE49-F238E27FC236}">
                <a16:creationId xmlns:a16="http://schemas.microsoft.com/office/drawing/2014/main" id="{96422061-BF7B-4B47-9E9C-2B6F732ACAC5}"/>
              </a:ext>
            </a:extLst>
          </p:cNvPr>
          <p:cNvSpPr>
            <a:spLocks xmlns:a="http://schemas.openxmlformats.org/drawingml/2006/main" noGrp="1"/>
          </p:cNvSpPr>
          <p:nvPr/>
        </p:nvSpPr>
        <p:spPr>
          <a:xfrm xmlns:a="http://schemas.openxmlformats.org/drawingml/2006/main">
            <a:off x="2743200" y="1619250"/>
            <a:ext cx="32385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QPS is incoming requests/s.</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The vertical axis counts completed requests/s. Higher lines mean greater throughput.</a:t>
            </a:r>
          </a:p>
        </p:txBody>
      </p:sp>
      <p:pic>
        <p:nvPicPr>
          <p:cNvPr id="548" name=""/>
          <p:cNvPicPr>
            <a:picLocks xmlns:a="http://schemas.openxmlformats.org/drawingml/2006/main" noChangeAspect="1"/>
          </p:cNvPicPr>
          <p:nvPr/>
        </p:nvPicPr>
        <p:blipFill>
          <a:blip xmlns:r="http://schemas.openxmlformats.org/officeDocument/2006/relationships" xmlns:a="http://schemas.openxmlformats.org/drawingml/2006/main" r:embed="Rda874ec98da34abe"/>
          <a:stretch xmlns:a="http://schemas.openxmlformats.org/drawingml/2006/main"/>
        </p:blipFill>
        <p:spPr>
          <a:xfrm xmlns:a="http://schemas.openxmlformats.org/drawingml/2006/main">
            <a:off x="903711" y="3105150"/>
            <a:ext cx="4574327" cy="2800350"/>
          </a:xfrm>
          <a:prstGeom xmlns:a="http://schemas.openxmlformats.org/drawingml/2006/main" prst="rect">
            <a:avLst/>
          </a:prstGeom>
        </p:spPr>
      </p:pic>
      <p:sp>
        <p:nvSpPr>
          <p:cNvPr id="537" name="">
            <a:extLst xmlns:a="http://schemas.openxmlformats.org/drawingml/2006/main">
              <a:ext uri="{FF2B5EF4-FFF2-40B4-BE49-F238E27FC236}">
                <a16:creationId xmlns:a16="http://schemas.microsoft.com/office/drawing/2014/main" id="{5CFA7613-687E-46A1-9754-237CBD326148}"/>
              </a:ext>
            </a:extLst>
          </p:cNvPr>
          <p:cNvSpPr>
            <a:spLocks xmlns:a="http://schemas.openxmlformats.org/drawingml/2006/main" noGrp="1"/>
          </p:cNvSpPr>
          <p:nvPr/>
        </p:nvSpPr>
        <p:spPr>
          <a:xfrm xmlns:a="http://schemas.openxmlformats.org/drawingml/2006/main">
            <a:off x="6505575" y="1457325"/>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Goal and method</a:t>
            </a:r>
          </a:p>
        </p:txBody>
      </p:sp>
      <p:sp>
        <p:nvSpPr>
          <p:cNvPr id="538" name="">
            <a:extLst xmlns:a="http://schemas.openxmlformats.org/drawingml/2006/main">
              <a:ext uri="{FF2B5EF4-FFF2-40B4-BE49-F238E27FC236}">
                <a16:creationId xmlns:a16="http://schemas.microsoft.com/office/drawing/2014/main" id="{2E6E0D12-E666-4C5C-B5CF-350C0E05C0C9}"/>
              </a:ext>
            </a:extLst>
          </p:cNvPr>
          <p:cNvSpPr>
            <a:spLocks xmlns:a="http://schemas.openxmlformats.org/drawingml/2006/main" noGrp="1"/>
          </p:cNvSpPr>
          <p:nvPr/>
        </p:nvSpPr>
        <p:spPr>
          <a:xfrm xmlns:a="http://schemas.openxmlformats.org/drawingml/2006/main">
            <a:off x="6505575" y="1866900"/>
            <a:ext cx="5286375" cy="904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DuetServe overlaps prompt processing with token generation using adaptive GPU resource sharing.</a:t>
            </a:r>
          </a:p>
        </p:txBody>
      </p:sp>
      <p:sp>
        <p:nvSpPr>
          <p:cNvPr id="539" name="">
            <a:extLst xmlns:a="http://schemas.openxmlformats.org/drawingml/2006/main">
              <a:ext uri="{FF2B5EF4-FFF2-40B4-BE49-F238E27FC236}">
                <a16:creationId xmlns:a16="http://schemas.microsoft.com/office/drawing/2014/main" id="{0D984156-147E-4C7F-BA00-2B2425A1F44D}"/>
              </a:ext>
            </a:extLst>
          </p:cNvPr>
          <p:cNvSpPr>
            <a:spLocks xmlns:a="http://schemas.openxmlformats.org/drawingml/2006/main" noGrp="1"/>
          </p:cNvSpPr>
          <p:nvPr/>
        </p:nvSpPr>
        <p:spPr>
          <a:xfrm xmlns:a="http://schemas.openxmlformats.org/drawingml/2006/main">
            <a:off x="6505575" y="2990850"/>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Experiment shown</a:t>
            </a:r>
          </a:p>
        </p:txBody>
      </p:sp>
      <p:sp>
        <p:nvSpPr>
          <p:cNvPr id="540" name="">
            <a:extLst xmlns:a="http://schemas.openxmlformats.org/drawingml/2006/main">
              <a:ext uri="{FF2B5EF4-FFF2-40B4-BE49-F238E27FC236}">
                <a16:creationId xmlns:a16="http://schemas.microsoft.com/office/drawing/2014/main" id="{65F5A740-77BA-49E1-B816-08662D270836}"/>
              </a:ext>
            </a:extLst>
          </p:cNvPr>
          <p:cNvSpPr>
            <a:spLocks xmlns:a="http://schemas.openxmlformats.org/drawingml/2006/main" noGrp="1"/>
          </p:cNvSpPr>
          <p:nvPr/>
        </p:nvSpPr>
        <p:spPr>
          <a:xfrm xmlns:a="http://schemas.openxmlformats.org/drawingml/2006/main">
            <a:off x="6505575" y="3400425"/>
            <a:ext cx="5286375"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Qwen3-8B on 1 H100 80 GB. The AzureCode workload increases incoming rate from 10 to 16 requests/s.</a:t>
            </a:r>
          </a:p>
        </p:txBody>
      </p:sp>
      <p:sp>
        <p:nvSpPr>
          <p:cNvPr id="541" name="">
            <a:extLst xmlns:a="http://schemas.openxmlformats.org/drawingml/2006/main">
              <a:ext uri="{FF2B5EF4-FFF2-40B4-BE49-F238E27FC236}">
                <a16:creationId xmlns:a16="http://schemas.microsoft.com/office/drawing/2014/main" id="{CF945564-015D-4C07-9D9C-E76D2330A038}"/>
              </a:ext>
            </a:extLst>
          </p:cNvPr>
          <p:cNvSpPr>
            <a:spLocks xmlns:a="http://schemas.openxmlformats.org/drawingml/2006/main" noGrp="1"/>
          </p:cNvSpPr>
          <p:nvPr/>
        </p:nvSpPr>
        <p:spPr>
          <a:xfrm xmlns:a="http://schemas.openxmlformats.org/drawingml/2006/main">
            <a:off x="6505575" y="4533900"/>
            <a:ext cx="52863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Result and relevance</a:t>
            </a:r>
          </a:p>
        </p:txBody>
      </p:sp>
      <p:sp>
        <p:nvSpPr>
          <p:cNvPr id="542" name="">
            <a:extLst xmlns:a="http://schemas.openxmlformats.org/drawingml/2006/main">
              <a:ext uri="{FF2B5EF4-FFF2-40B4-BE49-F238E27FC236}">
                <a16:creationId xmlns:a16="http://schemas.microsoft.com/office/drawing/2014/main" id="{09BD47BA-92EA-4D70-83A7-7C5F4D02F75E}"/>
              </a:ext>
            </a:extLst>
          </p:cNvPr>
          <p:cNvSpPr>
            <a:spLocks xmlns:a="http://schemas.openxmlformats.org/drawingml/2006/main" noGrp="1"/>
          </p:cNvSpPr>
          <p:nvPr/>
        </p:nvSpPr>
        <p:spPr>
          <a:xfrm xmlns:a="http://schemas.openxmlformats.org/drawingml/2006/main">
            <a:off x="6505575" y="4943475"/>
            <a:ext cx="5286375" cy="1323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At 16 incoming requests/s: 12.43 for SGLang-Default, 13.57 for DuetServe (+9.2%, calculated). Execution scheduling affects completed work.</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b16fa643e9ee4e34"/>
              </a:rPr>
              <a:t>Yang et al., GPU-Disaggregated DLRM Serving, NSDI 2025. Figure 17</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D3D7D1C8-AE23-AA48-DF65-C742588DBE47}" type="slidenum">
              <a:rPr sz="1125" b="0">
                <a:solidFill>
                  <a:srgbClr val="000000"/>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Prism: recommendation inference across CPU and GPU nodes</a:t>
            </a:r>
          </a:p>
        </p:txBody>
      </p:sp>
      <p:sp>
        <p:nvSpPr>
          <p:cNvPr id="534" name="">
            <a:extLst xmlns:a="http://schemas.openxmlformats.org/drawingml/2006/main">
              <a:ext uri="{FF2B5EF4-FFF2-40B4-BE49-F238E27FC236}">
                <a16:creationId xmlns:a16="http://schemas.microsoft.com/office/drawing/2014/main" id="{0705C5C4-9061-49A1-BAC5-FF5F0E32B087}"/>
              </a:ext>
            </a:extLst>
          </p:cNvPr>
          <p:cNvSpPr>
            <a:spLocks xmlns:a="http://schemas.openxmlformats.org/drawingml/2006/main" noGrp="1"/>
          </p:cNvSpPr>
          <p:nvPr/>
        </p:nvSpPr>
        <p:spPr>
          <a:xfrm xmlns:a="http://schemas.openxmlformats.org/drawingml/2006/main">
            <a:off x="390525" y="1647825"/>
            <a:ext cx="5934075"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Original Figure 17. Taller bars mean higher goodput under a 25 ms service-latency target.</a:t>
            </a:r>
          </a:p>
        </p:txBody>
      </p:sp>
      <p:pic>
        <p:nvPicPr>
          <p:cNvPr id="547" name=""/>
          <p:cNvPicPr>
            <a:picLocks xmlns:a="http://schemas.openxmlformats.org/drawingml/2006/main" noChangeAspect="1"/>
          </p:cNvPicPr>
          <p:nvPr/>
        </p:nvPicPr>
        <p:blipFill>
          <a:blip xmlns:r="http://schemas.openxmlformats.org/officeDocument/2006/relationships" xmlns:a="http://schemas.openxmlformats.org/drawingml/2006/main" r:embed="R14f40248b07f4934"/>
          <a:stretch xmlns:a="http://schemas.openxmlformats.org/drawingml/2006/main"/>
        </p:blipFill>
        <p:spPr>
          <a:xfrm xmlns:a="http://schemas.openxmlformats.org/drawingml/2006/main">
            <a:off x="390525" y="2723798"/>
            <a:ext cx="5934075" cy="2296229"/>
          </a:xfrm>
          <a:prstGeom xmlns:a="http://schemas.openxmlformats.org/drawingml/2006/main" prst="rect">
            <a:avLst/>
          </a:prstGeom>
        </p:spPr>
      </p:pic>
      <p:sp>
        <p:nvSpPr>
          <p:cNvPr id="536" name="">
            <a:extLst xmlns:a="http://schemas.openxmlformats.org/drawingml/2006/main">
              <a:ext uri="{FF2B5EF4-FFF2-40B4-BE49-F238E27FC236}">
                <a16:creationId xmlns:a16="http://schemas.microsoft.com/office/drawing/2014/main" id="{4B9E81DD-0F7E-47B8-9EBF-555E3B0EF37E}"/>
              </a:ext>
            </a:extLst>
          </p:cNvPr>
          <p:cNvSpPr>
            <a:spLocks xmlns:a="http://schemas.openxmlformats.org/drawingml/2006/main" noGrp="1"/>
          </p:cNvSpPr>
          <p:nvPr/>
        </p:nvSpPr>
        <p:spPr>
          <a:xfrm xmlns:a="http://schemas.openxmlformats.org/drawingml/2006/main">
            <a:off x="390525" y="5305425"/>
            <a:ext cx="59340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x = two recommendation models.</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Prism (CN, HN) labels CPU-side and GPU-side instance counts. OOM means out of memory.</a:t>
            </a:r>
          </a:p>
        </p:txBody>
      </p:sp>
      <p:sp>
        <p:nvSpPr>
          <p:cNvPr id="537" name="">
            <a:extLst xmlns:a="http://schemas.openxmlformats.org/drawingml/2006/main">
              <a:ext uri="{FF2B5EF4-FFF2-40B4-BE49-F238E27FC236}">
                <a16:creationId xmlns:a16="http://schemas.microsoft.com/office/drawing/2014/main" id="{C90D12B4-E729-42AF-8FB0-F5021E83CBF3}"/>
              </a:ext>
            </a:extLst>
          </p:cNvPr>
          <p:cNvSpPr>
            <a:spLocks xmlns:a="http://schemas.openxmlformats.org/drawingml/2006/main" noGrp="1"/>
          </p:cNvSpPr>
          <p:nvPr/>
        </p:nvSpPr>
        <p:spPr>
          <a:xfrm xmlns:a="http://schemas.openxmlformats.org/drawingml/2006/main">
            <a:off x="6772275" y="1457325"/>
            <a:ext cx="50196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Goal and method</a:t>
            </a:r>
          </a:p>
        </p:txBody>
      </p:sp>
      <p:sp>
        <p:nvSpPr>
          <p:cNvPr id="538" name="">
            <a:extLst xmlns:a="http://schemas.openxmlformats.org/drawingml/2006/main">
              <a:ext uri="{FF2B5EF4-FFF2-40B4-BE49-F238E27FC236}">
                <a16:creationId xmlns:a16="http://schemas.microsoft.com/office/drawing/2014/main" id="{6F03A157-089A-44F3-B2A9-39187F88F50D}"/>
              </a:ext>
            </a:extLst>
          </p:cNvPr>
          <p:cNvSpPr>
            <a:spLocks xmlns:a="http://schemas.openxmlformats.org/drawingml/2006/main" noGrp="1"/>
          </p:cNvSpPr>
          <p:nvPr/>
        </p:nvSpPr>
        <p:spPr>
          <a:xfrm xmlns:a="http://schemas.openxmlformats.org/drawingml/2006/main">
            <a:off x="6772275" y="1866900"/>
            <a:ext cx="5019675" cy="1076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Separate CPU-heavy and GPU-heavy model stages so CPU or memory limits do not strand GPU capacity.</a:t>
            </a:r>
          </a:p>
        </p:txBody>
      </p:sp>
      <p:sp>
        <p:nvSpPr>
          <p:cNvPr id="539" name="">
            <a:extLst xmlns:a="http://schemas.openxmlformats.org/drawingml/2006/main">
              <a:ext uri="{FF2B5EF4-FFF2-40B4-BE49-F238E27FC236}">
                <a16:creationId xmlns:a16="http://schemas.microsoft.com/office/drawing/2014/main" id="{78EE556C-F2EF-4315-AD3B-DB8EA06907B6}"/>
              </a:ext>
            </a:extLst>
          </p:cNvPr>
          <p:cNvSpPr>
            <a:spLocks xmlns:a="http://schemas.openxmlformats.org/drawingml/2006/main" noGrp="1"/>
          </p:cNvSpPr>
          <p:nvPr/>
        </p:nvSpPr>
        <p:spPr>
          <a:xfrm xmlns:a="http://schemas.openxmlformats.org/drawingml/2006/main">
            <a:off x="6772275" y="3095625"/>
            <a:ext cx="50196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Experiment shown</a:t>
            </a:r>
          </a:p>
        </p:txBody>
      </p:sp>
      <p:sp>
        <p:nvSpPr>
          <p:cNvPr id="540" name="">
            <a:extLst xmlns:a="http://schemas.openxmlformats.org/drawingml/2006/main">
              <a:ext uri="{FF2B5EF4-FFF2-40B4-BE49-F238E27FC236}">
                <a16:creationId xmlns:a16="http://schemas.microsoft.com/office/drawing/2014/main" id="{79571CA6-CC67-4E59-AF5D-4657CFE76BFF}"/>
              </a:ext>
            </a:extLst>
          </p:cNvPr>
          <p:cNvSpPr>
            <a:spLocks xmlns:a="http://schemas.openxmlformats.org/drawingml/2006/main" noGrp="1"/>
          </p:cNvSpPr>
          <p:nvPr/>
        </p:nvSpPr>
        <p:spPr>
          <a:xfrm xmlns:a="http://schemas.openxmlformats.org/drawingml/2006/main">
            <a:off x="6772275" y="3505200"/>
            <a:ext cx="5019675" cy="1019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One node with 8 A100 80 GB GPUs, plus separate CPU nodes. Vary the number of inference instances.</a:t>
            </a:r>
          </a:p>
        </p:txBody>
      </p:sp>
      <p:sp>
        <p:nvSpPr>
          <p:cNvPr id="541" name="">
            <a:extLst xmlns:a="http://schemas.openxmlformats.org/drawingml/2006/main">
              <a:ext uri="{FF2B5EF4-FFF2-40B4-BE49-F238E27FC236}">
                <a16:creationId xmlns:a16="http://schemas.microsoft.com/office/drawing/2014/main" id="{D0ED4318-BBCD-49BA-8F9D-2C4918818B1B}"/>
              </a:ext>
            </a:extLst>
          </p:cNvPr>
          <p:cNvSpPr>
            <a:spLocks xmlns:a="http://schemas.openxmlformats.org/drawingml/2006/main" noGrp="1"/>
          </p:cNvSpPr>
          <p:nvPr/>
        </p:nvSpPr>
        <p:spPr>
          <a:xfrm xmlns:a="http://schemas.openxmlformats.org/drawingml/2006/main">
            <a:off x="6772275" y="4657725"/>
            <a:ext cx="50196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Result and relevance</a:t>
            </a:r>
          </a:p>
        </p:txBody>
      </p:sp>
      <p:sp>
        <p:nvSpPr>
          <p:cNvPr id="542" name="">
            <a:extLst xmlns:a="http://schemas.openxmlformats.org/drawingml/2006/main">
              <a:ext uri="{FF2B5EF4-FFF2-40B4-BE49-F238E27FC236}">
                <a16:creationId xmlns:a16="http://schemas.microsoft.com/office/drawing/2014/main" id="{448988AB-307B-4FD4-8634-422DD10953B9}"/>
              </a:ext>
            </a:extLst>
          </p:cNvPr>
          <p:cNvSpPr>
            <a:spLocks xmlns:a="http://schemas.openxmlformats.org/drawingml/2006/main" noGrp="1"/>
          </p:cNvSpPr>
          <p:nvPr/>
        </p:nvSpPr>
        <p:spPr>
          <a:xfrm xmlns:a="http://schemas.openxmlformats.org/drawingml/2006/main">
            <a:off x="6772275" y="5067300"/>
            <a:ext cx="5019675" cy="1285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Reported goodput rises 5–9×. The 9× case uses GPU partitioning (MIG). Added CPU resources matter, so this is not a same-total-hardware gain.</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477500" cy="228600"/>
          </a:xfrm>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000000"/>
                </a:solidFill>
                <a:latin typeface="Helvetica Neue"/>
                <a:ea typeface="Helvetica Neue"/>
                <a:cs typeface="Helvetica Neue"/>
              </a:defRPr>
            </a:pPr>
            <a:r>
              <a:rPr sz="1050" b="0">
                <a:solidFill>
                  <a:srgbClr val="000000"/>
                </a:solidFill>
                <a:latin typeface="Helvetica Neue"/>
                <a:ea typeface="Helvetica Neue"/>
                <a:cs typeface="Helvetica Neue"/>
              </a:rP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BA58DA2A-B818-18A9-29C1-B697728D5BCE}" type="slidenum">
              <a:rPr sz="1125" b="0">
                <a:solidFill>
                  <a:srgbClr val="000000"/>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619125" y="2200275"/>
            <a:ext cx="10953750" cy="106680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Our Experiments</a:t>
            </a:r>
          </a:p>
        </p:txBody>
      </p:sp>
      <p:sp>
        <p:nvSpPr>
          <p:cNvPr id="534" name="">
            <a:extLst xmlns:a="http://schemas.openxmlformats.org/drawingml/2006/main">
              <a:ext uri="{FF2B5EF4-FFF2-40B4-BE49-F238E27FC236}">
                <a16:creationId xmlns:a16="http://schemas.microsoft.com/office/drawing/2014/main" id="{05A5952A-47A7-47C8-91E4-6604DB1F964C}"/>
              </a:ext>
            </a:extLst>
          </p:cNvPr>
          <p:cNvSpPr>
            <a:spLocks xmlns:a="http://schemas.openxmlformats.org/drawingml/2006/main" noGrp="1"/>
          </p:cNvSpPr>
          <p:nvPr/>
        </p:nvSpPr>
        <p:spPr>
          <a:xfrm xmlns:a="http://schemas.openxmlformats.org/drawingml/2006/main">
            <a:off x="657225" y="3514725"/>
            <a:ext cx="10382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de2cf3068e934eca"/>
              </a:rPr>
              <a:t>Recorded system and model revisions</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ae8ac7e3bcbb4991"/>
              </a:rPr>
              <a:t>NVIDIA metric definition</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388657AE-30A1-5A7A-6A7F-315D84436430}" type="slidenum">
              <a:rPr sz="1125" b="0">
                <a:solidFill>
                  <a:srgbClr val="000000"/>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experimental system and performance measures</a:t>
            </a:r>
          </a:p>
        </p:txBody>
      </p:sp>
      <p:graphicFrame>
        <p:nvGraphicFramePr>
          <p:cNvPr id="545" name=""/>
          <p:cNvGraphicFramePr/>
          <p:nvPr/>
        </p:nvGraphicFramePr>
        <p:xfrm>
          <a:off xmlns:a="http://schemas.openxmlformats.org/drawingml/2006/main" x="390525" y="1476375"/>
          <a:ext xmlns:a="http://schemas.openxmlformats.org/drawingml/2006/main" cx="5610225" cy="3705225"/>
        </p:xfrm>
        <a:graphic xmlns:a="http://schemas.openxmlformats.org/drawingml/2006/main">
          <a:graphicData uri="http://schemas.openxmlformats.org/drawingml/2006/table">
            <a:tbl>
              <a:tblPr firstRow="0" bandRow="0"/>
              <a:tblGrid>
                <a:gridCol w="2009775"/>
                <a:gridCol w="3600450"/>
              </a:tblGrid>
              <a:tr h="617538">
                <a:tc>
                  <a:txBody>
                    <a:bodyPr/>
                    <a:lstStyle/>
                    <a:p>
                      <a:r>
                        <a:rPr sz="1650" b="1">
                          <a:solidFill>
                            <a:srgbClr val="000000"/>
                          </a:solidFill>
                          <a:latin typeface="Helvetica Neue"/>
                          <a:ea typeface="Helvetica Neue"/>
                          <a:cs typeface="Helvetica Neue"/>
                        </a:rPr>
                        <a:t>Component</a:t>
                      </a:r>
                    </a:p>
                  </a:txBody>
                  <a:tcPr marL="95250" marR="95250" marT="76200" marB="57150" anchor="t">
                    <a:solidFill>
                      <a:srgbClr val="EAF6FD"/>
                    </a:solidFill>
                  </a:tcPr>
                </a:tc>
                <a:tc>
                  <a:txBody>
                    <a:bodyPr/>
                    <a:lstStyle/>
                    <a:p>
                      <a:r>
                        <a:rPr sz="1650" b="1">
                          <a:solidFill>
                            <a:srgbClr val="000000"/>
                          </a:solidFill>
                          <a:latin typeface="Helvetica Neue"/>
                          <a:ea typeface="Helvetica Neue"/>
                          <a:cs typeface="Helvetica Neue"/>
                        </a:rPr>
                        <a:t>Recorded setup</a:t>
                      </a:r>
                    </a:p>
                  </a:txBody>
                  <a:tcPr marL="95250" marR="95250" marT="76200" marB="57150" anchor="t">
                    <a:solidFill>
                      <a:srgbClr val="EAF6FD"/>
                    </a:solidFill>
                  </a:tcPr>
                </a:tc>
              </a:tr>
              <a:tr h="617538">
                <a:tc>
                  <a:txBody>
                    <a:bodyPr/>
                    <a:lstStyle/>
                    <a:p>
                      <a:r>
                        <a:rPr sz="1650">
                          <a:solidFill>
                            <a:srgbClr val="000000"/>
                          </a:solidFill>
                          <a:latin typeface="Helvetica Neue"/>
                          <a:ea typeface="Helvetica Neue"/>
                          <a:cs typeface="Helvetica Neue"/>
                        </a:rPr>
                        <a:t>GPU</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NVIDIA A100 PCIe, 40 GB</a:t>
                      </a:r>
                    </a:p>
                    <a:p>
                      <a:r>
                        <a:rPr sz="1650">
                          <a:solidFill>
                            <a:srgbClr val="000000"/>
                          </a:solidFill>
                          <a:latin typeface="Helvetica Neue"/>
                          <a:ea typeface="Helvetica Neue"/>
                          <a:cs typeface="Helvetica Neue"/>
                        </a:rPr>
                        <a:t>JarvisLabs, 250 W limit</a:t>
                      </a:r>
                    </a:p>
                  </a:txBody>
                  <a:tcPr marL="95250" marR="95250" marT="76200" marB="57150" anchor="t">
                    <a:solidFill>
                      <a:srgbClr val="FFFFFF"/>
                    </a:solidFill>
                  </a:tcPr>
                </a:tc>
              </a:tr>
              <a:tr h="617538">
                <a:tc>
                  <a:txBody>
                    <a:bodyPr/>
                    <a:lstStyle/>
                    <a:p>
                      <a:r>
                        <a:rPr sz="1650">
                          <a:solidFill>
                            <a:srgbClr val="000000"/>
                          </a:solidFill>
                          <a:latin typeface="Helvetica Neue"/>
                          <a:ea typeface="Helvetica Neue"/>
                          <a:cs typeface="Helvetica Neue"/>
                        </a:rPr>
                        <a:t>Precision</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BF16</a:t>
                      </a:r>
                    </a:p>
                    <a:p>
                      <a:r>
                        <a:rPr sz="1650">
                          <a:solidFill>
                            <a:srgbClr val="000000"/>
                          </a:solidFill>
                          <a:latin typeface="Helvetica Neue"/>
                          <a:ea typeface="Helvetica Neue"/>
                          <a:cs typeface="Helvetica Neue"/>
                        </a:rPr>
                        <a:t>One GPU per model</a:t>
                      </a:r>
                    </a:p>
                  </a:txBody>
                  <a:tcPr marL="95250" marR="95250" marT="76200" marB="57150" anchor="t">
                    <a:solidFill>
                      <a:srgbClr val="FFFFFF"/>
                    </a:solidFill>
                  </a:tcPr>
                </a:tc>
              </a:tr>
              <a:tr h="617538">
                <a:tc>
                  <a:txBody>
                    <a:bodyPr/>
                    <a:lstStyle/>
                    <a:p>
                      <a:r>
                        <a:rPr sz="1650">
                          <a:solidFill>
                            <a:srgbClr val="000000"/>
                          </a:solidFill>
                          <a:latin typeface="Helvetica Neue"/>
                          <a:ea typeface="Helvetica Neue"/>
                          <a:cs typeface="Helvetica Neue"/>
                        </a:rPr>
                        <a:t>Serving software</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vLLM 0.28.0</a:t>
                      </a:r>
                    </a:p>
                    <a:p>
                      <a:r>
                        <a:rPr sz="1650">
                          <a:solidFill>
                            <a:srgbClr val="000000"/>
                          </a:solidFill>
                          <a:latin typeface="Helvetica Neue"/>
                          <a:ea typeface="Helvetica Neue"/>
                          <a:cs typeface="Helvetica Neue"/>
                        </a:rPr>
                        <a:t>PyTorch 2.13.0</a:t>
                      </a:r>
                    </a:p>
                  </a:txBody>
                  <a:tcPr marL="95250" marR="95250" marT="76200" marB="57150" anchor="t">
                    <a:solidFill>
                      <a:srgbClr val="FFFFFF"/>
                    </a:solidFill>
                  </a:tcPr>
                </a:tc>
              </a:tr>
              <a:tr h="617538">
                <a:tc>
                  <a:txBody>
                    <a:bodyPr/>
                    <a:lstStyle/>
                    <a:p>
                      <a:r>
                        <a:rPr sz="1650">
                          <a:solidFill>
                            <a:srgbClr val="000000"/>
                          </a:solidFill>
                          <a:latin typeface="Helvetica Neue"/>
                          <a:ea typeface="Helvetica Neue"/>
                          <a:cs typeface="Helvetica Neue"/>
                        </a:rPr>
                        <a:t>Runtime</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Python 3.12.13</a:t>
                      </a:r>
                    </a:p>
                    <a:p>
                      <a:r>
                        <a:rPr sz="1650">
                          <a:solidFill>
                            <a:srgbClr val="000000"/>
                          </a:solidFill>
                          <a:latin typeface="Helvetica Neue"/>
                          <a:ea typeface="Helvetica Neue"/>
                          <a:cs typeface="Helvetica Neue"/>
                        </a:rPr>
                        <a:t>CUDA package 13.0.96</a:t>
                      </a:r>
                    </a:p>
                  </a:txBody>
                  <a:tcPr marL="95250" marR="95250" marT="76200" marB="57150" anchor="t">
                    <a:solidFill>
                      <a:srgbClr val="FFFFFF"/>
                    </a:solidFill>
                  </a:tcPr>
                </a:tc>
              </a:tr>
              <a:tr h="617538">
                <a:tc>
                  <a:txBody>
                    <a:bodyPr/>
                    <a:lstStyle/>
                    <a:p>
                      <a:r>
                        <a:rPr sz="1650">
                          <a:solidFill>
                            <a:srgbClr val="000000"/>
                          </a:solidFill>
                          <a:latin typeface="Helvetica Neue"/>
                          <a:ea typeface="Helvetica Neue"/>
                          <a:cs typeface="Helvetica Neue"/>
                        </a:rPr>
                        <a:t>Inputs</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WikiText-2 test text</a:t>
                      </a:r>
                    </a:p>
                    <a:p>
                      <a:r>
                        <a:rPr sz="1650">
                          <a:solidFill>
                            <a:srgbClr val="000000"/>
                          </a:solidFill>
                          <a:latin typeface="Helvetica Neue"/>
                          <a:ea typeface="Helvetica Neue"/>
                          <a:cs typeface="Helvetica Neue"/>
                        </a:rPr>
                        <a:t>128 generated tokens/request</a:t>
                      </a:r>
                    </a:p>
                  </a:txBody>
                  <a:tcPr marL="95250" marR="95250" marT="76200" marB="57150" anchor="t">
                    <a:solidFill>
                      <a:srgbClr val="FFFFFF"/>
                    </a:solidFill>
                  </a:tcPr>
                </a:tc>
              </a:tr>
            </a:tbl>
          </a:graphicData>
        </a:graphic>
      </p:graphicFrame>
      <p:sp>
        <p:nvSpPr>
          <p:cNvPr id="535" name="">
            <a:extLst xmlns:a="http://schemas.openxmlformats.org/drawingml/2006/main">
              <a:ext uri="{FF2B5EF4-FFF2-40B4-BE49-F238E27FC236}">
                <a16:creationId xmlns:a16="http://schemas.microsoft.com/office/drawing/2014/main" id="{402EC61B-991B-4DD1-88F2-169ACD5AABCB}"/>
              </a:ext>
            </a:extLst>
          </p:cNvPr>
          <p:cNvSpPr>
            <a:spLocks xmlns:a="http://schemas.openxmlformats.org/drawingml/2006/main" noGrp="1"/>
          </p:cNvSpPr>
          <p:nvPr/>
        </p:nvSpPr>
        <p:spPr>
          <a:xfrm xmlns:a="http://schemas.openxmlformats.org/drawingml/2006/main">
            <a:off x="6496050" y="1552575"/>
            <a:ext cx="5295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Throughput</a:t>
            </a:r>
          </a:p>
        </p:txBody>
      </p:sp>
      <p:sp>
        <p:nvSpPr>
          <p:cNvPr id="536" name="">
            <a:extLst xmlns:a="http://schemas.openxmlformats.org/drawingml/2006/main">
              <a:ext uri="{FF2B5EF4-FFF2-40B4-BE49-F238E27FC236}">
                <a16:creationId xmlns:a16="http://schemas.microsoft.com/office/drawing/2014/main" id="{9CAC0667-D3BE-4168-B89C-D1D8D0D3D4B3}"/>
              </a:ext>
            </a:extLst>
          </p:cNvPr>
          <p:cNvSpPr>
            <a:spLocks xmlns:a="http://schemas.openxmlformats.org/drawingml/2006/main" noGrp="1"/>
          </p:cNvSpPr>
          <p:nvPr/>
        </p:nvSpPr>
        <p:spPr>
          <a:xfrm xmlns:a="http://schemas.openxmlformats.org/drawingml/2006/main">
            <a:off x="6496050" y="1962150"/>
            <a:ext cx="5295900" cy="752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Generated output tokens divided by elapsed seconds.</a:t>
            </a:r>
          </a:p>
        </p:txBody>
      </p:sp>
      <p:sp>
        <p:nvSpPr>
          <p:cNvPr id="537" name="">
            <a:extLst xmlns:a="http://schemas.openxmlformats.org/drawingml/2006/main">
              <a:ext uri="{FF2B5EF4-FFF2-40B4-BE49-F238E27FC236}">
                <a16:creationId xmlns:a16="http://schemas.microsoft.com/office/drawing/2014/main" id="{8451ADF1-2E67-4632-99DD-E9EB756D2176}"/>
              </a:ext>
            </a:extLst>
          </p:cNvPr>
          <p:cNvSpPr>
            <a:spLocks xmlns:a="http://schemas.openxmlformats.org/drawingml/2006/main" noGrp="1"/>
          </p:cNvSpPr>
          <p:nvPr/>
        </p:nvSpPr>
        <p:spPr>
          <a:xfrm xmlns:a="http://schemas.openxmlformats.org/drawingml/2006/main">
            <a:off x="6496050" y="2952750"/>
            <a:ext cx="5295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SLO goodput</a:t>
            </a:r>
          </a:p>
        </p:txBody>
      </p:sp>
      <p:sp>
        <p:nvSpPr>
          <p:cNvPr id="538" name="">
            <a:extLst xmlns:a="http://schemas.openxmlformats.org/drawingml/2006/main">
              <a:ext uri="{FF2B5EF4-FFF2-40B4-BE49-F238E27FC236}">
                <a16:creationId xmlns:a16="http://schemas.microsoft.com/office/drawing/2014/main" id="{3869D8FD-05AD-4FD9-8EF6-03BA357AEED4}"/>
              </a:ext>
            </a:extLst>
          </p:cNvPr>
          <p:cNvSpPr>
            <a:spLocks xmlns:a="http://schemas.openxmlformats.org/drawingml/2006/main" noGrp="1"/>
          </p:cNvSpPr>
          <p:nvPr/>
        </p:nvSpPr>
        <p:spPr>
          <a:xfrm xmlns:a="http://schemas.openxmlformats.org/drawingml/2006/main">
            <a:off x="6496050" y="3362325"/>
            <a:ext cx="52959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Requests meeting both latency targets divided by the full replay-and-drain duration.</a:t>
            </a:r>
          </a:p>
        </p:txBody>
      </p:sp>
      <p:sp>
        <p:nvSpPr>
          <p:cNvPr id="539" name="">
            <a:extLst xmlns:a="http://schemas.openxmlformats.org/drawingml/2006/main">
              <a:ext uri="{FF2B5EF4-FFF2-40B4-BE49-F238E27FC236}">
                <a16:creationId xmlns:a16="http://schemas.microsoft.com/office/drawing/2014/main" id="{1D5502BA-2F1B-4463-86C9-A26348B05A21}"/>
              </a:ext>
            </a:extLst>
          </p:cNvPr>
          <p:cNvSpPr>
            <a:spLocks xmlns:a="http://schemas.openxmlformats.org/drawingml/2006/main" noGrp="1"/>
          </p:cNvSpPr>
          <p:nvPr/>
        </p:nvSpPr>
        <p:spPr>
          <a:xfrm xmlns:a="http://schemas.openxmlformats.org/drawingml/2006/main">
            <a:off x="6496050" y="4343400"/>
            <a:ext cx="5295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Latency and GPU busy time</a:t>
            </a:r>
          </a:p>
        </p:txBody>
      </p:sp>
      <p:sp>
        <p:nvSpPr>
          <p:cNvPr id="540" name="">
            <a:extLst xmlns:a="http://schemas.openxmlformats.org/drawingml/2006/main">
              <a:ext uri="{FF2B5EF4-FFF2-40B4-BE49-F238E27FC236}">
                <a16:creationId xmlns:a16="http://schemas.microsoft.com/office/drawing/2014/main" id="{B6837C05-96D1-4C09-B84D-6521632A4C9E}"/>
              </a:ext>
            </a:extLst>
          </p:cNvPr>
          <p:cNvSpPr>
            <a:spLocks xmlns:a="http://schemas.openxmlformats.org/drawingml/2006/main" noGrp="1"/>
          </p:cNvSpPr>
          <p:nvPr/>
        </p:nvSpPr>
        <p:spPr>
          <a:xfrm xmlns:a="http://schemas.openxmlformats.org/drawingml/2006/main">
            <a:off x="6496050" y="4752975"/>
            <a:ext cx="5295900" cy="139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TTFT measures first-token delay. TPOT measures average later-token delay. NVML busy time records kernel activity, not compute efficiency.</a:t>
            </a:r>
          </a:p>
        </p:txBody>
      </p:sp>
      <p:sp>
        <p:nvSpPr>
          <p:cNvPr id="541" name="">
            <a:extLst xmlns:a="http://schemas.openxmlformats.org/drawingml/2006/main">
              <a:ext uri="{FF2B5EF4-FFF2-40B4-BE49-F238E27FC236}">
                <a16:creationId xmlns:a16="http://schemas.microsoft.com/office/drawing/2014/main" id="{00F7A371-07FF-4144-A668-FABC5F54AC7A}"/>
              </a:ext>
            </a:extLst>
          </p:cNvPr>
          <p:cNvSpPr>
            <a:spLocks xmlns:a="http://schemas.openxmlformats.org/drawingml/2006/main" noGrp="1"/>
          </p:cNvSpPr>
          <p:nvPr/>
        </p:nvSpPr>
        <p:spPr>
          <a:xfrm xmlns:a="http://schemas.openxmlformats.org/drawingml/2006/main">
            <a:off x="390525" y="5695950"/>
            <a:ext cx="5610225"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Experiment 1 uses five models and fixed batches. Experiment 2 uses Gemma 4 12B and timed arrivals.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3f06c149006f42a4"/>
              </a:rPr>
              <a:t>Our executed capture protocol</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7397f6e4960e4758"/>
              </a:rPr>
              <a:t>NVIDIA capture-size tradeoff</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DB7BEEEC-A170-5376-2B6E-CB54687B0CB1}" type="slidenum">
              <a:rPr sz="1125" b="0">
                <a:solidFill>
                  <a:srgbClr val="000000"/>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 1: CUDA graph configuration</a:t>
            </a:r>
          </a:p>
        </p:txBody>
      </p:sp>
      <p:sp>
        <p:nvSpPr>
          <p:cNvPr id="534" name="">
            <a:extLst xmlns:a="http://schemas.openxmlformats.org/drawingml/2006/main">
              <a:ext uri="{FF2B5EF4-FFF2-40B4-BE49-F238E27FC236}">
                <a16:creationId xmlns:a16="http://schemas.microsoft.com/office/drawing/2014/main" id="{7E28DBB9-35BF-4F1B-9CA6-CD751EB3400D}"/>
              </a:ext>
            </a:extLst>
          </p:cNvPr>
          <p:cNvSpPr>
            <a:spLocks xmlns:a="http://schemas.openxmlformats.org/drawingml/2006/main" noGrp="1"/>
          </p:cNvSpPr>
          <p:nvPr/>
        </p:nvSpPr>
        <p:spPr>
          <a:xfrm xmlns:a="http://schemas.openxmlformats.org/drawingml/2006/main">
            <a:off x="390525" y="1314450"/>
            <a:ext cx="11401425"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Question: does matching recorded GPU execution sizes to our batches improve throughput?</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CUDA graphs replay recorded GPU operations. Their sizes affect padding and memory use.</a:t>
            </a:r>
          </a:p>
        </p:txBody>
      </p:sp>
      <p:graphicFrame>
        <p:nvGraphicFramePr>
          <p:cNvPr id="542" name=""/>
          <p:cNvGraphicFramePr/>
          <p:nvPr/>
        </p:nvGraphicFramePr>
        <p:xfrm>
          <a:off xmlns:a="http://schemas.openxmlformats.org/drawingml/2006/main" x="390525" y="2371725"/>
          <a:ext xmlns:a="http://schemas.openxmlformats.org/drawingml/2006/main" cx="11401425" cy="2238375"/>
        </p:xfrm>
        <a:graphic xmlns:a="http://schemas.openxmlformats.org/drawingml/2006/main">
          <a:graphicData uri="http://schemas.openxmlformats.org/drawingml/2006/table">
            <a:tbl>
              <a:tblPr firstRow="0" bandRow="0"/>
              <a:tblGrid>
                <a:gridCol w="3219450"/>
                <a:gridCol w="4181475"/>
                <a:gridCol w="4000500"/>
              </a:tblGrid>
              <a:tr h="559594">
                <a:tc>
                  <a:txBody>
                    <a:bodyPr/>
                    <a:lstStyle/>
                    <a:p>
                      <a:r>
                        <a:rPr sz="1650" b="1">
                          <a:solidFill>
                            <a:srgbClr val="000000"/>
                          </a:solidFill>
                          <a:latin typeface="Helvetica Neue"/>
                          <a:ea typeface="Helvetica Neue"/>
                          <a:cs typeface="Helvetica Neue"/>
                        </a:rPr>
                        <a:t>Configuration changed</a:t>
                      </a:r>
                    </a:p>
                  </a:txBody>
                  <a:tcPr marL="95250" marR="95250" marT="76200" marB="57150" anchor="t">
                    <a:solidFill>
                      <a:srgbClr val="EAF6FD"/>
                    </a:solidFill>
                  </a:tcPr>
                </a:tc>
                <a:tc>
                  <a:txBody>
                    <a:bodyPr/>
                    <a:lstStyle/>
                    <a:p>
                      <a:r>
                        <a:rPr sz="1650" b="1">
                          <a:solidFill>
                            <a:srgbClr val="000000"/>
                          </a:solidFill>
                          <a:latin typeface="Helvetica Neue"/>
                          <a:ea typeface="Helvetica Neue"/>
                          <a:cs typeface="Helvetica Neue"/>
                        </a:rPr>
                        <a:t>Captured sizes</a:t>
                      </a:r>
                    </a:p>
                  </a:txBody>
                  <a:tcPr marL="95250" marR="95250" marT="76200" marB="57150" anchor="t">
                    <a:solidFill>
                      <a:srgbClr val="EAF6FD"/>
                    </a:solidFill>
                  </a:tcPr>
                </a:tc>
                <a:tc>
                  <a:txBody>
                    <a:bodyPr/>
                    <a:lstStyle/>
                    <a:p>
                      <a:r>
                        <a:rPr sz="1650" b="1">
                          <a:solidFill>
                            <a:srgbClr val="000000"/>
                          </a:solidFill>
                          <a:latin typeface="Helvetica Neue"/>
                          <a:ea typeface="Helvetica Neue"/>
                          <a:cs typeface="Helvetica Neue"/>
                        </a:rPr>
                        <a:t>Role in the comparison</a:t>
                      </a:r>
                    </a:p>
                  </a:txBody>
                  <a:tcPr marL="95250" marR="95250" marT="76200" marB="57150" anchor="t">
                    <a:solidFill>
                      <a:srgbClr val="EAF6FD"/>
                    </a:solidFill>
                  </a:tcPr>
                </a:tc>
              </a:tr>
              <a:tr h="559594">
                <a:tc>
                  <a:txBody>
                    <a:bodyPr/>
                    <a:lstStyle/>
                    <a:p>
                      <a:r>
                        <a:rPr sz="1650">
                          <a:solidFill>
                            <a:srgbClr val="000000"/>
                          </a:solidFill>
                          <a:latin typeface="Helvetica Neue"/>
                          <a:ea typeface="Helvetica Neue"/>
                          <a:cs typeface="Helvetica Neue"/>
                        </a:rPr>
                        <a:t>vLLM default captures</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35 sizes from the engine</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Current engine baseline</a:t>
                      </a:r>
                    </a:p>
                  </a:txBody>
                  <a:tcPr marL="95250" marR="95250" marT="76200" marB="57150" anchor="t">
                    <a:solidFill>
                      <a:srgbClr val="FFFFFF"/>
                    </a:solidFill>
                  </a:tcPr>
                </a:tc>
              </a:tr>
              <a:tr h="559594">
                <a:tc>
                  <a:txBody>
                    <a:bodyPr/>
                    <a:lstStyle/>
                    <a:p>
                      <a:r>
                        <a:rPr sz="1650">
                          <a:solidFill>
                            <a:srgbClr val="000000"/>
                          </a:solidFill>
                          <a:latin typeface="Helvetica Neue"/>
                          <a:ea typeface="Helvetica Neue"/>
                          <a:cs typeface="Helvetica Neue"/>
                        </a:rPr>
                        <a:t>Coarse capture grid</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9 powers-of-two sizes</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Test the cost of a sparse set</a:t>
                      </a:r>
                    </a:p>
                  </a:txBody>
                  <a:tcPr marL="95250" marR="95250" marT="76200" marB="57150" anchor="t">
                    <a:solidFill>
                      <a:srgbClr val="FFFFFF"/>
                    </a:solidFill>
                  </a:tcPr>
                </a:tc>
              </a:tr>
              <a:tr h="559594">
                <a:tc>
                  <a:txBody>
                    <a:bodyPr/>
                    <a:lstStyle/>
                    <a:p>
                      <a:r>
                        <a:rPr sz="1650">
                          <a:solidFill>
                            <a:srgbClr val="000000"/>
                          </a:solidFill>
                          <a:latin typeface="Helvetica Neue"/>
                          <a:ea typeface="Helvetica Neue"/>
                          <a:cs typeface="Helvetica Neue"/>
                        </a:rPr>
                        <a:t>Exact batch matches</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17 sizes; covers all 8 tested batches</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Test whether exact coverage helps</a:t>
                      </a:r>
                    </a:p>
                  </a:txBody>
                  <a:tcPr marL="95250" marR="95250" marT="76200" marB="57150" anchor="t">
                    <a:solidFill>
                      <a:srgbClr val="FFFFFF"/>
                    </a:solidFill>
                  </a:tcPr>
                </a:tc>
              </a:tr>
            </a:tbl>
          </a:graphicData>
        </a:graphic>
      </p:graphicFrame>
      <p:sp>
        <p:nvSpPr>
          <p:cNvPr id="536" name="">
            <a:extLst xmlns:a="http://schemas.openxmlformats.org/drawingml/2006/main">
              <a:ext uri="{FF2B5EF4-FFF2-40B4-BE49-F238E27FC236}">
                <a16:creationId xmlns:a16="http://schemas.microsoft.com/office/drawing/2014/main" id="{75CDF067-3F7A-44D6-9B41-6E06F47E63B2}"/>
              </a:ext>
            </a:extLst>
          </p:cNvPr>
          <p:cNvSpPr>
            <a:spLocks xmlns:a="http://schemas.openxmlformats.org/drawingml/2006/main" noGrp="1"/>
          </p:cNvSpPr>
          <p:nvPr/>
        </p:nvSpPr>
        <p:spPr>
          <a:xfrm xmlns:a="http://schemas.openxmlformats.org/drawingml/2006/main">
            <a:off x="390525" y="4857750"/>
            <a:ext cx="114014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Held fixed: A100 40 GB, BF16, 128 input + 128 output tokens/request, and graph ceiling 256.</a:t>
            </a:r>
          </a:p>
        </p:txBody>
      </p:sp>
      <p:sp>
        <p:nvSpPr>
          <p:cNvPr id="537" name="">
            <a:extLst xmlns:a="http://schemas.openxmlformats.org/drawingml/2006/main">
              <a:ext uri="{FF2B5EF4-FFF2-40B4-BE49-F238E27FC236}">
                <a16:creationId xmlns:a16="http://schemas.microsoft.com/office/drawing/2014/main" id="{82F03C7B-34AA-4CFE-95D9-07C921A5279A}"/>
              </a:ext>
            </a:extLst>
          </p:cNvPr>
          <p:cNvSpPr>
            <a:spLocks xmlns:a="http://schemas.openxmlformats.org/drawingml/2006/main" noGrp="1"/>
          </p:cNvSpPr>
          <p:nvPr/>
        </p:nvSpPr>
        <p:spPr>
          <a:xfrm xmlns:a="http://schemas.openxmlformats.org/drawingml/2006/main">
            <a:off x="390525" y="5543550"/>
            <a:ext cx="11401425"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8 batches × 3 configurations × 3 warmed repeats × 5 models = 360 timing calls.</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We time full generation calls. Initialization and separate profiler runs are excluded.</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2c81fb890c5845ce"/>
              </a:rPr>
              <a:t>Our frozen protocol and exact settings</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f8ce2cf8813540a1"/>
              </a:rPr>
              <a:t>W&amp;B runs</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30394428-F1DC-E5F6-DB0C-7DE31F3D8A23}" type="slidenum">
              <a:rPr sz="1125" b="0">
                <a:solidFill>
                  <a:srgbClr val="000000"/>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 2: admission during a long-prompt burst</a:t>
            </a:r>
          </a:p>
        </p:txBody>
      </p:sp>
      <p:sp>
        <p:nvSpPr>
          <p:cNvPr id="534" name="">
            <a:extLst xmlns:a="http://schemas.openxmlformats.org/drawingml/2006/main">
              <a:ext uri="{FF2B5EF4-FFF2-40B4-BE49-F238E27FC236}">
                <a16:creationId xmlns:a16="http://schemas.microsoft.com/office/drawing/2014/main" id="{2CCC637A-1978-4C96-BDFC-16BD27056BA4}"/>
              </a:ext>
            </a:extLst>
          </p:cNvPr>
          <p:cNvSpPr>
            <a:spLocks xmlns:a="http://schemas.openxmlformats.org/drawingml/2006/main" noGrp="1"/>
          </p:cNvSpPr>
          <p:nvPr/>
        </p:nvSpPr>
        <p:spPr>
          <a:xfrm xmlns:a="http://schemas.openxmlformats.org/drawingml/2006/main">
            <a:off x="390525" y="1333500"/>
            <a:ext cx="11401425"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Gemma 4 12B on the same A100. We replay saved arrivals through each admission rule before vLLM.</a:t>
            </a:r>
          </a:p>
        </p:txBody>
      </p:sp>
      <p:graphicFrame>
        <p:nvGraphicFramePr>
          <p:cNvPr id="543" name=""/>
          <p:cNvGraphicFramePr/>
          <p:nvPr/>
        </p:nvGraphicFramePr>
        <p:xfrm>
          <a:off xmlns:a="http://schemas.openxmlformats.org/drawingml/2006/main" x="390525" y="2133600"/>
          <a:ext xmlns:a="http://schemas.openxmlformats.org/drawingml/2006/main" cx="11401425" cy="2133600"/>
        </p:xfrm>
        <a:graphic xmlns:a="http://schemas.openxmlformats.org/drawingml/2006/main">
          <a:graphicData uri="http://schemas.openxmlformats.org/drawingml/2006/table">
            <a:tbl>
              <a:tblPr firstRow="0" bandRow="0"/>
              <a:tblGrid>
                <a:gridCol w="3333750"/>
                <a:gridCol w="8067675"/>
              </a:tblGrid>
              <a:tr h="533400">
                <a:tc>
                  <a:txBody>
                    <a:bodyPr/>
                    <a:lstStyle/>
                    <a:p>
                      <a:r>
                        <a:rPr sz="1650" b="1">
                          <a:solidFill>
                            <a:srgbClr val="000000"/>
                          </a:solidFill>
                          <a:latin typeface="Helvetica Neue"/>
                          <a:ea typeface="Helvetica Neue"/>
                          <a:cs typeface="Helvetica Neue"/>
                        </a:rPr>
                        <a:t>Policy changed</a:t>
                      </a:r>
                    </a:p>
                  </a:txBody>
                  <a:tcPr marL="95250" marR="95250" marT="76200" marB="57150" anchor="t">
                    <a:solidFill>
                      <a:srgbClr val="EAF6FD"/>
                    </a:solidFill>
                  </a:tcPr>
                </a:tc>
                <a:tc>
                  <a:txBody>
                    <a:bodyPr/>
                    <a:lstStyle/>
                    <a:p>
                      <a:r>
                        <a:rPr sz="1650" b="1">
                          <a:solidFill>
                            <a:srgbClr val="000000"/>
                          </a:solidFill>
                          <a:latin typeface="Helvetica Neue"/>
                          <a:ea typeface="Helvetica Neue"/>
                          <a:cs typeface="Helvetica Neue"/>
                        </a:rPr>
                        <a:t>How requests enter the model</a:t>
                      </a:r>
                    </a:p>
                  </a:txBody>
                  <a:tcPr marL="95250" marR="95250" marT="76200" marB="57150" anchor="t">
                    <a:solidFill>
                      <a:srgbClr val="EAF6FD"/>
                    </a:solidFill>
                  </a:tcPr>
                </a:tc>
              </a:tr>
              <a:tr h="533400">
                <a:tc>
                  <a:txBody>
                    <a:bodyPr/>
                    <a:lstStyle/>
                    <a:p>
                      <a:r>
                        <a:rPr sz="1650">
                          <a:solidFill>
                            <a:srgbClr val="000000"/>
                          </a:solidFill>
                          <a:latin typeface="Helvetica Neue"/>
                          <a:ea typeface="Helvetica Neue"/>
                          <a:cs typeface="Helvetica Neue"/>
                        </a:rPr>
                        <a:t>Direct vLLM submission</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Submit on arrival. The engine manages continuous batching.</a:t>
                      </a:r>
                    </a:p>
                  </a:txBody>
                  <a:tcPr marL="95250" marR="95250" marT="76200" marB="57150" anchor="t">
                    <a:solidFill>
                      <a:srgbClr val="FFFFFF"/>
                    </a:solidFill>
                  </a:tcPr>
                </a:tc>
              </a:tr>
              <a:tr h="533400">
                <a:tc>
                  <a:txBody>
                    <a:bodyPr/>
                    <a:lstStyle/>
                    <a:p>
                      <a:r>
                        <a:rPr sz="1650">
                          <a:solidFill>
                            <a:srgbClr val="000000"/>
                          </a:solidFill>
                          <a:latin typeface="Helvetica Neue"/>
                          <a:ea typeface="Helvetica Neue"/>
                          <a:cs typeface="Helvetica Neue"/>
                        </a:rPr>
                        <a:t>Fixed limit 32</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Admit at most 32 unfinished requests, in arrival order.</a:t>
                      </a:r>
                    </a:p>
                  </a:txBody>
                  <a:tcPr marL="95250" marR="95250" marT="76200" marB="57150" anchor="t">
                    <a:solidFill>
                      <a:srgbClr val="FFFFFF"/>
                    </a:solidFill>
                  </a:tcPr>
                </a:tc>
              </a:tr>
              <a:tr h="533400">
                <a:tc>
                  <a:txBody>
                    <a:bodyPr/>
                    <a:lstStyle/>
                    <a:p>
                      <a:r>
                        <a:rPr sz="1650">
                          <a:solidFill>
                            <a:srgbClr val="000000"/>
                          </a:solidFill>
                          <a:latin typeface="Helvetica Neue"/>
                          <a:ea typeface="Helvetica Neue"/>
                          <a:cs typeface="Helvetica Neue"/>
                        </a:rPr>
                        <a:t>Context-budget rule</a:t>
                      </a:r>
                    </a:p>
                  </a:txBody>
                  <a:tcPr marL="95250" marR="95250" marT="76200" marB="57150" anchor="t">
                    <a:solidFill>
                      <a:srgbClr val="FFFFFF"/>
                    </a:solidFill>
                  </a:tcPr>
                </a:tc>
                <a:tc>
                  <a:txBody>
                    <a:bodyPr/>
                    <a:lstStyle/>
                    <a:p>
                      <a:r>
                        <a:rPr sz="1650">
                          <a:solidFill>
                            <a:srgbClr val="000000"/>
                          </a:solidFill>
                          <a:latin typeface="Helvetica Neue"/>
                          <a:ea typeface="Helvetica Neue"/>
                          <a:cs typeface="Helvetica Neue"/>
                        </a:rPr>
                        <a:t>Reserve input + 128 output tokens/request, up to 20,000 total.</a:t>
                      </a:r>
                    </a:p>
                  </a:txBody>
                  <a:tcPr marL="95250" marR="95250" marT="76200" marB="57150" anchor="t">
                    <a:solidFill>
                      <a:srgbClr val="FFFFFF"/>
                    </a:solidFill>
                  </a:tcPr>
                </a:tc>
              </a:tr>
            </a:tbl>
          </a:graphicData>
        </a:graphic>
      </p:graphicFrame>
      <p:sp>
        <p:nvSpPr>
          <p:cNvPr id="536" name="">
            <a:extLst xmlns:a="http://schemas.openxmlformats.org/drawingml/2006/main">
              <a:ext uri="{FF2B5EF4-FFF2-40B4-BE49-F238E27FC236}">
                <a16:creationId xmlns:a16="http://schemas.microsoft.com/office/drawing/2014/main" id="{413C4C8A-9154-422E-9801-12884E533D03}"/>
              </a:ext>
            </a:extLst>
          </p:cNvPr>
          <p:cNvSpPr>
            <a:spLocks xmlns:a="http://schemas.openxmlformats.org/drawingml/2006/main" noGrp="1"/>
          </p:cNvSpPr>
          <p:nvPr/>
        </p:nvSpPr>
        <p:spPr>
          <a:xfrm xmlns:a="http://schemas.openxmlformats.org/drawingml/2006/main">
            <a:off x="390525" y="4448175"/>
            <a:ext cx="11401425"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Each trace: 96 short, 48 long, 96 short prompts (128 / 2,048 input tokens).</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Arrivals average 8 requests/s. All requests generate 128 output tokens.</a:t>
            </a:r>
          </a:p>
        </p:txBody>
      </p:sp>
      <p:sp>
        <p:nvSpPr>
          <p:cNvPr id="537" name="">
            <a:extLst xmlns:a="http://schemas.openxmlformats.org/drawingml/2006/main">
              <a:ext uri="{FF2B5EF4-FFF2-40B4-BE49-F238E27FC236}">
                <a16:creationId xmlns:a16="http://schemas.microsoft.com/office/drawing/2014/main" id="{A124E7F0-5E62-4AEC-A06D-134FF97594E3}"/>
              </a:ext>
            </a:extLst>
          </p:cNvPr>
          <p:cNvSpPr>
            <a:spLocks xmlns:a="http://schemas.openxmlformats.org/drawingml/2006/main" noGrp="1"/>
          </p:cNvSpPr>
          <p:nvPr/>
        </p:nvSpPr>
        <p:spPr>
          <a:xfrm xmlns:a="http://schemas.openxmlformats.org/drawingml/2006/main">
            <a:off x="390525" y="5219700"/>
            <a:ext cx="11401425"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Targets: first token ≤2 s and mean later-token time ≤100 ms, including admission waiting.</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240 requests × 3 policies × 3 engine repetitions = 2,160 completed requests.</a:t>
            </a:r>
          </a:p>
        </p:txBody>
      </p:sp>
      <p:sp>
        <p:nvSpPr>
          <p:cNvPr id="538" name="">
            <a:extLst xmlns:a="http://schemas.openxmlformats.org/drawingml/2006/main">
              <a:ext uri="{FF2B5EF4-FFF2-40B4-BE49-F238E27FC236}">
                <a16:creationId xmlns:a16="http://schemas.microsoft.com/office/drawing/2014/main" id="{72BF1FE3-24D3-4DE4-BB99-83BF191DC696}"/>
              </a:ext>
            </a:extLst>
          </p:cNvPr>
          <p:cNvSpPr>
            <a:spLocks xmlns:a="http://schemas.openxmlformats.org/drawingml/2006/main" noGrp="1"/>
          </p:cNvSpPr>
          <p:nvPr/>
        </p:nvSpPr>
        <p:spPr>
          <a:xfrm xmlns:a="http://schemas.openxmlformats.org/drawingml/2006/main">
            <a:off x="390525" y="5953125"/>
            <a:ext cx="114014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Pass rule: ≥5% higher goodput than both controls in every repetition, with no worse tail latency.</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477500" cy="228600"/>
          </a:xfrm>
        </p:spPr>
        <p:txBody>
          <a:bodyPr xmlns:a="http://schemas.openxmlformats.org/drawingml/2006/main" lIns="0" tIns="0" rIns="0" bIns="0" anchor="t">
            <a:noAutofit/>
          </a:bodyPr>
          <a:lstStyle xmlns:a="http://schemas.openxmlformats.org/drawingml/2006/main"/>
          <a:p xmlns:a="http://schemas.openxmlformats.org/drawingml/2006/main">
            <a:pPr algn="l">
              <a:buNone/>
              <a:defRPr sz="1050" b="0">
                <a:solidFill>
                  <a:srgbClr val="000000"/>
                </a:solidFill>
                <a:latin typeface="Helvetica Neue"/>
                <a:ea typeface="Helvetica Neue"/>
                <a:cs typeface="Helvetica Neue"/>
              </a:defRPr>
            </a:pPr>
            <a:r>
              <a:rPr sz="1050" b="0">
                <a:solidFill>
                  <a:srgbClr val="000000"/>
                </a:solidFill>
                <a:latin typeface="Helvetica Neue"/>
                <a:ea typeface="Helvetica Neue"/>
                <a:cs typeface="Helvetica Neue"/>
              </a:rPr>
              <a:t/>
            </a:r>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4DB16885-0D3F-A391-B669-3211DB3B26E8}" type="slidenum">
              <a:rPr sz="1125" b="0">
                <a:solidFill>
                  <a:srgbClr val="000000"/>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619125" y="2200275"/>
            <a:ext cx="10953750" cy="106680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4950" b="0">
                <a:solidFill>
                  <a:srgbClr val="000000"/>
                </a:solidFill>
                <a:latin typeface="Helvetica Neue"/>
                <a:ea typeface="Helvetica Neue"/>
                <a:cs typeface="Helvetica Neue"/>
              </a:defRPr>
            </a:pPr>
            <a:r>
              <a:rPr sz="4950" b="0">
                <a:solidFill>
                  <a:srgbClr val="000000"/>
                </a:solidFill>
                <a:latin typeface="Helvetica Neue"/>
                <a:ea typeface="Helvetica Neue"/>
                <a:cs typeface="Helvetica Neue"/>
              </a:rPr>
              <a:t>Our Results</a:t>
            </a:r>
          </a:p>
        </p:txBody>
      </p:sp>
      <p:sp>
        <p:nvSpPr>
          <p:cNvPr id="534" name="">
            <a:extLst xmlns:a="http://schemas.openxmlformats.org/drawingml/2006/main">
              <a:ext uri="{FF2B5EF4-FFF2-40B4-BE49-F238E27FC236}">
                <a16:creationId xmlns:a16="http://schemas.microsoft.com/office/drawing/2014/main" id="{1A0D4CCE-8D78-456A-92A9-83678613E8B1}"/>
              </a:ext>
            </a:extLst>
          </p:cNvPr>
          <p:cNvSpPr>
            <a:spLocks xmlns:a="http://schemas.openxmlformats.org/drawingml/2006/main" noGrp="1"/>
          </p:cNvSpPr>
          <p:nvPr/>
        </p:nvSpPr>
        <p:spPr>
          <a:xfrm xmlns:a="http://schemas.openxmlformats.org/drawingml/2006/main">
            <a:off x="657225" y="3514725"/>
            <a:ext cx="10382250" cy="895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ed881a2820694fae"/>
              </a:rPr>
              <a:t>Source: our raw timing records and W&amp;B</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2DD23107-4986-8758-3A93-3D74F35908CC}" type="slidenum">
              <a:rPr sz="1125" b="0">
                <a:solidFill>
                  <a:srgbClr val="000000"/>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 1 results: three current models</a:t>
            </a:r>
          </a:p>
        </p:txBody>
      </p:sp>
      <p:sp>
        <p:nvSpPr>
          <p:cNvPr id="534" name="">
            <a:extLst xmlns:a="http://schemas.openxmlformats.org/drawingml/2006/main">
              <a:ext uri="{FF2B5EF4-FFF2-40B4-BE49-F238E27FC236}">
                <a16:creationId xmlns:a16="http://schemas.microsoft.com/office/drawing/2014/main" id="{4BF5D1C7-4EA1-4872-86E0-0E878C207A13}"/>
              </a:ext>
            </a:extLst>
          </p:cNvPr>
          <p:cNvSpPr>
            <a:spLocks xmlns:a="http://schemas.openxmlformats.org/drawingml/2006/main" noGrp="1"/>
          </p:cNvSpPr>
          <p:nvPr/>
        </p:nvSpPr>
        <p:spPr>
          <a:xfrm xmlns:a="http://schemas.openxmlformats.org/drawingml/2006/main">
            <a:off x="390525" y="1276350"/>
            <a:ext cx="11401425"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A100 40 GB, BF16, 128 input + 128 output tokens/request. Output tokens/s: higher is better.</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Points show all 216 timings. Lines show configuration means from three warmed repeats.</a:t>
            </a:r>
          </a:p>
        </p:txBody>
      </p:sp>
      <p:sp>
        <p:nvSpPr>
          <p:cNvPr id="535" name="">
            <a:extLst xmlns:a="http://schemas.openxmlformats.org/drawingml/2006/main">
              <a:ext uri="{FF2B5EF4-FFF2-40B4-BE49-F238E27FC236}">
                <a16:creationId xmlns:a16="http://schemas.microsoft.com/office/drawing/2014/main" id="{41CAB78E-A276-43FF-8500-C32C38D2174E}"/>
              </a:ext>
            </a:extLst>
          </p:cNvPr>
          <p:cNvSpPr>
            <a:spLocks xmlns:a="http://schemas.openxmlformats.org/drawingml/2006/main" noGrp="1"/>
          </p:cNvSpPr>
          <p:nvPr/>
        </p:nvSpPr>
        <p:spPr>
          <a:xfrm xmlns:a="http://schemas.openxmlformats.org/drawingml/2006/main">
            <a:off x="390525" y="2076450"/>
            <a:ext cx="360997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Gemma 4 12B</a:t>
            </a:r>
          </a:p>
        </p:txBody>
      </p:sp>
      <p:graphicFrame>
        <p:nvGraphicFramePr>
          <p:cNvPr id="556" name="Chart"/>
          <p:cNvGraphicFramePr/>
          <p:nvPr/>
        </p:nvGraphicFramePr>
        <p:xfrm>
          <a:off xmlns:a="http://schemas.openxmlformats.org/drawingml/2006/main" x="390525" y="2457450"/>
          <a:ext xmlns:a="http://schemas.openxmlformats.org/drawingml/2006/main" cx="3609975" cy="2571750"/>
        </p:xfrm>
        <a:graphic xmlns:a="http://schemas.openxmlformats.org/drawingml/2006/main">
          <a:graphicData uri="http://schemas.openxmlformats.org/drawingml/2006/chart">
            <c:chart xmlns:r="http://schemas.openxmlformats.org/officeDocument/2006/relationships" xmlns:c="http://schemas.openxmlformats.org/drawingml/2006/chart" r:id="R3a843dc101c84a47"/>
          </a:graphicData>
        </a:graphic>
      </p:graphicFrame>
      <p:sp>
        <p:nvSpPr>
          <p:cNvPr id="537" name="">
            <a:extLst xmlns:a="http://schemas.openxmlformats.org/drawingml/2006/main">
              <a:ext uri="{FF2B5EF4-FFF2-40B4-BE49-F238E27FC236}">
                <a16:creationId xmlns:a16="http://schemas.microsoft.com/office/drawing/2014/main" id="{87904CFD-2F3E-49D2-AD18-75734018AE35}"/>
              </a:ext>
            </a:extLst>
          </p:cNvPr>
          <p:cNvSpPr>
            <a:spLocks xmlns:a="http://schemas.openxmlformats.org/drawingml/2006/main" noGrp="1"/>
          </p:cNvSpPr>
          <p:nvPr/>
        </p:nvSpPr>
        <p:spPr>
          <a:xfrm xmlns:a="http://schemas.openxmlformats.org/drawingml/2006/main">
            <a:off x="885825" y="5114925"/>
            <a:ext cx="3086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Requests in fixed batch</a:t>
            </a:r>
          </a:p>
        </p:txBody>
      </p:sp>
      <p:sp>
        <p:nvSpPr>
          <p:cNvPr id="538" name="">
            <a:extLst xmlns:a="http://schemas.openxmlformats.org/drawingml/2006/main">
              <a:ext uri="{FF2B5EF4-FFF2-40B4-BE49-F238E27FC236}">
                <a16:creationId xmlns:a16="http://schemas.microsoft.com/office/drawing/2014/main" id="{0EF534B2-296A-4C59-BC70-DFECAB2B8712}"/>
              </a:ext>
            </a:extLst>
          </p:cNvPr>
          <p:cNvSpPr>
            <a:spLocks xmlns:a="http://schemas.openxmlformats.org/drawingml/2006/main" noGrp="1"/>
          </p:cNvSpPr>
          <p:nvPr/>
        </p:nvSpPr>
        <p:spPr>
          <a:xfrm xmlns:a="http://schemas.openxmlformats.org/drawingml/2006/main">
            <a:off x="390525" y="5419725"/>
            <a:ext cx="37528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Default peak: 2,130 tokens/s, batch 95</a:t>
            </a:r>
          </a:p>
        </p:txBody>
      </p:sp>
      <p:sp>
        <p:nvSpPr>
          <p:cNvPr id="539" name="">
            <a:extLst xmlns:a="http://schemas.openxmlformats.org/drawingml/2006/main">
              <a:ext uri="{FF2B5EF4-FFF2-40B4-BE49-F238E27FC236}">
                <a16:creationId xmlns:a16="http://schemas.microsoft.com/office/drawing/2014/main" id="{F4FA576D-58FD-4341-83C4-4BD7EC557629}"/>
              </a:ext>
            </a:extLst>
          </p:cNvPr>
          <p:cNvSpPr>
            <a:spLocks xmlns:a="http://schemas.openxmlformats.org/drawingml/2006/main" noGrp="1"/>
          </p:cNvSpPr>
          <p:nvPr/>
        </p:nvSpPr>
        <p:spPr>
          <a:xfrm xmlns:a="http://schemas.openxmlformats.org/drawingml/2006/main">
            <a:off x="4305300" y="2076450"/>
            <a:ext cx="360997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Qwen3.5-9B</a:t>
            </a:r>
          </a:p>
        </p:txBody>
      </p:sp>
      <p:graphicFrame>
        <p:nvGraphicFramePr>
          <p:cNvPr id="560" name="Chart"/>
          <p:cNvGraphicFramePr/>
          <p:nvPr/>
        </p:nvGraphicFramePr>
        <p:xfrm>
          <a:off xmlns:a="http://schemas.openxmlformats.org/drawingml/2006/main" x="4305300" y="2457450"/>
          <a:ext xmlns:a="http://schemas.openxmlformats.org/drawingml/2006/main" cx="3609975" cy="2571750"/>
        </p:xfrm>
        <a:graphic xmlns:a="http://schemas.openxmlformats.org/drawingml/2006/main">
          <a:graphicData uri="http://schemas.openxmlformats.org/drawingml/2006/chart">
            <c:chart xmlns:r="http://schemas.openxmlformats.org/officeDocument/2006/relationships" xmlns:c="http://schemas.openxmlformats.org/drawingml/2006/chart" r:id="R8ba54b1a4f354396"/>
          </a:graphicData>
        </a:graphic>
      </p:graphicFrame>
      <p:sp>
        <p:nvSpPr>
          <p:cNvPr id="541" name="">
            <a:extLst xmlns:a="http://schemas.openxmlformats.org/drawingml/2006/main">
              <a:ext uri="{FF2B5EF4-FFF2-40B4-BE49-F238E27FC236}">
                <a16:creationId xmlns:a16="http://schemas.microsoft.com/office/drawing/2014/main" id="{B25C0B26-347E-476C-9940-A75300CE1A01}"/>
              </a:ext>
            </a:extLst>
          </p:cNvPr>
          <p:cNvSpPr>
            <a:spLocks xmlns:a="http://schemas.openxmlformats.org/drawingml/2006/main" noGrp="1"/>
          </p:cNvSpPr>
          <p:nvPr/>
        </p:nvSpPr>
        <p:spPr>
          <a:xfrm xmlns:a="http://schemas.openxmlformats.org/drawingml/2006/main">
            <a:off x="4800600" y="5114925"/>
            <a:ext cx="3086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Requests in fixed batch</a:t>
            </a:r>
          </a:p>
        </p:txBody>
      </p:sp>
      <p:sp>
        <p:nvSpPr>
          <p:cNvPr id="542" name="">
            <a:extLst xmlns:a="http://schemas.openxmlformats.org/drawingml/2006/main">
              <a:ext uri="{FF2B5EF4-FFF2-40B4-BE49-F238E27FC236}">
                <a16:creationId xmlns:a16="http://schemas.microsoft.com/office/drawing/2014/main" id="{C750D3BF-F32A-4C12-A3DB-EBAE9E9DABBD}"/>
              </a:ext>
            </a:extLst>
          </p:cNvPr>
          <p:cNvSpPr>
            <a:spLocks xmlns:a="http://schemas.openxmlformats.org/drawingml/2006/main" noGrp="1"/>
          </p:cNvSpPr>
          <p:nvPr/>
        </p:nvSpPr>
        <p:spPr>
          <a:xfrm xmlns:a="http://schemas.openxmlformats.org/drawingml/2006/main">
            <a:off x="4305300" y="5419725"/>
            <a:ext cx="37528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Default peak: 3,378 tokens/s, batch 127</a:t>
            </a:r>
          </a:p>
        </p:txBody>
      </p:sp>
      <p:sp>
        <p:nvSpPr>
          <p:cNvPr id="543" name="">
            <a:extLst xmlns:a="http://schemas.openxmlformats.org/drawingml/2006/main">
              <a:ext uri="{FF2B5EF4-FFF2-40B4-BE49-F238E27FC236}">
                <a16:creationId xmlns:a16="http://schemas.microsoft.com/office/drawing/2014/main" id="{B90E651F-E670-43EE-99F0-C1E070C9C0F7}"/>
              </a:ext>
            </a:extLst>
          </p:cNvPr>
          <p:cNvSpPr>
            <a:spLocks xmlns:a="http://schemas.openxmlformats.org/drawingml/2006/main" noGrp="1"/>
          </p:cNvSpPr>
          <p:nvPr/>
        </p:nvSpPr>
        <p:spPr>
          <a:xfrm xmlns:a="http://schemas.openxmlformats.org/drawingml/2006/main">
            <a:off x="8220075" y="2076450"/>
            <a:ext cx="360997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Gemma 4 E4B</a:t>
            </a:r>
          </a:p>
        </p:txBody>
      </p:sp>
      <p:graphicFrame>
        <p:nvGraphicFramePr>
          <p:cNvPr id="564" name="Chart"/>
          <p:cNvGraphicFramePr/>
          <p:nvPr/>
        </p:nvGraphicFramePr>
        <p:xfrm>
          <a:off xmlns:a="http://schemas.openxmlformats.org/drawingml/2006/main" x="8220075" y="2457450"/>
          <a:ext xmlns:a="http://schemas.openxmlformats.org/drawingml/2006/main" cx="3609975" cy="2571750"/>
        </p:xfrm>
        <a:graphic xmlns:a="http://schemas.openxmlformats.org/drawingml/2006/main">
          <a:graphicData uri="http://schemas.openxmlformats.org/drawingml/2006/chart">
            <c:chart xmlns:r="http://schemas.openxmlformats.org/officeDocument/2006/relationships" xmlns:c="http://schemas.openxmlformats.org/drawingml/2006/chart" r:id="R71e75670dc94424f"/>
          </a:graphicData>
        </a:graphic>
      </p:graphicFrame>
      <p:sp>
        <p:nvSpPr>
          <p:cNvPr id="545" name="">
            <a:extLst xmlns:a="http://schemas.openxmlformats.org/drawingml/2006/main">
              <a:ext uri="{FF2B5EF4-FFF2-40B4-BE49-F238E27FC236}">
                <a16:creationId xmlns:a16="http://schemas.microsoft.com/office/drawing/2014/main" id="{13763ED7-3FAA-4825-BF81-96789549A81F}"/>
              </a:ext>
            </a:extLst>
          </p:cNvPr>
          <p:cNvSpPr>
            <a:spLocks xmlns:a="http://schemas.openxmlformats.org/drawingml/2006/main" noGrp="1"/>
          </p:cNvSpPr>
          <p:nvPr/>
        </p:nvSpPr>
        <p:spPr>
          <a:xfrm xmlns:a="http://schemas.openxmlformats.org/drawingml/2006/main">
            <a:off x="8715375" y="5114925"/>
            <a:ext cx="3086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Requests in fixed batch</a:t>
            </a:r>
          </a:p>
        </p:txBody>
      </p:sp>
      <p:sp>
        <p:nvSpPr>
          <p:cNvPr id="546" name="">
            <a:extLst xmlns:a="http://schemas.openxmlformats.org/drawingml/2006/main">
              <a:ext uri="{FF2B5EF4-FFF2-40B4-BE49-F238E27FC236}">
                <a16:creationId xmlns:a16="http://schemas.microsoft.com/office/drawing/2014/main" id="{464BFCF4-E5C8-40C6-A197-8DEADAAAFC98}"/>
              </a:ext>
            </a:extLst>
          </p:cNvPr>
          <p:cNvSpPr>
            <a:spLocks xmlns:a="http://schemas.openxmlformats.org/drawingml/2006/main" noGrp="1"/>
          </p:cNvSpPr>
          <p:nvPr/>
        </p:nvSpPr>
        <p:spPr>
          <a:xfrm xmlns:a="http://schemas.openxmlformats.org/drawingml/2006/main">
            <a:off x="8220075" y="5419725"/>
            <a:ext cx="37528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Default peak: 6,076 tokens/s, batch 127</a:t>
            </a:r>
          </a:p>
        </p:txBody>
      </p:sp>
      <p:sp>
        <p:nvSpPr>
          <p:cNvPr id="547" name="">
            <a:extLst xmlns:a="http://schemas.openxmlformats.org/drawingml/2006/main">
              <a:ext uri="{FF2B5EF4-FFF2-40B4-BE49-F238E27FC236}">
                <a16:creationId xmlns:a16="http://schemas.microsoft.com/office/drawing/2014/main" id="{8DA8E333-8C7D-4318-B647-CF680450D71E}"/>
              </a:ext>
            </a:extLst>
          </p:cNvPr>
          <p:cNvSpPr>
            <a:spLocks xmlns:a="http://schemas.openxmlformats.org/drawingml/2006/main" noGrp="1"/>
          </p:cNvSpPr>
          <p:nvPr/>
        </p:nvSpPr>
        <p:spPr>
          <a:xfrm xmlns:a="http://schemas.openxmlformats.org/drawingml/2006/main">
            <a:off x="55245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22222"/>
                </a:solidFill>
                <a:latin typeface="Helvetica Neue"/>
                <a:ea typeface="Helvetica Neue"/>
                <a:cs typeface="Helvetica Neue"/>
              </a:defRPr>
            </a:pPr>
            <a:r>
              <a:rPr sz="1575" b="0">
                <a:solidFill>
                  <a:srgbClr val="222222"/>
                </a:solidFill>
                <a:latin typeface="Helvetica Neue"/>
                <a:ea typeface="Helvetica Neue"/>
                <a:cs typeface="Helvetica Neue"/>
              </a:rPr>
              <a:t>vLLM default captures</a:t>
            </a:r>
          </a:p>
        </p:txBody>
      </p:sp>
      <p:sp>
        <p:nvSpPr>
          <p:cNvPr id="548" name="">
            <a:extLst xmlns:a="http://schemas.openxmlformats.org/drawingml/2006/main">
              <a:ext uri="{FF2B5EF4-FFF2-40B4-BE49-F238E27FC236}">
                <a16:creationId xmlns:a16="http://schemas.microsoft.com/office/drawing/2014/main" id="{ECDE2224-6B22-42AD-BAF2-7581ED299679}"/>
              </a:ext>
            </a:extLst>
          </p:cNvPr>
          <p:cNvSpPr>
            <a:spLocks xmlns:a="http://schemas.openxmlformats.org/drawingml/2006/main" noGrp="1"/>
          </p:cNvSpPr>
          <p:nvPr/>
        </p:nvSpPr>
        <p:spPr>
          <a:xfrm xmlns:a="http://schemas.openxmlformats.org/drawingml/2006/main">
            <a:off x="438150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3D8DFF"/>
                </a:solidFill>
                <a:latin typeface="Helvetica Neue"/>
                <a:ea typeface="Helvetica Neue"/>
                <a:cs typeface="Helvetica Neue"/>
              </a:defRPr>
            </a:pPr>
            <a:r>
              <a:rPr sz="1575" b="0">
                <a:solidFill>
                  <a:srgbClr val="3D8DFF"/>
                </a:solidFill>
                <a:latin typeface="Helvetica Neue"/>
                <a:ea typeface="Helvetica Neue"/>
                <a:cs typeface="Helvetica Neue"/>
              </a:rPr>
              <a:t>Exact batch matches</a:t>
            </a:r>
          </a:p>
        </p:txBody>
      </p:sp>
      <p:sp>
        <p:nvSpPr>
          <p:cNvPr id="549" name="">
            <a:extLst xmlns:a="http://schemas.openxmlformats.org/drawingml/2006/main">
              <a:ext uri="{FF2B5EF4-FFF2-40B4-BE49-F238E27FC236}">
                <a16:creationId xmlns:a16="http://schemas.microsoft.com/office/drawing/2014/main" id="{B462EFF5-8F44-45F6-960D-C530AD2A140E}"/>
              </a:ext>
            </a:extLst>
          </p:cNvPr>
          <p:cNvSpPr>
            <a:spLocks xmlns:a="http://schemas.openxmlformats.org/drawingml/2006/main" noGrp="1"/>
          </p:cNvSpPr>
          <p:nvPr/>
        </p:nvSpPr>
        <p:spPr>
          <a:xfrm xmlns:a="http://schemas.openxmlformats.org/drawingml/2006/main">
            <a:off x="821055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909AA8"/>
                </a:solidFill>
                <a:latin typeface="Helvetica Neue"/>
                <a:ea typeface="Helvetica Neue"/>
                <a:cs typeface="Helvetica Neue"/>
              </a:defRPr>
            </a:pPr>
            <a:r>
              <a:rPr sz="1575" b="0">
                <a:solidFill>
                  <a:srgbClr val="909AA8"/>
                </a:solidFill>
                <a:latin typeface="Helvetica Neue"/>
                <a:ea typeface="Helvetica Neue"/>
                <a:cs typeface="Helvetica Neue"/>
              </a:rPr>
              <a:t>Coarse capture grid</a:t>
            </a:r>
          </a:p>
        </p:txBody>
      </p:sp>
      <p:sp>
        <p:nvSpPr>
          <p:cNvPr id="550" name="">
            <a:extLst xmlns:a="http://schemas.openxmlformats.org/drawingml/2006/main">
              <a:ext uri="{FF2B5EF4-FFF2-40B4-BE49-F238E27FC236}">
                <a16:creationId xmlns:a16="http://schemas.microsoft.com/office/drawing/2014/main" id="{C5C4CA85-7FE0-4DFF-82F8-D1E85AA9D953}"/>
              </a:ext>
            </a:extLst>
          </p:cNvPr>
          <p:cNvSpPr>
            <a:spLocks xmlns:a="http://schemas.openxmlformats.org/drawingml/2006/main" noGrp="1"/>
          </p:cNvSpPr>
          <p:nvPr/>
        </p:nvSpPr>
        <p:spPr>
          <a:xfrm xmlns:a="http://schemas.openxmlformats.org/drawingml/2006/main">
            <a:off x="390525" y="6048375"/>
            <a:ext cx="11401425"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Matched changes: -0.6% to +0.3%. No established gain. Coarse grids lose up to 3.8%.</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936a3a84c2e64a18"/>
              </a:rPr>
              <a:t>Source: our earlier Qwen timing records and W&amp;B</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327921A4-25C4-3DB4-06B1-32693CEE2241}" type="slidenum">
              <a:rPr sz="1125" b="0">
                <a:solidFill>
                  <a:srgbClr val="000000"/>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 1 results: two earlier model controls</a:t>
            </a:r>
          </a:p>
        </p:txBody>
      </p:sp>
      <p:sp>
        <p:nvSpPr>
          <p:cNvPr id="534" name="">
            <a:extLst xmlns:a="http://schemas.openxmlformats.org/drawingml/2006/main">
              <a:ext uri="{FF2B5EF4-FFF2-40B4-BE49-F238E27FC236}">
                <a16:creationId xmlns:a16="http://schemas.microsoft.com/office/drawing/2014/main" id="{655841DF-CF1A-4A7D-9A5C-AB8125C14B3A}"/>
              </a:ext>
            </a:extLst>
          </p:cNvPr>
          <p:cNvSpPr>
            <a:spLocks xmlns:a="http://schemas.openxmlformats.org/drawingml/2006/main" noGrp="1"/>
          </p:cNvSpPr>
          <p:nvPr/>
        </p:nvSpPr>
        <p:spPr>
          <a:xfrm xmlns:a="http://schemas.openxmlformats.org/drawingml/2006/main">
            <a:off x="390525" y="1276350"/>
            <a:ext cx="11401425"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A100 40 GB, BF16, 128 input + 128 output tokens/request. Output tokens/s: higher is better.</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Points show all 144 timings. Lines show configuration means from three warmed repeats.</a:t>
            </a:r>
          </a:p>
        </p:txBody>
      </p:sp>
      <p:sp>
        <p:nvSpPr>
          <p:cNvPr id="535" name="">
            <a:extLst xmlns:a="http://schemas.openxmlformats.org/drawingml/2006/main">
              <a:ext uri="{FF2B5EF4-FFF2-40B4-BE49-F238E27FC236}">
                <a16:creationId xmlns:a16="http://schemas.microsoft.com/office/drawing/2014/main" id="{E17FA96B-3CD8-47A4-A920-B22DBF2ACE76}"/>
              </a:ext>
            </a:extLst>
          </p:cNvPr>
          <p:cNvSpPr>
            <a:spLocks xmlns:a="http://schemas.openxmlformats.org/drawingml/2006/main" noGrp="1"/>
          </p:cNvSpPr>
          <p:nvPr/>
        </p:nvSpPr>
        <p:spPr>
          <a:xfrm xmlns:a="http://schemas.openxmlformats.org/drawingml/2006/main">
            <a:off x="390525" y="2076450"/>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Qwen2.5-1.5B</a:t>
            </a:r>
          </a:p>
        </p:txBody>
      </p:sp>
      <p:graphicFrame>
        <p:nvGraphicFramePr>
          <p:cNvPr id="552" name="Chart"/>
          <p:cNvGraphicFramePr/>
          <p:nvPr/>
        </p:nvGraphicFramePr>
        <p:xfrm>
          <a:off xmlns:a="http://schemas.openxmlformats.org/drawingml/2006/main" x="390525" y="2457450"/>
          <a:ext xmlns:a="http://schemas.openxmlformats.org/drawingml/2006/main" cx="5495925" cy="2571750"/>
        </p:xfrm>
        <a:graphic xmlns:a="http://schemas.openxmlformats.org/drawingml/2006/main">
          <a:graphicData uri="http://schemas.openxmlformats.org/drawingml/2006/chart">
            <c:chart xmlns:r="http://schemas.openxmlformats.org/officeDocument/2006/relationships" xmlns:c="http://schemas.openxmlformats.org/drawingml/2006/chart" r:id="R3f4f3bf280564aff"/>
          </a:graphicData>
        </a:graphic>
      </p:graphicFrame>
      <p:sp>
        <p:nvSpPr>
          <p:cNvPr id="537" name="">
            <a:extLst xmlns:a="http://schemas.openxmlformats.org/drawingml/2006/main">
              <a:ext uri="{FF2B5EF4-FFF2-40B4-BE49-F238E27FC236}">
                <a16:creationId xmlns:a16="http://schemas.microsoft.com/office/drawing/2014/main" id="{F8B4E07D-FB4D-4E64-851C-B96D72D56BC1}"/>
              </a:ext>
            </a:extLst>
          </p:cNvPr>
          <p:cNvSpPr>
            <a:spLocks xmlns:a="http://schemas.openxmlformats.org/drawingml/2006/main" noGrp="1"/>
          </p:cNvSpPr>
          <p:nvPr/>
        </p:nvSpPr>
        <p:spPr>
          <a:xfrm xmlns:a="http://schemas.openxmlformats.org/drawingml/2006/main">
            <a:off x="2057400" y="5114925"/>
            <a:ext cx="37147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Requests in fixed batch</a:t>
            </a:r>
          </a:p>
        </p:txBody>
      </p:sp>
      <p:sp>
        <p:nvSpPr>
          <p:cNvPr id="538" name="">
            <a:extLst xmlns:a="http://schemas.openxmlformats.org/drawingml/2006/main">
              <a:ext uri="{FF2B5EF4-FFF2-40B4-BE49-F238E27FC236}">
                <a16:creationId xmlns:a16="http://schemas.microsoft.com/office/drawing/2014/main" id="{8562DFF0-B67C-45B6-9E9C-EC477C06F3AE}"/>
              </a:ext>
            </a:extLst>
          </p:cNvPr>
          <p:cNvSpPr>
            <a:spLocks xmlns:a="http://schemas.openxmlformats.org/drawingml/2006/main" noGrp="1"/>
          </p:cNvSpPr>
          <p:nvPr/>
        </p:nvSpPr>
        <p:spPr>
          <a:xfrm xmlns:a="http://schemas.openxmlformats.org/drawingml/2006/main">
            <a:off x="942975" y="5429250"/>
            <a:ext cx="48577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Default peak: 16,453 tokens/s at batch 127</a:t>
            </a:r>
          </a:p>
        </p:txBody>
      </p:sp>
      <p:sp>
        <p:nvSpPr>
          <p:cNvPr id="539" name="">
            <a:extLst xmlns:a="http://schemas.openxmlformats.org/drawingml/2006/main">
              <a:ext uri="{FF2B5EF4-FFF2-40B4-BE49-F238E27FC236}">
                <a16:creationId xmlns:a16="http://schemas.microsoft.com/office/drawing/2014/main" id="{1F6EB225-8DB7-4FBD-8A8F-8F71FEDAABEE}"/>
              </a:ext>
            </a:extLst>
          </p:cNvPr>
          <p:cNvSpPr>
            <a:spLocks xmlns:a="http://schemas.openxmlformats.org/drawingml/2006/main" noGrp="1"/>
          </p:cNvSpPr>
          <p:nvPr/>
        </p:nvSpPr>
        <p:spPr>
          <a:xfrm xmlns:a="http://schemas.openxmlformats.org/drawingml/2006/main">
            <a:off x="6267450" y="2076450"/>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Qwen2.5-7B</a:t>
            </a:r>
          </a:p>
        </p:txBody>
      </p:sp>
      <p:graphicFrame>
        <p:nvGraphicFramePr>
          <p:cNvPr id="556" name="Chart"/>
          <p:cNvGraphicFramePr/>
          <p:nvPr/>
        </p:nvGraphicFramePr>
        <p:xfrm>
          <a:off xmlns:a="http://schemas.openxmlformats.org/drawingml/2006/main" x="6267450" y="2457450"/>
          <a:ext xmlns:a="http://schemas.openxmlformats.org/drawingml/2006/main" cx="5495925" cy="2571750"/>
        </p:xfrm>
        <a:graphic xmlns:a="http://schemas.openxmlformats.org/drawingml/2006/main">
          <a:graphicData uri="http://schemas.openxmlformats.org/drawingml/2006/chart">
            <c:chart xmlns:r="http://schemas.openxmlformats.org/officeDocument/2006/relationships" xmlns:c="http://schemas.openxmlformats.org/drawingml/2006/chart" r:id="R0dd59f08aed54d86"/>
          </a:graphicData>
        </a:graphic>
      </p:graphicFrame>
      <p:sp>
        <p:nvSpPr>
          <p:cNvPr id="541" name="">
            <a:extLst xmlns:a="http://schemas.openxmlformats.org/drawingml/2006/main">
              <a:ext uri="{FF2B5EF4-FFF2-40B4-BE49-F238E27FC236}">
                <a16:creationId xmlns:a16="http://schemas.microsoft.com/office/drawing/2014/main" id="{73FC9402-FBAB-4F02-A798-772127534D45}"/>
              </a:ext>
            </a:extLst>
          </p:cNvPr>
          <p:cNvSpPr>
            <a:spLocks xmlns:a="http://schemas.openxmlformats.org/drawingml/2006/main" noGrp="1"/>
          </p:cNvSpPr>
          <p:nvPr/>
        </p:nvSpPr>
        <p:spPr>
          <a:xfrm xmlns:a="http://schemas.openxmlformats.org/drawingml/2006/main">
            <a:off x="7934325" y="5114925"/>
            <a:ext cx="37147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Requests in fixed batch</a:t>
            </a:r>
          </a:p>
        </p:txBody>
      </p:sp>
      <p:sp>
        <p:nvSpPr>
          <p:cNvPr id="542" name="">
            <a:extLst xmlns:a="http://schemas.openxmlformats.org/drawingml/2006/main">
              <a:ext uri="{FF2B5EF4-FFF2-40B4-BE49-F238E27FC236}">
                <a16:creationId xmlns:a16="http://schemas.microsoft.com/office/drawing/2014/main" id="{EDA147FA-6092-4ECF-8D33-4C8AEED0751E}"/>
              </a:ext>
            </a:extLst>
          </p:cNvPr>
          <p:cNvSpPr>
            <a:spLocks xmlns:a="http://schemas.openxmlformats.org/drawingml/2006/main" noGrp="1"/>
          </p:cNvSpPr>
          <p:nvPr/>
        </p:nvSpPr>
        <p:spPr>
          <a:xfrm xmlns:a="http://schemas.openxmlformats.org/drawingml/2006/main">
            <a:off x="6819900" y="5429250"/>
            <a:ext cx="48577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Default peak: 4,881 tokens/s at batch 127</a:t>
            </a:r>
          </a:p>
        </p:txBody>
      </p:sp>
      <p:sp>
        <p:nvSpPr>
          <p:cNvPr id="543" name="">
            <a:extLst xmlns:a="http://schemas.openxmlformats.org/drawingml/2006/main">
              <a:ext uri="{FF2B5EF4-FFF2-40B4-BE49-F238E27FC236}">
                <a16:creationId xmlns:a16="http://schemas.microsoft.com/office/drawing/2014/main" id="{9FCDCBED-C29B-4D5F-8DC3-4C8267197EB1}"/>
              </a:ext>
            </a:extLst>
          </p:cNvPr>
          <p:cNvSpPr>
            <a:spLocks xmlns:a="http://schemas.openxmlformats.org/drawingml/2006/main" noGrp="1"/>
          </p:cNvSpPr>
          <p:nvPr/>
        </p:nvSpPr>
        <p:spPr>
          <a:xfrm xmlns:a="http://schemas.openxmlformats.org/drawingml/2006/main">
            <a:off x="55245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222222"/>
                </a:solidFill>
                <a:latin typeface="Helvetica Neue"/>
                <a:ea typeface="Helvetica Neue"/>
                <a:cs typeface="Helvetica Neue"/>
              </a:defRPr>
            </a:pPr>
            <a:r>
              <a:rPr sz="1575" b="0">
                <a:solidFill>
                  <a:srgbClr val="222222"/>
                </a:solidFill>
                <a:latin typeface="Helvetica Neue"/>
                <a:ea typeface="Helvetica Neue"/>
                <a:cs typeface="Helvetica Neue"/>
              </a:rPr>
              <a:t>vLLM default captures</a:t>
            </a:r>
          </a:p>
        </p:txBody>
      </p:sp>
      <p:sp>
        <p:nvSpPr>
          <p:cNvPr id="544" name="">
            <a:extLst xmlns:a="http://schemas.openxmlformats.org/drawingml/2006/main">
              <a:ext uri="{FF2B5EF4-FFF2-40B4-BE49-F238E27FC236}">
                <a16:creationId xmlns:a16="http://schemas.microsoft.com/office/drawing/2014/main" id="{2A06ECA2-600B-492B-AE26-049A4A710ECE}"/>
              </a:ext>
            </a:extLst>
          </p:cNvPr>
          <p:cNvSpPr>
            <a:spLocks xmlns:a="http://schemas.openxmlformats.org/drawingml/2006/main" noGrp="1"/>
          </p:cNvSpPr>
          <p:nvPr/>
        </p:nvSpPr>
        <p:spPr>
          <a:xfrm xmlns:a="http://schemas.openxmlformats.org/drawingml/2006/main">
            <a:off x="438150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3D8DFF"/>
                </a:solidFill>
                <a:latin typeface="Helvetica Neue"/>
                <a:ea typeface="Helvetica Neue"/>
                <a:cs typeface="Helvetica Neue"/>
              </a:defRPr>
            </a:pPr>
            <a:r>
              <a:rPr sz="1575" b="0">
                <a:solidFill>
                  <a:srgbClr val="3D8DFF"/>
                </a:solidFill>
                <a:latin typeface="Helvetica Neue"/>
                <a:ea typeface="Helvetica Neue"/>
                <a:cs typeface="Helvetica Neue"/>
              </a:rPr>
              <a:t>Exact batch matches</a:t>
            </a:r>
          </a:p>
        </p:txBody>
      </p:sp>
      <p:sp>
        <p:nvSpPr>
          <p:cNvPr id="545" name="">
            <a:extLst xmlns:a="http://schemas.openxmlformats.org/drawingml/2006/main">
              <a:ext uri="{FF2B5EF4-FFF2-40B4-BE49-F238E27FC236}">
                <a16:creationId xmlns:a16="http://schemas.microsoft.com/office/drawing/2014/main" id="{C6144AF5-8F46-445E-97F5-A8A406247BF5}"/>
              </a:ext>
            </a:extLst>
          </p:cNvPr>
          <p:cNvSpPr>
            <a:spLocks xmlns:a="http://schemas.openxmlformats.org/drawingml/2006/main" noGrp="1"/>
          </p:cNvSpPr>
          <p:nvPr/>
        </p:nvSpPr>
        <p:spPr>
          <a:xfrm xmlns:a="http://schemas.openxmlformats.org/drawingml/2006/main">
            <a:off x="8210550" y="5724525"/>
            <a:ext cx="375285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909AA8"/>
                </a:solidFill>
                <a:latin typeface="Helvetica Neue"/>
                <a:ea typeface="Helvetica Neue"/>
                <a:cs typeface="Helvetica Neue"/>
              </a:defRPr>
            </a:pPr>
            <a:r>
              <a:rPr sz="1575" b="0">
                <a:solidFill>
                  <a:srgbClr val="909AA8"/>
                </a:solidFill>
                <a:latin typeface="Helvetica Neue"/>
                <a:ea typeface="Helvetica Neue"/>
                <a:cs typeface="Helvetica Neue"/>
              </a:rPr>
              <a:t>Coarse capture grid</a:t>
            </a:r>
          </a:p>
        </p:txBody>
      </p:sp>
      <p:sp>
        <p:nvSpPr>
          <p:cNvPr id="546" name="">
            <a:extLst xmlns:a="http://schemas.openxmlformats.org/drawingml/2006/main">
              <a:ext uri="{FF2B5EF4-FFF2-40B4-BE49-F238E27FC236}">
                <a16:creationId xmlns:a16="http://schemas.microsoft.com/office/drawing/2014/main" id="{261C4478-4DEC-4006-9AAE-3D05E56C38AE}"/>
              </a:ext>
            </a:extLst>
          </p:cNvPr>
          <p:cNvSpPr>
            <a:spLocks xmlns:a="http://schemas.openxmlformats.org/drawingml/2006/main" noGrp="1"/>
          </p:cNvSpPr>
          <p:nvPr/>
        </p:nvSpPr>
        <p:spPr>
          <a:xfrm xmlns:a="http://schemas.openxmlformats.org/drawingml/2006/main">
            <a:off x="390525" y="6048375"/>
            <a:ext cx="114014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These older-model controls test the same configuration change. They do not validate an improved scheduler.</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2cac0dc7b2484e48"/>
              </a:rPr>
              <a:t>Source: our saved requests, timing summaries and telemetry</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EA83FA91-883A-0168-8075-96CEB9DCA3C2}" type="slidenum">
              <a:rPr sz="1125" b="0">
                <a:solidFill>
                  <a:srgbClr val="000000"/>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experiment 2 results: throughput, latency and GPU activity</a:t>
            </a:r>
          </a:p>
        </p:txBody>
      </p:sp>
      <p:sp>
        <p:nvSpPr>
          <p:cNvPr id="534" name="">
            <a:extLst xmlns:a="http://schemas.openxmlformats.org/drawingml/2006/main">
              <a:ext uri="{FF2B5EF4-FFF2-40B4-BE49-F238E27FC236}">
                <a16:creationId xmlns:a16="http://schemas.microsoft.com/office/drawing/2014/main" id="{A3A15B4C-BA2A-4522-8555-5DB3DAD9151F}"/>
              </a:ext>
            </a:extLst>
          </p:cNvPr>
          <p:cNvSpPr>
            <a:spLocks xmlns:a="http://schemas.openxmlformats.org/drawingml/2006/main" noGrp="1"/>
          </p:cNvSpPr>
          <p:nvPr/>
        </p:nvSpPr>
        <p:spPr>
          <a:xfrm xmlns:a="http://schemas.openxmlformats.org/drawingml/2006/main">
            <a:off x="390525" y="1285875"/>
            <a:ext cx="11401425"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Gemma 4 12B, A100 40 GB, timed burst workload. Points: 3 runs/policy. Diamonds: means.</a:t>
            </a:r>
          </a:p>
        </p:txBody>
      </p:sp>
      <p:sp>
        <p:nvSpPr>
          <p:cNvPr id="535" name="">
            <a:extLst xmlns:a="http://schemas.openxmlformats.org/drawingml/2006/main">
              <a:ext uri="{FF2B5EF4-FFF2-40B4-BE49-F238E27FC236}">
                <a16:creationId xmlns:a16="http://schemas.microsoft.com/office/drawing/2014/main" id="{C7704FEC-8FC8-4D3B-A890-07D17F17CD7F}"/>
              </a:ext>
            </a:extLst>
          </p:cNvPr>
          <p:cNvSpPr>
            <a:spLocks xmlns:a="http://schemas.openxmlformats.org/drawingml/2006/main" noGrp="1"/>
          </p:cNvSpPr>
          <p:nvPr/>
        </p:nvSpPr>
        <p:spPr>
          <a:xfrm xmlns:a="http://schemas.openxmlformats.org/drawingml/2006/main">
            <a:off x="390525" y="1914525"/>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Requests meeting targets/s, higher is better</a:t>
            </a:r>
          </a:p>
        </p:txBody>
      </p:sp>
      <p:graphicFrame>
        <p:nvGraphicFramePr>
          <p:cNvPr id="548" name="Chart"/>
          <p:cNvGraphicFramePr/>
          <p:nvPr/>
        </p:nvGraphicFramePr>
        <p:xfrm>
          <a:off xmlns:a="http://schemas.openxmlformats.org/drawingml/2006/main" x="390525" y="2295525"/>
          <a:ext xmlns:a="http://schemas.openxmlformats.org/drawingml/2006/main" cx="5495925" cy="1647825"/>
        </p:xfrm>
        <a:graphic xmlns:a="http://schemas.openxmlformats.org/drawingml/2006/main">
          <a:graphicData uri="http://schemas.openxmlformats.org/drawingml/2006/chart">
            <c:chart xmlns:r="http://schemas.openxmlformats.org/officeDocument/2006/relationships" xmlns:c="http://schemas.openxmlformats.org/drawingml/2006/chart" r:id="R592e3f30b1104688"/>
          </a:graphicData>
        </a:graphic>
      </p:graphicFrame>
      <p:sp>
        <p:nvSpPr>
          <p:cNvPr id="537" name="">
            <a:extLst xmlns:a="http://schemas.openxmlformats.org/drawingml/2006/main">
              <a:ext uri="{FF2B5EF4-FFF2-40B4-BE49-F238E27FC236}">
                <a16:creationId xmlns:a16="http://schemas.microsoft.com/office/drawing/2014/main" id="{EA3958BA-69CF-4AC9-83F6-C0F1BDA4CFB3}"/>
              </a:ext>
            </a:extLst>
          </p:cNvPr>
          <p:cNvSpPr>
            <a:spLocks xmlns:a="http://schemas.openxmlformats.org/drawingml/2006/main" noGrp="1"/>
          </p:cNvSpPr>
          <p:nvPr/>
        </p:nvSpPr>
        <p:spPr>
          <a:xfrm xmlns:a="http://schemas.openxmlformats.org/drawingml/2006/main">
            <a:off x="6267450" y="1914525"/>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Output tokens/s, higher is better</a:t>
            </a:r>
          </a:p>
        </p:txBody>
      </p:sp>
      <p:graphicFrame>
        <p:nvGraphicFramePr>
          <p:cNvPr id="550" name="Chart"/>
          <p:cNvGraphicFramePr/>
          <p:nvPr/>
        </p:nvGraphicFramePr>
        <p:xfrm>
          <a:off xmlns:a="http://schemas.openxmlformats.org/drawingml/2006/main" x="6267450" y="2295525"/>
          <a:ext xmlns:a="http://schemas.openxmlformats.org/drawingml/2006/main" cx="5495925" cy="1647825"/>
        </p:xfrm>
        <a:graphic xmlns:a="http://schemas.openxmlformats.org/drawingml/2006/main">
          <a:graphicData uri="http://schemas.openxmlformats.org/drawingml/2006/chart">
            <c:chart xmlns:r="http://schemas.openxmlformats.org/officeDocument/2006/relationships" xmlns:c="http://schemas.openxmlformats.org/drawingml/2006/chart" r:id="Rfba47a542b6e4526"/>
          </a:graphicData>
        </a:graphic>
      </p:graphicFrame>
      <p:sp>
        <p:nvSpPr>
          <p:cNvPr id="539" name="">
            <a:extLst xmlns:a="http://schemas.openxmlformats.org/drawingml/2006/main">
              <a:ext uri="{FF2B5EF4-FFF2-40B4-BE49-F238E27FC236}">
                <a16:creationId xmlns:a16="http://schemas.microsoft.com/office/drawing/2014/main" id="{C83E8897-CFF1-425F-A300-FDA84A108186}"/>
              </a:ext>
            </a:extLst>
          </p:cNvPr>
          <p:cNvSpPr>
            <a:spLocks xmlns:a="http://schemas.openxmlformats.org/drawingml/2006/main" noGrp="1"/>
          </p:cNvSpPr>
          <p:nvPr/>
        </p:nvSpPr>
        <p:spPr>
          <a:xfrm xmlns:a="http://schemas.openxmlformats.org/drawingml/2006/main">
            <a:off x="390525" y="4010025"/>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p99 first-token delay (s), lower is better</a:t>
            </a:r>
          </a:p>
        </p:txBody>
      </p:sp>
      <p:graphicFrame>
        <p:nvGraphicFramePr>
          <p:cNvPr id="552" name="Chart"/>
          <p:cNvGraphicFramePr/>
          <p:nvPr/>
        </p:nvGraphicFramePr>
        <p:xfrm>
          <a:off xmlns:a="http://schemas.openxmlformats.org/drawingml/2006/main" x="390525" y="4391025"/>
          <a:ext xmlns:a="http://schemas.openxmlformats.org/drawingml/2006/main" cx="5495925" cy="1647825"/>
        </p:xfrm>
        <a:graphic xmlns:a="http://schemas.openxmlformats.org/drawingml/2006/main">
          <a:graphicData uri="http://schemas.openxmlformats.org/drawingml/2006/chart">
            <c:chart xmlns:r="http://schemas.openxmlformats.org/officeDocument/2006/relationships" xmlns:c="http://schemas.openxmlformats.org/drawingml/2006/chart" r:id="R87f3953635a44b04"/>
          </a:graphicData>
        </a:graphic>
      </p:graphicFrame>
      <p:sp>
        <p:nvSpPr>
          <p:cNvPr id="541" name="">
            <a:extLst xmlns:a="http://schemas.openxmlformats.org/drawingml/2006/main">
              <a:ext uri="{FF2B5EF4-FFF2-40B4-BE49-F238E27FC236}">
                <a16:creationId xmlns:a16="http://schemas.microsoft.com/office/drawing/2014/main" id="{38CB5139-D2BD-46B6-8908-87CE4FEC77CB}"/>
              </a:ext>
            </a:extLst>
          </p:cNvPr>
          <p:cNvSpPr>
            <a:spLocks xmlns:a="http://schemas.openxmlformats.org/drawingml/2006/main" noGrp="1"/>
          </p:cNvSpPr>
          <p:nvPr/>
        </p:nvSpPr>
        <p:spPr>
          <a:xfrm xmlns:a="http://schemas.openxmlformats.org/drawingml/2006/main">
            <a:off x="6267450" y="4010025"/>
            <a:ext cx="5495925"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NVML GPU busy time (%)</a:t>
            </a:r>
          </a:p>
        </p:txBody>
      </p:sp>
      <p:graphicFrame>
        <p:nvGraphicFramePr>
          <p:cNvPr id="554" name="Chart"/>
          <p:cNvGraphicFramePr/>
          <p:nvPr/>
        </p:nvGraphicFramePr>
        <p:xfrm>
          <a:off xmlns:a="http://schemas.openxmlformats.org/drawingml/2006/main" x="6267450" y="4391025"/>
          <a:ext xmlns:a="http://schemas.openxmlformats.org/drawingml/2006/main" cx="5495925" cy="1647825"/>
        </p:xfrm>
        <a:graphic xmlns:a="http://schemas.openxmlformats.org/drawingml/2006/main">
          <a:graphicData uri="http://schemas.openxmlformats.org/drawingml/2006/chart">
            <c:chart xmlns:r="http://schemas.openxmlformats.org/officeDocument/2006/relationships" xmlns:c="http://schemas.openxmlformats.org/drawingml/2006/chart" r:id="Rb423fcbd91524eae"/>
          </a:graphicData>
        </a:graphic>
      </p:graphicFrame>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813131261af148d8"/>
              </a:rPr>
              <a:t>Our measured comparison</a:t>
            </a:r>
            <a:r>
              <a:rPr sz="1125">
                <a:latin typeface="Helvetica Neue"/>
                <a:ea typeface="Helvetica Neue"/>
                <a:cs typeface="Helvetica Neue"/>
              </a:rPr>
              <a:t>  ·  </a:t>
            </a:r>
            <a:r>
              <a:rPr sz="1125">
                <a:solidFill>
                  <a:srgbClr val="235E9C"/>
                </a:solidFill>
                <a:latin typeface="Helvetica Neue"/>
                <a:ea typeface="Helvetica Neue"/>
                <a:cs typeface="Helvetica Neue"/>
                <a:hlinkClick xmlns:r="http://schemas.openxmlformats.org/officeDocument/2006/relationships" r:id="Red34c38d7c894c89"/>
              </a:rPr>
              <a:t>Post-hoc phase analysis</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DC9C7607-4BA3-B4DC-A00F-2E67A9FCFF7E}" type="slidenum">
              <a:rPr sz="1125" b="0">
                <a:solidFill>
                  <a:srgbClr val="000000"/>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Our results: what the scheduling comparison means</a:t>
            </a:r>
          </a:p>
        </p:txBody>
      </p:sp>
      <p:sp>
        <p:nvSpPr>
          <p:cNvPr id="534" name="">
            <a:extLst xmlns:a="http://schemas.openxmlformats.org/drawingml/2006/main">
              <a:ext uri="{FF2B5EF4-FFF2-40B4-BE49-F238E27FC236}">
                <a16:creationId xmlns:a16="http://schemas.microsoft.com/office/drawing/2014/main" id="{B58FA6DD-87D6-47B9-99EE-770B96A53DFE}"/>
              </a:ext>
            </a:extLst>
          </p:cNvPr>
          <p:cNvSpPr>
            <a:spLocks xmlns:a="http://schemas.openxmlformats.org/drawingml/2006/main" noGrp="1"/>
          </p:cNvSpPr>
          <p:nvPr/>
        </p:nvSpPr>
        <p:spPr>
          <a:xfrm xmlns:a="http://schemas.openxmlformats.org/drawingml/2006/main">
            <a:off x="390525" y="1371600"/>
            <a:ext cx="11401425"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Means across three engine runs on Gemma 4 12B and the A100 40 GB.</a:t>
            </a:r>
          </a:p>
        </p:txBody>
      </p:sp>
      <p:graphicFrame>
        <p:nvGraphicFramePr>
          <p:cNvPr id="544" name=""/>
          <p:cNvGraphicFramePr/>
          <p:nvPr/>
        </p:nvGraphicFramePr>
        <p:xfrm>
          <a:off xmlns:a="http://schemas.openxmlformats.org/drawingml/2006/main" x="390525" y="2047875"/>
          <a:ext xmlns:a="http://schemas.openxmlformats.org/drawingml/2006/main" cx="11401425" cy="2076450"/>
        </p:xfrm>
        <a:graphic xmlns:a="http://schemas.openxmlformats.org/drawingml/2006/main">
          <a:graphicData uri="http://schemas.openxmlformats.org/drawingml/2006/table">
            <a:tbl>
              <a:tblPr firstRow="0" bandRow="0"/>
              <a:tblGrid>
                <a:gridCol w="2962275"/>
                <a:gridCol w="2095500"/>
                <a:gridCol w="2066925"/>
                <a:gridCol w="2247900"/>
                <a:gridCol w="2028825"/>
              </a:tblGrid>
              <a:tr h="519113">
                <a:tc>
                  <a:txBody>
                    <a:bodyPr/>
                    <a:lstStyle/>
                    <a:p>
                      <a:r>
                        <a:rPr sz="1725" b="1">
                          <a:solidFill>
                            <a:srgbClr val="000000"/>
                          </a:solidFill>
                          <a:latin typeface="Helvetica Neue"/>
                          <a:ea typeface="Helvetica Neue"/>
                          <a:cs typeface="Helvetica Neue"/>
                        </a:rPr>
                        <a:t>Policy</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SLO goodput</a:t>
                      </a:r>
                    </a:p>
                    <a:p>
                      <a:r>
                        <a:rPr sz="1725" b="1">
                          <a:solidFill>
                            <a:srgbClr val="000000"/>
                          </a:solidFill>
                          <a:latin typeface="Helvetica Neue"/>
                          <a:ea typeface="Helvetica Neue"/>
                          <a:cs typeface="Helvetica Neue"/>
                        </a:rPr>
                        <a:t>requests/s</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Output</a:t>
                      </a:r>
                    </a:p>
                    <a:p>
                      <a:r>
                        <a:rPr sz="1725" b="1">
                          <a:solidFill>
                            <a:srgbClr val="000000"/>
                          </a:solidFill>
                          <a:latin typeface="Helvetica Neue"/>
                          <a:ea typeface="Helvetica Neue"/>
                          <a:cs typeface="Helvetica Neue"/>
                        </a:rPr>
                        <a:t>tokens/s</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p99 first-token</a:t>
                      </a:r>
                    </a:p>
                    <a:p>
                      <a:r>
                        <a:rPr sz="1725" b="1">
                          <a:solidFill>
                            <a:srgbClr val="000000"/>
                          </a:solidFill>
                          <a:latin typeface="Helvetica Neue"/>
                          <a:ea typeface="Helvetica Neue"/>
                          <a:cs typeface="Helvetica Neue"/>
                        </a:rPr>
                        <a:t>delay (s)</a:t>
                      </a:r>
                    </a:p>
                  </a:txBody>
                  <a:tcPr marL="95250" marR="95250" marT="76200" marB="57150" anchor="t">
                    <a:solidFill>
                      <a:srgbClr val="EAF6FD"/>
                    </a:solidFill>
                  </a:tcPr>
                </a:tc>
                <a:tc>
                  <a:txBody>
                    <a:bodyPr/>
                    <a:lstStyle/>
                    <a:p>
                      <a:r>
                        <a:rPr sz="1725" b="1">
                          <a:solidFill>
                            <a:srgbClr val="000000"/>
                          </a:solidFill>
                          <a:latin typeface="Helvetica Neue"/>
                          <a:ea typeface="Helvetica Neue"/>
                          <a:cs typeface="Helvetica Neue"/>
                        </a:rPr>
                        <a:t>GPU busy</a:t>
                      </a:r>
                    </a:p>
                    <a:p>
                      <a:r>
                        <a:rPr sz="1725" b="1">
                          <a:solidFill>
                            <a:srgbClr val="000000"/>
                          </a:solidFill>
                          <a:latin typeface="Helvetica Neue"/>
                          <a:ea typeface="Helvetica Neue"/>
                          <a:cs typeface="Helvetica Neue"/>
                        </a:rPr>
                        <a:t>(%)</a:t>
                      </a:r>
                    </a:p>
                  </a:txBody>
                  <a:tcPr marL="95250" marR="95250" marT="76200" marB="57150" anchor="t">
                    <a:solidFill>
                      <a:srgbClr val="EAF6FD"/>
                    </a:solidFill>
                  </a:tcPr>
                </a:tc>
              </a:tr>
              <a:tr h="519113">
                <a:tc>
                  <a:txBody>
                    <a:bodyPr/>
                    <a:lstStyle/>
                    <a:p>
                      <a:r>
                        <a:rPr sz="1725">
                          <a:solidFill>
                            <a:srgbClr val="000000"/>
                          </a:solidFill>
                          <a:latin typeface="Helvetica Neue"/>
                          <a:ea typeface="Helvetica Neue"/>
                          <a:cs typeface="Helvetica Neue"/>
                        </a:rPr>
                        <a:t>Direct vLLM</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2.588</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766.6</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13.70</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99.46</a:t>
                      </a:r>
                    </a:p>
                  </a:txBody>
                  <a:tcPr marL="95250" marR="95250" marT="76200" marB="57150" anchor="t">
                    <a:solidFill>
                      <a:srgbClr val="FFFFFF"/>
                    </a:solidFill>
                  </a:tcPr>
                </a:tc>
              </a:tr>
              <a:tr h="519113">
                <a:tc>
                  <a:txBody>
                    <a:bodyPr/>
                    <a:lstStyle/>
                    <a:p>
                      <a:r>
                        <a:rPr sz="1725">
                          <a:solidFill>
                            <a:srgbClr val="000000"/>
                          </a:solidFill>
                          <a:latin typeface="Helvetica Neue"/>
                          <a:ea typeface="Helvetica Neue"/>
                          <a:cs typeface="Helvetica Neue"/>
                        </a:rPr>
                        <a:t>Fixed 32</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2.202</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665.3</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14.99</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99.67</a:t>
                      </a:r>
                    </a:p>
                  </a:txBody>
                  <a:tcPr marL="95250" marR="95250" marT="76200" marB="57150" anchor="t">
                    <a:solidFill>
                      <a:srgbClr val="FFFFFF"/>
                    </a:solidFill>
                  </a:tcPr>
                </a:tc>
              </a:tr>
              <a:tr h="519113">
                <a:tc>
                  <a:txBody>
                    <a:bodyPr/>
                    <a:lstStyle/>
                    <a:p>
                      <a:r>
                        <a:rPr sz="1725">
                          <a:solidFill>
                            <a:srgbClr val="000000"/>
                          </a:solidFill>
                          <a:latin typeface="Helvetica Neue"/>
                          <a:ea typeface="Helvetica Neue"/>
                          <a:cs typeface="Helvetica Neue"/>
                        </a:rPr>
                        <a:t>Context budget</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2.013</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608.3</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23.89</a:t>
                      </a:r>
                    </a:p>
                  </a:txBody>
                  <a:tcPr marL="95250" marR="95250" marT="76200" marB="57150" anchor="t">
                    <a:solidFill>
                      <a:srgbClr val="FFFFFF"/>
                    </a:solidFill>
                  </a:tcPr>
                </a:tc>
                <a:tc>
                  <a:txBody>
                    <a:bodyPr/>
                    <a:lstStyle/>
                    <a:p>
                      <a:r>
                        <a:rPr sz="1725">
                          <a:solidFill>
                            <a:srgbClr val="000000"/>
                          </a:solidFill>
                          <a:latin typeface="Helvetica Neue"/>
                          <a:ea typeface="Helvetica Neue"/>
                          <a:cs typeface="Helvetica Neue"/>
                        </a:rPr>
                        <a:t>99.78</a:t>
                      </a:r>
                    </a:p>
                  </a:txBody>
                  <a:tcPr marL="95250" marR="95250" marT="76200" marB="57150" anchor="t">
                    <a:solidFill>
                      <a:srgbClr val="FFFFFF"/>
                    </a:solidFill>
                  </a:tcPr>
                </a:tc>
              </a:tr>
            </a:tbl>
          </a:graphicData>
        </a:graphic>
      </p:graphicFrame>
      <p:sp>
        <p:nvSpPr>
          <p:cNvPr id="536" name="">
            <a:extLst xmlns:a="http://schemas.openxmlformats.org/drawingml/2006/main">
              <a:ext uri="{FF2B5EF4-FFF2-40B4-BE49-F238E27FC236}">
                <a16:creationId xmlns:a16="http://schemas.microsoft.com/office/drawing/2014/main" id="{76AF3F21-2BA3-4E29-BB30-689C9E0045BE}"/>
              </a:ext>
            </a:extLst>
          </p:cNvPr>
          <p:cNvSpPr>
            <a:spLocks xmlns:a="http://schemas.openxmlformats.org/drawingml/2006/main" noGrp="1"/>
          </p:cNvSpPr>
          <p:nvPr/>
        </p:nvSpPr>
        <p:spPr>
          <a:xfrm xmlns:a="http://schemas.openxmlformats.org/drawingml/2006/main">
            <a:off x="390525" y="4410075"/>
            <a:ext cx="11401425"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The context-budget rule loses 20–24% goodput versus direct vLLM across paired runs.</a:t>
            </a:r>
          </a:p>
        </p:txBody>
      </p:sp>
      <p:sp>
        <p:nvSpPr>
          <p:cNvPr id="537" name="">
            <a:extLst xmlns:a="http://schemas.openxmlformats.org/drawingml/2006/main">
              <a:ext uri="{FF2B5EF4-FFF2-40B4-BE49-F238E27FC236}">
                <a16:creationId xmlns:a16="http://schemas.microsoft.com/office/drawing/2014/main" id="{D770F0E2-3D70-4DCD-A6F0-4B754BEDE1AF}"/>
              </a:ext>
            </a:extLst>
          </p:cNvPr>
          <p:cNvSpPr>
            <a:spLocks xmlns:a="http://schemas.openxmlformats.org/drawingml/2006/main" noGrp="1"/>
          </p:cNvSpPr>
          <p:nvPr/>
        </p:nvSpPr>
        <p:spPr>
          <a:xfrm xmlns:a="http://schemas.openxmlformats.org/drawingml/2006/main">
            <a:off x="390525" y="4886325"/>
            <a:ext cx="11401425"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rPr sz="1800" b="0">
                <a:solidFill>
                  <a:srgbClr val="000000"/>
                </a:solidFill>
                <a:latin typeface="Helvetica Neue"/>
                <a:ea typeface="Helvetica Neue"/>
                <a:cs typeface="Helvetica Neue"/>
              </a:rPr>
              <a:t>It keeps the GPU busy while completing less useful work and increasing first-token delay.</a:t>
            </a:r>
          </a:p>
        </p:txBody>
      </p:sp>
      <p:sp>
        <p:nvSpPr>
          <p:cNvPr id="538" name="">
            <a:extLst xmlns:a="http://schemas.openxmlformats.org/drawingml/2006/main">
              <a:ext uri="{FF2B5EF4-FFF2-40B4-BE49-F238E27FC236}">
                <a16:creationId xmlns:a16="http://schemas.microsoft.com/office/drawing/2014/main" id="{E922C8F4-3C44-44CA-ABF6-2E1CC679D283}"/>
              </a:ext>
            </a:extLst>
          </p:cNvPr>
          <p:cNvSpPr>
            <a:spLocks xmlns:a="http://schemas.openxmlformats.org/drawingml/2006/main" noGrp="1"/>
          </p:cNvSpPr>
          <p:nvPr/>
        </p:nvSpPr>
        <p:spPr>
          <a:xfrm xmlns:a="http://schemas.openxmlformats.org/drawingml/2006/main">
            <a:off x="390525" y="5305425"/>
            <a:ext cx="11401425"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Burst finding: in every trial, 96/96 initial short requests meet our targets.</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After the long prompts, 0/96 later short requests meet them.</a:t>
            </a:r>
          </a:p>
        </p:txBody>
      </p:sp>
      <p:sp>
        <p:nvSpPr>
          <p:cNvPr id="539" name="">
            <a:extLst xmlns:a="http://schemas.openxmlformats.org/drawingml/2006/main">
              <a:ext uri="{FF2B5EF4-FFF2-40B4-BE49-F238E27FC236}">
                <a16:creationId xmlns:a16="http://schemas.microsoft.com/office/drawing/2014/main" id="{1D5D1266-518D-4AAA-A568-F03909A2AF80}"/>
              </a:ext>
            </a:extLst>
          </p:cNvPr>
          <p:cNvSpPr>
            <a:spLocks xmlns:a="http://schemas.openxmlformats.org/drawingml/2006/main" noGrp="1"/>
          </p:cNvSpPr>
          <p:nvPr/>
        </p:nvSpPr>
        <p:spPr>
          <a:xfrm xmlns:a="http://schemas.openxmlformats.org/drawingml/2006/main">
            <a:off x="390525" y="6029325"/>
            <a:ext cx="11401425"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The p99 column averages per-run p99s. This finite workload does not measure sustainable serving capacity.</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014dea2fabf94849"/>
              </a:rPr>
              <a:t>Research question and methodology assessment</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90F7333B-44AC-F7E9-D49D-FE92F45E0477}" type="slidenum">
              <a:rPr sz="1125" b="0">
                <a:solidFill>
                  <a:srgbClr val="000000"/>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The research question and one next experiment</a:t>
            </a:r>
          </a:p>
        </p:txBody>
      </p:sp>
      <p:sp>
        <p:nvSpPr>
          <p:cNvPr id="534" name="">
            <a:extLst xmlns:a="http://schemas.openxmlformats.org/drawingml/2006/main">
              <a:ext uri="{FF2B5EF4-FFF2-40B4-BE49-F238E27FC236}">
                <a16:creationId xmlns:a16="http://schemas.microsoft.com/office/drawing/2014/main" id="{3FB3C1EF-36EF-4CF8-93F0-D663197A01E4}"/>
              </a:ext>
            </a:extLst>
          </p:cNvPr>
          <p:cNvSpPr>
            <a:spLocks xmlns:a="http://schemas.openxmlformats.org/drawingml/2006/main" noGrp="1"/>
          </p:cNvSpPr>
          <p:nvPr/>
        </p:nvSpPr>
        <p:spPr>
          <a:xfrm xmlns:a="http://schemas.openxmlformats.org/drawingml/2006/main">
            <a:off x="390525" y="1390650"/>
            <a:ext cx="11401425" cy="971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Can better admission decisions preserve useful concurrency and improve recovery after a burst of long prompts?</a:t>
            </a:r>
          </a:p>
        </p:txBody>
      </p:sp>
      <p:sp>
        <p:nvSpPr>
          <p:cNvPr id="535" name="">
            <a:extLst xmlns:a="http://schemas.openxmlformats.org/drawingml/2006/main">
              <a:ext uri="{FF2B5EF4-FFF2-40B4-BE49-F238E27FC236}">
                <a16:creationId xmlns:a16="http://schemas.microsoft.com/office/drawing/2014/main" id="{E4580DD1-1521-45FA-BC0F-CC231AF0795E}"/>
              </a:ext>
            </a:extLst>
          </p:cNvPr>
          <p:cNvSpPr>
            <a:spLocks xmlns:a="http://schemas.openxmlformats.org/drawingml/2006/main" noGrp="1"/>
          </p:cNvSpPr>
          <p:nvPr/>
        </p:nvSpPr>
        <p:spPr>
          <a:xfrm xmlns:a="http://schemas.openxmlformats.org/drawingml/2006/main">
            <a:off x="390525" y="2876550"/>
            <a:ext cx="53816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One controlled comparison</a:t>
            </a:r>
          </a:p>
        </p:txBody>
      </p:sp>
      <p:sp>
        <p:nvSpPr>
          <p:cNvPr id="536" name="">
            <a:extLst xmlns:a="http://schemas.openxmlformats.org/drawingml/2006/main">
              <a:ext uri="{FF2B5EF4-FFF2-40B4-BE49-F238E27FC236}">
                <a16:creationId xmlns:a16="http://schemas.microsoft.com/office/drawing/2014/main" id="{32D55B0F-BE41-4EA8-8640-1BF0296D88D1}"/>
              </a:ext>
            </a:extLst>
          </p:cNvPr>
          <p:cNvSpPr>
            <a:spLocks xmlns:a="http://schemas.openxmlformats.org/drawingml/2006/main" noGrp="1"/>
          </p:cNvSpPr>
          <p:nvPr/>
        </p:nvSpPr>
        <p:spPr>
          <a:xfrm xmlns:a="http://schemas.openxmlformats.org/drawingml/2006/main">
            <a:off x="390525" y="3286125"/>
            <a:ext cx="5381625"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Calibrate processing-cost estimates on separate data. Freeze one adaptive rule, then replay unseen burst traces at several arrival rates.</a:t>
            </a:r>
          </a:p>
        </p:txBody>
      </p:sp>
      <p:sp>
        <p:nvSpPr>
          <p:cNvPr id="537" name="">
            <a:extLst xmlns:a="http://schemas.openxmlformats.org/drawingml/2006/main">
              <a:ext uri="{FF2B5EF4-FFF2-40B4-BE49-F238E27FC236}">
                <a16:creationId xmlns:a16="http://schemas.microsoft.com/office/drawing/2014/main" id="{64C3548B-16FD-44F7-9734-106DD600148B}"/>
              </a:ext>
            </a:extLst>
          </p:cNvPr>
          <p:cNvSpPr>
            <a:spLocks xmlns:a="http://schemas.openxmlformats.org/drawingml/2006/main" noGrp="1"/>
          </p:cNvSpPr>
          <p:nvPr/>
        </p:nvSpPr>
        <p:spPr>
          <a:xfrm xmlns:a="http://schemas.openxmlformats.org/drawingml/2006/main">
            <a:off x="6257925" y="2876550"/>
            <a:ext cx="55340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What makes the comparison fair</a:t>
            </a:r>
          </a:p>
        </p:txBody>
      </p:sp>
      <p:sp>
        <p:nvSpPr>
          <p:cNvPr id="538" name="">
            <a:extLst xmlns:a="http://schemas.openxmlformats.org/drawingml/2006/main">
              <a:ext uri="{FF2B5EF4-FFF2-40B4-BE49-F238E27FC236}">
                <a16:creationId xmlns:a16="http://schemas.microsoft.com/office/drawing/2014/main" id="{5D16B9CB-6E76-4A3E-8F30-29C542DFA13A}"/>
              </a:ext>
            </a:extLst>
          </p:cNvPr>
          <p:cNvSpPr>
            <a:spLocks xmlns:a="http://schemas.openxmlformats.org/drawingml/2006/main" noGrp="1"/>
          </p:cNvSpPr>
          <p:nvPr/>
        </p:nvSpPr>
        <p:spPr>
          <a:xfrm xmlns:a="http://schemas.openxmlformats.org/drawingml/2006/main">
            <a:off x="6257925" y="3286125"/>
            <a:ext cx="5534025" cy="1343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Compare with direct vLLM and a calibrated fixed limit. Count all requests and waiting time. Check goodput, tail latency and long-request fairness.</a:t>
            </a:r>
          </a:p>
        </p:txBody>
      </p:sp>
      <p:sp>
        <p:nvSpPr>
          <p:cNvPr id="539" name="">
            <a:extLst xmlns:a="http://schemas.openxmlformats.org/drawingml/2006/main">
              <a:ext uri="{FF2B5EF4-FFF2-40B4-BE49-F238E27FC236}">
                <a16:creationId xmlns:a16="http://schemas.microsoft.com/office/drawing/2014/main" id="{B0F7D76A-0A39-4944-ADD2-4C46AE5C9768}"/>
              </a:ext>
            </a:extLst>
          </p:cNvPr>
          <p:cNvSpPr>
            <a:spLocks xmlns:a="http://schemas.openxmlformats.org/drawingml/2006/main" noGrp="1"/>
          </p:cNvSpPr>
          <p:nvPr/>
        </p:nvSpPr>
        <p:spPr>
          <a:xfrm xmlns:a="http://schemas.openxmlformats.org/drawingml/2006/main">
            <a:off x="390525" y="5000625"/>
            <a:ext cx="11401425"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What remains uncertain: our current rule mixes throttling and ordering. One workload cannot establish the best mechanism or cross-model improvement.</a:t>
            </a:r>
          </a:p>
        </p:txBody>
      </p:sp>
      <p:sp>
        <p:nvSpPr>
          <p:cNvPr id="540" name="">
            <a:extLst xmlns:a="http://schemas.openxmlformats.org/drawingml/2006/main">
              <a:ext uri="{FF2B5EF4-FFF2-40B4-BE49-F238E27FC236}">
                <a16:creationId xmlns:a16="http://schemas.microsoft.com/office/drawing/2014/main" id="{5F6E2162-F808-4D88-8F44-4A1E48050702}"/>
              </a:ext>
            </a:extLst>
          </p:cNvPr>
          <p:cNvSpPr>
            <a:spLocks xmlns:a="http://schemas.openxmlformats.org/drawingml/2006/main" noGrp="1"/>
          </p:cNvSpPr>
          <p:nvPr/>
        </p:nvSpPr>
        <p:spPr>
          <a:xfrm xmlns:a="http://schemas.openxmlformats.org/drawingml/2006/main">
            <a:off x="390525" y="5924550"/>
            <a:ext cx="1140142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The completed tests motivate the question. They have not demonstrated an improved scheduler.</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383" y="6315075"/>
            <a:ext cx="10763250" cy="276225"/>
          </a:xfrm>
        </p:spPr>
        <p:txBody>
          <a:bodyPr xmlns:a="http://schemas.openxmlformats.org/drawingml/2006/main" lIns="0" tIns="0" rIns="0" bIns="0" anchor="t">
            <a:noAutofit/>
          </a:bodyPr>
          <a:lstStyle xmlns:a="http://schemas.openxmlformats.org/drawingml/2006/main"/>
          <a:p xmlns:a="http://schemas.openxmlformats.org/drawingml/2006/main">
            <a:pPr marL="0" indent="0" algn="l">
              <a:buNone/>
              <a:defRPr sz="1125" b="0">
                <a:solidFill>
                  <a:srgbClr val="000000"/>
                </a:solidFill>
                <a:latin typeface="Helvetica Neue"/>
                <a:ea typeface="Helvetica Neue"/>
                <a:cs typeface="Helvetica Neue"/>
              </a:defRPr>
            </a:pPr>
            <a:r>
              <a:rPr sz="1125">
                <a:solidFill>
                  <a:srgbClr val="235E9C"/>
                </a:solidFill>
                <a:latin typeface="Helvetica Neue"/>
                <a:ea typeface="Helvetica Neue"/>
                <a:cs typeface="Helvetica Neue"/>
                <a:hlinkClick xmlns:r="http://schemas.openxmlformats.org/officeDocument/2006/relationships" r:id="Rd6b5dad5bdcf4f78"/>
              </a:rPr>
              <a:t>Full references and additional background</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334750" y="6305550"/>
            <a:ext cx="466725" cy="219075"/>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1125" b="0">
                <a:solidFill>
                  <a:srgbClr val="000000"/>
                </a:solidFill>
                <a:latin typeface="Helvetica Neue"/>
                <a:ea typeface="Helvetica Neue"/>
                <a:cs typeface="Helvetica Neue"/>
              </a:defRPr>
            </a:pPr>
            <a:fld id="{B1C6C81E-38B9-7560-621D-5A151A79DF9B}" type="slidenum">
              <a:rPr sz="1125" b="0">
                <a:solidFill>
                  <a:srgbClr val="000000"/>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383" y="342900"/>
            <a:ext cx="11401425" cy="895350"/>
          </a:xfrm>
        </p:spPr>
        <p:txBody>
          <a:bodyPr xmlns:a="http://schemas.openxmlformats.org/drawingml/2006/main" spcFirstLastPara="1" vert="horz" lIns="0" tIns="0" rIns="0" bIns="0" anchor="t">
            <a:noAutofit/>
          </a:bodyPr>
          <a:lstStyle xmlns:a="http://schemas.openxmlformats.org/drawingml/2006/main"/>
          <a:p xmlns:a="http://schemas.openxmlformats.org/drawingml/2006/main">
            <a:pPr algn="l">
              <a:buNone/>
              <a:defRPr sz="2850" b="0">
                <a:solidFill>
                  <a:srgbClr val="000000"/>
                </a:solidFill>
                <a:latin typeface="Helvetica Neue"/>
                <a:ea typeface="Helvetica Neue"/>
                <a:cs typeface="Helvetica Neue"/>
              </a:defRPr>
            </a:pPr>
            <a:r>
              <a:rPr sz="2850" b="0">
                <a:solidFill>
                  <a:srgbClr val="000000"/>
                </a:solidFill>
                <a:latin typeface="Helvetica Neue"/>
                <a:ea typeface="Helvetica Neue"/>
                <a:cs typeface="Helvetica Neue"/>
              </a:rPr>
              <a:t>References and reproducibility records</a:t>
            </a:r>
          </a:p>
        </p:txBody>
      </p:sp>
      <p:sp>
        <p:nvSpPr>
          <p:cNvPr id="534" name="">
            <a:extLst xmlns:a="http://schemas.openxmlformats.org/drawingml/2006/main">
              <a:ext uri="{FF2B5EF4-FFF2-40B4-BE49-F238E27FC236}">
                <a16:creationId xmlns:a16="http://schemas.microsoft.com/office/drawing/2014/main" id="{D8125F7F-FC7D-4A52-B393-DB362BFCB330}"/>
              </a:ext>
            </a:extLst>
          </p:cNvPr>
          <p:cNvSpPr>
            <a:spLocks xmlns:a="http://schemas.openxmlformats.org/drawingml/2006/main" noGrp="1"/>
          </p:cNvSpPr>
          <p:nvPr/>
        </p:nvSpPr>
        <p:spPr>
          <a:xfrm xmlns:a="http://schemas.openxmlformats.org/drawingml/2006/main">
            <a:off x="390525" y="15049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0d4276af2e52447d"/>
              </a:rPr>
              <a:t>[1] Hong et al. SOLA: state-aware scheduling. MLSys 2025. Figure 1</a:t>
            </a:r>
          </a:p>
        </p:txBody>
      </p:sp>
      <p:sp>
        <p:nvSpPr>
          <p:cNvPr id="535" name="">
            <a:extLst xmlns:a="http://schemas.openxmlformats.org/drawingml/2006/main">
              <a:ext uri="{FF2B5EF4-FFF2-40B4-BE49-F238E27FC236}">
                <a16:creationId xmlns:a16="http://schemas.microsoft.com/office/drawing/2014/main" id="{05A2A0A7-BDBF-4D28-8FF6-E833067D24FA}"/>
              </a:ext>
            </a:extLst>
          </p:cNvPr>
          <p:cNvSpPr>
            <a:spLocks xmlns:a="http://schemas.openxmlformats.org/drawingml/2006/main" noGrp="1"/>
          </p:cNvSpPr>
          <p:nvPr/>
        </p:nvSpPr>
        <p:spPr>
          <a:xfrm xmlns:a="http://schemas.openxmlformats.org/drawingml/2006/main">
            <a:off x="390525" y="19621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83ec86b4f6994f93"/>
              </a:rPr>
              <a:t>[2] Gao et al. DuetServe: adaptive GPU multiplexing. ICML 2026. Figure 6</a:t>
            </a:r>
          </a:p>
        </p:txBody>
      </p:sp>
      <p:sp>
        <p:nvSpPr>
          <p:cNvPr id="536" name="">
            <a:extLst xmlns:a="http://schemas.openxmlformats.org/drawingml/2006/main">
              <a:ext uri="{FF2B5EF4-FFF2-40B4-BE49-F238E27FC236}">
                <a16:creationId xmlns:a16="http://schemas.microsoft.com/office/drawing/2014/main" id="{282C3880-2B4C-488B-9CB1-A586EE4DD0D4}"/>
              </a:ext>
            </a:extLst>
          </p:cNvPr>
          <p:cNvSpPr>
            <a:spLocks xmlns:a="http://schemas.openxmlformats.org/drawingml/2006/main" noGrp="1"/>
          </p:cNvSpPr>
          <p:nvPr/>
        </p:nvSpPr>
        <p:spPr>
          <a:xfrm xmlns:a="http://schemas.openxmlformats.org/drawingml/2006/main">
            <a:off x="390525" y="24193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56c1497504254250"/>
              </a:rPr>
              <a:t>[3] Yang et al. GPU-disaggregated DLRM serving. NSDI 2025. Figure 17</a:t>
            </a:r>
          </a:p>
        </p:txBody>
      </p:sp>
      <p:sp>
        <p:nvSpPr>
          <p:cNvPr id="537" name="">
            <a:extLst xmlns:a="http://schemas.openxmlformats.org/drawingml/2006/main">
              <a:ext uri="{FF2B5EF4-FFF2-40B4-BE49-F238E27FC236}">
                <a16:creationId xmlns:a16="http://schemas.microsoft.com/office/drawing/2014/main" id="{64E6207F-2429-499D-A186-8AD4E3562826}"/>
              </a:ext>
            </a:extLst>
          </p:cNvPr>
          <p:cNvSpPr>
            <a:spLocks xmlns:a="http://schemas.openxmlformats.org/drawingml/2006/main" noGrp="1"/>
          </p:cNvSpPr>
          <p:nvPr/>
        </p:nvSpPr>
        <p:spPr>
          <a:xfrm xmlns:a="http://schemas.openxmlformats.org/drawingml/2006/main">
            <a:off x="390525" y="28765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5f8af2e629d74c16"/>
              </a:rPr>
              <a:t>[4] NVIDIA. Tuning CUDA graph batch sizes. Engineering report, August 2026</a:t>
            </a:r>
          </a:p>
        </p:txBody>
      </p:sp>
      <p:sp>
        <p:nvSpPr>
          <p:cNvPr id="538" name="">
            <a:extLst xmlns:a="http://schemas.openxmlformats.org/drawingml/2006/main">
              <a:ext uri="{FF2B5EF4-FFF2-40B4-BE49-F238E27FC236}">
                <a16:creationId xmlns:a16="http://schemas.microsoft.com/office/drawing/2014/main" id="{6EFAF33D-052D-43B0-86C2-4DA9FFA7B26B}"/>
              </a:ext>
            </a:extLst>
          </p:cNvPr>
          <p:cNvSpPr>
            <a:spLocks xmlns:a="http://schemas.openxmlformats.org/drawingml/2006/main" noGrp="1"/>
          </p:cNvSpPr>
          <p:nvPr/>
        </p:nvSpPr>
        <p:spPr>
          <a:xfrm xmlns:a="http://schemas.openxmlformats.org/drawingml/2006/main">
            <a:off x="390525" y="33337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29eb873dd0c040f1"/>
              </a:rPr>
              <a:t>[5] vLLM. CUDA graph design and serving implementation documentation</a:t>
            </a:r>
          </a:p>
        </p:txBody>
      </p:sp>
      <p:sp>
        <p:nvSpPr>
          <p:cNvPr id="539" name="">
            <a:extLst xmlns:a="http://schemas.openxmlformats.org/drawingml/2006/main">
              <a:ext uri="{FF2B5EF4-FFF2-40B4-BE49-F238E27FC236}">
                <a16:creationId xmlns:a16="http://schemas.microsoft.com/office/drawing/2014/main" id="{35A3F282-27A4-4645-A1F1-BF4A9758BDE4}"/>
              </a:ext>
            </a:extLst>
          </p:cNvPr>
          <p:cNvSpPr>
            <a:spLocks xmlns:a="http://schemas.openxmlformats.org/drawingml/2006/main" noGrp="1"/>
          </p:cNvSpPr>
          <p:nvPr/>
        </p:nvSpPr>
        <p:spPr>
          <a:xfrm xmlns:a="http://schemas.openxmlformats.org/drawingml/2006/main">
            <a:off x="390525" y="37909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7095c60cca2944e4"/>
              </a:rPr>
              <a:t>[6] NVIDIA. NVML GPU-utilization metric definition</a:t>
            </a:r>
          </a:p>
        </p:txBody>
      </p:sp>
      <p:sp>
        <p:nvSpPr>
          <p:cNvPr id="540" name="">
            <a:extLst xmlns:a="http://schemas.openxmlformats.org/drawingml/2006/main">
              <a:ext uri="{FF2B5EF4-FFF2-40B4-BE49-F238E27FC236}">
                <a16:creationId xmlns:a16="http://schemas.microsoft.com/office/drawing/2014/main" id="{165264F9-2117-4A91-B97D-C550A29F0864}"/>
              </a:ext>
            </a:extLst>
          </p:cNvPr>
          <p:cNvSpPr>
            <a:spLocks xmlns:a="http://schemas.openxmlformats.org/drawingml/2006/main" noGrp="1"/>
          </p:cNvSpPr>
          <p:nvPr/>
        </p:nvSpPr>
        <p:spPr>
          <a:xfrm xmlns:a="http://schemas.openxmlformats.org/drawingml/2006/main">
            <a:off x="390525" y="42481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f82f88f2bf2948e3"/>
              </a:rPr>
              <a:t>[7] Official model and WikiText revisions: saved experiment manifests</a:t>
            </a:r>
          </a:p>
        </p:txBody>
      </p:sp>
      <p:sp>
        <p:nvSpPr>
          <p:cNvPr id="541" name="">
            <a:extLst xmlns:a="http://schemas.openxmlformats.org/drawingml/2006/main">
              <a:ext uri="{FF2B5EF4-FFF2-40B4-BE49-F238E27FC236}">
                <a16:creationId xmlns:a16="http://schemas.microsoft.com/office/drawing/2014/main" id="{0E2D9647-02C1-46B3-8D12-987242F393F9}"/>
              </a:ext>
            </a:extLst>
          </p:cNvPr>
          <p:cNvSpPr>
            <a:spLocks xmlns:a="http://schemas.openxmlformats.org/drawingml/2006/main" noGrp="1"/>
          </p:cNvSpPr>
          <p:nvPr/>
        </p:nvSpPr>
        <p:spPr>
          <a:xfrm xmlns:a="http://schemas.openxmlformats.org/drawingml/2006/main">
            <a:off x="390525" y="47053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9f9de0ef98f74f68"/>
              </a:rPr>
              <a:t>[8] Our experiment code, raw results, graph data and full bibliography</a:t>
            </a:r>
          </a:p>
        </p:txBody>
      </p:sp>
      <p:sp>
        <p:nvSpPr>
          <p:cNvPr id="542" name="">
            <a:extLst xmlns:a="http://schemas.openxmlformats.org/drawingml/2006/main">
              <a:ext uri="{FF2B5EF4-FFF2-40B4-BE49-F238E27FC236}">
                <a16:creationId xmlns:a16="http://schemas.microsoft.com/office/drawing/2014/main" id="{7AA2F5AD-9CA0-4B6B-9D65-541E06A5C0C9}"/>
              </a:ext>
            </a:extLst>
          </p:cNvPr>
          <p:cNvSpPr>
            <a:spLocks xmlns:a="http://schemas.openxmlformats.org/drawingml/2006/main" noGrp="1"/>
          </p:cNvSpPr>
          <p:nvPr/>
        </p:nvSpPr>
        <p:spPr>
          <a:xfrm xmlns:a="http://schemas.openxmlformats.org/drawingml/2006/main">
            <a:off x="390525" y="5162550"/>
            <a:ext cx="11401425" cy="3714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a:solidFill>
                  <a:srgbClr val="235E9C"/>
                </a:solidFill>
                <a:latin typeface="Helvetica Neue"/>
                <a:ea typeface="Helvetica Neue"/>
                <a:cs typeface="Helvetica Neue"/>
                <a:hlinkClick xmlns:r="http://schemas.openxmlformats.org/officeDocument/2006/relationships" r:id="Re1da8f1d0ab84392"/>
              </a:rPr>
              <a:t>[9] Our W&amp;B project and exact run records</a:t>
            </a:r>
          </a:p>
        </p:txBody>
      </p:sp>
      <p:sp>
        <p:nvSpPr>
          <p:cNvPr id="543" name="">
            <a:extLst xmlns:a="http://schemas.openxmlformats.org/drawingml/2006/main">
              <a:ext uri="{FF2B5EF4-FFF2-40B4-BE49-F238E27FC236}">
                <a16:creationId xmlns:a16="http://schemas.microsoft.com/office/drawing/2014/main" id="{077ACC33-888A-474C-979A-FBF779F4C9AB}"/>
              </a:ext>
            </a:extLst>
          </p:cNvPr>
          <p:cNvSpPr>
            <a:spLocks xmlns:a="http://schemas.openxmlformats.org/drawingml/2006/main" noGrp="1"/>
          </p:cNvSpPr>
          <p:nvPr/>
        </p:nvSpPr>
        <p:spPr>
          <a:xfrm xmlns:a="http://schemas.openxmlformats.org/drawingml/2006/main">
            <a:off x="390525" y="5867400"/>
            <a:ext cx="11401425" cy="3905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Paper figures retain their original measurements. Our figures use saved A100 experiment records.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2026-09-08T18:24:22.8870000Z</dcterms:created>
  <dcterms:modified xsi:type="dcterms:W3CDTF">2026-09-08T18:24:22.8870000Z</dcterms:modified>
</coreProperties>
</file>