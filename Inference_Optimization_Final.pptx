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4.xml" ContentType="application/vnd.openxmlformats-officedocument.drawingml.chart+xml"/>
  <Override PartName="/ppt/slides/charts/chart5.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6.xml" ContentType="application/vnd.openxmlformats-officedocument.drawingml.chart+xml"/>
  <Override PartName="/ppt/slides/charts/chart7.xml" ContentType="application/vnd.openxmlformats-officedocument.drawingml.chart+xml"/>
  <Override PartName="/ppt/slides/charts/chart8.xml" ContentType="application/vnd.openxmlformats-officedocument.drawingml.chart+xml"/>
  <Override PartName="/ppt/slides/charts/chart9.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10d74bd41c94245" /><Relationship Type="http://schemas.openxmlformats.org/officeDocument/2006/relationships/extended-properties" Target="/docProps/app.xml" Id="R63f2e2e855a348d7" /><Relationship Type="http://schemas.openxmlformats.org/officeDocument/2006/relationships/officeDocument" Target="/ppt/presentation.xml" Id="R26b82d114bbe49a0"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e7fd770f71f542b9"/>
  </p:sldMasterIdLst>
  <p:notesMasterIdLst>
    <p:notesMasterId xmlns:r="http://schemas.openxmlformats.org/officeDocument/2006/relationships" r:id="R0cc7acd5bc504f8f"/>
  </p:notesMasterIdLst>
  <p:sldIdLst>
    <p:sldId xmlns:r="http://schemas.openxmlformats.org/officeDocument/2006/relationships" id="256" r:id="R1881509f64f342d8"/>
    <p:sldId xmlns:r="http://schemas.openxmlformats.org/officeDocument/2006/relationships" id="257" r:id="Rde3108655eca4178"/>
    <p:sldId xmlns:r="http://schemas.openxmlformats.org/officeDocument/2006/relationships" id="258" r:id="R57797c686b8d458f"/>
    <p:sldId xmlns:r="http://schemas.openxmlformats.org/officeDocument/2006/relationships" id="259" r:id="Rdacf91cbb0aa4938"/>
    <p:sldId xmlns:r="http://schemas.openxmlformats.org/officeDocument/2006/relationships" id="260" r:id="R79562337047f4655"/>
    <p:sldId xmlns:r="http://schemas.openxmlformats.org/officeDocument/2006/relationships" id="261" r:id="R31409d2c6dc54e98"/>
    <p:sldId xmlns:r="http://schemas.openxmlformats.org/officeDocument/2006/relationships" id="262" r:id="R59c98aa350c54d6e"/>
    <p:sldId xmlns:r="http://schemas.openxmlformats.org/officeDocument/2006/relationships" id="263" r:id="R806a15dd811a4b0a"/>
    <p:sldId xmlns:r="http://schemas.openxmlformats.org/officeDocument/2006/relationships" id="264" r:id="R47492bd55e134ba4"/>
    <p:sldId xmlns:r="http://schemas.openxmlformats.org/officeDocument/2006/relationships" id="265" r:id="Rab69605dd67f493c"/>
    <p:sldId xmlns:r="http://schemas.openxmlformats.org/officeDocument/2006/relationships" id="266" r:id="R22cb8b00c51b4147"/>
    <p:sldId xmlns:r="http://schemas.openxmlformats.org/officeDocument/2006/relationships" id="267" r:id="R5aa8e790c62b4c94"/>
    <p:sldId xmlns:r="http://schemas.openxmlformats.org/officeDocument/2006/relationships" id="268" r:id="Rf20535739a054e4a"/>
    <p:sldId xmlns:r="http://schemas.openxmlformats.org/officeDocument/2006/relationships" id="269" r:id="R8f2686d43fb94888"/>
    <p:sldId xmlns:r="http://schemas.openxmlformats.org/officeDocument/2006/relationships" id="270" r:id="R8a46ea05aaab46b7"/>
  </p:sldIdLst>
  <p:sldSz cx="12192000" cy="6858000"/>
  <p:notesSz cx="6858000" cy="9144000"/>
  <p:embeddedFontLst>
    <p:embeddedFont>
      <p:font typeface="OpenAI Sans"/>
      <p:regular xmlns:r="http://schemas.openxmlformats.org/officeDocument/2006/relationships" r:id="R7be1a8b7ea84451e"/>
      <p:bold xmlns:r="http://schemas.openxmlformats.org/officeDocument/2006/relationships" r:id="R87fa8c97a4b14e29"/>
      <p:italic xmlns:r="http://schemas.openxmlformats.org/officeDocument/2006/relationships" r:id="R536435d98ece4aae"/>
      <p:boldItalic xmlns:r="http://schemas.openxmlformats.org/officeDocument/2006/relationships" r:id="Rb64aa102111143fa"/>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a69411bdd58642e0" /><Relationship Type="http://schemas.openxmlformats.org/officeDocument/2006/relationships/slideMaster" Target="/ppt/slideMasters/slideMaster1.xml" Id="Re7fd770f71f542b9" /><Relationship Type="http://schemas.openxmlformats.org/officeDocument/2006/relationships/notesMaster" Target="/ppt/notesMasters/notesMaster1.xml" Id="R0cc7acd5bc504f8f" /><Relationship Type="http://schemas.openxmlformats.org/officeDocument/2006/relationships/presProps" Target="/ppt/presProps.xml" Id="Rad69cd2e5ab844a5" /><Relationship Type="http://schemas.openxmlformats.org/officeDocument/2006/relationships/viewProps" Target="/ppt/viewProps.xml" Id="R6ea7537de516433f" /><Relationship Type="http://schemas.openxmlformats.org/officeDocument/2006/relationships/tableStyles" Target="/ppt/tableStyles.xml" Id="R09758a27e035482b" /><Relationship Type="http://schemas.openxmlformats.org/officeDocument/2006/relationships/font" Target="/ppt/fonts/font.dat" Id="R7be1a8b7ea84451e" /><Relationship Type="http://schemas.openxmlformats.org/officeDocument/2006/relationships/font" Target="/ppt/fonts/font2.dat" Id="R87fa8c97a4b14e29" /><Relationship Type="http://schemas.openxmlformats.org/officeDocument/2006/relationships/font" Target="/ppt/fonts/font3.dat" Id="R536435d98ece4aae" /><Relationship Type="http://schemas.openxmlformats.org/officeDocument/2006/relationships/font" Target="/ppt/fonts/font4.dat" Id="Rb64aa102111143fa" /><Relationship Type="http://schemas.openxmlformats.org/officeDocument/2006/relationships/slide" Target="/ppt/slides/slide1.xml" Id="R1881509f64f342d8" /><Relationship Type="http://schemas.openxmlformats.org/officeDocument/2006/relationships/slide" Target="/ppt/slides/slide2.xml" Id="Rde3108655eca4178" /><Relationship Type="http://schemas.openxmlformats.org/officeDocument/2006/relationships/slide" Target="/ppt/slides/slide3.xml" Id="R57797c686b8d458f" /><Relationship Type="http://schemas.openxmlformats.org/officeDocument/2006/relationships/slide" Target="/ppt/slides/slide4.xml" Id="Rdacf91cbb0aa4938" /><Relationship Type="http://schemas.openxmlformats.org/officeDocument/2006/relationships/slide" Target="/ppt/slides/slide5.xml" Id="R79562337047f4655" /><Relationship Type="http://schemas.openxmlformats.org/officeDocument/2006/relationships/slide" Target="/ppt/slides/slide6.xml" Id="R31409d2c6dc54e98" /><Relationship Type="http://schemas.openxmlformats.org/officeDocument/2006/relationships/slide" Target="/ppt/slides/slide7.xml" Id="R59c98aa350c54d6e" /><Relationship Type="http://schemas.openxmlformats.org/officeDocument/2006/relationships/slide" Target="/ppt/slides/slide8.xml" Id="R806a15dd811a4b0a" /><Relationship Type="http://schemas.openxmlformats.org/officeDocument/2006/relationships/slide" Target="/ppt/slides/slide9.xml" Id="R47492bd55e134ba4" /><Relationship Type="http://schemas.openxmlformats.org/officeDocument/2006/relationships/slide" Target="/ppt/slides/slide10.xml" Id="Rab69605dd67f493c" /><Relationship Type="http://schemas.openxmlformats.org/officeDocument/2006/relationships/slide" Target="/ppt/slides/slide11.xml" Id="R22cb8b00c51b4147" /><Relationship Type="http://schemas.openxmlformats.org/officeDocument/2006/relationships/slide" Target="/ppt/slides/slide12.xml" Id="R5aa8e790c62b4c94" /><Relationship Type="http://schemas.openxmlformats.org/officeDocument/2006/relationships/slide" Target="/ppt/slides/slide13.xml" Id="Rf20535739a054e4a" /><Relationship Type="http://schemas.openxmlformats.org/officeDocument/2006/relationships/slide" Target="/ppt/slides/slide14.xml" Id="R8f2686d43fb94888" /><Relationship Type="http://schemas.openxmlformats.org/officeDocument/2006/relationships/slide" Target="/ppt/slides/slide15.xml" Id="R8a46ea05aaab46b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86c7a6537143d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c1957f505f74fc8" /><Relationship Type="http://schemas.openxmlformats.org/officeDocument/2006/relationships/notesMaster" Target="/ppt/notesMasters/notesMaster1.xml" Id="R0e18c973f3c34e75" /></Relationships>
</file>

<file path=ppt/notesSlides/_rels/notesSlide2.xml.rels>&#65279;<?xml version="1.0" encoding="utf-8"?><Relationships xmlns="http://schemas.openxmlformats.org/package/2006/relationships"><Relationship Type="http://schemas.openxmlformats.org/officeDocument/2006/relationships/slide" Target="/ppt/slides/slide2.xml" Id="Ra711d51e4437448c" /><Relationship Type="http://schemas.openxmlformats.org/officeDocument/2006/relationships/notesMaster" Target="/ppt/notesMasters/notesMaster1.xml" Id="R24121f6da4f64a94" /></Relationships>
</file>

<file path=ppt/notesSlides/_rels/notesSlide3.xml.rels>&#65279;<?xml version="1.0" encoding="utf-8"?><Relationships xmlns="http://schemas.openxmlformats.org/package/2006/relationships"><Relationship Type="http://schemas.openxmlformats.org/officeDocument/2006/relationships/slide" Target="/ppt/slides/slide3.xml" Id="R61b82ebc4aa74749" /><Relationship Type="http://schemas.openxmlformats.org/officeDocument/2006/relationships/notesMaster" Target="/ppt/notesMasters/notesMaster1.xml" Id="R7378d2dfee5f4077" /></Relationships>
</file>

<file path=ppt/notesSlides/_rels/notesSlide4.xml.rels>&#65279;<?xml version="1.0" encoding="utf-8"?><Relationships xmlns="http://schemas.openxmlformats.org/package/2006/relationships"><Relationship Type="http://schemas.openxmlformats.org/officeDocument/2006/relationships/slide" Target="/ppt/slides/slide4.xml" Id="Rcad703db06254600" /><Relationship Type="http://schemas.openxmlformats.org/officeDocument/2006/relationships/notesMaster" Target="/ppt/notesMasters/notesMaster1.xml" Id="Rdeef805caf0840a2" /></Relationships>
</file>

<file path=ppt/notesSlides/_rels/notesSlide5.xml.rels>&#65279;<?xml version="1.0" encoding="utf-8"?><Relationships xmlns="http://schemas.openxmlformats.org/package/2006/relationships"><Relationship Type="http://schemas.openxmlformats.org/officeDocument/2006/relationships/slide" Target="/ppt/slides/slide5.xml" Id="R9a5905683c1848e9" /><Relationship Type="http://schemas.openxmlformats.org/officeDocument/2006/relationships/notesMaster" Target="/ppt/notesMasters/notesMaster1.xml" Id="Rea77cb4da6444051" /></Relationships>
</file>

<file path=ppt/notesSlides/_rels/notesSlide6.xml.rels>&#65279;<?xml version="1.0" encoding="utf-8"?><Relationships xmlns="http://schemas.openxmlformats.org/package/2006/relationships"><Relationship Type="http://schemas.openxmlformats.org/officeDocument/2006/relationships/slide" Target="/ppt/slides/slide6.xml" Id="Rb2915dad48da49b9" /><Relationship Type="http://schemas.openxmlformats.org/officeDocument/2006/relationships/notesMaster" Target="/ppt/notesMasters/notesMaster1.xml" Id="Ra703f8ee43964a82" /></Relationships>
</file>

<file path=ppt/notesSlides/_rels/notesSlide7.xml.rels>&#65279;<?xml version="1.0" encoding="utf-8"?><Relationships xmlns="http://schemas.openxmlformats.org/package/2006/relationships"><Relationship Type="http://schemas.openxmlformats.org/officeDocument/2006/relationships/slide" Target="/ppt/slides/slide7.xml" Id="R6eae833e719e4fe3" /><Relationship Type="http://schemas.openxmlformats.org/officeDocument/2006/relationships/notesMaster" Target="/ppt/notesMasters/notesMaster1.xml" Id="R26d24c0afcfa4b48" /></Relationships>
</file>

<file path=ppt/notesSlides/_rels/notesSlide8.xml.rels>&#65279;<?xml version="1.0" encoding="utf-8"?><Relationships xmlns="http://schemas.openxmlformats.org/package/2006/relationships"><Relationship Type="http://schemas.openxmlformats.org/officeDocument/2006/relationships/slide" Target="/ppt/slides/slide8.xml" Id="Rd5344624df7a4304" /><Relationship Type="http://schemas.openxmlformats.org/officeDocument/2006/relationships/notesMaster" Target="/ppt/notesMasters/notesMaster1.xml" Id="R80f8fa4f8917458c" /></Relationships>
</file>

<file path=ppt/notesSlides/_rels/notesSlide9.xml.rels>&#65279;<?xml version="1.0" encoding="utf-8"?><Relationships xmlns="http://schemas.openxmlformats.org/package/2006/relationships"><Relationship Type="http://schemas.openxmlformats.org/officeDocument/2006/relationships/slide" Target="/ppt/slides/slide9.xml" Id="R5b857ee9b04b4f8e" /><Relationship Type="http://schemas.openxmlformats.org/officeDocument/2006/relationships/notesMaster" Target="/ppt/notesMasters/notesMaster1.xml" Id="R54a7f3a4c7ca40c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464e7fa9f3b4998" /><Relationship Type="http://schemas.openxmlformats.org/officeDocument/2006/relationships/notesMaster" Target="/ppt/notesMasters/notesMaster1.xml" Id="R9e40e738bc5b4e3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94116b412184250" /><Relationship Type="http://schemas.openxmlformats.org/officeDocument/2006/relationships/notesMaster" Target="/ppt/notesMasters/notesMaster1.xml" Id="Rfe6f438709944ba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acbaa8f6acd4959" /><Relationship Type="http://schemas.openxmlformats.org/officeDocument/2006/relationships/notesMaster" Target="/ppt/notesMasters/notesMaster1.xml" Id="R7e04de0a9498408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0067cba82cc4e90" /><Relationship Type="http://schemas.openxmlformats.org/officeDocument/2006/relationships/notesMaster" Target="/ppt/notesMasters/notesMaster1.xml" Id="R96c8c993f892489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c170f921e734f2b" /><Relationship Type="http://schemas.openxmlformats.org/officeDocument/2006/relationships/notesMaster" Target="/ppt/notesMasters/notesMaster1.xml" Id="R3a44d79da6784d4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6ec85167f654c35" /><Relationship Type="http://schemas.openxmlformats.org/officeDocument/2006/relationships/notesMaster" Target="/ppt/notesMasters/notesMaster1.xml" Id="R002e53985c5e448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Inference Optimization investigates how scheduling, admission, batching and request/stage routing can increase useful inference work per GPU. LLMs are the first experimental domain. The measured configuration and scheduling controls do not establish an improved policy.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token is a unit of text represented by a model tokenizer. Scheduling SLO: TTFT ≤2 seconds and mean TPOT ≤100 milliseconds, with all queueing measured from scheduled arrival. Goodput denominator is the full replay-and-drain duration. Different published papers use different latency targets. NVML busy time is not achieved SM utilization. https://docs.nvidia.com/deploy/nvml-api/structnvmlUtilization__t.html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open question, not an established optimization. The initial scheduling candidate estimates demand using prompt length plus the known 128-token output budget. It changes admission to one vLLM engine. It does not test multi-worker routing or generalization to non-LLM workloads. Future decisions can include batching and request/stage routing, but one bounded next experiment appears on slide14.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vLLM is the open-source LLM inference engine used for our controls. This is a map of systems, not a cross-paper performance leaderboard. Cached context is prior-token state reusable by a worker. Prism recommendation-model serving and Prism multi-LLM memory ballooning are distinct systems. Full sources: https://proceedings.mlsys.org/paper_files/paper/2025/file/bc82dbfbfa43232be85b8d9838f49c3e-Paper-Conference.pdf</a:t>
            </a:r>
          </a:p>
          <a:p xmlns:a="http://schemas.openxmlformats.org/drawingml/2006/main">
            <a:r>
              <a:t>https://pages.cs.wisc.edu/~markhill/papers/icml2026_DuetServe.pdf</a:t>
            </a:r>
          </a:p>
          <a:p xmlns:a="http://schemas.openxmlformats.org/drawingml/2006/main">
            <a:r>
              <a:t>https://www.usenix.org/system/files/nsdi25-yang.pdf</a:t>
            </a:r>
          </a:p>
          <a:p xmlns:a="http://schemas.openxmlformats.org/drawingml/2006/main">
            <a:r>
              <a:t>https://www.usenix.org/conference/osdi26/technical-sessions</a:t>
            </a:r>
          </a:p>
          <a:p xmlns:a="http://schemas.openxmlformats.org/drawingml/2006/main">
            <a:r>
              <a:t>https://docs.nvidia.com/dynamo/dev/knowledge-base/concepts/system-architecture/kv-aware-routing</a:t>
            </a:r>
          </a:p>
          <a:p xmlns:a="http://schemas.openxmlformats.org/drawingml/2006/main">
            <a:r>
              <a:t>https://ennanzhai.github.io/pub/sosp25-aegaeon.pdf</a:t>
            </a:r>
          </a:p>
          <a:p xmlns:a="http://schemas.openxmlformats.org/drawingml/2006/main">
            <a:r>
              <a:t>https://nvidia.github.io/TensorRT-LLM/latest/blogs/tech_blog/blog20_Tuning_CUDA_Graph_Batch_Sizes_for_Higher_Output_Throughput.html</a:t>
            </a:r>
          </a:p>
          <a:p xmlns:a="http://schemas.openxmlformats.org/drawingml/2006/main">
            <a:r>
              <a:t>https://docs.vllm.ai/en/stable/design/cuda_graphs/</a:t>
            </a:r>
          </a:p>
          <a:p xmlns:a="http://schemas.openxmlformats.org/drawingml/2006/main">
            <a:r>
              <a:t>https://docs.nvidia.com/deploy/nvml-api/structnvmlUtilization__t.html</a:t>
            </a:r>
          </a:p>
          <a:p xmlns:a="http://schemas.openxmlformats.org/drawingml/2006/main">
            <a:r>
              <a:t>https://wandb.ai/nileshsarkar-ai/saturatellm-feasibility</a:t>
            </a:r>
          </a:p>
          <a:p xmlns:a="http://schemas.openxmlformats.org/drawingml/2006/main">
            <a:r>
              <a:t>https://www.usenix.org/system/files/osdi24-agrawal.pdf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SOLA uses request and system state to guide scheduling. The original figure shows per-request TTFT/TPOT. The authors’ 65% and 98% SLO-attainment values are not GPU busy percentages and are not our results. The paper’s vLLM version differs from our vLLM0.28.0. https://proceedings.mlsys.org/paper_files/paper/2025/file/bc82dbfbfa43232be85b8d9838f49c3e-Paper-Conference.pdf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QPS means offered queries/requests per second. Original Figure6 AzureCode panel and legend. The 12.43 and13.57 exact values come from §5.2. Calculated gain=(13.57/12.43-1)*100=9.17%. SGLang-Default is the stated numerical baseline. Paper vLLM0.10.1/SGLang0.5 baseline versions differ from our environment. https://pages.cs.wisc.edu/~markhill/papers/icml2026_DuetServe.pdf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Prism recommendation-model serving is distinct from the2026 LLM system. Figure17 measures total goodput on an eight-GPU node with additional CPU nodes. Baseline(n) identifies monolithic DLRM instances on the GPU node. Prism(CN,HN) identifies counts of CPU-side and GPU-side inference instances. The9× Model-XS configuration uses MIG, which partitions a GPU. This is evidence that inference utilization concerns extend beyond LLMs. It does not validate our candidate beyond LLMs. https://www.usenix.org/system/files/nsdi25-yang.pdf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five models use the same fixed batches[24,31,48,63,80,95,112,127]. Default35sizes=[1,2,4,8,16,24,32,40,48,56,64,72,80,88,96,104,112,120,128,136,144,152,160,168,176,184,192,200,208,216,224,232,240,248,256]. Coarse=[1,2,4,8,16,32,64,128,256]. Matched=[1,2,4,8,16,24,31,32,48,63,64,80,95,112,127,128,256]. Means describe three warmed repetitions within one process per configuration. Fresh process per configuration, fixed configuration order default/matched/coarse, randomized case order after warmup. Active engine batches can differ from submitted fixed sizes. Measurements include prompt processing and host work, but exclude initialization/profiler passes. BF16 is16-bit floating-point precision. All model/dataset revisions and exact settings are saved. https://docs.vllm.ai/en/stable/design/cuda_graphs/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All216raw timing observations are native chart points, plus72computed means. Points at the same batch size can overlap because repeated measurements and configurations are close. No horizontal/vertical jitter. Numeric x-axis preserves uneven batch spacing. Different panel y-axis ranges allow within-model comparison. Source files: /Users/nileshsarkar/Documents/Codex/2026-09-08/so-x20/outputs/experiment_data_gemma12b/default/measurements.jsonl</a:t>
            </a:r>
          </a:p>
          <a:p xmlns:a="http://schemas.openxmlformats.org/drawingml/2006/main">
            <a:r>
              <a:t>/Users/nileshsarkar/Documents/Codex/2026-09-08/so-x20/outputs/experiment_data_gemma12b/matched/measurements.jsonl</a:t>
            </a:r>
          </a:p>
          <a:p xmlns:a="http://schemas.openxmlformats.org/drawingml/2006/main">
            <a:r>
              <a:t>/Users/nileshsarkar/Documents/Codex/2026-09-08/so-x20/outputs/experiment_data_gemma12b/coarse/measurements.jsonl</a:t>
            </a:r>
          </a:p>
          <a:p xmlns:a="http://schemas.openxmlformats.org/drawingml/2006/main">
            <a:r>
              <a:t>/Users/nileshsarkar/Documents/Codex/2026-09-08/so-x20/outputs/experiment_data_qwen35/default/measurements.jsonl</a:t>
            </a:r>
          </a:p>
          <a:p xmlns:a="http://schemas.openxmlformats.org/drawingml/2006/main">
            <a:r>
              <a:t>/Users/nileshsarkar/Documents/Codex/2026-09-08/so-x20/outputs/experiment_data_qwen35/matched/measurements.jsonl</a:t>
            </a:r>
          </a:p>
          <a:p xmlns:a="http://schemas.openxmlformats.org/drawingml/2006/main">
            <a:r>
              <a:t>/Users/nileshsarkar/Documents/Codex/2026-09-08/so-x20/outputs/experiment_data_qwen35/coarse/measurements.jsonl</a:t>
            </a:r>
          </a:p>
          <a:p xmlns:a="http://schemas.openxmlformats.org/drawingml/2006/main">
            <a:r>
              <a:t>/Users/nileshsarkar/Documents/Codex/2026-09-08/so-x20/outputs/experiment_data_gemma_e4b/default/measurements.jsonl</a:t>
            </a:r>
          </a:p>
          <a:p xmlns:a="http://schemas.openxmlformats.org/drawingml/2006/main">
            <a:r>
              <a:t>/Users/nileshsarkar/Documents/Codex/2026-09-08/so-x20/outputs/experiment_data_gemma_e4b/matched/measurements.jsonl</a:t>
            </a:r>
          </a:p>
          <a:p xmlns:a="http://schemas.openxmlformats.org/drawingml/2006/main">
            <a:r>
              <a:t>/Users/nileshsarkar/Documents/Codex/2026-09-08/so-x20/outputs/experiment_data_gemma_e4b/coarse/measurements.jsonl</a:t>
            </a:r>
          </a:p>
          <a:p xmlns:a="http://schemas.openxmlformats.org/drawingml/2006/main">
            <a:r>
              <a:t>Capture repetitions are within-process, not independent confidence intervals. https://wandb.ai/nileshsarkar-ai/saturatellm-feasibility/runs/ff0adbic</a:t>
            </a:r>
          </a:p>
          <a:p xmlns:a="http://schemas.openxmlformats.org/drawingml/2006/main">
            <a:r>
              <a:t>https://wandb.ai/nileshsarkar-ai/saturatellm-feasibility/runs/90n8sruz</a:t>
            </a:r>
          </a:p>
          <a:p xmlns:a="http://schemas.openxmlformats.org/drawingml/2006/main">
            <a:r>
              <a:t>https://wandb.ai/nileshsarkar-ai/saturatellm-feasibility/runs/e705328c</a:t>
            </a:r>
          </a:p>
          <a:p xmlns:a="http://schemas.openxmlformats.org/drawingml/2006/main">
            <a:r>
              <a:t>https://wandb.ai/nileshsarkar-ai/saturatellm-feasibility/runs/mipeho1t</a:t>
            </a:r>
          </a:p>
          <a:p xmlns:a="http://schemas.openxmlformats.org/drawingml/2006/main">
            <a:r>
              <a:t>https://wandb.ai/nileshsarkar-ai/saturatellm-feasibility/runs/7rh9afa6</a:t>
            </a:r>
          </a:p>
          <a:p xmlns:a="http://schemas.openxmlformats.org/drawingml/2006/main">
            <a:r>
              <a:t>https://wandb.ai/nileshsarkar-ai/saturatellm-feasibility/runs/lnclmaf5</a:t>
            </a:r>
          </a:p>
          <a:p xmlns:a="http://schemas.openxmlformats.org/drawingml/2006/main">
            <a:r>
              <a:t>https://wandb.ai/nileshsarkar-ai/saturatellm-feasibility/runs/9gyjulic</a:t>
            </a:r>
          </a:p>
          <a:p xmlns:a="http://schemas.openxmlformats.org/drawingml/2006/main">
            <a:r>
              <a:t>https://wandb.ai/nileshsarkar-ai/saturatellm-feasibility/runs/380ymsza</a:t>
            </a:r>
          </a:p>
          <a:p xmlns:a="http://schemas.openxmlformats.org/drawingml/2006/main">
            <a:r>
              <a:t>https://wandb.ai/nileshsarkar-ai/saturatellm-feasibility/runs/vs3zqwsl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All144measurements appear as native chart points, plus48computed means. These are supplementary older-model controls, not claims about current model releases. The fixed-batch protocol is on slide8. Values round to6decimal places in editable workbooks. Sources: outputs/experiment_data/default/measurements.jsonl</a:t>
            </a:r>
          </a:p>
          <a:p xmlns:a="http://schemas.openxmlformats.org/drawingml/2006/main">
            <a:r>
              <a:t>outputs/experiment_data/matched/measurements.jsonl</a:t>
            </a:r>
          </a:p>
          <a:p xmlns:a="http://schemas.openxmlformats.org/drawingml/2006/main">
            <a:r>
              <a:t>outputs/experiment_data/coarse/measurements.jsonl</a:t>
            </a:r>
          </a:p>
          <a:p xmlns:a="http://schemas.openxmlformats.org/drawingml/2006/main">
            <a:r>
              <a:t>outputs/experiment_data_qwen7b_complete/default/measurements.jsonl</a:t>
            </a:r>
          </a:p>
          <a:p xmlns:a="http://schemas.openxmlformats.org/drawingml/2006/main">
            <a:r>
              <a:t>outputs/experiment_data_qwen7b_complete/matched/measurements.jsonl</a:t>
            </a:r>
          </a:p>
          <a:p xmlns:a="http://schemas.openxmlformats.org/drawingml/2006/main">
            <a:r>
              <a:t>outputs/experiment_data_qwen7b_complete/coarse/measurements.jsonl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Gemma throughput decline and high KV occupancy are observations from the same study, not a causal demonstration that occupancy caused the decline. Occupancy includes sampled engine logs and warmup. No achieved SM counters were collected. Fixed configuration order and within-process repeats limit interpretation of sub-percent changes. Older Qwen controls likewise do not establish a matched-set gain.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vLLM is the engine used by all policies. A trace is an exact sequence of request prompts and scheduled arrival times. Poisson arrivals at8requests/s, seeds20260908,20260909,20260910. Three fresh engine processes each run all policies, with balanced rotated order. Each request generates128tokens. Context-budget policy chooses oldest fitting request and protects requests waiting≥2seconds by reserving room before bypassing them. Reservation is an estimate based on known output budget, not actual KV bytes. All queueing counts from scheduled arrival. The ≥5% threshold is a predeclared practical criterion, not a significance test. A stream gap is the interval between generated output chunks. Saved requests here have one token per chunk. Source: outputs/scheduling_validation/PROTOCOL.md and outputs/scheduling_results. https://wandb.ai/nileshsarkar-ai/saturatellm-feasibility/runs/bqi747dz</a:t>
            </a:r>
          </a:p>
          <a:p xmlns:a="http://schemas.openxmlformats.org/drawingml/2006/main">
            <a:r>
              <a:t>https://wandb.ai/nileshsarkar-ai/saturatellm-feasibility/runs/8uxhnbwe</a:t>
            </a:r>
          </a:p>
          <a:p xmlns:a="http://schemas.openxmlformats.org/drawingml/2006/main">
            <a:r>
              <a:t>https://wandb.ai/nileshsarkar-ai/saturatellm-feasibility/runs/jxmojkaz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native charts contain36per-run observations plus12computed means. All values come from outputs/scheduling_results/analysis/validation.json. Means and points are different series; some nearly identical points overlap. Blue markers show the mean, and gray points show all three runs. Policy categories are discrete, so markers have no connecting line. GPU busy percentages span99.1–100.0% but useful work differs. NVML busy is not achieved SM utilization. TTFT includes external waiting. Per-run p99means are not pooled-request p99. Goodput uses the full replay/drain time. https://wandb.ai/nileshsarkar-ai/saturatellm-feasibility/runs/bqi747dz</a:t>
            </a:r>
          </a:p>
          <a:p xmlns:a="http://schemas.openxmlformats.org/drawingml/2006/main">
            <a:r>
              <a:t>https://wandb.ai/nileshsarkar-ai/saturatellm-feasibility/runs/8uxhnbwe</a:t>
            </a:r>
          </a:p>
          <a:p xmlns:a="http://schemas.openxmlformats.org/drawingml/2006/main">
            <a:r>
              <a:t>https://wandb.ai/nileshsarkar-ai/saturatellm-feasibility/runs/jxmojkaz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Candidate context_budget relative to current default across paired repeats: [{"repeat":0,"baseline":"default","goodput_delta_percent":-19.968689964492835,"goodput_rule_pass":false,"latency_rule_pass":false,"pass":false},{"repeat":1,"baseline":"default","goodput_delta_percent":-24.014096413931075,"goodput_rule_pass":false,"latency_rule_pass":false,"pass":false},{"repeat":2,"baseline":"default","goodput_delta_percent":-22.44399272529115,"goodput_rule_pass":false,"latency_rule_pass":false,"pass":false}]. High GPU busy time alone does not establish more useful GPU work. All outputs meet the recorded length requirement, but output hashes differ across policies and this study does not establish answer-quality equivalence. The proposed cost-aware policy is an untested research direction. Post-hoc phase analysis finds 96/96 initial short requests pass and 0/96 recovery short requests pass in every trial. This diagnoses deadline misses in this finite burst, not sustainable capacity. The 20,000-token gate fits at most nine all-long requests versus 32 admitted requests for fixed32; admitted requests may queue inside vLLM and are not simultaneous GPU work. The test changes concurrency, ordering and age protection together, so it cannot isolate their causal effects. Next: use separate calibration to select baseline settings, diagnose queueing and service times, and evaluate one frozen adaptive rule on held-out traces at predeclared loads. Compare default vLLM and the strongest calibrated fixed rule; include a version without the adaptive decision to isolate its effect. Record phase-specific SLO attainment, long-request latency, all completed outputs and any drops, plus goodput and tail latency. Keep timing runs separate from detailed GPU profiling. No claim of achieved SM or memory-bandwidth efficiency follows from NVML busy time. Other inference model families and multi-worker routing remain future scope, not validated transfer.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bibliography and model/data links:</a:t>
            </a:r>
          </a:p>
          <a:p xmlns:a="http://schemas.openxmlformats.org/drawingml/2006/main">
            <a:r>
              <a:t># Inference Optimization references</a:t>
            </a:r>
          </a:p>
          <a:p xmlns:a="http://schemas.openxmlformats.org/drawingml/2006/main">
            <a:r>
              <a:t/>
            </a:r>
          </a:p>
          <a:p xmlns:a="http://schemas.openxmlformats.org/drawingml/2006/main">
            <a:r>
              <a:t>Checked 8 September 2026. The PPT includes clickable source footers and citations in speaker notes. Original paper excerpts remain separate from our own measured graphs. Cross-paper gains are not directly comparable.</a:t>
            </a:r>
          </a:p>
          <a:p xmlns:a="http://schemas.openxmlformats.org/drawingml/2006/main">
            <a:r>
              <a:t/>
            </a:r>
          </a:p>
          <a:p xmlns:a="http://schemas.openxmlformats.org/drawingml/2006/main">
            <a:r>
              <a:t>## Published systems research</a:t>
            </a:r>
          </a:p>
          <a:p xmlns:a="http://schemas.openxmlformats.org/drawingml/2006/main">
            <a:r>
              <a:t/>
            </a:r>
          </a:p>
          <a:p xmlns:a="http://schemas.openxmlformats.org/drawingml/2006/main">
            <a:r>
              <a:t>1. **Hong et al. (2025). SOLA: Optimizing SLO Attainment for Large Language Model Serving with State-Aware Scheduling. MLSys 2025.** [Proceedings PDF](https://proceedings.mlsys.org/paper_files/paper/2025/file/bc82dbfbfa43232be85b8d9838f49c3e-Paper-Conference.pdf). Slides 4–5. Original Figure 1: 65% to 98% SLO attainment, Llama3-70B, four A100s, ShareGPT at 4.6 requests/s. Targets: TTFT 500 ms and TPOT 200 ms. Local PDF: research_sources/sola.pdf.</a:t>
            </a:r>
          </a:p>
          <a:p xmlns:a="http://schemas.openxmlformats.org/drawingml/2006/main">
            <a:r>
              <a:t/>
            </a:r>
          </a:p>
          <a:p xmlns:a="http://schemas.openxmlformats.org/drawingml/2006/main">
            <a:r>
              <a:t>2. **Gao et al. (2026). DuetServe: Harmonizing Prefill and Decode for LLM Serving via Adaptive GPU Multiplexing. ICML 2026.** [Author PDF](https://pages.cs.wisc.edu/~markhill/papers/icml2026_DuetServe.pdf). Slides 4 and 6. Original Figure 6 AzureCode throughput panel and legend. Section 5.2 supplies 12.43 and 13.57 completed requests/s at 16 offered requests/s, relative to SGLang-Default, Qwen3-8B on one H100 80 GB. The deck's 9.2% is calculated from these values. Local PDF: research_sources/duetserve.pdf.</a:t>
            </a:r>
          </a:p>
          <a:p xmlns:a="http://schemas.openxmlformats.org/drawingml/2006/main">
            <a:r>
              <a:t/>
            </a:r>
          </a:p>
          <a:p xmlns:a="http://schemas.openxmlformats.org/drawingml/2006/main">
            <a:r>
              <a:t>3. **Yang et al. (2025). GPU-Disaggregated Serving for Deep Learning Recommendation Models at Scale. NSDI 2025.** [USENIX PDF](https://www.usenix.org/system/files/nsdi25-yang.pdf). Slides 4 and 7. Original Figure 17: 5–9× GPU-node goodput in the reported configurations. Eight A100 80 GB GPUs per node, with separate CPU nodes added by Prism. The highest Model-XS result uses MIG. Local PDF: research_sources/prism_dlrm.pdf.</a:t>
            </a:r>
          </a:p>
          <a:p xmlns:a="http://schemas.openxmlformats.org/drawingml/2006/main">
            <a:r>
              <a:t/>
            </a:r>
          </a:p>
          <a:p xmlns:a="http://schemas.openxmlformats.org/drawingml/2006/main">
            <a:r>
              <a:t>4. **Agrawal et al. (2024). Taming Throughput-Latency Tradeoff in LLM Inference with Sarathi-Serve. OSDI 2024.** [USENIX PDF](https://www.usenix.org/system/files/osdi24-agrawal.pdf). Slide 4. Background on chunked prefill and batching.</a:t>
            </a:r>
          </a:p>
          <a:p xmlns:a="http://schemas.openxmlformats.org/drawingml/2006/main">
            <a:r>
              <a:t/>
            </a:r>
          </a:p>
          <a:p xmlns:a="http://schemas.openxmlformats.org/drawingml/2006/main">
            <a:r>
              <a:t>5. **Aegaeon (2025). Effective GPU Pooling for Concurrent LLM Serving on the Market. SOSP 2025.** [Author PDF](https://ennanzhai.github.io/pub/sosp25-aegaeon.pdf). Slide 4. Token-level model autoscaling and GPU pooling. No Aegaeon numeric result is used in the 15-slide deck.</a:t>
            </a:r>
          </a:p>
          <a:p xmlns:a="http://schemas.openxmlformats.org/drawingml/2006/main">
            <a:r>
              <a:t/>
            </a:r>
          </a:p>
          <a:p xmlns:a="http://schemas.openxmlformats.org/drawingml/2006/main">
            <a:r>
              <a:t>6. **Prism: Cost-Efficient Multi-LLM Serving via GPU Memory Ballooning (2026). OSDI 2026.** [USENIX technical-session listing](https://www.usenix.org/conference/osdi26/technical-sessions). Slide 4. This LLM system is distinct from the NSDI 2025 recommendation-model system above. No numeric result is used in the deck.</a:t>
            </a:r>
          </a:p>
          <a:p xmlns:a="http://schemas.openxmlformats.org/drawingml/2006/main">
            <a:r>
              <a:t/>
            </a:r>
          </a:p>
          <a:p xmlns:a="http://schemas.openxmlformats.org/drawingml/2006/main">
            <a:r>
              <a:t>7. **Kwon et al. (2023). Efficient Memory Management for Large Language Model Serving with PagedAttention. SOSP 2023.** [Paper](https://arxiv.org/abs/2309.06180). Supporting background on vLLM's memory management.</a:t>
            </a:r>
          </a:p>
          <a:p xmlns:a="http://schemas.openxmlformats.org/drawingml/2006/main">
            <a:r>
              <a:t/>
            </a:r>
          </a:p>
          <a:p xmlns:a="http://schemas.openxmlformats.org/drawingml/2006/main">
            <a:r>
              <a:t>## Official engineering documentation</a:t>
            </a:r>
          </a:p>
          <a:p xmlns:a="http://schemas.openxmlformats.org/drawingml/2006/main">
            <a:r>
              <a:t/>
            </a:r>
          </a:p>
          <a:p xmlns:a="http://schemas.openxmlformats.org/drawingml/2006/main">
            <a:r>
              <a:t>8. **NVIDIA Dynamo, KV-Aware Routing.** [Architecture and policy](https://docs.nvidia.com/dynamo/dev/knowledge-base/concepts/system-architecture/kv-aware-routing), [routing concepts](https://docs.nvidia.com/dynamo/dev/knowledge-base/modular-components/router/routing-concepts). Slides 3–4. Cache reuse and projected load inform current routing decisions. These are product documents, not peer-reviewed results.</a:t>
            </a:r>
          </a:p>
          <a:p xmlns:a="http://schemas.openxmlformats.org/drawingml/2006/main">
            <a:r>
              <a:t/>
            </a:r>
          </a:p>
          <a:p xmlns:a="http://schemas.openxmlformats.org/drawingml/2006/main">
            <a:r>
              <a:t>9. **NVIDIA (August 2026). Tuning CUDA Graph Batch Sizes for Higher Output Throughput.** [TensorRT-LLM engineering report](https://nvidia.github.io/TensorRT-LLM/latest/blogs/tech_blog/blog20_Tuning_CUDA_Graph_Batch_Sizes_for_Higher_Output_Throughput.html). Background for slides 4 and 8–11. Discusses padding, graph-memory cost and automatic selection from concurrency logs. This engineering report describes the configuration tradeoff in our control study.</a:t>
            </a:r>
          </a:p>
          <a:p xmlns:a="http://schemas.openxmlformats.org/drawingml/2006/main">
            <a:r>
              <a:t/>
            </a:r>
          </a:p>
          <a:p xmlns:a="http://schemas.openxmlformats.org/drawingml/2006/main">
            <a:r>
              <a:t>10. **vLLM CUDA Graphs.** [Official design documentation](https://docs.vllm.ai/en/stable/design/cuda_graphs/). [Async streaming example](https://docs.vllm.ai/en/latest/examples/deployment/async_llm_streaming/). Implementation background. The experiment records the actual installed version, vLLM 0.28.0, and complete requested settings.</a:t>
            </a:r>
          </a:p>
          <a:p xmlns:a="http://schemas.openxmlformats.org/drawingml/2006/main">
            <a:r>
              <a:t/>
            </a:r>
          </a:p>
          <a:p xmlns:a="http://schemas.openxmlformats.org/drawingml/2006/main">
            <a:r>
              <a:t>11. **NVIDIA NVML utilization definition.** [nvmlUtilization_t](https://docs.nvidia.com/deploy/nvml-api/structnvmlUtilization__t.html). Slide 2. Kernel-busy percentage is different from achieved SM efficiency or useful completed work.</a:t>
            </a:r>
          </a:p>
          <a:p xmlns:a="http://schemas.openxmlformats.org/drawingml/2006/main">
            <a:r>
              <a:t/>
            </a:r>
          </a:p>
          <a:p xmlns:a="http://schemas.openxmlformats.org/drawingml/2006/main">
            <a:r>
              <a:t>## Models and data</a:t>
            </a:r>
          </a:p>
          <a:p xmlns:a="http://schemas.openxmlformats.org/drawingml/2006/main">
            <a:r>
              <a:t/>
            </a:r>
          </a:p>
          <a:p xmlns:a="http://schemas.openxmlformats.org/drawingml/2006/main">
            <a:r>
              <a:t>12. Official model repositories: [Gemma 4 12B](https://huggingface.co/google/gemma-4-12B), [Gemma 4 E4B](https://huggingface.co/google/gemma-4-E4B), [Qwen3.5-9B](https://huggingface.co/Qwen/Qwen3.5-9B). Slides 8–10. The result folders record immutable revisions and exact package versions. E4B indicates effective active parameters; it should not be described as a four-billion-total-parameter model.</a:t>
            </a:r>
          </a:p>
          <a:p xmlns:a="http://schemas.openxmlformats.org/drawingml/2006/main">
            <a:r>
              <a:t/>
            </a:r>
          </a:p>
          <a:p xmlns:a="http://schemas.openxmlformats.org/drawingml/2006/main">
            <a:r>
              <a:t>13. [Salesforce WikiText dataset](https://huggingface.co/datasets/Salesforce/wikitext). Real WikiText-2 test text supplies the prompts. Request arrivals are a declared controlled trace, not a production workload. Dataset revision and exact tokenized traces are saved with the experiments.</a:t>
            </a:r>
          </a:p>
          <a:p xmlns:a="http://schemas.openxmlformats.org/drawingml/2006/main">
            <a:r>
              <a:t/>
            </a:r>
          </a:p>
          <a:p xmlns:a="http://schemas.openxmlformats.org/drawingml/2006/main">
            <a:r>
              <a:t>## Our actual measurements</a:t>
            </a:r>
          </a:p>
          <a:p xmlns:a="http://schemas.openxmlformats.org/drawingml/2006/main">
            <a:r>
              <a:t/>
            </a:r>
          </a:p>
          <a:p xmlns:a="http://schemas.openxmlformats.org/drawingml/2006/main">
            <a:r>
              <a:t>14. [Inference Optimization W&amp;B project](https://wandb.ai/nileshsarkar-ai/saturatellm-feasibility). Slides 9–14. Capture-comparison JSONL records, raw output token IDs, runtime configuration and independent scheduling request/telemetry records are saved locally. The summary CSVs and full-resolution PNG/PDF graphs are supplied with the deck. These results are our measurements, not published-paper results.</a:t>
            </a:r>
          </a:p>
          <a:p xmlns:a="http://schemas.openxmlformats.org/drawingml/2006/main">
            <a:r>
              <a:t/>
            </a:r>
          </a:p>
          <a:p xmlns:a="http://schemas.openxmlformats.org/drawingml/2006/main">
            <a:r>
              <a:t>No claim of a solved algorithm, universal GPU-utilization improvement or validated transfer beyond LLMs follows from these sources or experiments.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da72b578ab7425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d81846911c4422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4de77118b70487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9ba16dd983d4e4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d11cdc5dca2409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e899805a11740cb"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855890e6263b4324"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9575bfc2324d47e5"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c8011b6763a4ee8" /><Relationship Type="http://schemas.openxmlformats.org/officeDocument/2006/relationships/slideLayout" Target="/ppt/slideLayouts/slideLayout1.xml" Id="R8cef8af11df44243" /><Relationship Type="http://schemas.openxmlformats.org/officeDocument/2006/relationships/slideLayout" Target="/ppt/slideLayouts/slideLayout2.xml" Id="R2bf22a5d4090422b" /><Relationship Type="http://schemas.openxmlformats.org/officeDocument/2006/relationships/slideLayout" Target="/ppt/slideLayouts/slideLayout3.xml" Id="Rc67ff77ddcd14502" /><Relationship Type="http://schemas.openxmlformats.org/officeDocument/2006/relationships/slideLayout" Target="/ppt/slideLayouts/slideLayout4.xml" Id="Rc6a0a87256f241f1" /><Relationship Type="http://schemas.openxmlformats.org/officeDocument/2006/relationships/slideLayout" Target="/ppt/slideLayouts/slideLayout5.xml" Id="R51744e2296db452a" /><Relationship Type="http://schemas.openxmlformats.org/officeDocument/2006/relationships/slideLayout" Target="/ppt/slideLayouts/slideLayout6.xml" Id="Re6fcef9a49b4442c" /><Relationship Type="http://schemas.openxmlformats.org/officeDocument/2006/relationships/slideLayout" Target="/ppt/slideLayouts/slideLayout7.xml" Id="Rf357e8487d3c4776" /><Relationship Type="http://schemas.openxmlformats.org/officeDocument/2006/relationships/slideLayout" Target="/ppt/slideLayouts/slideLayout8.xml" Id="Re51a163c7a464b67"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cef8af11df44243"/>
    <p:sldLayoutId xmlns:r="http://schemas.openxmlformats.org/officeDocument/2006/relationships" id="2147483650" r:id="R2bf22a5d4090422b"/>
    <p:sldLayoutId xmlns:r="http://schemas.openxmlformats.org/officeDocument/2006/relationships" id="2147483651" r:id="Rc67ff77ddcd14502"/>
    <p:sldLayoutId xmlns:r="http://schemas.openxmlformats.org/officeDocument/2006/relationships" id="2147483652" r:id="Rc6a0a87256f241f1"/>
    <p:sldLayoutId xmlns:r="http://schemas.openxmlformats.org/officeDocument/2006/relationships" id="2147483653" r:id="R51744e2296db452a"/>
    <p:sldLayoutId xmlns:r="http://schemas.openxmlformats.org/officeDocument/2006/relationships" id="2147483654" r:id="Re6fcef9a49b4442c"/>
    <p:sldLayoutId xmlns:r="http://schemas.openxmlformats.org/officeDocument/2006/relationships" id="2147483655" r:id="Rf357e8487d3c4776"/>
    <p:sldLayoutId xmlns:r="http://schemas.openxmlformats.org/officeDocument/2006/relationships" id="2147483656" r:id="Re51a163c7a464b67"/>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2262170ec4543a4" /><Relationship Type="http://schemas.openxmlformats.org/officeDocument/2006/relationships/notesSlide" Target="/ppt/notesSlides/notesSlide1.xml" Id="Rd086f222fde944d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9dbe121410242b0" /><Relationship Type="http://schemas.openxmlformats.org/officeDocument/2006/relationships/hyperlink" Target="https://docs.nvidia.com/deploy/nvml-api/structnvmlUtilization__t.html" TargetMode="External" Id="R7c021e3e4c634f7e" /><Relationship Type="http://schemas.openxmlformats.org/officeDocument/2006/relationships/hyperlink" Target="https://wandb.ai/nileshsarkar-ai/saturatellm-feasibility" TargetMode="External" Id="R7cbe6f69d12b47a7" /><Relationship Type="http://schemas.openxmlformats.org/officeDocument/2006/relationships/notesSlide" Target="/ppt/notesSlides/notesSlide2.xml" Id="R08f1da9a43fe4d4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9c2404ab5074f14" /><Relationship Type="http://schemas.openxmlformats.org/officeDocument/2006/relationships/hyperlink" Target="https://proceedings.mlsys.org/paper_files/paper/2025/file/bc82dbfbfa43232be85b8d9838f49c3e-Paper-Conference.pdf" TargetMode="External" Id="R55b86972857b495d" /><Relationship Type="http://schemas.openxmlformats.org/officeDocument/2006/relationships/hyperlink" Target="https://docs.nvidia.com/dynamo/dev/knowledge-base/concepts/system-architecture/kv-aware-routing" TargetMode="External" Id="R90052aa73de84954" /><Relationship Type="http://schemas.openxmlformats.org/officeDocument/2006/relationships/notesSlide" Target="/ppt/notesSlides/notesSlide3.xml" Id="Rac4b54998ad74ec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a08807f0f224024" /><Relationship Type="http://schemas.openxmlformats.org/officeDocument/2006/relationships/hyperlink" Target="https://proceedings.mlsys.org/paper_files/paper/2025/file/bc82dbfbfa43232be85b8d9838f49c3e-Paper-Conference.pdf" TargetMode="External" Id="Re6c67ed2479e449f" /><Relationship Type="http://schemas.openxmlformats.org/officeDocument/2006/relationships/hyperlink" Target="https://pages.cs.wisc.edu/~markhill/papers/icml2026_DuetServe.pdf" TargetMode="External" Id="Rfe3a76a5d241465a" /><Relationship Type="http://schemas.openxmlformats.org/officeDocument/2006/relationships/hyperlink" Target="https://docs.nvidia.com/dynamo/dev/knowledge-base/concepts/system-architecture/kv-aware-routing" TargetMode="External" Id="R8c4247d7f2de4b7b" /><Relationship Type="http://schemas.openxmlformats.org/officeDocument/2006/relationships/notesSlide" Target="/ppt/notesSlides/notesSlide4.xml" Id="Rdd7ac592f8e04d7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1e6a943582c439d" /><Relationship Type="http://schemas.openxmlformats.org/officeDocument/2006/relationships/hyperlink" Target="https://proceedings.mlsys.org/paper_files/paper/2025/file/bc82dbfbfa43232be85b8d9838f49c3e-Paper-Conference.pdf" TargetMode="External" Id="R0506a80faec041c7" /><Relationship Type="http://schemas.openxmlformats.org/officeDocument/2006/relationships/image" Target="/ppt/media/image.png" Id="Ra83eee6fee1341d1" /><Relationship Type="http://schemas.openxmlformats.org/officeDocument/2006/relationships/notesSlide" Target="/ppt/notesSlides/notesSlide5.xml" Id="R8b6b7dfa975e4c3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7549c21a6b746d7" /><Relationship Type="http://schemas.openxmlformats.org/officeDocument/2006/relationships/hyperlink" Target="https://pages.cs.wisc.edu/~markhill/papers/icml2026_DuetServe.pdf" TargetMode="External" Id="Rf9a496fce7974427" /><Relationship Type="http://schemas.openxmlformats.org/officeDocument/2006/relationships/image" Target="/ppt/media/image2.png" Id="R8e2ce063ee374eee" /><Relationship Type="http://schemas.openxmlformats.org/officeDocument/2006/relationships/image" Target="/ppt/media/image3.png" Id="R362b6300a5454748" /><Relationship Type="http://schemas.openxmlformats.org/officeDocument/2006/relationships/notesSlide" Target="/ppt/notesSlides/notesSlide6.xml" Id="R91aab7d7070f4fb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00883802646419f" /><Relationship Type="http://schemas.openxmlformats.org/officeDocument/2006/relationships/hyperlink" Target="https://www.usenix.org/system/files/nsdi25-yang.pdf" TargetMode="External" Id="R53e142ca45484ab5" /><Relationship Type="http://schemas.openxmlformats.org/officeDocument/2006/relationships/image" Target="/ppt/media/image4.png" Id="R62814c88cdc14bf6" /><Relationship Type="http://schemas.openxmlformats.org/officeDocument/2006/relationships/notesSlide" Target="/ppt/notesSlides/notesSlide7.xml" Id="R03e27049de2f4ad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bdc9b4ff2da4a43" /><Relationship Type="http://schemas.openxmlformats.org/officeDocument/2006/relationships/hyperlink" Target="https://docs.vllm.ai/en/stable/design/cuda_graphs/" TargetMode="External" Id="Re567a5bf83c24055" /><Relationship Type="http://schemas.openxmlformats.org/officeDocument/2006/relationships/hyperlink" Target="https://wandb.ai/nileshsarkar-ai/saturatellm-feasibility" TargetMode="External" Id="R71830a7f78cc4db5" /><Relationship Type="http://schemas.openxmlformats.org/officeDocument/2006/relationships/notesSlide" Target="/ppt/notesSlides/notesSlide8.xml" Id="Rf5e7c8ca5f704e3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d6298f7792948c9" /><Relationship Type="http://schemas.openxmlformats.org/officeDocument/2006/relationships/hyperlink" Target="https://wandb.ai/nileshsarkar-ai/saturatellm-feasibility" TargetMode="External" Id="R8a65cd16e4154771" /><Relationship Type="http://schemas.openxmlformats.org/officeDocument/2006/relationships/chart" Target="/ppt/slides/charts/chart1.xml" Id="Rb69c46229b634121" /><Relationship Type="http://schemas.openxmlformats.org/officeDocument/2006/relationships/chart" Target="/ppt/slides/charts/chart2.xml" Id="R844dc5e694504e64" /><Relationship Type="http://schemas.openxmlformats.org/officeDocument/2006/relationships/chart" Target="/ppt/slides/charts/chart3.xml" Id="R94ba4a09d0a64618" /><Relationship Type="http://schemas.openxmlformats.org/officeDocument/2006/relationships/notesSlide" Target="/ppt/notesSlides/notesSlide9.xml" Id="R3262d1fe757a496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766b6b201d84dcd" /><Relationship Type="http://schemas.openxmlformats.org/officeDocument/2006/relationships/hyperlink" Target="https://wandb.ai/nileshsarkar-ai/saturatellm-feasibility" TargetMode="External" Id="R3d815c6573054e06" /><Relationship Type="http://schemas.openxmlformats.org/officeDocument/2006/relationships/chart" Target="/ppt/slides/charts/chart4.xml" Id="Rc51a9b0daa2241d5" /><Relationship Type="http://schemas.openxmlformats.org/officeDocument/2006/relationships/chart" Target="/ppt/slides/charts/chart5.xml" Id="Rc4bd7512061b46a4" /><Relationship Type="http://schemas.openxmlformats.org/officeDocument/2006/relationships/notesSlide" Target="/ppt/notesSlides/notesSlide10.xml" Id="R07e133ae4ea147e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99f8e4ebbd14372" /><Relationship Type="http://schemas.openxmlformats.org/officeDocument/2006/relationships/hyperlink" Target="https://wandb.ai/nileshsarkar-ai/saturatellm-feasibility" TargetMode="External" Id="R11e35890b82849fc" /><Relationship Type="http://schemas.openxmlformats.org/officeDocument/2006/relationships/notesSlide" Target="/ppt/notesSlides/notesSlide11.xml" Id="Radaabd65ada740a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5c8001ccc024a6f" /><Relationship Type="http://schemas.openxmlformats.org/officeDocument/2006/relationships/hyperlink" Target="https://wandb.ai/nileshsarkar-ai/saturatellm-feasibility" TargetMode="External" Id="Rc4396f581f0d453c" /><Relationship Type="http://schemas.openxmlformats.org/officeDocument/2006/relationships/notesSlide" Target="/ppt/notesSlides/notesSlide12.xml" Id="Rb4b16b3e03d1492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9072d978ff043db" /><Relationship Type="http://schemas.openxmlformats.org/officeDocument/2006/relationships/hyperlink" Target="https://wandb.ai/nileshsarkar-ai/saturatellm-feasibility" TargetMode="External" Id="Rbde014be1c61466c" /><Relationship Type="http://schemas.openxmlformats.org/officeDocument/2006/relationships/chart" Target="/ppt/slides/charts/chart6.xml" Id="R78825d87d01b40de" /><Relationship Type="http://schemas.openxmlformats.org/officeDocument/2006/relationships/chart" Target="/ppt/slides/charts/chart7.xml" Id="Rd6adf96959e14867" /><Relationship Type="http://schemas.openxmlformats.org/officeDocument/2006/relationships/chart" Target="/ppt/slides/charts/chart8.xml" Id="R8076aca6634f4294" /><Relationship Type="http://schemas.openxmlformats.org/officeDocument/2006/relationships/chart" Target="/ppt/slides/charts/chart9.xml" Id="R74a6b71b0b944ce2" /><Relationship Type="http://schemas.openxmlformats.org/officeDocument/2006/relationships/notesSlide" Target="/ppt/notesSlides/notesSlide13.xml" Id="R9dee83fa78804a9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3e7158208c242a6" /><Relationship Type="http://schemas.openxmlformats.org/officeDocument/2006/relationships/hyperlink" Target="https://wandb.ai/nileshsarkar-ai/saturatellm-feasibility" TargetMode="External" Id="R206870585ecc4fc4" /><Relationship Type="http://schemas.openxmlformats.org/officeDocument/2006/relationships/hyperlink" Target="https://github.com/nileshsarkar-ai/Inference-Optimization/blob/master/outputs/scheduling_results/analysis/phase_diagnostics.json" TargetMode="External" Id="Rbf27371fa71e4eff" /><Relationship Type="http://schemas.openxmlformats.org/officeDocument/2006/relationships/notesSlide" Target="/ppt/notesSlides/notesSlide14.xml" Id="Rfd21013989fe41f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2d94334bbd04652" /><Relationship Type="http://schemas.openxmlformats.org/officeDocument/2006/relationships/hyperlink" Target="https://github.com/nileshsarkar-ai/Inference-Optimization/blob/master/README.md" TargetMode="External" Id="R3e81ad08d0d54b22" /><Relationship Type="http://schemas.openxmlformats.org/officeDocument/2006/relationships/hyperlink" Target="https://wandb.ai/nileshsarkar-ai/saturatellm-feasibility" TargetMode="External" Id="Rfe32d560f95c4686" /><Relationship Type="http://schemas.openxmlformats.org/officeDocument/2006/relationships/hyperlink" Target="https://proceedings.mlsys.org/paper_files/paper/2025/file/bc82dbfbfa43232be85b8d9838f49c3e-Paper-Conference.pdf" TargetMode="External" Id="R9f0b17c40bd44966" /><Relationship Type="http://schemas.openxmlformats.org/officeDocument/2006/relationships/hyperlink" Target="https://pages.cs.wisc.edu/~markhill/papers/icml2026_DuetServe.pdf" TargetMode="External" Id="R5263f2f459ed447d" /><Relationship Type="http://schemas.openxmlformats.org/officeDocument/2006/relationships/hyperlink" Target="https://www.usenix.org/system/files/nsdi25-yang.pdf" TargetMode="External" Id="Rc37c99321d264390" /><Relationship Type="http://schemas.openxmlformats.org/officeDocument/2006/relationships/hyperlink" Target="https://www.usenix.org/system/files/osdi24-agrawal.pdf" TargetMode="External" Id="R35e0b10e18fd4903" /><Relationship Type="http://schemas.openxmlformats.org/officeDocument/2006/relationships/hyperlink" Target="https://ennanzhai.github.io/pub/sosp25-aegaeon.pdf" TargetMode="External" Id="Rb8a6bc8b4b8146eb" /><Relationship Type="http://schemas.openxmlformats.org/officeDocument/2006/relationships/hyperlink" Target="https://www.usenix.org/conference/osdi26/technical-sessions" TargetMode="External" Id="R039df70fcb3441f1" /><Relationship Type="http://schemas.openxmlformats.org/officeDocument/2006/relationships/hyperlink" Target="https://docs.nvidia.com/dynamo/dev/knowledge-base/concepts/system-architecture/kv-aware-routing" TargetMode="External" Id="R81ab0e8281c14822" /><Relationship Type="http://schemas.openxmlformats.org/officeDocument/2006/relationships/hyperlink" Target="https://nvidia.github.io/TensorRT-LLM/latest/blogs/tech_blog/blog20_Tuning_CUDA_Graph_Batch_Sizes_for_Higher_Output_Throughput.html" TargetMode="External" Id="Rdee412a0693e4cd9" /><Relationship Type="http://schemas.openxmlformats.org/officeDocument/2006/relationships/hyperlink" Target="https://docs.vllm.ai/en/stable/design/cuda_graphs/" TargetMode="External" Id="R30734ad38a41492d" /><Relationship Type="http://schemas.openxmlformats.org/officeDocument/2006/relationships/hyperlink" Target="https://docs.nvidia.com/deploy/nvml-api/structnvmlUtilization__t.html" TargetMode="External" Id="R057eb4050d0e4aaa" /><Relationship Type="http://schemas.openxmlformats.org/officeDocument/2006/relationships/hyperlink" Target="https://github.com/nileshsarkar-ai/Inference-Optimization/blob/master/README.md" TargetMode="External" Id="R915814af1530417a" /><Relationship Type="http://schemas.openxmlformats.org/officeDocument/2006/relationships/hyperlink" Target="https://wandb.ai/nileshsarkar-ai/saturatellm-feasibility" TargetMode="External" Id="Re96e5d9f624f4582" /><Relationship Type="http://schemas.openxmlformats.org/officeDocument/2006/relationships/notesSlide" Target="/ppt/notesSlides/notesSlide15.xml" Id="R06a45e05af4e4fe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ser>
          <c:idx val="0"/>
          <c:order val="0"/>
          <c:tx>
            <c:v>Current default mean</c:v>
          </c:tx>
          <c:spPr>
            <a:solidFill xmlns:a="http://schemas.openxmlformats.org/drawingml/2006/main">
              <a:srgbClr val="222222"/>
            </a:solidFill>
            <a:ln xmlns:a="http://schemas.openxmlformats.org/drawingml/2006/main" w="19050">
              <a:solidFill>
                <a:srgbClr val="222222"/>
              </a:solidFill>
            </a:ln>
          </c:spPr>
          <c:marker>
            <c:symbol val="none"/>
            <c:size val="2"/>
          </c:marker>
          <c:xVal>
            <c:numRef>
              <c:f>'Chart Data'!$A$2:$A$9</c:f>
              <c:numCache>
                <c:formatCode>General</c:formatCode>
                <c:ptCount val="8"/>
                <c:pt idx="0">
                  <c:v>24</c:v>
                </c:pt>
                <c:pt idx="1">
                  <c:v>31</c:v>
                </c:pt>
                <c:pt idx="2">
                  <c:v>48</c:v>
                </c:pt>
                <c:pt idx="3">
                  <c:v>63</c:v>
                </c:pt>
                <c:pt idx="4">
                  <c:v>80</c:v>
                </c:pt>
                <c:pt idx="5">
                  <c:v>95</c:v>
                </c:pt>
                <c:pt idx="6">
                  <c:v>112</c:v>
                </c:pt>
                <c:pt idx="7">
                  <c:v>127</c:v>
                </c:pt>
              </c:numCache>
            </c:numRef>
          </c:xVal>
          <c:yVal>
            <c:numRef>
              <c:f>'Chart Data'!$B$2:$B$9</c:f>
              <c:numCache>
                <c:formatCode>0.000000</c:formatCode>
                <c:ptCount val="8"/>
                <c:pt idx="0">
                  <c:v>900.026292</c:v>
                </c:pt>
                <c:pt idx="1">
                  <c:v>1086.87851</c:v>
                </c:pt>
                <c:pt idx="2">
                  <c:v>1411.592573</c:v>
                </c:pt>
                <c:pt idx="3">
                  <c:v>1686.367271</c:v>
                </c:pt>
                <c:pt idx="4">
                  <c:v>1939.569993</c:v>
                </c:pt>
                <c:pt idx="5">
                  <c:v>2129.999211</c:v>
                </c:pt>
                <c:pt idx="6">
                  <c:v>2031.520295</c:v>
                </c:pt>
                <c:pt idx="7">
                  <c:v>1913.990544</c:v>
                </c:pt>
              </c:numCache>
            </c:numRef>
          </c:yVal>
        </c:ser>
        <c:ser>
          <c:idx val="1"/>
          <c:order val="1"/>
          <c:tx>
            <c:v>Current default all measured repetitions</c:v>
          </c:tx>
          <c:spPr>
            <a:solidFill xmlns:a="http://schemas.openxmlformats.org/drawingml/2006/main">
              <a:srgbClr val="222222"/>
            </a:solidFill>
            <a:ln xmlns:a="http://schemas.openxmlformats.org/drawingml/2006/main" w="0">
              <a:solidFill>
                <a:srgbClr val="222222"/>
              </a:solidFill>
            </a:ln>
          </c:spPr>
          <c:marker>
            <c:symbol val="circle"/>
            <c:size val="4"/>
            <c:spPr>
              <a:solidFill xmlns:a="http://schemas.openxmlformats.org/drawingml/2006/main">
                <a:srgbClr val="222222"/>
              </a:solidFill>
            </c:spPr>
          </c:marker>
          <c:xVal>
            <c:numRef>
              <c:f>'Chart Data'!$C$2:$C$25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Data'!$D$2:$D$25</c:f>
              <c:numCache>
                <c:formatCode>0.000000</c:formatCode>
                <c:ptCount val="24"/>
                <c:pt idx="0">
                  <c:v>901.504014</c:v>
                </c:pt>
                <c:pt idx="1">
                  <c:v>900.298264</c:v>
                </c:pt>
                <c:pt idx="2">
                  <c:v>898.276596</c:v>
                </c:pt>
                <c:pt idx="3">
                  <c:v>1087.05495</c:v>
                </c:pt>
                <c:pt idx="4">
                  <c:v>1084.635628</c:v>
                </c:pt>
                <c:pt idx="5">
                  <c:v>1088.944951</c:v>
                </c:pt>
                <c:pt idx="6">
                  <c:v>1413.144787</c:v>
                </c:pt>
                <c:pt idx="7">
                  <c:v>1411.771275</c:v>
                </c:pt>
                <c:pt idx="8">
                  <c:v>1409.861656</c:v>
                </c:pt>
                <c:pt idx="9">
                  <c:v>1687.92451</c:v>
                </c:pt>
                <c:pt idx="10">
                  <c:v>1686.576692</c:v>
                </c:pt>
                <c:pt idx="11">
                  <c:v>1684.600612</c:v>
                </c:pt>
                <c:pt idx="12">
                  <c:v>1940.408872</c:v>
                </c:pt>
                <c:pt idx="13">
                  <c:v>1940.682095</c:v>
                </c:pt>
                <c:pt idx="14">
                  <c:v>1937.619012</c:v>
                </c:pt>
                <c:pt idx="15">
                  <c:v>2130.0822</c:v>
                </c:pt>
                <c:pt idx="16">
                  <c:v>2131.768513</c:v>
                </c:pt>
                <c:pt idx="17">
                  <c:v>2128.146918</c:v>
                </c:pt>
                <c:pt idx="18">
                  <c:v>2032.414347</c:v>
                </c:pt>
                <c:pt idx="19">
                  <c:v>2031.936647</c:v>
                </c:pt>
                <c:pt idx="20">
                  <c:v>2030.209892</c:v>
                </c:pt>
                <c:pt idx="21">
                  <c:v>1917.128089</c:v>
                </c:pt>
                <c:pt idx="22">
                  <c:v>1911.583453</c:v>
                </c:pt>
                <c:pt idx="23">
                  <c:v>1913.26009</c:v>
                </c:pt>
              </c:numCache>
            </c:numRef>
          </c:yVal>
        </c:ser>
        <c:ser>
          <c:idx val="2"/>
          <c:order val="2"/>
          <c:tx>
            <c:v>Manual matched set mean</c:v>
          </c:tx>
          <c:spPr>
            <a:solidFill xmlns:a="http://schemas.openxmlformats.org/drawingml/2006/main">
              <a:srgbClr val="3D8DFF"/>
            </a:solidFill>
            <a:ln xmlns:a="http://schemas.openxmlformats.org/drawingml/2006/main" w="19050">
              <a:solidFill>
                <a:srgbClr val="3D8DFF"/>
              </a:solidFill>
            </a:ln>
          </c:spPr>
          <c:marker>
            <c:symbol val="none"/>
            <c:size val="2"/>
          </c:marker>
          <c:xVal>
            <c:numRef>
              <c:f>'Chart Data'!$E$2:$E$9</c:f>
              <c:numCache>
                <c:formatCode>General</c:formatCode>
                <c:ptCount val="8"/>
                <c:pt idx="0">
                  <c:v>24</c:v>
                </c:pt>
                <c:pt idx="1">
                  <c:v>31</c:v>
                </c:pt>
                <c:pt idx="2">
                  <c:v>48</c:v>
                </c:pt>
                <c:pt idx="3">
                  <c:v>63</c:v>
                </c:pt>
                <c:pt idx="4">
                  <c:v>80</c:v>
                </c:pt>
                <c:pt idx="5">
                  <c:v>95</c:v>
                </c:pt>
                <c:pt idx="6">
                  <c:v>112</c:v>
                </c:pt>
                <c:pt idx="7">
                  <c:v>127</c:v>
                </c:pt>
              </c:numCache>
            </c:numRef>
          </c:xVal>
          <c:yVal>
            <c:numRef>
              <c:f>'Chart Data'!$F$2:$F$9</c:f>
              <c:numCache>
                <c:formatCode>0.000000</c:formatCode>
                <c:ptCount val="8"/>
                <c:pt idx="0">
                  <c:v>894.684273</c:v>
                </c:pt>
                <c:pt idx="1">
                  <c:v>1080.475892</c:v>
                </c:pt>
                <c:pt idx="2">
                  <c:v>1408.19504</c:v>
                </c:pt>
                <c:pt idx="3">
                  <c:v>1683.783917</c:v>
                </c:pt>
                <c:pt idx="4">
                  <c:v>1938.5039</c:v>
                </c:pt>
                <c:pt idx="5">
                  <c:v>2131.403691</c:v>
                </c:pt>
                <c:pt idx="6">
                  <c:v>2029.961391</c:v>
                </c:pt>
                <c:pt idx="7">
                  <c:v>1913.815254</c:v>
                </c:pt>
              </c:numCache>
            </c:numRef>
          </c:yVal>
        </c:ser>
        <c:ser>
          <c:idx val="3"/>
          <c:order val="3"/>
          <c:tx>
            <c:v>Manual matched set all measured repetitions</c:v>
          </c:tx>
          <c:spPr>
            <a:solidFill xmlns:a="http://schemas.openxmlformats.org/drawingml/2006/main">
              <a:srgbClr val="3D8DFF"/>
            </a:solidFill>
            <a:ln xmlns:a="http://schemas.openxmlformats.org/drawingml/2006/main" w="0">
              <a:solidFill>
                <a:srgbClr val="3D8DFF"/>
              </a:solidFill>
            </a:ln>
          </c:spPr>
          <c:marker>
            <c:symbol val="diamond"/>
            <c:size val="4"/>
            <c:spPr>
              <a:solidFill xmlns:a="http://schemas.openxmlformats.org/drawingml/2006/main">
                <a:srgbClr val="3D8DFF"/>
              </a:solidFill>
            </c:spPr>
          </c:marker>
          <c:xVal>
            <c:numRef>
              <c:f>'Chart Data'!$G$2:$G$25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Data'!$H$2:$H$25</c:f>
              <c:numCache>
                <c:formatCode>0.000000</c:formatCode>
                <c:ptCount val="24"/>
                <c:pt idx="0">
                  <c:v>893.90188</c:v>
                </c:pt>
                <c:pt idx="1">
                  <c:v>895.872549</c:v>
                </c:pt>
                <c:pt idx="2">
                  <c:v>894.278391</c:v>
                </c:pt>
                <c:pt idx="3">
                  <c:v>1082.656111</c:v>
                </c:pt>
                <c:pt idx="4">
                  <c:v>1079.993231</c:v>
                </c:pt>
                <c:pt idx="5">
                  <c:v>1078.778334</c:v>
                </c:pt>
                <c:pt idx="6">
                  <c:v>1408.921922</c:v>
                </c:pt>
                <c:pt idx="7">
                  <c:v>1407.793742</c:v>
                </c:pt>
                <c:pt idx="8">
                  <c:v>1407.869457</c:v>
                </c:pt>
                <c:pt idx="9">
                  <c:v>1684.420444</c:v>
                </c:pt>
                <c:pt idx="10">
                  <c:v>1683.064618</c:v>
                </c:pt>
                <c:pt idx="11">
                  <c:v>1683.86669</c:v>
                </c:pt>
                <c:pt idx="12">
                  <c:v>1941.325854</c:v>
                </c:pt>
                <c:pt idx="13">
                  <c:v>1938.585973</c:v>
                </c:pt>
                <c:pt idx="14">
                  <c:v>1935.599874</c:v>
                </c:pt>
                <c:pt idx="15">
                  <c:v>2132.278562</c:v>
                </c:pt>
                <c:pt idx="16">
                  <c:v>2133.863087</c:v>
                </c:pt>
                <c:pt idx="17">
                  <c:v>2128.069422</c:v>
                </c:pt>
                <c:pt idx="18">
                  <c:v>2030.252336</c:v>
                </c:pt>
                <c:pt idx="19">
                  <c:v>2029.912295</c:v>
                </c:pt>
                <c:pt idx="20">
                  <c:v>2029.719543</c:v>
                </c:pt>
                <c:pt idx="21">
                  <c:v>1917.509538</c:v>
                </c:pt>
                <c:pt idx="22">
                  <c:v>1912.905662</c:v>
                </c:pt>
                <c:pt idx="23">
                  <c:v>1911.030563</c:v>
                </c:pt>
              </c:numCache>
            </c:numRef>
          </c:yVal>
        </c:ser>
        <c:ser>
          <c:idx val="4"/>
          <c:order val="4"/>
          <c:tx>
            <c:v>Coarse grid mean</c:v>
          </c:tx>
          <c:spPr>
            <a:solidFill xmlns:a="http://schemas.openxmlformats.org/drawingml/2006/main">
              <a:srgbClr val="909AA8"/>
            </a:solidFill>
            <a:ln xmlns:a="http://schemas.openxmlformats.org/drawingml/2006/main" w="19050">
              <a:solidFill>
                <a:srgbClr val="909AA8"/>
              </a:solidFill>
            </a:ln>
          </c:spPr>
          <c:marker>
            <c:symbol val="none"/>
            <c:size val="2"/>
          </c:marker>
          <c:xVal>
            <c:numRef>
              <c:f>'Chart Data'!$I$2:$I$9</c:f>
              <c:numCache>
                <c:formatCode>General</c:formatCode>
                <c:ptCount val="8"/>
                <c:pt idx="0">
                  <c:v>24</c:v>
                </c:pt>
                <c:pt idx="1">
                  <c:v>31</c:v>
                </c:pt>
                <c:pt idx="2">
                  <c:v>48</c:v>
                </c:pt>
                <c:pt idx="3">
                  <c:v>63</c:v>
                </c:pt>
                <c:pt idx="4">
                  <c:v>80</c:v>
                </c:pt>
                <c:pt idx="5">
                  <c:v>95</c:v>
                </c:pt>
                <c:pt idx="6">
                  <c:v>112</c:v>
                </c:pt>
                <c:pt idx="7">
                  <c:v>127</c:v>
                </c:pt>
              </c:numCache>
            </c:numRef>
          </c:xVal>
          <c:yVal>
            <c:numRef>
              <c:f>'Chart Data'!$J$2:$J$9</c:f>
              <c:numCache>
                <c:formatCode>0.000000</c:formatCode>
                <c:ptCount val="8"/>
                <c:pt idx="0">
                  <c:v>894.531817</c:v>
                </c:pt>
                <c:pt idx="1">
                  <c:v>1086.356924</c:v>
                </c:pt>
                <c:pt idx="2">
                  <c:v>1398.151453</c:v>
                </c:pt>
                <c:pt idx="3">
                  <c:v>1687.272907</c:v>
                </c:pt>
                <c:pt idx="4">
                  <c:v>1889.709748</c:v>
                </c:pt>
                <c:pt idx="5">
                  <c:v>2099.712776</c:v>
                </c:pt>
                <c:pt idx="6">
                  <c:v>2021.259706</c:v>
                </c:pt>
                <c:pt idx="7">
                  <c:v>1911.305704</c:v>
                </c:pt>
              </c:numCache>
            </c:numRef>
          </c:yVal>
        </c:ser>
        <c:ser>
          <c:idx val="5"/>
          <c:order val="5"/>
          <c:tx>
            <c:v>Coarse grid all measured repetitions</c:v>
          </c:tx>
          <c:spPr>
            <a:solidFill xmlns:a="http://schemas.openxmlformats.org/drawingml/2006/main">
              <a:srgbClr val="909AA8"/>
            </a:solidFill>
            <a:ln xmlns:a="http://schemas.openxmlformats.org/drawingml/2006/main" w="0">
              <a:solidFill>
                <a:srgbClr val="909AA8"/>
              </a:solidFill>
            </a:ln>
          </c:spPr>
          <c:marker>
            <c:symbol val="triangle"/>
            <c:size val="4"/>
            <c:spPr>
              <a:solidFill xmlns:a="http://schemas.openxmlformats.org/drawingml/2006/main">
                <a:srgbClr val="909AA8"/>
              </a:solidFill>
            </c:spPr>
          </c:marker>
          <c:xVal>
            <c:numRef>
              <c:f>'Chart Data'!$K$2:$K$25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Data'!$L$2:$L$25</c:f>
              <c:numCache>
                <c:formatCode>0.000000</c:formatCode>
                <c:ptCount val="24"/>
                <c:pt idx="0">
                  <c:v>895.228028</c:v>
                </c:pt>
                <c:pt idx="1">
                  <c:v>894.832305</c:v>
                </c:pt>
                <c:pt idx="2">
                  <c:v>893.535117</c:v>
                </c:pt>
                <c:pt idx="3">
                  <c:v>1087.747273</c:v>
                </c:pt>
                <c:pt idx="4">
                  <c:v>1085.852238</c:v>
                </c:pt>
                <c:pt idx="5">
                  <c:v>1085.47126</c:v>
                </c:pt>
                <c:pt idx="6">
                  <c:v>1398.417761</c:v>
                </c:pt>
                <c:pt idx="7">
                  <c:v>1397.733271</c:v>
                </c:pt>
                <c:pt idx="8">
                  <c:v>1398.303328</c:v>
                </c:pt>
                <c:pt idx="9">
                  <c:v>1688.05738</c:v>
                </c:pt>
                <c:pt idx="10">
                  <c:v>1688.497269</c:v>
                </c:pt>
                <c:pt idx="11">
                  <c:v>1685.264071</c:v>
                </c:pt>
                <c:pt idx="12">
                  <c:v>1892.275657</c:v>
                </c:pt>
                <c:pt idx="13">
                  <c:v>1889.889974</c:v>
                </c:pt>
                <c:pt idx="14">
                  <c:v>1886.963614</c:v>
                </c:pt>
                <c:pt idx="15">
                  <c:v>2101.49107</c:v>
                </c:pt>
                <c:pt idx="16">
                  <c:v>2102.720468</c:v>
                </c:pt>
                <c:pt idx="17">
                  <c:v>2094.926791</c:v>
                </c:pt>
                <c:pt idx="18">
                  <c:v>2022.982661</c:v>
                </c:pt>
                <c:pt idx="19">
                  <c:v>2019.771997</c:v>
                </c:pt>
                <c:pt idx="20">
                  <c:v>2021.024459</c:v>
                </c:pt>
                <c:pt idx="21">
                  <c:v>1915.298242</c:v>
                </c:pt>
                <c:pt idx="22">
                  <c:v>1910.669936</c:v>
                </c:pt>
                <c:pt idx="23">
                  <c:v>1907.948934</c:v>
                </c:pt>
              </c:numCache>
            </c:numRef>
          </c:y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scatterChart>
      <c:valAx>
        <c:axId val="48672768"/>
        <c:scaling>
          <c:orientation val="minMax"/>
          <c:max val="300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majorUnit val="1000"/>
      </c:valAx>
      <c:valAx>
        <c:axId val="48650112"/>
        <c:scaling>
          <c:orientation val="minMax"/>
          <c:max val="130"/>
          <c:min val="20"/>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majorUnit val="20"/>
      </c:valAx>
    </c:plotArea>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Marker"/>
        <c:ser>
          <c:idx val="0"/>
          <c:order val="0"/>
          <c:tx>
            <c:v>Current default mean</c:v>
          </c:tx>
          <c:spPr>
            <a:solidFill xmlns:a="http://schemas.openxmlformats.org/drawingml/2006/main">
              <a:srgbClr val="222222"/>
            </a:solidFill>
            <a:ln xmlns:a="http://schemas.openxmlformats.org/drawingml/2006/main" w="19050">
              <a:solidFill>
                <a:srgbClr val="222222"/>
              </a:solidFill>
            </a:ln>
          </c:spPr>
          <c:marker>
            <c:symbol val="none"/>
            <c:size val="2"/>
          </c:marker>
          <c:xVal>
            <c:numRef>
              <c:f>'Chart Data'!$A$2:$A$9</c:f>
              <c:numCache>
                <c:formatCode>General</c:formatCode>
                <c:ptCount val="8"/>
                <c:pt idx="0">
                  <c:v>24</c:v>
                </c:pt>
                <c:pt idx="1">
                  <c:v>31</c:v>
                </c:pt>
                <c:pt idx="2">
                  <c:v>48</c:v>
                </c:pt>
                <c:pt idx="3">
                  <c:v>63</c:v>
                </c:pt>
                <c:pt idx="4">
                  <c:v>80</c:v>
                </c:pt>
                <c:pt idx="5">
                  <c:v>95</c:v>
                </c:pt>
                <c:pt idx="6">
                  <c:v>112</c:v>
                </c:pt>
                <c:pt idx="7">
                  <c:v>127</c:v>
                </c:pt>
              </c:numCache>
            </c:numRef>
          </c:xVal>
          <c:yVal>
            <c:numRef>
              <c:f>'Chart Data'!$B$2:$B$9</c:f>
              <c:numCache>
                <c:formatCode>0.000000</c:formatCode>
                <c:ptCount val="8"/>
                <c:pt idx="0">
                  <c:v>1322.507892</c:v>
                </c:pt>
                <c:pt idx="1">
                  <c:v>1587.132297</c:v>
                </c:pt>
                <c:pt idx="2">
                  <c:v>2137.436155</c:v>
                </c:pt>
                <c:pt idx="3">
                  <c:v>2509.912128</c:v>
                </c:pt>
                <c:pt idx="4">
                  <c:v>2756.969241</c:v>
                </c:pt>
                <c:pt idx="5">
                  <c:v>2957.513531</c:v>
                </c:pt>
                <c:pt idx="6">
                  <c:v>3193.111389</c:v>
                </c:pt>
                <c:pt idx="7">
                  <c:v>3377.973406</c:v>
                </c:pt>
              </c:numCache>
            </c:numRef>
          </c:yVal>
        </c:ser>
        <c:ser>
          <c:idx val="1"/>
          <c:order val="1"/>
          <c:tx>
            <c:v>Current default all measured repetitions</c:v>
          </c:tx>
          <c:spPr>
            <a:solidFill xmlns:a="http://schemas.openxmlformats.org/drawingml/2006/main">
              <a:srgbClr val="222222"/>
            </a:solidFill>
            <a:ln xmlns:a="http://schemas.openxmlformats.org/drawingml/2006/main" w="0">
              <a:solidFill>
                <a:srgbClr val="222222"/>
              </a:solidFill>
            </a:ln>
          </c:spPr>
          <c:marker>
            <c:symbol val="circle"/>
            <c:size val="4"/>
            <c:spPr>
              <a:solidFill xmlns:a="http://schemas.openxmlformats.org/drawingml/2006/main">
                <a:srgbClr val="222222"/>
              </a:solidFill>
            </c:spPr>
          </c:marker>
          <c:xVal>
            <c:numRef>
              <c:f>'Chart Data'!$C$2:$C$25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Data'!$D$2:$D$25</c:f>
              <c:numCache>
                <c:formatCode>0.000000</c:formatCode>
                <c:ptCount val="24"/>
                <c:pt idx="0">
                  <c:v>1323.914125</c:v>
                </c:pt>
                <c:pt idx="1">
                  <c:v>1322.516235</c:v>
                </c:pt>
                <c:pt idx="2">
                  <c:v>1321.093317</c:v>
                </c:pt>
                <c:pt idx="3">
                  <c:v>1589.343199</c:v>
                </c:pt>
                <c:pt idx="4">
                  <c:v>1586.407963</c:v>
                </c:pt>
                <c:pt idx="5">
                  <c:v>1585.645728</c:v>
                </c:pt>
                <c:pt idx="6">
                  <c:v>2139.665182</c:v>
                </c:pt>
                <c:pt idx="7">
                  <c:v>2138.403481</c:v>
                </c:pt>
                <c:pt idx="8">
                  <c:v>2134.239801</c:v>
                </c:pt>
                <c:pt idx="9">
                  <c:v>2510.685256</c:v>
                </c:pt>
                <c:pt idx="10">
                  <c:v>2510.345465</c:v>
                </c:pt>
                <c:pt idx="11">
                  <c:v>2508.705664</c:v>
                </c:pt>
                <c:pt idx="12">
                  <c:v>2762.470293</c:v>
                </c:pt>
                <c:pt idx="13">
                  <c:v>2756.506916</c:v>
                </c:pt>
                <c:pt idx="14">
                  <c:v>2751.930513</c:v>
                </c:pt>
                <c:pt idx="15">
                  <c:v>2960.751852</c:v>
                </c:pt>
                <c:pt idx="16">
                  <c:v>2959.500444</c:v>
                </c:pt>
                <c:pt idx="17">
                  <c:v>2952.288296</c:v>
                </c:pt>
                <c:pt idx="18">
                  <c:v>3192.854005</c:v>
                </c:pt>
                <c:pt idx="19">
                  <c:v>3200.049124</c:v>
                </c:pt>
                <c:pt idx="20">
                  <c:v>3186.431038</c:v>
                </c:pt>
                <c:pt idx="21">
                  <c:v>3382.66727</c:v>
                </c:pt>
                <c:pt idx="22">
                  <c:v>3376.044949</c:v>
                </c:pt>
                <c:pt idx="23">
                  <c:v>3375.208001</c:v>
                </c:pt>
              </c:numCache>
            </c:numRef>
          </c:yVal>
        </c:ser>
        <c:ser>
          <c:idx val="2"/>
          <c:order val="2"/>
          <c:tx>
            <c:v>Manual matched set mean</c:v>
          </c:tx>
          <c:spPr>
            <a:solidFill xmlns:a="http://schemas.openxmlformats.org/drawingml/2006/main">
              <a:srgbClr val="3D8DFF"/>
            </a:solidFill>
            <a:ln xmlns:a="http://schemas.openxmlformats.org/drawingml/2006/main" w="19050">
              <a:solidFill>
                <a:srgbClr val="3D8DFF"/>
              </a:solidFill>
            </a:ln>
          </c:spPr>
          <c:marker>
            <c:symbol val="none"/>
            <c:size val="2"/>
          </c:marker>
          <c:xVal>
            <c:numRef>
              <c:f>'Chart Data'!$E$2:$E$9</c:f>
              <c:numCache>
                <c:formatCode>General</c:formatCode>
                <c:ptCount val="8"/>
                <c:pt idx="0">
                  <c:v>24</c:v>
                </c:pt>
                <c:pt idx="1">
                  <c:v>31</c:v>
                </c:pt>
                <c:pt idx="2">
                  <c:v>48</c:v>
                </c:pt>
                <c:pt idx="3">
                  <c:v>63</c:v>
                </c:pt>
                <c:pt idx="4">
                  <c:v>80</c:v>
                </c:pt>
                <c:pt idx="5">
                  <c:v>95</c:v>
                </c:pt>
                <c:pt idx="6">
                  <c:v>112</c:v>
                </c:pt>
                <c:pt idx="7">
                  <c:v>127</c:v>
                </c:pt>
              </c:numCache>
            </c:numRef>
          </c:xVal>
          <c:yVal>
            <c:numRef>
              <c:f>'Chart Data'!$F$2:$F$9</c:f>
              <c:numCache>
                <c:formatCode>0.000000</c:formatCode>
                <c:ptCount val="8"/>
                <c:pt idx="0">
                  <c:v>1321.170765</c:v>
                </c:pt>
                <c:pt idx="1">
                  <c:v>1590.053502</c:v>
                </c:pt>
                <c:pt idx="2">
                  <c:v>2135.403175</c:v>
                </c:pt>
                <c:pt idx="3">
                  <c:v>2511.327119</c:v>
                </c:pt>
                <c:pt idx="4">
                  <c:v>2754.923832</c:v>
                </c:pt>
                <c:pt idx="5">
                  <c:v>2958.690167</c:v>
                </c:pt>
                <c:pt idx="6">
                  <c:v>3190.404815</c:v>
                </c:pt>
                <c:pt idx="7">
                  <c:v>3376.199171</c:v>
                </c:pt>
              </c:numCache>
            </c:numRef>
          </c:yVal>
        </c:ser>
        <c:ser>
          <c:idx val="3"/>
          <c:order val="3"/>
          <c:tx>
            <c:v>Manual matched set all measured repetitions</c:v>
          </c:tx>
          <c:spPr>
            <a:solidFill xmlns:a="http://schemas.openxmlformats.org/drawingml/2006/main">
              <a:srgbClr val="3D8DFF"/>
            </a:solidFill>
            <a:ln xmlns:a="http://schemas.openxmlformats.org/drawingml/2006/main" w="0">
              <a:solidFill>
                <a:srgbClr val="3D8DFF"/>
              </a:solidFill>
            </a:ln>
          </c:spPr>
          <c:marker>
            <c:symbol val="diamond"/>
            <c:size val="4"/>
            <c:spPr>
              <a:solidFill xmlns:a="http://schemas.openxmlformats.org/drawingml/2006/main">
                <a:srgbClr val="3D8DFF"/>
              </a:solidFill>
            </c:spPr>
          </c:marker>
          <c:xVal>
            <c:numRef>
              <c:f>'Chart Data'!$G$2:$G$25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Data'!$H$2:$H$25</c:f>
              <c:numCache>
                <c:formatCode>0.000000</c:formatCode>
                <c:ptCount val="24"/>
                <c:pt idx="0">
                  <c:v>1323.236409</c:v>
                </c:pt>
                <c:pt idx="1">
                  <c:v>1318.602869</c:v>
                </c:pt>
                <c:pt idx="2">
                  <c:v>1321.673017</c:v>
                </c:pt>
                <c:pt idx="3">
                  <c:v>1591.798092</c:v>
                </c:pt>
                <c:pt idx="4">
                  <c:v>1589.409134</c:v>
                </c:pt>
                <c:pt idx="5">
                  <c:v>1588.95328</c:v>
                </c:pt>
                <c:pt idx="6">
                  <c:v>2138.616564</c:v>
                </c:pt>
                <c:pt idx="7">
                  <c:v>2134.832101</c:v>
                </c:pt>
                <c:pt idx="8">
                  <c:v>2132.760859</c:v>
                </c:pt>
                <c:pt idx="9">
                  <c:v>2515.032032</c:v>
                </c:pt>
                <c:pt idx="10">
                  <c:v>2510.231579</c:v>
                </c:pt>
                <c:pt idx="11">
                  <c:v>2508.717745</c:v>
                </c:pt>
                <c:pt idx="12">
                  <c:v>2760.347553</c:v>
                </c:pt>
                <c:pt idx="13">
                  <c:v>2753.84543</c:v>
                </c:pt>
                <c:pt idx="14">
                  <c:v>2750.578511</c:v>
                </c:pt>
                <c:pt idx="15">
                  <c:v>2959.08614</c:v>
                </c:pt>
                <c:pt idx="16">
                  <c:v>2958.524294</c:v>
                </c:pt>
                <c:pt idx="17">
                  <c:v>2958.460066</c:v>
                </c:pt>
                <c:pt idx="18">
                  <c:v>3191.561261</c:v>
                </c:pt>
                <c:pt idx="19">
                  <c:v>3188.996005</c:v>
                </c:pt>
                <c:pt idx="20">
                  <c:v>3190.657179</c:v>
                </c:pt>
                <c:pt idx="21">
                  <c:v>3383.558852</c:v>
                </c:pt>
                <c:pt idx="22">
                  <c:v>3374.013824</c:v>
                </c:pt>
                <c:pt idx="23">
                  <c:v>3371.024837</c:v>
                </c:pt>
              </c:numCache>
            </c:numRef>
          </c:yVal>
        </c:ser>
        <c:ser>
          <c:idx val="4"/>
          <c:order val="4"/>
          <c:tx>
            <c:v>Coarse grid mean</c:v>
          </c:tx>
          <c:spPr>
            <a:solidFill xmlns:a="http://schemas.openxmlformats.org/drawingml/2006/main">
              <a:srgbClr val="909AA8"/>
            </a:solidFill>
            <a:ln xmlns:a="http://schemas.openxmlformats.org/drawingml/2006/main" w="19050">
              <a:solidFill>
                <a:srgbClr val="909AA8"/>
              </a:solidFill>
            </a:ln>
          </c:spPr>
          <c:marker>
            <c:symbol val="none"/>
            <c:size val="2"/>
          </c:marker>
          <c:xVal>
            <c:numRef>
              <c:f>'Chart Data'!$I$2:$I$9</c:f>
              <c:numCache>
                <c:formatCode>General</c:formatCode>
                <c:ptCount val="8"/>
                <c:pt idx="0">
                  <c:v>24</c:v>
                </c:pt>
                <c:pt idx="1">
                  <c:v>31</c:v>
                </c:pt>
                <c:pt idx="2">
                  <c:v>48</c:v>
                </c:pt>
                <c:pt idx="3">
                  <c:v>63</c:v>
                </c:pt>
                <c:pt idx="4">
                  <c:v>80</c:v>
                </c:pt>
                <c:pt idx="5">
                  <c:v>95</c:v>
                </c:pt>
                <c:pt idx="6">
                  <c:v>112</c:v>
                </c:pt>
                <c:pt idx="7">
                  <c:v>127</c:v>
                </c:pt>
              </c:numCache>
            </c:numRef>
          </c:xVal>
          <c:yVal>
            <c:numRef>
              <c:f>'Chart Data'!$J$2:$J$9</c:f>
              <c:numCache>
                <c:formatCode>0.000000</c:formatCode>
                <c:ptCount val="8"/>
                <c:pt idx="0">
                  <c:v>1306.347245</c:v>
                </c:pt>
                <c:pt idx="1">
                  <c:v>1587.908435</c:v>
                </c:pt>
                <c:pt idx="2">
                  <c:v>2124.102188</c:v>
                </c:pt>
                <c:pt idx="3">
                  <c:v>2511.272852</c:v>
                </c:pt>
                <c:pt idx="4">
                  <c:v>2675.412627</c:v>
                </c:pt>
                <c:pt idx="5">
                  <c:v>2934.041232</c:v>
                </c:pt>
                <c:pt idx="6">
                  <c:v>3174.819922</c:v>
                </c:pt>
                <c:pt idx="7">
                  <c:v>3379.578496</c:v>
                </c:pt>
              </c:numCache>
            </c:numRef>
          </c:yVal>
        </c:ser>
        <c:ser>
          <c:idx val="5"/>
          <c:order val="5"/>
          <c:tx>
            <c:v>Coarse grid all measured repetitions</c:v>
          </c:tx>
          <c:spPr>
            <a:solidFill xmlns:a="http://schemas.openxmlformats.org/drawingml/2006/main">
              <a:srgbClr val="909AA8"/>
            </a:solidFill>
            <a:ln xmlns:a="http://schemas.openxmlformats.org/drawingml/2006/main" w="0">
              <a:solidFill>
                <a:srgbClr val="909AA8"/>
              </a:solidFill>
            </a:ln>
          </c:spPr>
          <c:marker>
            <c:symbol val="triangle"/>
            <c:size val="4"/>
            <c:spPr>
              <a:solidFill xmlns:a="http://schemas.openxmlformats.org/drawingml/2006/main">
                <a:srgbClr val="909AA8"/>
              </a:solidFill>
            </c:spPr>
          </c:marker>
          <c:xVal>
            <c:numRef>
              <c:f>'Chart Data'!$K$2:$K$25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Data'!$L$2:$L$25</c:f>
              <c:numCache>
                <c:formatCode>0.000000</c:formatCode>
                <c:ptCount val="24"/>
                <c:pt idx="0">
                  <c:v>1307.394277</c:v>
                </c:pt>
                <c:pt idx="1">
                  <c:v>1306.772505</c:v>
                </c:pt>
                <c:pt idx="2">
                  <c:v>1304.874951</c:v>
                </c:pt>
                <c:pt idx="3">
                  <c:v>1589.063091</c:v>
                </c:pt>
                <c:pt idx="4">
                  <c:v>1589.246658</c:v>
                </c:pt>
                <c:pt idx="5">
                  <c:v>1585.415556</c:v>
                </c:pt>
                <c:pt idx="6">
                  <c:v>2123.949014</c:v>
                </c:pt>
                <c:pt idx="7">
                  <c:v>2125.635926</c:v>
                </c:pt>
                <c:pt idx="8">
                  <c:v>2122.721625</c:v>
                </c:pt>
                <c:pt idx="9">
                  <c:v>2513.501603</c:v>
                </c:pt>
                <c:pt idx="10">
                  <c:v>2511.165799</c:v>
                </c:pt>
                <c:pt idx="11">
                  <c:v>2509.151155</c:v>
                </c:pt>
                <c:pt idx="12">
                  <c:v>2676.760449</c:v>
                </c:pt>
                <c:pt idx="13">
                  <c:v>2675.271505</c:v>
                </c:pt>
                <c:pt idx="14">
                  <c:v>2674.205927</c:v>
                </c:pt>
                <c:pt idx="15">
                  <c:v>2935.424049</c:v>
                </c:pt>
                <c:pt idx="16">
                  <c:v>2934.508755</c:v>
                </c:pt>
                <c:pt idx="17">
                  <c:v>2932.190893</c:v>
                </c:pt>
                <c:pt idx="18">
                  <c:v>3173.665127</c:v>
                </c:pt>
                <c:pt idx="19">
                  <c:v>3180.366305</c:v>
                </c:pt>
                <c:pt idx="20">
                  <c:v>3170.428334</c:v>
                </c:pt>
                <c:pt idx="21">
                  <c:v>3385.953085</c:v>
                </c:pt>
                <c:pt idx="22">
                  <c:v>3377.426204</c:v>
                </c:pt>
                <c:pt idx="23">
                  <c:v>3375.3562</c:v>
                </c:pt>
              </c:numCache>
            </c:numRef>
          </c:y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scatterChart>
      <c:valAx>
        <c:axId val="48672768"/>
        <c:scaling>
          <c:orientation val="minMax"/>
          <c:max val="400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majorUnit val="1000"/>
      </c:valAx>
      <c:valAx>
        <c:axId val="48650112"/>
        <c:scaling>
          <c:orientation val="minMax"/>
          <c:max val="130"/>
          <c:min val="20"/>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majorUnit val="20"/>
      </c:valAx>
    </c:plotArea>
    <c:plotVisOnly val="1"/>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Marker"/>
        <c:ser>
          <c:idx val="0"/>
          <c:order val="0"/>
          <c:tx>
            <c:v>Current default mean</c:v>
          </c:tx>
          <c:spPr>
            <a:solidFill xmlns:a="http://schemas.openxmlformats.org/drawingml/2006/main">
              <a:srgbClr val="222222"/>
            </a:solidFill>
            <a:ln xmlns:a="http://schemas.openxmlformats.org/drawingml/2006/main" w="19050">
              <a:solidFill>
                <a:srgbClr val="222222"/>
              </a:solidFill>
            </a:ln>
          </c:spPr>
          <c:marker>
            <c:symbol val="none"/>
            <c:size val="2"/>
          </c:marker>
          <c:xVal>
            <c:numRef>
              <c:f>'Chart Data'!$A$2:$A$9</c:f>
              <c:numCache>
                <c:formatCode>General</c:formatCode>
                <c:ptCount val="8"/>
                <c:pt idx="0">
                  <c:v>24</c:v>
                </c:pt>
                <c:pt idx="1">
                  <c:v>31</c:v>
                </c:pt>
                <c:pt idx="2">
                  <c:v>48</c:v>
                </c:pt>
                <c:pt idx="3">
                  <c:v>63</c:v>
                </c:pt>
                <c:pt idx="4">
                  <c:v>80</c:v>
                </c:pt>
                <c:pt idx="5">
                  <c:v>95</c:v>
                </c:pt>
                <c:pt idx="6">
                  <c:v>112</c:v>
                </c:pt>
                <c:pt idx="7">
                  <c:v>127</c:v>
                </c:pt>
              </c:numCache>
            </c:numRef>
          </c:xVal>
          <c:yVal>
            <c:numRef>
              <c:f>'Chart Data'!$B$2:$B$9</c:f>
              <c:numCache>
                <c:formatCode>0.000000</c:formatCode>
                <c:ptCount val="8"/>
                <c:pt idx="0">
                  <c:v>1967.004321</c:v>
                </c:pt>
                <c:pt idx="1">
                  <c:v>2436.258479</c:v>
                </c:pt>
                <c:pt idx="2">
                  <c:v>3344.837721</c:v>
                </c:pt>
                <c:pt idx="3">
                  <c:v>3983.462435</c:v>
                </c:pt>
                <c:pt idx="4">
                  <c:v>4775.490641</c:v>
                </c:pt>
                <c:pt idx="5">
                  <c:v>5317.520088</c:v>
                </c:pt>
                <c:pt idx="6">
                  <c:v>5674.003347</c:v>
                </c:pt>
                <c:pt idx="7">
                  <c:v>6075.754284</c:v>
                </c:pt>
              </c:numCache>
            </c:numRef>
          </c:yVal>
        </c:ser>
        <c:ser>
          <c:idx val="1"/>
          <c:order val="1"/>
          <c:tx>
            <c:v>Current default all measured repetitions</c:v>
          </c:tx>
          <c:spPr>
            <a:solidFill xmlns:a="http://schemas.openxmlformats.org/drawingml/2006/main">
              <a:srgbClr val="222222"/>
            </a:solidFill>
            <a:ln xmlns:a="http://schemas.openxmlformats.org/drawingml/2006/main" w="0">
              <a:solidFill>
                <a:srgbClr val="222222"/>
              </a:solidFill>
            </a:ln>
          </c:spPr>
          <c:marker>
            <c:symbol val="circle"/>
            <c:size val="4"/>
            <c:spPr>
              <a:solidFill xmlns:a="http://schemas.openxmlformats.org/drawingml/2006/main">
                <a:srgbClr val="222222"/>
              </a:solidFill>
            </c:spPr>
          </c:marker>
          <c:xVal>
            <c:numRef>
              <c:f>'Chart Data'!$C$2:$C$25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Data'!$D$2:$D$25</c:f>
              <c:numCache>
                <c:formatCode>0.000000</c:formatCode>
                <c:ptCount val="24"/>
                <c:pt idx="0">
                  <c:v>1966.68284</c:v>
                </c:pt>
                <c:pt idx="1">
                  <c:v>1966.504381</c:v>
                </c:pt>
                <c:pt idx="2">
                  <c:v>1967.825743</c:v>
                </c:pt>
                <c:pt idx="3">
                  <c:v>2432.673321</c:v>
                </c:pt>
                <c:pt idx="4">
                  <c:v>2437.023283</c:v>
                </c:pt>
                <c:pt idx="5">
                  <c:v>2439.078834</c:v>
                </c:pt>
                <c:pt idx="6">
                  <c:v>3344.732114</c:v>
                </c:pt>
                <c:pt idx="7">
                  <c:v>3348.275115</c:v>
                </c:pt>
                <c:pt idx="8">
                  <c:v>3341.505933</c:v>
                </c:pt>
                <c:pt idx="9">
                  <c:v>3992.864306</c:v>
                </c:pt>
                <c:pt idx="10">
                  <c:v>3976.839528</c:v>
                </c:pt>
                <c:pt idx="11">
                  <c:v>3980.683473</c:v>
                </c:pt>
                <c:pt idx="12">
                  <c:v>4779.850473</c:v>
                </c:pt>
                <c:pt idx="13">
                  <c:v>4771.240551</c:v>
                </c:pt>
                <c:pt idx="14">
                  <c:v>4775.380898</c:v>
                </c:pt>
                <c:pt idx="15">
                  <c:v>5311.905001</c:v>
                </c:pt>
                <c:pt idx="16">
                  <c:v>5329.292162</c:v>
                </c:pt>
                <c:pt idx="17">
                  <c:v>5311.363101</c:v>
                </c:pt>
                <c:pt idx="18">
                  <c:v>5681.137315</c:v>
                </c:pt>
                <c:pt idx="19">
                  <c:v>5676.054415</c:v>
                </c:pt>
                <c:pt idx="20">
                  <c:v>5664.818309</c:v>
                </c:pt>
                <c:pt idx="21">
                  <c:v>6092.749581</c:v>
                </c:pt>
                <c:pt idx="22">
                  <c:v>6064.900474</c:v>
                </c:pt>
                <c:pt idx="23">
                  <c:v>6069.612798</c:v>
                </c:pt>
              </c:numCache>
            </c:numRef>
          </c:yVal>
        </c:ser>
        <c:ser>
          <c:idx val="2"/>
          <c:order val="2"/>
          <c:tx>
            <c:v>Manual matched set mean</c:v>
          </c:tx>
          <c:spPr>
            <a:solidFill xmlns:a="http://schemas.openxmlformats.org/drawingml/2006/main">
              <a:srgbClr val="3D8DFF"/>
            </a:solidFill>
            <a:ln xmlns:a="http://schemas.openxmlformats.org/drawingml/2006/main" w="19050">
              <a:solidFill>
                <a:srgbClr val="3D8DFF"/>
              </a:solidFill>
            </a:ln>
          </c:spPr>
          <c:marker>
            <c:symbol val="none"/>
            <c:size val="2"/>
          </c:marker>
          <c:xVal>
            <c:numRef>
              <c:f>'Chart Data'!$E$2:$E$9</c:f>
              <c:numCache>
                <c:formatCode>General</c:formatCode>
                <c:ptCount val="8"/>
                <c:pt idx="0">
                  <c:v>24</c:v>
                </c:pt>
                <c:pt idx="1">
                  <c:v>31</c:v>
                </c:pt>
                <c:pt idx="2">
                  <c:v>48</c:v>
                </c:pt>
                <c:pt idx="3">
                  <c:v>63</c:v>
                </c:pt>
                <c:pt idx="4">
                  <c:v>80</c:v>
                </c:pt>
                <c:pt idx="5">
                  <c:v>95</c:v>
                </c:pt>
                <c:pt idx="6">
                  <c:v>112</c:v>
                </c:pt>
                <c:pt idx="7">
                  <c:v>127</c:v>
                </c:pt>
              </c:numCache>
            </c:numRef>
          </c:xVal>
          <c:yVal>
            <c:numRef>
              <c:f>'Chart Data'!$F$2:$F$9</c:f>
              <c:numCache>
                <c:formatCode>0.000000</c:formatCode>
                <c:ptCount val="8"/>
                <c:pt idx="0">
                  <c:v>1972.48731</c:v>
                </c:pt>
                <c:pt idx="1">
                  <c:v>2443.823385</c:v>
                </c:pt>
                <c:pt idx="2">
                  <c:v>3351.299354</c:v>
                </c:pt>
                <c:pt idx="3">
                  <c:v>3986.617807</c:v>
                </c:pt>
                <c:pt idx="4">
                  <c:v>4783.261346</c:v>
                </c:pt>
                <c:pt idx="5">
                  <c:v>5327.221157</c:v>
                </c:pt>
                <c:pt idx="6">
                  <c:v>5685.588463</c:v>
                </c:pt>
                <c:pt idx="7">
                  <c:v>6093.866958</c:v>
                </c:pt>
              </c:numCache>
            </c:numRef>
          </c:yVal>
        </c:ser>
        <c:ser>
          <c:idx val="3"/>
          <c:order val="3"/>
          <c:tx>
            <c:v>Manual matched set all measured repetitions</c:v>
          </c:tx>
          <c:spPr>
            <a:solidFill xmlns:a="http://schemas.openxmlformats.org/drawingml/2006/main">
              <a:srgbClr val="3D8DFF"/>
            </a:solidFill>
            <a:ln xmlns:a="http://schemas.openxmlformats.org/drawingml/2006/main" w="0">
              <a:solidFill>
                <a:srgbClr val="3D8DFF"/>
              </a:solidFill>
            </a:ln>
          </c:spPr>
          <c:marker>
            <c:symbol val="diamond"/>
            <c:size val="4"/>
            <c:spPr>
              <a:solidFill xmlns:a="http://schemas.openxmlformats.org/drawingml/2006/main">
                <a:srgbClr val="3D8DFF"/>
              </a:solidFill>
            </c:spPr>
          </c:marker>
          <c:xVal>
            <c:numRef>
              <c:f>'Chart Data'!$G$2:$G$25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Data'!$H$2:$H$25</c:f>
              <c:numCache>
                <c:formatCode>0.000000</c:formatCode>
                <c:ptCount val="24"/>
                <c:pt idx="0">
                  <c:v>1971.774553</c:v>
                </c:pt>
                <c:pt idx="1">
                  <c:v>1973.066101</c:v>
                </c:pt>
                <c:pt idx="2">
                  <c:v>1972.621276</c:v>
                </c:pt>
                <c:pt idx="3">
                  <c:v>2440.446039</c:v>
                </c:pt>
                <c:pt idx="4">
                  <c:v>2444.793745</c:v>
                </c:pt>
                <c:pt idx="5">
                  <c:v>2446.230372</c:v>
                </c:pt>
                <c:pt idx="6">
                  <c:v>3357.33263</c:v>
                </c:pt>
                <c:pt idx="7">
                  <c:v>3352.598404</c:v>
                </c:pt>
                <c:pt idx="8">
                  <c:v>3343.967029</c:v>
                </c:pt>
                <c:pt idx="9">
                  <c:v>3985.526612</c:v>
                </c:pt>
                <c:pt idx="10">
                  <c:v>3990.341389</c:v>
                </c:pt>
                <c:pt idx="11">
                  <c:v>3983.98542</c:v>
                </c:pt>
                <c:pt idx="12">
                  <c:v>4799.329675</c:v>
                </c:pt>
                <c:pt idx="13">
                  <c:v>4780.965889</c:v>
                </c:pt>
                <c:pt idx="14">
                  <c:v>4769.488475</c:v>
                </c:pt>
                <c:pt idx="15">
                  <c:v>5327.975643</c:v>
                </c:pt>
                <c:pt idx="16">
                  <c:v>5341.367638</c:v>
                </c:pt>
                <c:pt idx="17">
                  <c:v>5312.32019</c:v>
                </c:pt>
                <c:pt idx="18">
                  <c:v>5685.404555</c:v>
                </c:pt>
                <c:pt idx="19">
                  <c:v>5697.342375</c:v>
                </c:pt>
                <c:pt idx="20">
                  <c:v>5674.018459</c:v>
                </c:pt>
                <c:pt idx="21">
                  <c:v>6113.753747</c:v>
                </c:pt>
                <c:pt idx="22">
                  <c:v>6088.549788</c:v>
                </c:pt>
                <c:pt idx="23">
                  <c:v>6079.297341</c:v>
                </c:pt>
              </c:numCache>
            </c:numRef>
          </c:yVal>
        </c:ser>
        <c:ser>
          <c:idx val="4"/>
          <c:order val="4"/>
          <c:tx>
            <c:v>Coarse grid mean</c:v>
          </c:tx>
          <c:spPr>
            <a:solidFill xmlns:a="http://schemas.openxmlformats.org/drawingml/2006/main">
              <a:srgbClr val="909AA8"/>
            </a:solidFill>
            <a:ln xmlns:a="http://schemas.openxmlformats.org/drawingml/2006/main" w="19050">
              <a:solidFill>
                <a:srgbClr val="909AA8"/>
              </a:solidFill>
            </a:ln>
          </c:spPr>
          <c:marker>
            <c:symbol val="none"/>
            <c:size val="2"/>
          </c:marker>
          <c:xVal>
            <c:numRef>
              <c:f>'Chart Data'!$I$2:$I$9</c:f>
              <c:numCache>
                <c:formatCode>General</c:formatCode>
                <c:ptCount val="8"/>
                <c:pt idx="0">
                  <c:v>24</c:v>
                </c:pt>
                <c:pt idx="1">
                  <c:v>31</c:v>
                </c:pt>
                <c:pt idx="2">
                  <c:v>48</c:v>
                </c:pt>
                <c:pt idx="3">
                  <c:v>63</c:v>
                </c:pt>
                <c:pt idx="4">
                  <c:v>80</c:v>
                </c:pt>
                <c:pt idx="5">
                  <c:v>95</c:v>
                </c:pt>
                <c:pt idx="6">
                  <c:v>112</c:v>
                </c:pt>
                <c:pt idx="7">
                  <c:v>127</c:v>
                </c:pt>
              </c:numCache>
            </c:numRef>
          </c:xVal>
          <c:yVal>
            <c:numRef>
              <c:f>'Chart Data'!$J$2:$J$9</c:f>
              <c:numCache>
                <c:formatCode>0.000000</c:formatCode>
                <c:ptCount val="8"/>
                <c:pt idx="0">
                  <c:v>1964.726974</c:v>
                </c:pt>
                <c:pt idx="1">
                  <c:v>2439.417597</c:v>
                </c:pt>
                <c:pt idx="2">
                  <c:v>3294.988753</c:v>
                </c:pt>
                <c:pt idx="3">
                  <c:v>3989.242286</c:v>
                </c:pt>
                <c:pt idx="4">
                  <c:v>4595.886111</c:v>
                </c:pt>
                <c:pt idx="5">
                  <c:v>5183.731848</c:v>
                </c:pt>
                <c:pt idx="6">
                  <c:v>5614.946929</c:v>
                </c:pt>
                <c:pt idx="7">
                  <c:v>6079.909263</c:v>
                </c:pt>
              </c:numCache>
            </c:numRef>
          </c:yVal>
        </c:ser>
        <c:ser>
          <c:idx val="5"/>
          <c:order val="5"/>
          <c:tx>
            <c:v>Coarse grid all measured repetitions</c:v>
          </c:tx>
          <c:spPr>
            <a:solidFill xmlns:a="http://schemas.openxmlformats.org/drawingml/2006/main">
              <a:srgbClr val="909AA8"/>
            </a:solidFill>
            <a:ln xmlns:a="http://schemas.openxmlformats.org/drawingml/2006/main" w="0">
              <a:solidFill>
                <a:srgbClr val="909AA8"/>
              </a:solidFill>
            </a:ln>
          </c:spPr>
          <c:marker>
            <c:symbol val="triangle"/>
            <c:size val="4"/>
            <c:spPr>
              <a:solidFill xmlns:a="http://schemas.openxmlformats.org/drawingml/2006/main">
                <a:srgbClr val="909AA8"/>
              </a:solidFill>
            </c:spPr>
          </c:marker>
          <c:xVal>
            <c:numRef>
              <c:f>'Chart Data'!$K$2:$K$25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Data'!$L$2:$L$25</c:f>
              <c:numCache>
                <c:formatCode>0.000000</c:formatCode>
                <c:ptCount val="24"/>
                <c:pt idx="0">
                  <c:v>1964.017234</c:v>
                </c:pt>
                <c:pt idx="1">
                  <c:v>1963.287749</c:v>
                </c:pt>
                <c:pt idx="2">
                  <c:v>1966.875941</c:v>
                </c:pt>
                <c:pt idx="3">
                  <c:v>2437.867433</c:v>
                </c:pt>
                <c:pt idx="4">
                  <c:v>2438.890673</c:v>
                </c:pt>
                <c:pt idx="5">
                  <c:v>2441.494684</c:v>
                </c:pt>
                <c:pt idx="6">
                  <c:v>3299.283734</c:v>
                </c:pt>
                <c:pt idx="7">
                  <c:v>3295.18601</c:v>
                </c:pt>
                <c:pt idx="8">
                  <c:v>3290.496515</c:v>
                </c:pt>
                <c:pt idx="9">
                  <c:v>3989.683592</c:v>
                </c:pt>
                <c:pt idx="10">
                  <c:v>3988.159579</c:v>
                </c:pt>
                <c:pt idx="11">
                  <c:v>3989.883688</c:v>
                </c:pt>
                <c:pt idx="12">
                  <c:v>4600.379203</c:v>
                </c:pt>
                <c:pt idx="13">
                  <c:v>4600.647439</c:v>
                </c:pt>
                <c:pt idx="14">
                  <c:v>4586.631691</c:v>
                </c:pt>
                <c:pt idx="15">
                  <c:v>5181.531182</c:v>
                </c:pt>
                <c:pt idx="16">
                  <c:v>5190.854356</c:v>
                </c:pt>
                <c:pt idx="17">
                  <c:v>5178.810006</c:v>
                </c:pt>
                <c:pt idx="18">
                  <c:v>5627.299321</c:v>
                </c:pt>
                <c:pt idx="19">
                  <c:v>5608.31202</c:v>
                </c:pt>
                <c:pt idx="20">
                  <c:v>5609.229446</c:v>
                </c:pt>
                <c:pt idx="21">
                  <c:v>6098.484973</c:v>
                </c:pt>
                <c:pt idx="22">
                  <c:v>6076.067467</c:v>
                </c:pt>
                <c:pt idx="23">
                  <c:v>6065.17535</c:v>
                </c:pt>
              </c:numCache>
            </c:numRef>
          </c:y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scatterChart>
      <c:valAx>
        <c:axId val="48672768"/>
        <c:scaling>
          <c:orientation val="minMax"/>
          <c:max val="800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majorUnit val="2000"/>
      </c:valAx>
      <c:valAx>
        <c:axId val="48650112"/>
        <c:scaling>
          <c:orientation val="minMax"/>
          <c:max val="130"/>
          <c:min val="20"/>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majorUnit val="20"/>
      </c:valAx>
    </c:plotArea>
    <c:plotVisOnly val="1"/>
  </c:chart>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Marker"/>
        <c:ser>
          <c:idx val="0"/>
          <c:order val="0"/>
          <c:tx>
            <c:v>Current default mean</c:v>
          </c:tx>
          <c:spPr>
            <a:solidFill xmlns:a="http://schemas.openxmlformats.org/drawingml/2006/main">
              <a:srgbClr val="222222"/>
            </a:solidFill>
            <a:ln xmlns:a="http://schemas.openxmlformats.org/drawingml/2006/main" w="19050">
              <a:solidFill>
                <a:srgbClr val="222222"/>
              </a:solidFill>
            </a:ln>
          </c:spPr>
          <c:marker>
            <c:symbol val="none"/>
            <c:size val="2"/>
          </c:marker>
          <c:xVal>
            <c:numRef>
              <c:f>'Chart Data'!$A$2:$A$9</c:f>
              <c:numCache>
                <c:formatCode>General</c:formatCode>
                <c:ptCount val="8"/>
                <c:pt idx="0">
                  <c:v>24</c:v>
                </c:pt>
                <c:pt idx="1">
                  <c:v>31</c:v>
                </c:pt>
                <c:pt idx="2">
                  <c:v>48</c:v>
                </c:pt>
                <c:pt idx="3">
                  <c:v>63</c:v>
                </c:pt>
                <c:pt idx="4">
                  <c:v>80</c:v>
                </c:pt>
                <c:pt idx="5">
                  <c:v>95</c:v>
                </c:pt>
                <c:pt idx="6">
                  <c:v>112</c:v>
                </c:pt>
                <c:pt idx="7">
                  <c:v>127</c:v>
                </c:pt>
              </c:numCache>
            </c:numRef>
          </c:xVal>
          <c:yVal>
            <c:numRef>
              <c:f>'Chart Data'!$B$2:$B$9</c:f>
              <c:numCache>
                <c:formatCode>0.000000</c:formatCode>
                <c:ptCount val="8"/>
                <c:pt idx="0">
                  <c:v>5040.818198</c:v>
                </c:pt>
                <c:pt idx="1">
                  <c:v>6239.597221</c:v>
                </c:pt>
                <c:pt idx="2">
                  <c:v>9017.996025</c:v>
                </c:pt>
                <c:pt idx="3">
                  <c:v>10743.351354</c:v>
                </c:pt>
                <c:pt idx="4">
                  <c:v>12088.661067</c:v>
                </c:pt>
                <c:pt idx="5">
                  <c:v>14153.666311</c:v>
                </c:pt>
                <c:pt idx="6">
                  <c:v>15279.372457</c:v>
                </c:pt>
                <c:pt idx="7">
                  <c:v>16453.324265</c:v>
                </c:pt>
              </c:numCache>
            </c:numRef>
          </c:yVal>
        </c:ser>
        <c:ser>
          <c:idx val="1"/>
          <c:order val="1"/>
          <c:tx>
            <c:v>Current default all measured repetitions</c:v>
          </c:tx>
          <c:spPr>
            <a:solidFill xmlns:a="http://schemas.openxmlformats.org/drawingml/2006/main">
              <a:srgbClr val="222222"/>
            </a:solidFill>
            <a:ln xmlns:a="http://schemas.openxmlformats.org/drawingml/2006/main" w="0">
              <a:solidFill>
                <a:srgbClr val="222222"/>
              </a:solidFill>
            </a:ln>
          </c:spPr>
          <c:marker>
            <c:symbol val="circle"/>
            <c:size val="4"/>
            <c:spPr>
              <a:solidFill xmlns:a="http://schemas.openxmlformats.org/drawingml/2006/main">
                <a:srgbClr val="222222"/>
              </a:solidFill>
            </c:spPr>
          </c:marker>
          <c:xVal>
            <c:numRef>
              <c:f>'Chart Data'!$C$2:$C$25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Data'!$D$2:$D$25</c:f>
              <c:numCache>
                <c:formatCode>0.000000</c:formatCode>
                <c:ptCount val="24"/>
                <c:pt idx="0">
                  <c:v>5042.917462</c:v>
                </c:pt>
                <c:pt idx="1">
                  <c:v>5034.09264</c:v>
                </c:pt>
                <c:pt idx="2">
                  <c:v>5045.444492</c:v>
                </c:pt>
                <c:pt idx="3">
                  <c:v>6238.669838</c:v>
                </c:pt>
                <c:pt idx="4">
                  <c:v>6240.879967</c:v>
                </c:pt>
                <c:pt idx="5">
                  <c:v>6239.241858</c:v>
                </c:pt>
                <c:pt idx="6">
                  <c:v>9031.840782</c:v>
                </c:pt>
                <c:pt idx="7">
                  <c:v>9007.585171</c:v>
                </c:pt>
                <c:pt idx="8">
                  <c:v>9014.562122</c:v>
                </c:pt>
                <c:pt idx="9">
                  <c:v>10727.414553</c:v>
                </c:pt>
                <c:pt idx="10">
                  <c:v>10771.802923</c:v>
                </c:pt>
                <c:pt idx="11">
                  <c:v>10730.836587</c:v>
                </c:pt>
                <c:pt idx="12">
                  <c:v>12106.222517</c:v>
                </c:pt>
                <c:pt idx="13">
                  <c:v>12103.775865</c:v>
                </c:pt>
                <c:pt idx="14">
                  <c:v>12055.98482</c:v>
                </c:pt>
                <c:pt idx="15">
                  <c:v>14157.51458</c:v>
                </c:pt>
                <c:pt idx="16">
                  <c:v>14148.847079</c:v>
                </c:pt>
                <c:pt idx="17">
                  <c:v>14154.637275</c:v>
                </c:pt>
                <c:pt idx="18">
                  <c:v>15269.042055</c:v>
                </c:pt>
                <c:pt idx="19">
                  <c:v>15278.784684</c:v>
                </c:pt>
                <c:pt idx="20">
                  <c:v>15290.290631</c:v>
                </c:pt>
                <c:pt idx="21">
                  <c:v>16440.287185</c:v>
                </c:pt>
                <c:pt idx="22">
                  <c:v>16499.48739</c:v>
                </c:pt>
                <c:pt idx="23">
                  <c:v>16420.19822</c:v>
                </c:pt>
              </c:numCache>
            </c:numRef>
          </c:yVal>
        </c:ser>
        <c:ser>
          <c:idx val="2"/>
          <c:order val="2"/>
          <c:tx>
            <c:v>Manual matched set mean</c:v>
          </c:tx>
          <c:spPr>
            <a:solidFill xmlns:a="http://schemas.openxmlformats.org/drawingml/2006/main">
              <a:srgbClr val="3D8DFF"/>
            </a:solidFill>
            <a:ln xmlns:a="http://schemas.openxmlformats.org/drawingml/2006/main" w="19050">
              <a:solidFill>
                <a:srgbClr val="3D8DFF"/>
              </a:solidFill>
            </a:ln>
          </c:spPr>
          <c:marker>
            <c:symbol val="none"/>
            <c:size val="2"/>
          </c:marker>
          <c:xVal>
            <c:numRef>
              <c:f>'Chart Data'!$E$2:$E$9</c:f>
              <c:numCache>
                <c:formatCode>General</c:formatCode>
                <c:ptCount val="8"/>
                <c:pt idx="0">
                  <c:v>24</c:v>
                </c:pt>
                <c:pt idx="1">
                  <c:v>31</c:v>
                </c:pt>
                <c:pt idx="2">
                  <c:v>48</c:v>
                </c:pt>
                <c:pt idx="3">
                  <c:v>63</c:v>
                </c:pt>
                <c:pt idx="4">
                  <c:v>80</c:v>
                </c:pt>
                <c:pt idx="5">
                  <c:v>95</c:v>
                </c:pt>
                <c:pt idx="6">
                  <c:v>112</c:v>
                </c:pt>
                <c:pt idx="7">
                  <c:v>127</c:v>
                </c:pt>
              </c:numCache>
            </c:numRef>
          </c:xVal>
          <c:yVal>
            <c:numRef>
              <c:f>'Chart Data'!$F$2:$F$9</c:f>
              <c:numCache>
                <c:formatCode>0.000000</c:formatCode>
                <c:ptCount val="8"/>
                <c:pt idx="0">
                  <c:v>5039.477869</c:v>
                </c:pt>
                <c:pt idx="1">
                  <c:v>6269.132124</c:v>
                </c:pt>
                <c:pt idx="2">
                  <c:v>9026.535306</c:v>
                </c:pt>
                <c:pt idx="3">
                  <c:v>10735.29812</c:v>
                </c:pt>
                <c:pt idx="4">
                  <c:v>12098.720228</c:v>
                </c:pt>
                <c:pt idx="5">
                  <c:v>14134.311014</c:v>
                </c:pt>
                <c:pt idx="6">
                  <c:v>15261.174298</c:v>
                </c:pt>
                <c:pt idx="7">
                  <c:v>16438.472888</c:v>
                </c:pt>
              </c:numCache>
            </c:numRef>
          </c:yVal>
        </c:ser>
        <c:ser>
          <c:idx val="3"/>
          <c:order val="3"/>
          <c:tx>
            <c:v>Manual matched set all measured repetitions</c:v>
          </c:tx>
          <c:spPr>
            <a:solidFill xmlns:a="http://schemas.openxmlformats.org/drawingml/2006/main">
              <a:srgbClr val="3D8DFF"/>
            </a:solidFill>
            <a:ln xmlns:a="http://schemas.openxmlformats.org/drawingml/2006/main" w="0">
              <a:solidFill>
                <a:srgbClr val="3D8DFF"/>
              </a:solidFill>
            </a:ln>
          </c:spPr>
          <c:marker>
            <c:symbol val="diamond"/>
            <c:size val="4"/>
            <c:spPr>
              <a:solidFill xmlns:a="http://schemas.openxmlformats.org/drawingml/2006/main">
                <a:srgbClr val="3D8DFF"/>
              </a:solidFill>
            </c:spPr>
          </c:marker>
          <c:xVal>
            <c:numRef>
              <c:f>'Chart Data'!$G$2:$G$25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Data'!$H$2:$H$25</c:f>
              <c:numCache>
                <c:formatCode>0.000000</c:formatCode>
                <c:ptCount val="24"/>
                <c:pt idx="0">
                  <c:v>5043.099772</c:v>
                </c:pt>
                <c:pt idx="1">
                  <c:v>5040.435788</c:v>
                </c:pt>
                <c:pt idx="2">
                  <c:v>5034.898047</c:v>
                </c:pt>
                <c:pt idx="3">
                  <c:v>6280.064203</c:v>
                </c:pt>
                <c:pt idx="4">
                  <c:v>6264.736686</c:v>
                </c:pt>
                <c:pt idx="5">
                  <c:v>6262.595484</c:v>
                </c:pt>
                <c:pt idx="6">
                  <c:v>9024.312313</c:v>
                </c:pt>
                <c:pt idx="7">
                  <c:v>9023.14273</c:v>
                </c:pt>
                <c:pt idx="8">
                  <c:v>9032.150875</c:v>
                </c:pt>
                <c:pt idx="9">
                  <c:v>10730.712114</c:v>
                </c:pt>
                <c:pt idx="10">
                  <c:v>10729.429941</c:v>
                </c:pt>
                <c:pt idx="11">
                  <c:v>10745.752304</c:v>
                </c:pt>
                <c:pt idx="12">
                  <c:v>12113.67235</c:v>
                </c:pt>
                <c:pt idx="13">
                  <c:v>12119.759672</c:v>
                </c:pt>
                <c:pt idx="14">
                  <c:v>12062.728663</c:v>
                </c:pt>
                <c:pt idx="15">
                  <c:v>14165.044432</c:v>
                </c:pt>
                <c:pt idx="16">
                  <c:v>14123.376526</c:v>
                </c:pt>
                <c:pt idx="17">
                  <c:v>14114.512085</c:v>
                </c:pt>
                <c:pt idx="18">
                  <c:v>15284.472061</c:v>
                </c:pt>
                <c:pt idx="19">
                  <c:v>15241.455955</c:v>
                </c:pt>
                <c:pt idx="20">
                  <c:v>15257.594878</c:v>
                </c:pt>
                <c:pt idx="21">
                  <c:v>16446.247826</c:v>
                </c:pt>
                <c:pt idx="22">
                  <c:v>16453.352804</c:v>
                </c:pt>
                <c:pt idx="23">
                  <c:v>16415.818034</c:v>
                </c:pt>
              </c:numCache>
            </c:numRef>
          </c:yVal>
        </c:ser>
        <c:ser>
          <c:idx val="4"/>
          <c:order val="4"/>
          <c:tx>
            <c:v>Coarse grid mean</c:v>
          </c:tx>
          <c:spPr>
            <a:solidFill xmlns:a="http://schemas.openxmlformats.org/drawingml/2006/main">
              <a:srgbClr val="909AA8"/>
            </a:solidFill>
            <a:ln xmlns:a="http://schemas.openxmlformats.org/drawingml/2006/main" w="19050">
              <a:solidFill>
                <a:srgbClr val="909AA8"/>
              </a:solidFill>
            </a:ln>
          </c:spPr>
          <c:marker>
            <c:symbol val="none"/>
            <c:size val="2"/>
          </c:marker>
          <c:xVal>
            <c:numRef>
              <c:f>'Chart Data'!$I$2:$I$9</c:f>
              <c:numCache>
                <c:formatCode>General</c:formatCode>
                <c:ptCount val="8"/>
                <c:pt idx="0">
                  <c:v>24</c:v>
                </c:pt>
                <c:pt idx="1">
                  <c:v>31</c:v>
                </c:pt>
                <c:pt idx="2">
                  <c:v>48</c:v>
                </c:pt>
                <c:pt idx="3">
                  <c:v>63</c:v>
                </c:pt>
                <c:pt idx="4">
                  <c:v>80</c:v>
                </c:pt>
                <c:pt idx="5">
                  <c:v>95</c:v>
                </c:pt>
                <c:pt idx="6">
                  <c:v>112</c:v>
                </c:pt>
                <c:pt idx="7">
                  <c:v>127</c:v>
                </c:pt>
              </c:numCache>
            </c:numRef>
          </c:xVal>
          <c:yVal>
            <c:numRef>
              <c:f>'Chart Data'!$J$2:$J$9</c:f>
              <c:numCache>
                <c:formatCode>0.000000</c:formatCode>
                <c:ptCount val="8"/>
                <c:pt idx="0">
                  <c:v>5050.223912</c:v>
                </c:pt>
                <c:pt idx="1">
                  <c:v>6245.429683</c:v>
                </c:pt>
                <c:pt idx="2">
                  <c:v>8752.189963</c:v>
                </c:pt>
                <c:pt idx="3">
                  <c:v>10737.430781</c:v>
                </c:pt>
                <c:pt idx="4">
                  <c:v>12258.264537</c:v>
                </c:pt>
                <c:pt idx="5">
                  <c:v>13859.055323</c:v>
                </c:pt>
                <c:pt idx="6">
                  <c:v>15154.353684</c:v>
                </c:pt>
                <c:pt idx="7">
                  <c:v>16451.725988</c:v>
                </c:pt>
              </c:numCache>
            </c:numRef>
          </c:yVal>
        </c:ser>
        <c:ser>
          <c:idx val="5"/>
          <c:order val="5"/>
          <c:tx>
            <c:v>Coarse grid all measured repetitions</c:v>
          </c:tx>
          <c:spPr>
            <a:solidFill xmlns:a="http://schemas.openxmlformats.org/drawingml/2006/main">
              <a:srgbClr val="909AA8"/>
            </a:solidFill>
            <a:ln xmlns:a="http://schemas.openxmlformats.org/drawingml/2006/main" w="0">
              <a:solidFill>
                <a:srgbClr val="909AA8"/>
              </a:solidFill>
            </a:ln>
          </c:spPr>
          <c:marker>
            <c:symbol val="triangle"/>
            <c:size val="4"/>
            <c:spPr>
              <a:solidFill xmlns:a="http://schemas.openxmlformats.org/drawingml/2006/main">
                <a:srgbClr val="909AA8"/>
              </a:solidFill>
            </c:spPr>
          </c:marker>
          <c:xVal>
            <c:numRef>
              <c:f>'Chart Data'!$K$2:$K$25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Data'!$L$2:$L$25</c:f>
              <c:numCache>
                <c:formatCode>0.000000</c:formatCode>
                <c:ptCount val="24"/>
                <c:pt idx="0">
                  <c:v>5077.454361</c:v>
                </c:pt>
                <c:pt idx="1">
                  <c:v>5016.165442</c:v>
                </c:pt>
                <c:pt idx="2">
                  <c:v>5057.051934</c:v>
                </c:pt>
                <c:pt idx="3">
                  <c:v>6236.225973</c:v>
                </c:pt>
                <c:pt idx="4">
                  <c:v>6245.048374</c:v>
                </c:pt>
                <c:pt idx="5">
                  <c:v>6255.014701</c:v>
                </c:pt>
                <c:pt idx="6">
                  <c:v>8752.894788</c:v>
                </c:pt>
                <c:pt idx="7">
                  <c:v>8741.261713</c:v>
                </c:pt>
                <c:pt idx="8">
                  <c:v>8762.41339</c:v>
                </c:pt>
                <c:pt idx="9">
                  <c:v>10761.252108</c:v>
                </c:pt>
                <c:pt idx="10">
                  <c:v>10735.031649</c:v>
                </c:pt>
                <c:pt idx="11">
                  <c:v>10716.008584</c:v>
                </c:pt>
                <c:pt idx="12">
                  <c:v>12282.74963</c:v>
                </c:pt>
                <c:pt idx="13">
                  <c:v>12267.109803</c:v>
                </c:pt>
                <c:pt idx="14">
                  <c:v>12224.934176</c:v>
                </c:pt>
                <c:pt idx="15">
                  <c:v>13871.395089</c:v>
                </c:pt>
                <c:pt idx="16">
                  <c:v>13872.260145</c:v>
                </c:pt>
                <c:pt idx="17">
                  <c:v>13833.510734</c:v>
                </c:pt>
                <c:pt idx="18">
                  <c:v>15176.348003</c:v>
                </c:pt>
                <c:pt idx="19">
                  <c:v>15139.157609</c:v>
                </c:pt>
                <c:pt idx="20">
                  <c:v>15147.55544</c:v>
                </c:pt>
                <c:pt idx="21">
                  <c:v>16437.569094</c:v>
                </c:pt>
                <c:pt idx="22">
                  <c:v>16499.899987</c:v>
                </c:pt>
                <c:pt idx="23">
                  <c:v>16417.708883</c:v>
                </c:pt>
              </c:numCache>
            </c:numRef>
          </c:y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scatterChart>
      <c:valAx>
        <c:axId val="48672768"/>
        <c:scaling>
          <c:orientation val="minMax"/>
          <c:max val="2000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majorUnit val="5000"/>
      </c:valAx>
      <c:valAx>
        <c:axId val="48650112"/>
        <c:scaling>
          <c:orientation val="minMax"/>
          <c:max val="130"/>
          <c:min val="20"/>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majorUnit val="20"/>
      </c:valAx>
    </c:plotArea>
    <c:plotVisOnly val="1"/>
  </c:chart>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Marker"/>
        <c:ser>
          <c:idx val="0"/>
          <c:order val="0"/>
          <c:tx>
            <c:v>Current default mean</c:v>
          </c:tx>
          <c:spPr>
            <a:solidFill xmlns:a="http://schemas.openxmlformats.org/drawingml/2006/main">
              <a:srgbClr val="222222"/>
            </a:solidFill>
            <a:ln xmlns:a="http://schemas.openxmlformats.org/drawingml/2006/main" w="19050">
              <a:solidFill>
                <a:srgbClr val="222222"/>
              </a:solidFill>
            </a:ln>
          </c:spPr>
          <c:marker>
            <c:symbol val="none"/>
            <c:size val="2"/>
          </c:marker>
          <c:xVal>
            <c:numRef>
              <c:f>'Chart Data'!$A$2:$A$9</c:f>
              <c:numCache>
                <c:formatCode>General</c:formatCode>
                <c:ptCount val="8"/>
                <c:pt idx="0">
                  <c:v>24</c:v>
                </c:pt>
                <c:pt idx="1">
                  <c:v>31</c:v>
                </c:pt>
                <c:pt idx="2">
                  <c:v>48</c:v>
                </c:pt>
                <c:pt idx="3">
                  <c:v>63</c:v>
                </c:pt>
                <c:pt idx="4">
                  <c:v>80</c:v>
                </c:pt>
                <c:pt idx="5">
                  <c:v>95</c:v>
                </c:pt>
                <c:pt idx="6">
                  <c:v>112</c:v>
                </c:pt>
                <c:pt idx="7">
                  <c:v>127</c:v>
                </c:pt>
              </c:numCache>
            </c:numRef>
          </c:xVal>
          <c:yVal>
            <c:numRef>
              <c:f>'Chart Data'!$B$2:$B$9</c:f>
              <c:numCache>
                <c:formatCode>0.000000</c:formatCode>
                <c:ptCount val="8"/>
                <c:pt idx="0">
                  <c:v>1641.916522</c:v>
                </c:pt>
                <c:pt idx="1">
                  <c:v>1995.09421</c:v>
                </c:pt>
                <c:pt idx="2">
                  <c:v>2721.561836</c:v>
                </c:pt>
                <c:pt idx="3">
                  <c:v>3238.705963</c:v>
                </c:pt>
                <c:pt idx="4">
                  <c:v>3754.958383</c:v>
                </c:pt>
                <c:pt idx="5">
                  <c:v>4165.499942</c:v>
                </c:pt>
                <c:pt idx="6">
                  <c:v>4534.380999</c:v>
                </c:pt>
                <c:pt idx="7">
                  <c:v>4881.287256</c:v>
                </c:pt>
              </c:numCache>
            </c:numRef>
          </c:yVal>
        </c:ser>
        <c:ser>
          <c:idx val="1"/>
          <c:order val="1"/>
          <c:tx>
            <c:v>Current default all measured repetitions</c:v>
          </c:tx>
          <c:spPr>
            <a:solidFill xmlns:a="http://schemas.openxmlformats.org/drawingml/2006/main">
              <a:srgbClr val="222222"/>
            </a:solidFill>
            <a:ln xmlns:a="http://schemas.openxmlformats.org/drawingml/2006/main" w="0">
              <a:solidFill>
                <a:srgbClr val="222222"/>
              </a:solidFill>
            </a:ln>
          </c:spPr>
          <c:marker>
            <c:symbol val="circle"/>
            <c:size val="4"/>
            <c:spPr>
              <a:solidFill xmlns:a="http://schemas.openxmlformats.org/drawingml/2006/main">
                <a:srgbClr val="222222"/>
              </a:solidFill>
            </c:spPr>
          </c:marker>
          <c:xVal>
            <c:numRef>
              <c:f>'Chart Data'!$C$2:$C$25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Data'!$D$2:$D$25</c:f>
              <c:numCache>
                <c:formatCode>0.000000</c:formatCode>
                <c:ptCount val="24"/>
                <c:pt idx="0">
                  <c:v>1643.776043</c:v>
                </c:pt>
                <c:pt idx="1">
                  <c:v>1640.221189</c:v>
                </c:pt>
                <c:pt idx="2">
                  <c:v>1641.752336</c:v>
                </c:pt>
                <c:pt idx="3">
                  <c:v>2000.850906</c:v>
                </c:pt>
                <c:pt idx="4">
                  <c:v>1992.251654</c:v>
                </c:pt>
                <c:pt idx="5">
                  <c:v>1992.180071</c:v>
                </c:pt>
                <c:pt idx="6">
                  <c:v>2721.903602</c:v>
                </c:pt>
                <c:pt idx="7">
                  <c:v>2719.754045</c:v>
                </c:pt>
                <c:pt idx="8">
                  <c:v>2723.027862</c:v>
                </c:pt>
                <c:pt idx="9">
                  <c:v>3240.964536</c:v>
                </c:pt>
                <c:pt idx="10">
                  <c:v>3239.118169</c:v>
                </c:pt>
                <c:pt idx="11">
                  <c:v>3236.035182</c:v>
                </c:pt>
                <c:pt idx="12">
                  <c:v>3761.359988</c:v>
                </c:pt>
                <c:pt idx="13">
                  <c:v>3755.527427</c:v>
                </c:pt>
                <c:pt idx="14">
                  <c:v>3747.987735</c:v>
                </c:pt>
                <c:pt idx="15">
                  <c:v>4167.990066</c:v>
                </c:pt>
                <c:pt idx="16">
                  <c:v>4170.217156</c:v>
                </c:pt>
                <c:pt idx="17">
                  <c:v>4158.292604</c:v>
                </c:pt>
                <c:pt idx="18">
                  <c:v>4535.07452</c:v>
                </c:pt>
                <c:pt idx="19">
                  <c:v>4538.703978</c:v>
                </c:pt>
                <c:pt idx="20">
                  <c:v>4529.364499</c:v>
                </c:pt>
                <c:pt idx="21">
                  <c:v>4888.796932</c:v>
                </c:pt>
                <c:pt idx="22">
                  <c:v>4884.788524</c:v>
                </c:pt>
                <c:pt idx="23">
                  <c:v>4870.276311</c:v>
                </c:pt>
              </c:numCache>
            </c:numRef>
          </c:yVal>
        </c:ser>
        <c:ser>
          <c:idx val="2"/>
          <c:order val="2"/>
          <c:tx>
            <c:v>Manual matched set mean</c:v>
          </c:tx>
          <c:spPr>
            <a:solidFill xmlns:a="http://schemas.openxmlformats.org/drawingml/2006/main">
              <a:srgbClr val="3D8DFF"/>
            </a:solidFill>
            <a:ln xmlns:a="http://schemas.openxmlformats.org/drawingml/2006/main" w="19050">
              <a:solidFill>
                <a:srgbClr val="3D8DFF"/>
              </a:solidFill>
            </a:ln>
          </c:spPr>
          <c:marker>
            <c:symbol val="none"/>
            <c:size val="2"/>
          </c:marker>
          <c:xVal>
            <c:numRef>
              <c:f>'Chart Data'!$E$2:$E$9</c:f>
              <c:numCache>
                <c:formatCode>General</c:formatCode>
                <c:ptCount val="8"/>
                <c:pt idx="0">
                  <c:v>24</c:v>
                </c:pt>
                <c:pt idx="1">
                  <c:v>31</c:v>
                </c:pt>
                <c:pt idx="2">
                  <c:v>48</c:v>
                </c:pt>
                <c:pt idx="3">
                  <c:v>63</c:v>
                </c:pt>
                <c:pt idx="4">
                  <c:v>80</c:v>
                </c:pt>
                <c:pt idx="5">
                  <c:v>95</c:v>
                </c:pt>
                <c:pt idx="6">
                  <c:v>112</c:v>
                </c:pt>
                <c:pt idx="7">
                  <c:v>127</c:v>
                </c:pt>
              </c:numCache>
            </c:numRef>
          </c:xVal>
          <c:yVal>
            <c:numRef>
              <c:f>'Chart Data'!$F$2:$F$9</c:f>
              <c:numCache>
                <c:formatCode>0.000000</c:formatCode>
                <c:ptCount val="8"/>
                <c:pt idx="0">
                  <c:v>1641.211916</c:v>
                </c:pt>
                <c:pt idx="1">
                  <c:v>1996.726808</c:v>
                </c:pt>
                <c:pt idx="2">
                  <c:v>2721.161601</c:v>
                </c:pt>
                <c:pt idx="3">
                  <c:v>3235.417099</c:v>
                </c:pt>
                <c:pt idx="4">
                  <c:v>3751.589766</c:v>
                </c:pt>
                <c:pt idx="5">
                  <c:v>4153.833454</c:v>
                </c:pt>
                <c:pt idx="6">
                  <c:v>4532.879415</c:v>
                </c:pt>
                <c:pt idx="7">
                  <c:v>4875.049191</c:v>
                </c:pt>
              </c:numCache>
            </c:numRef>
          </c:yVal>
        </c:ser>
        <c:ser>
          <c:idx val="3"/>
          <c:order val="3"/>
          <c:tx>
            <c:v>Manual matched set all measured repetitions</c:v>
          </c:tx>
          <c:spPr>
            <a:solidFill xmlns:a="http://schemas.openxmlformats.org/drawingml/2006/main">
              <a:srgbClr val="3D8DFF"/>
            </a:solidFill>
            <a:ln xmlns:a="http://schemas.openxmlformats.org/drawingml/2006/main" w="0">
              <a:solidFill>
                <a:srgbClr val="3D8DFF"/>
              </a:solidFill>
            </a:ln>
          </c:spPr>
          <c:marker>
            <c:symbol val="diamond"/>
            <c:size val="4"/>
            <c:spPr>
              <a:solidFill xmlns:a="http://schemas.openxmlformats.org/drawingml/2006/main">
                <a:srgbClr val="3D8DFF"/>
              </a:solidFill>
            </c:spPr>
          </c:marker>
          <c:xVal>
            <c:numRef>
              <c:f>'Chart Data'!$G$2:$G$25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Data'!$H$2:$H$25</c:f>
              <c:numCache>
                <c:formatCode>0.000000</c:formatCode>
                <c:ptCount val="24"/>
                <c:pt idx="0">
                  <c:v>1642.506918</c:v>
                </c:pt>
                <c:pt idx="1">
                  <c:v>1639.929288</c:v>
                </c:pt>
                <c:pt idx="2">
                  <c:v>1641.199543</c:v>
                </c:pt>
                <c:pt idx="3">
                  <c:v>2001.437937</c:v>
                </c:pt>
                <c:pt idx="4">
                  <c:v>1992.266818</c:v>
                </c:pt>
                <c:pt idx="5">
                  <c:v>1996.475669</c:v>
                </c:pt>
                <c:pt idx="6">
                  <c:v>2716.472555</c:v>
                </c:pt>
                <c:pt idx="7">
                  <c:v>2723.659561</c:v>
                </c:pt>
                <c:pt idx="8">
                  <c:v>2723.352685</c:v>
                </c:pt>
                <c:pt idx="9">
                  <c:v>3235.630487</c:v>
                </c:pt>
                <c:pt idx="10">
                  <c:v>3238.858464</c:v>
                </c:pt>
                <c:pt idx="11">
                  <c:v>3231.762346</c:v>
                </c:pt>
                <c:pt idx="12">
                  <c:v>3758.00892</c:v>
                </c:pt>
                <c:pt idx="13">
                  <c:v>3752.177551</c:v>
                </c:pt>
                <c:pt idx="14">
                  <c:v>3744.582827</c:v>
                </c:pt>
                <c:pt idx="15">
                  <c:v>4152.225337</c:v>
                </c:pt>
                <c:pt idx="16">
                  <c:v>4159.444432</c:v>
                </c:pt>
                <c:pt idx="17">
                  <c:v>4149.830592</c:v>
                </c:pt>
                <c:pt idx="18">
                  <c:v>4534.065045</c:v>
                </c:pt>
                <c:pt idx="19">
                  <c:v>4537.6535</c:v>
                </c:pt>
                <c:pt idx="20">
                  <c:v>4526.919702</c:v>
                </c:pt>
                <c:pt idx="21">
                  <c:v>4889.705447</c:v>
                </c:pt>
                <c:pt idx="22">
                  <c:v>4868.257886</c:v>
                </c:pt>
                <c:pt idx="23">
                  <c:v>4867.18424</c:v>
                </c:pt>
              </c:numCache>
            </c:numRef>
          </c:yVal>
        </c:ser>
        <c:ser>
          <c:idx val="4"/>
          <c:order val="4"/>
          <c:tx>
            <c:v>Coarse grid mean</c:v>
          </c:tx>
          <c:spPr>
            <a:solidFill xmlns:a="http://schemas.openxmlformats.org/drawingml/2006/main">
              <a:srgbClr val="909AA8"/>
            </a:solidFill>
            <a:ln xmlns:a="http://schemas.openxmlformats.org/drawingml/2006/main" w="19050">
              <a:solidFill>
                <a:srgbClr val="909AA8"/>
              </a:solidFill>
            </a:ln>
          </c:spPr>
          <c:marker>
            <c:symbol val="none"/>
            <c:size val="2"/>
          </c:marker>
          <c:xVal>
            <c:numRef>
              <c:f>'Chart Data'!$I$2:$I$9</c:f>
              <c:numCache>
                <c:formatCode>General</c:formatCode>
                <c:ptCount val="8"/>
                <c:pt idx="0">
                  <c:v>24</c:v>
                </c:pt>
                <c:pt idx="1">
                  <c:v>31</c:v>
                </c:pt>
                <c:pt idx="2">
                  <c:v>48</c:v>
                </c:pt>
                <c:pt idx="3">
                  <c:v>63</c:v>
                </c:pt>
                <c:pt idx="4">
                  <c:v>80</c:v>
                </c:pt>
                <c:pt idx="5">
                  <c:v>95</c:v>
                </c:pt>
                <c:pt idx="6">
                  <c:v>112</c:v>
                </c:pt>
                <c:pt idx="7">
                  <c:v>127</c:v>
                </c:pt>
              </c:numCache>
            </c:numRef>
          </c:xVal>
          <c:yVal>
            <c:numRef>
              <c:f>'Chart Data'!$J$2:$J$9</c:f>
              <c:numCache>
                <c:formatCode>0.000000</c:formatCode>
                <c:ptCount val="8"/>
                <c:pt idx="0">
                  <c:v>1617.185971</c:v>
                </c:pt>
                <c:pt idx="1">
                  <c:v>2003.009671</c:v>
                </c:pt>
                <c:pt idx="2">
                  <c:v>2658.470135</c:v>
                </c:pt>
                <c:pt idx="3">
                  <c:v>3241.273499</c:v>
                </c:pt>
                <c:pt idx="4">
                  <c:v>3621.339874</c:v>
                </c:pt>
                <c:pt idx="5">
                  <c:v>4076.387127</c:v>
                </c:pt>
                <c:pt idx="6">
                  <c:v>4498.318942</c:v>
                </c:pt>
                <c:pt idx="7">
                  <c:v>4867.875204</c:v>
                </c:pt>
              </c:numCache>
            </c:numRef>
          </c:yVal>
        </c:ser>
        <c:ser>
          <c:idx val="5"/>
          <c:order val="5"/>
          <c:tx>
            <c:v>Coarse grid all measured repetitions</c:v>
          </c:tx>
          <c:spPr>
            <a:solidFill xmlns:a="http://schemas.openxmlformats.org/drawingml/2006/main">
              <a:srgbClr val="909AA8"/>
            </a:solidFill>
            <a:ln xmlns:a="http://schemas.openxmlformats.org/drawingml/2006/main" w="0">
              <a:solidFill>
                <a:srgbClr val="909AA8"/>
              </a:solidFill>
            </a:ln>
          </c:spPr>
          <c:marker>
            <c:symbol val="triangle"/>
            <c:size val="4"/>
            <c:spPr>
              <a:solidFill xmlns:a="http://schemas.openxmlformats.org/drawingml/2006/main">
                <a:srgbClr val="909AA8"/>
              </a:solidFill>
            </c:spPr>
          </c:marker>
          <c:xVal>
            <c:numRef>
              <c:f>'Chart Data'!$K$2:$K$25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Data'!$L$2:$L$25</c:f>
              <c:numCache>
                <c:formatCode>0.000000</c:formatCode>
                <c:ptCount val="24"/>
                <c:pt idx="0">
                  <c:v>1616.045091</c:v>
                </c:pt>
                <c:pt idx="1">
                  <c:v>1615.109922</c:v>
                </c:pt>
                <c:pt idx="2">
                  <c:v>1620.402901</c:v>
                </c:pt>
                <c:pt idx="3">
                  <c:v>2000.788052</c:v>
                </c:pt>
                <c:pt idx="4">
                  <c:v>1996.810621</c:v>
                </c:pt>
                <c:pt idx="5">
                  <c:v>2011.43034</c:v>
                </c:pt>
                <c:pt idx="6">
                  <c:v>2655.712552</c:v>
                </c:pt>
                <c:pt idx="7">
                  <c:v>2658.472716</c:v>
                </c:pt>
                <c:pt idx="8">
                  <c:v>2661.225136</c:v>
                </c:pt>
                <c:pt idx="9">
                  <c:v>3249.552741</c:v>
                </c:pt>
                <c:pt idx="10">
                  <c:v>3235.681023</c:v>
                </c:pt>
                <c:pt idx="11">
                  <c:v>3238.586734</c:v>
                </c:pt>
                <c:pt idx="12">
                  <c:v>3629.990076</c:v>
                </c:pt>
                <c:pt idx="13">
                  <c:v>3617.757859</c:v>
                </c:pt>
                <c:pt idx="14">
                  <c:v>3616.271686</c:v>
                </c:pt>
                <c:pt idx="15">
                  <c:v>4094.636539</c:v>
                </c:pt>
                <c:pt idx="16">
                  <c:v>4076.859337</c:v>
                </c:pt>
                <c:pt idx="17">
                  <c:v>4057.665504</c:v>
                </c:pt>
                <c:pt idx="18">
                  <c:v>4494.686888</c:v>
                </c:pt>
                <c:pt idx="19">
                  <c:v>4502.376717</c:v>
                </c:pt>
                <c:pt idx="20">
                  <c:v>4497.893221</c:v>
                </c:pt>
                <c:pt idx="21">
                  <c:v>4879.280349</c:v>
                </c:pt>
                <c:pt idx="22">
                  <c:v>4862.31611</c:v>
                </c:pt>
                <c:pt idx="23">
                  <c:v>4862.029154</c:v>
                </c:pt>
              </c:numCache>
            </c:numRef>
          </c:y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scatterChart>
      <c:valAx>
        <c:axId val="48672768"/>
        <c:scaling>
          <c:orientation val="minMax"/>
          <c:max val="500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majorUnit val="1000"/>
      </c:valAx>
      <c:valAx>
        <c:axId val="48650112"/>
        <c:scaling>
          <c:orientation val="minMax"/>
          <c:max val="130"/>
          <c:min val="20"/>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majorUnit val="20"/>
      </c:valAx>
    </c:plotArea>
    <c:plotVisOnly val="1"/>
  </c:chart>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lineChart>
        <c:grouping val="standard"/>
        <c:varyColors val="0"/>
        <c:ser>
          <c:idx val="0"/>
          <c:order val="0"/>
          <c:tx>
            <c:v>Independent run 1</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Data'!$A$2:$A$4</c:f>
              <c:strCache>
                <c:ptCount val="3"/>
                <c:pt idx="0">
                  <c:v>vLLM default</c:v>
                </c:pt>
                <c:pt idx="1">
                  <c:v>Fixed 32</c:v>
                </c:pt>
                <c:pt idx="2">
                  <c:v>Context budget</c:v>
                </c:pt>
              </c:strCache>
            </c:strRef>
          </c:cat>
          <c:val>
            <c:numRef>
              <c:f>'Chart Data'!$B$2:$B$4</c:f>
              <c:numCache>
                <c:formatCode>0.000000</c:formatCode>
                <c:ptCount val="3"/>
                <c:pt idx="0">
                  <c:v>2.474528</c:v>
                </c:pt>
                <c:pt idx="1">
                  <c:v>2.119759</c:v>
                </c:pt>
                <c:pt idx="2">
                  <c:v>1.980397</c:v>
                </c:pt>
              </c:numCache>
            </c:numRef>
          </c:val>
          <c:smooth val="0"/>
        </c:ser>
        <c:ser>
          <c:idx val="1"/>
          <c:order val="1"/>
          <c:tx>
            <c:v>Independent run 2</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Data'!$C$2:$C$4</c:f>
              <c:strCache>
                <c:ptCount val="3"/>
                <c:pt idx="0">
                  <c:v>vLLM default</c:v>
                </c:pt>
                <c:pt idx="1">
                  <c:v>Fixed 32</c:v>
                </c:pt>
                <c:pt idx="2">
                  <c:v>Context budget</c:v>
                </c:pt>
              </c:strCache>
            </c:strRef>
          </c:cat>
          <c:val>
            <c:numRef>
              <c:f>'Chart Data'!$D$2:$D$4</c:f>
              <c:numCache>
                <c:formatCode>0.000000</c:formatCode>
                <c:ptCount val="3"/>
                <c:pt idx="0">
                  <c:v>2.692156</c:v>
                </c:pt>
                <c:pt idx="1">
                  <c:v>2.210569</c:v>
                </c:pt>
                <c:pt idx="2">
                  <c:v>2.045659</c:v>
                </c:pt>
              </c:numCache>
            </c:numRef>
          </c:val>
          <c:smooth val="0"/>
        </c:ser>
        <c:ser>
          <c:idx val="2"/>
          <c:order val="2"/>
          <c:tx>
            <c:v>Independent run 3</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Data'!$E$2:$E$4</c:f>
              <c:strCache>
                <c:ptCount val="3"/>
                <c:pt idx="0">
                  <c:v>vLLM default</c:v>
                </c:pt>
                <c:pt idx="1">
                  <c:v>Fixed 32</c:v>
                </c:pt>
                <c:pt idx="2">
                  <c:v>Context budget</c:v>
                </c:pt>
              </c:strCache>
            </c:strRef>
          </c:cat>
          <c:val>
            <c:numRef>
              <c:f>'Chart Data'!$F$2:$F$4</c:f>
              <c:numCache>
                <c:formatCode>0.000000</c:formatCode>
                <c:ptCount val="3"/>
                <c:pt idx="0">
                  <c:v>2.596512</c:v>
                </c:pt>
                <c:pt idx="1">
                  <c:v>2.275168</c:v>
                </c:pt>
                <c:pt idx="2">
                  <c:v>2.013751</c:v>
                </c:pt>
              </c:numCache>
            </c:numRef>
          </c:val>
          <c:smooth val="0"/>
        </c:ser>
        <c:ser>
          <c:idx val="3"/>
          <c:order val="3"/>
          <c:tx>
            <c:v>Mean</c:v>
          </c:tx>
          <c:spPr>
            <a:solidFill xmlns:a="http://schemas.openxmlformats.org/drawingml/2006/main">
              <a:srgbClr val="3D8DFF"/>
            </a:solidFill>
            <a:ln xmlns:a="http://schemas.openxmlformats.org/drawingml/2006/main" w="0">
              <a:solidFill>
                <a:srgbClr val="3D8DFF"/>
              </a:solidFill>
            </a:ln>
          </c:spPr>
          <c:marker>
            <c:symbol val="diamond"/>
            <c:size val="8"/>
            <c:spPr>
              <a:solidFill xmlns:a="http://schemas.openxmlformats.org/drawingml/2006/main">
                <a:srgbClr val="3D8DFF"/>
              </a:solidFill>
            </c:spPr>
          </c:marker>
          <c:cat>
            <c:strRef>
              <c:f>'Chart Data'!$G$2:$G$4</c:f>
              <c:strCache>
                <c:ptCount val="3"/>
                <c:pt idx="0">
                  <c:v>vLLM default</c:v>
                </c:pt>
                <c:pt idx="1">
                  <c:v>Fixed 32</c:v>
                </c:pt>
                <c:pt idx="2">
                  <c:v>Context budget</c:v>
                </c:pt>
              </c:strCache>
            </c:strRef>
          </c:cat>
          <c:val>
            <c:numRef>
              <c:f>'Chart Data'!$H$2:$H$4</c:f>
              <c:numCache>
                <c:formatCode>0.000000</c:formatCode>
                <c:ptCount val="3"/>
                <c:pt idx="0">
                  <c:v>2.587732</c:v>
                </c:pt>
                <c:pt idx="1">
                  <c:v>2.201832</c:v>
                </c:pt>
                <c:pt idx="2">
                  <c:v>2.013269</c:v>
                </c:pt>
              </c:numCache>
            </c:numRef>
          </c:val>
          <c:smooth val="0"/>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Helvetica Neue"/>
                <a:ea typeface="Helvetica Neue"/>
                <a:cs typeface="Helvetica Neue"/>
              </a:defRPr>
            </a:pPr>
          </a:p>
        </c:txPr>
        <c:crossAx val="48672768"/>
      </c:catAx>
      <c:valAx>
        <c:axId val="48672768"/>
        <c:scaling>
          <c:orientation val="minMax"/>
          <c:max val="4"/>
          <c:min val="0"/>
        </c:scaling>
        <c:delete val="0"/>
        <c:axPos val="l"/>
        <c:majorGridlines>
          <c:spPr>
            <a:ln xmlns:a="http://schemas.openxmlformats.org/drawingml/2006/main" w="6668">
              <a:solidFill>
                <a:srgbClr val="DDDDDD"/>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Helvetica Neue"/>
                <a:ea typeface="Helvetica Neue"/>
                <a:cs typeface="Helvetica Neue"/>
              </a:defRPr>
            </a:pPr>
          </a:p>
        </c:txPr>
        <c:crossAx val="48650112"/>
        <c:crossBetween val="between"/>
        <c:majorUnit val="1"/>
      </c:valAx>
    </c:plotArea>
    <c:plotVisOnly val="1"/>
  </c:chart>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lineChart>
        <c:grouping val="standard"/>
        <c:varyColors val="0"/>
        <c:ser>
          <c:idx val="0"/>
          <c:order val="0"/>
          <c:tx>
            <c:v>Independent run 1</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Data'!$A$2:$A$4</c:f>
              <c:strCache>
                <c:ptCount val="3"/>
                <c:pt idx="0">
                  <c:v>vLLM default</c:v>
                </c:pt>
                <c:pt idx="1">
                  <c:v>Fixed 32</c:v>
                </c:pt>
                <c:pt idx="2">
                  <c:v>Context budget</c:v>
                </c:pt>
              </c:strCache>
            </c:strRef>
          </c:cat>
          <c:val>
            <c:numRef>
              <c:f>'Chart Data'!$B$2:$B$4</c:f>
              <c:numCache>
                <c:formatCode>0.000000</c:formatCode>
                <c:ptCount val="3"/>
                <c:pt idx="0">
                  <c:v>745.269584</c:v>
                </c:pt>
                <c:pt idx="1">
                  <c:v>644.74269</c:v>
                </c:pt>
                <c:pt idx="2">
                  <c:v>602.354447</c:v>
                </c:pt>
              </c:numCache>
            </c:numRef>
          </c:val>
          <c:smooth val="0"/>
        </c:ser>
        <c:ser>
          <c:idx val="1"/>
          <c:order val="1"/>
          <c:tx>
            <c:v>Independent run 2</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Data'!$C$2:$C$4</c:f>
              <c:strCache>
                <c:ptCount val="3"/>
                <c:pt idx="0">
                  <c:v>vLLM default</c:v>
                </c:pt>
                <c:pt idx="1">
                  <c:v>Fixed 32</c:v>
                </c:pt>
                <c:pt idx="2">
                  <c:v>Context budget</c:v>
                </c:pt>
              </c:strCache>
            </c:strRef>
          </c:cat>
          <c:val>
            <c:numRef>
              <c:f>'Chart Data'!$D$2:$D$4</c:f>
              <c:numCache>
                <c:formatCode>0.000000</c:formatCode>
                <c:ptCount val="3"/>
                <c:pt idx="0">
                  <c:v>787.647926</c:v>
                </c:pt>
                <c:pt idx="1">
                  <c:v>679.086766</c:v>
                </c:pt>
                <c:pt idx="2">
                  <c:v>616.104375</c:v>
                </c:pt>
              </c:numCache>
            </c:numRef>
          </c:val>
          <c:smooth val="0"/>
        </c:ser>
        <c:ser>
          <c:idx val="2"/>
          <c:order val="2"/>
          <c:tx>
            <c:v>Independent run 3</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Data'!$E$2:$E$4</c:f>
              <c:strCache>
                <c:ptCount val="3"/>
                <c:pt idx="0">
                  <c:v>vLLM default</c:v>
                </c:pt>
                <c:pt idx="1">
                  <c:v>Fixed 32</c:v>
                </c:pt>
                <c:pt idx="2">
                  <c:v>Context budget</c:v>
                </c:pt>
              </c:strCache>
            </c:strRef>
          </c:cat>
          <c:val>
            <c:numRef>
              <c:f>'Chart Data'!$F$2:$F$4</c:f>
              <c:numCache>
                <c:formatCode>0.000000</c:formatCode>
                <c:ptCount val="3"/>
                <c:pt idx="0">
                  <c:v>766.969601</c:v>
                </c:pt>
                <c:pt idx="1">
                  <c:v>672.049502</c:v>
                </c:pt>
                <c:pt idx="2">
                  <c:v>606.494352</c:v>
                </c:pt>
              </c:numCache>
            </c:numRef>
          </c:val>
          <c:smooth val="0"/>
        </c:ser>
        <c:ser>
          <c:idx val="3"/>
          <c:order val="3"/>
          <c:tx>
            <c:v>Mean</c:v>
          </c:tx>
          <c:spPr>
            <a:solidFill xmlns:a="http://schemas.openxmlformats.org/drawingml/2006/main">
              <a:srgbClr val="3D8DFF"/>
            </a:solidFill>
            <a:ln xmlns:a="http://schemas.openxmlformats.org/drawingml/2006/main" w="0">
              <a:solidFill>
                <a:srgbClr val="3D8DFF"/>
              </a:solidFill>
            </a:ln>
          </c:spPr>
          <c:marker>
            <c:symbol val="diamond"/>
            <c:size val="8"/>
            <c:spPr>
              <a:solidFill xmlns:a="http://schemas.openxmlformats.org/drawingml/2006/main">
                <a:srgbClr val="3D8DFF"/>
              </a:solidFill>
            </c:spPr>
          </c:marker>
          <c:cat>
            <c:strRef>
              <c:f>'Chart Data'!$G$2:$G$4</c:f>
              <c:strCache>
                <c:ptCount val="3"/>
                <c:pt idx="0">
                  <c:v>vLLM default</c:v>
                </c:pt>
                <c:pt idx="1">
                  <c:v>Fixed 32</c:v>
                </c:pt>
                <c:pt idx="2">
                  <c:v>Context budget</c:v>
                </c:pt>
              </c:strCache>
            </c:strRef>
          </c:cat>
          <c:val>
            <c:numRef>
              <c:f>'Chart Data'!$H$2:$H$4</c:f>
              <c:numCache>
                <c:formatCode>0.000000</c:formatCode>
                <c:ptCount val="3"/>
                <c:pt idx="0">
                  <c:v>766.629037</c:v>
                </c:pt>
                <c:pt idx="1">
                  <c:v>665.292986</c:v>
                </c:pt>
                <c:pt idx="2">
                  <c:v>608.317725</c:v>
                </c:pt>
              </c:numCache>
            </c:numRef>
          </c:val>
          <c:smooth val="0"/>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Helvetica Neue"/>
                <a:ea typeface="Helvetica Neue"/>
                <a:cs typeface="Helvetica Neue"/>
              </a:defRPr>
            </a:pPr>
          </a:p>
        </c:txPr>
        <c:crossAx val="48672768"/>
      </c:catAx>
      <c:valAx>
        <c:axId val="48672768"/>
        <c:scaling>
          <c:orientation val="minMax"/>
          <c:max val="100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Helvetica Neue"/>
                <a:ea typeface="Helvetica Neue"/>
                <a:cs typeface="Helvetica Neue"/>
              </a:defRPr>
            </a:pPr>
          </a:p>
        </c:txPr>
        <c:crossAx val="48650112"/>
        <c:crossBetween val="between"/>
        <c:majorUnit val="250"/>
      </c:valAx>
    </c:plotArea>
    <c:plotVisOnly val="1"/>
  </c:chart>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lineChart>
        <c:grouping val="standard"/>
        <c:varyColors val="0"/>
        <c:ser>
          <c:idx val="0"/>
          <c:order val="0"/>
          <c:tx>
            <c:v>Independent run 1</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Data'!$A$2:$A$4</c:f>
              <c:strCache>
                <c:ptCount val="3"/>
                <c:pt idx="0">
                  <c:v>vLLM default</c:v>
                </c:pt>
                <c:pt idx="1">
                  <c:v>Fixed 32</c:v>
                </c:pt>
                <c:pt idx="2">
                  <c:v>Context budget</c:v>
                </c:pt>
              </c:strCache>
            </c:strRef>
          </c:cat>
          <c:val>
            <c:numRef>
              <c:f>'Chart Data'!$B$2:$B$4</c:f>
              <c:numCache>
                <c:formatCode>0.000000</c:formatCode>
                <c:ptCount val="3"/>
                <c:pt idx="0">
                  <c:v>16.419807</c:v>
                </c:pt>
                <c:pt idx="1">
                  <c:v>16.09527</c:v>
                </c:pt>
                <c:pt idx="2">
                  <c:v>24.324803</c:v>
                </c:pt>
              </c:numCache>
            </c:numRef>
          </c:val>
          <c:smooth val="0"/>
        </c:ser>
        <c:ser>
          <c:idx val="1"/>
          <c:order val="1"/>
          <c:tx>
            <c:v>Independent run 2</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Data'!$C$2:$C$4</c:f>
              <c:strCache>
                <c:ptCount val="3"/>
                <c:pt idx="0">
                  <c:v>vLLM default</c:v>
                </c:pt>
                <c:pt idx="1">
                  <c:v>Fixed 32</c:v>
                </c:pt>
                <c:pt idx="2">
                  <c:v>Context budget</c:v>
                </c:pt>
              </c:strCache>
            </c:strRef>
          </c:cat>
          <c:val>
            <c:numRef>
              <c:f>'Chart Data'!$D$2:$D$4</c:f>
              <c:numCache>
                <c:formatCode>0.000000</c:formatCode>
                <c:ptCount val="3"/>
                <c:pt idx="0">
                  <c:v>12.793509</c:v>
                </c:pt>
                <c:pt idx="1">
                  <c:v>15.458788</c:v>
                </c:pt>
                <c:pt idx="2">
                  <c:v>24.316188</c:v>
                </c:pt>
              </c:numCache>
            </c:numRef>
          </c:val>
          <c:smooth val="0"/>
        </c:ser>
        <c:ser>
          <c:idx val="2"/>
          <c:order val="2"/>
          <c:tx>
            <c:v>Independent run 3</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Data'!$E$2:$E$4</c:f>
              <c:strCache>
                <c:ptCount val="3"/>
                <c:pt idx="0">
                  <c:v>vLLM default</c:v>
                </c:pt>
                <c:pt idx="1">
                  <c:v>Fixed 32</c:v>
                </c:pt>
                <c:pt idx="2">
                  <c:v>Context budget</c:v>
                </c:pt>
              </c:strCache>
            </c:strRef>
          </c:cat>
          <c:val>
            <c:numRef>
              <c:f>'Chart Data'!$F$2:$F$4</c:f>
              <c:numCache>
                <c:formatCode>0.000000</c:formatCode>
                <c:ptCount val="3"/>
                <c:pt idx="0">
                  <c:v>11.900901</c:v>
                </c:pt>
                <c:pt idx="1">
                  <c:v>13.413897</c:v>
                </c:pt>
                <c:pt idx="2">
                  <c:v>23.042388</c:v>
                </c:pt>
              </c:numCache>
            </c:numRef>
          </c:val>
          <c:smooth val="0"/>
        </c:ser>
        <c:ser>
          <c:idx val="3"/>
          <c:order val="3"/>
          <c:tx>
            <c:v>Mean</c:v>
          </c:tx>
          <c:spPr>
            <a:solidFill xmlns:a="http://schemas.openxmlformats.org/drawingml/2006/main">
              <a:srgbClr val="3D8DFF"/>
            </a:solidFill>
            <a:ln xmlns:a="http://schemas.openxmlformats.org/drawingml/2006/main" w="0">
              <a:solidFill>
                <a:srgbClr val="3D8DFF"/>
              </a:solidFill>
            </a:ln>
          </c:spPr>
          <c:marker>
            <c:symbol val="diamond"/>
            <c:size val="8"/>
            <c:spPr>
              <a:solidFill xmlns:a="http://schemas.openxmlformats.org/drawingml/2006/main">
                <a:srgbClr val="3D8DFF"/>
              </a:solidFill>
            </c:spPr>
          </c:marker>
          <c:cat>
            <c:strRef>
              <c:f>'Chart Data'!$G$2:$G$4</c:f>
              <c:strCache>
                <c:ptCount val="3"/>
                <c:pt idx="0">
                  <c:v>vLLM default</c:v>
                </c:pt>
                <c:pt idx="1">
                  <c:v>Fixed 32</c:v>
                </c:pt>
                <c:pt idx="2">
                  <c:v>Context budget</c:v>
                </c:pt>
              </c:strCache>
            </c:strRef>
          </c:cat>
          <c:val>
            <c:numRef>
              <c:f>'Chart Data'!$H$2:$H$4</c:f>
              <c:numCache>
                <c:formatCode>0.000000</c:formatCode>
                <c:ptCount val="3"/>
                <c:pt idx="0">
                  <c:v>13.704739</c:v>
                </c:pt>
                <c:pt idx="1">
                  <c:v>14.989318</c:v>
                </c:pt>
                <c:pt idx="2">
                  <c:v>23.89446</c:v>
                </c:pt>
              </c:numCache>
            </c:numRef>
          </c:val>
          <c:smooth val="0"/>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Helvetica Neue"/>
                <a:ea typeface="Helvetica Neue"/>
                <a:cs typeface="Helvetica Neue"/>
              </a:defRPr>
            </a:pPr>
          </a:p>
        </c:txPr>
        <c:crossAx val="48672768"/>
      </c:catAx>
      <c:valAx>
        <c:axId val="48672768"/>
        <c:scaling>
          <c:orientation val="minMax"/>
          <c:max val="3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Helvetica Neue"/>
                <a:ea typeface="Helvetica Neue"/>
                <a:cs typeface="Helvetica Neue"/>
              </a:defRPr>
            </a:pPr>
          </a:p>
        </c:txPr>
        <c:crossAx val="48650112"/>
        <c:crossBetween val="between"/>
        <c:majorUnit val="10"/>
      </c:valAx>
    </c:plotArea>
    <c:plotVisOnly val="1"/>
  </c:chart>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plotArea>
      <c:lineChart>
        <c:grouping val="standard"/>
        <c:varyColors val="0"/>
        <c:ser>
          <c:idx val="0"/>
          <c:order val="0"/>
          <c:tx>
            <c:v>Independent run 1</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Data'!$A$2:$A$4</c:f>
              <c:strCache>
                <c:ptCount val="3"/>
                <c:pt idx="0">
                  <c:v>vLLM default</c:v>
                </c:pt>
                <c:pt idx="1">
                  <c:v>Fixed 32</c:v>
                </c:pt>
                <c:pt idx="2">
                  <c:v>Context budget</c:v>
                </c:pt>
              </c:strCache>
            </c:strRef>
          </c:cat>
          <c:val>
            <c:numRef>
              <c:f>'Chart Data'!$B$2:$B$4</c:f>
              <c:numCache>
                <c:formatCode>0.000000</c:formatCode>
                <c:ptCount val="3"/>
                <c:pt idx="0">
                  <c:v>99.985437</c:v>
                </c:pt>
                <c:pt idx="1">
                  <c:v>99.508403</c:v>
                </c:pt>
                <c:pt idx="2">
                  <c:v>99.484252</c:v>
                </c:pt>
              </c:numCache>
            </c:numRef>
          </c:val>
          <c:smooth val="0"/>
        </c:ser>
        <c:ser>
          <c:idx val="1"/>
          <c:order val="1"/>
          <c:tx>
            <c:v>Independent run 2</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Data'!$C$2:$C$4</c:f>
              <c:strCache>
                <c:ptCount val="3"/>
                <c:pt idx="0">
                  <c:v>vLLM default</c:v>
                </c:pt>
                <c:pt idx="1">
                  <c:v>Fixed 32</c:v>
                </c:pt>
                <c:pt idx="2">
                  <c:v>Context budget</c:v>
                </c:pt>
              </c:strCache>
            </c:strRef>
          </c:cat>
          <c:val>
            <c:numRef>
              <c:f>'Chart Data'!$D$2:$D$4</c:f>
              <c:numCache>
                <c:formatCode>0.000000</c:formatCode>
                <c:ptCount val="3"/>
                <c:pt idx="0">
                  <c:v>99.307692</c:v>
                </c:pt>
                <c:pt idx="1">
                  <c:v>99.99115</c:v>
                </c:pt>
                <c:pt idx="2">
                  <c:v>99.879518</c:v>
                </c:pt>
              </c:numCache>
            </c:numRef>
          </c:val>
          <c:smooth val="0"/>
        </c:ser>
        <c:ser>
          <c:idx val="2"/>
          <c:order val="2"/>
          <c:tx>
            <c:v>Independent run 3</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Data'!$E$2:$E$4</c:f>
              <c:strCache>
                <c:ptCount val="3"/>
                <c:pt idx="0">
                  <c:v>vLLM default</c:v>
                </c:pt>
                <c:pt idx="1">
                  <c:v>Fixed 32</c:v>
                </c:pt>
                <c:pt idx="2">
                  <c:v>Context budget</c:v>
                </c:pt>
              </c:strCache>
            </c:strRef>
          </c:cat>
          <c:val>
            <c:numRef>
              <c:f>'Chart Data'!$F$2:$F$4</c:f>
              <c:numCache>
                <c:formatCode>0.000000</c:formatCode>
                <c:ptCount val="3"/>
                <c:pt idx="0">
                  <c:v>99.085</c:v>
                </c:pt>
                <c:pt idx="1">
                  <c:v>99.517544</c:v>
                </c:pt>
                <c:pt idx="2">
                  <c:v>99.980237</c:v>
                </c:pt>
              </c:numCache>
            </c:numRef>
          </c:val>
          <c:smooth val="0"/>
        </c:ser>
        <c:ser>
          <c:idx val="3"/>
          <c:order val="3"/>
          <c:tx>
            <c:v>Mean</c:v>
          </c:tx>
          <c:spPr>
            <a:solidFill xmlns:a="http://schemas.openxmlformats.org/drawingml/2006/main">
              <a:srgbClr val="3D8DFF"/>
            </a:solidFill>
            <a:ln xmlns:a="http://schemas.openxmlformats.org/drawingml/2006/main" w="0">
              <a:solidFill>
                <a:srgbClr val="3D8DFF"/>
              </a:solidFill>
            </a:ln>
          </c:spPr>
          <c:marker>
            <c:symbol val="diamond"/>
            <c:size val="8"/>
            <c:spPr>
              <a:solidFill xmlns:a="http://schemas.openxmlformats.org/drawingml/2006/main">
                <a:srgbClr val="3D8DFF"/>
              </a:solidFill>
            </c:spPr>
          </c:marker>
          <c:cat>
            <c:strRef>
              <c:f>'Chart Data'!$G$2:$G$4</c:f>
              <c:strCache>
                <c:ptCount val="3"/>
                <c:pt idx="0">
                  <c:v>vLLM default</c:v>
                </c:pt>
                <c:pt idx="1">
                  <c:v>Fixed 32</c:v>
                </c:pt>
                <c:pt idx="2">
                  <c:v>Context budget</c:v>
                </c:pt>
              </c:strCache>
            </c:strRef>
          </c:cat>
          <c:val>
            <c:numRef>
              <c:f>'Chart Data'!$H$2:$H$4</c:f>
              <c:numCache>
                <c:formatCode>0.000000</c:formatCode>
                <c:ptCount val="3"/>
                <c:pt idx="0">
                  <c:v>99.459376</c:v>
                </c:pt>
                <c:pt idx="1">
                  <c:v>99.672366</c:v>
                </c:pt>
                <c:pt idx="2">
                  <c:v>99.781336</c:v>
                </c:pt>
              </c:numCache>
            </c:numRef>
          </c:val>
          <c:smooth val="0"/>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Helvetica Neue"/>
                <a:ea typeface="Helvetica Neue"/>
                <a:cs typeface="Helvetica Neue"/>
              </a:defRPr>
            </a:pPr>
          </a:p>
        </c:txPr>
        <c:crossAx val="48672768"/>
      </c:catAx>
      <c:valAx>
        <c:axId val="48672768"/>
        <c:scaling>
          <c:orientation val="minMax"/>
          <c:max val="105"/>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Helvetica Neue"/>
                <a:ea typeface="Helvetica Neue"/>
                <a:cs typeface="Helvetica Neue"/>
              </a:defRPr>
            </a:pPr>
          </a:p>
        </c:txPr>
        <c:crossAx val="48650112"/>
        <c:crossBetween val="between"/>
        <c:majorUnit val="25"/>
      </c:valAx>
    </c:plotArea>
    <c:plotVisOnly val="1"/>
  </c:chart>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C47CD47D-0812-5F5E-8AA0-B4316F994F47}"/>
              </a:ext>
            </a:extLst>
          </p:cNvPr>
          <p:cNvSpPr>
            <a:spLocks xmlns:a="http://schemas.openxmlformats.org/drawingml/2006/main" noGrp="1"/>
          </p:cNvSpPr>
          <p:nvPr>
            <p:ph type="ctrTitle" idx="0"/>
          </p:nvPr>
        </p:nvSpPr>
        <p:spPr>
          <a:xfrm xmlns:a="http://schemas.openxmlformats.org/drawingml/2006/main">
            <a:off x="390525" y="1657350"/>
            <a:ext cx="11239500" cy="1809750"/>
          </a:xfrm>
        </p:spPr>
        <p:txBody>
          <a:bodyPr xmlns:a="http://schemas.openxmlformats.org/drawingml/2006/main" lIns="0" tIns="0" rIns="0" bIns="0" anchor="t">
            <a:noAutofit/>
          </a:bodyPr>
          <a:lstStyle xmlns:a="http://schemas.openxmlformats.org/drawingml/2006/main"/>
          <a:p xmlns:a="http://schemas.openxmlformats.org/drawingml/2006/main">
            <a:pPr algn="l">
              <a:buNone/>
              <a:defRPr sz="6150" b="0">
                <a:solidFill>
                  <a:srgbClr val="000000"/>
                </a:solidFill>
                <a:latin typeface="Helvetica Neue"/>
                <a:ea typeface="Helvetica Neue"/>
                <a:cs typeface="Helvetica Neue"/>
              </a:defRPr>
            </a:pPr>
            <a:r>
              <a:rPr sz="6150" b="0">
                <a:solidFill>
                  <a:srgbClr val="000000"/>
                </a:solidFill>
                <a:latin typeface="Helvetica Neue"/>
                <a:ea typeface="Helvetica Neue"/>
                <a:cs typeface="Helvetica Neue"/>
              </a:rPr>
              <a:t>Inference</a:t>
            </a:r>
          </a:p>
          <a:p xmlns:a="http://schemas.openxmlformats.org/drawingml/2006/main">
            <a:pPr algn="l">
              <a:buNone/>
              <a:defRPr sz="6150" b="0">
                <a:solidFill>
                  <a:srgbClr val="000000"/>
                </a:solidFill>
                <a:latin typeface="Helvetica Neue"/>
                <a:ea typeface="Helvetica Neue"/>
                <a:cs typeface="Helvetica Neue"/>
              </a:defRPr>
            </a:pPr>
            <a:r>
              <a:rPr sz="6150" b="0">
                <a:solidFill>
                  <a:srgbClr val="000000"/>
                </a:solidFill>
                <a:latin typeface="Helvetica Neue"/>
                <a:ea typeface="Helvetica Neue"/>
                <a:cs typeface="Helvetica Neue"/>
              </a:rPr>
              <a:t>Optimization</a:t>
            </a:r>
          </a:p>
        </p:txBody>
      </p:sp>
      <p:sp>
        <p:nvSpPr>
          <p:cNvPr id="5" name="Subtitle 4">
            <a:extLst xmlns:a="http://schemas.openxmlformats.org/drawingml/2006/main">
              <a:ext uri="{FF2B5EF4-FFF2-40B4-BE49-F238E27FC236}">
                <a16:creationId xmlns:a16="http://schemas.microsoft.com/office/drawing/2014/main" id="{283B85AD-626B-46B7-0C36-31F5BABDE10D}"/>
              </a:ext>
            </a:extLst>
          </p:cNvPr>
          <p:cNvSpPr>
            <a:spLocks xmlns:a="http://schemas.openxmlformats.org/drawingml/2006/main" noGrp="1"/>
          </p:cNvSpPr>
          <p:nvPr>
            <p:ph type="subTitle" idx="1"/>
          </p:nvPr>
        </p:nvSpPr>
        <p:spPr>
          <a:xfrm xmlns:a="http://schemas.openxmlformats.org/drawingml/2006/main">
            <a:off x="390525" y="3619500"/>
            <a:ext cx="10953750" cy="1238250"/>
          </a:xfrm>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0">
                <a:solidFill>
                  <a:srgbClr val="000000"/>
                </a:solidFill>
                <a:latin typeface="Helvetica Neue"/>
                <a:ea typeface="Helvetica Neue"/>
                <a:cs typeface="Helvetica Neue"/>
              </a:defRPr>
            </a:pPr>
            <a:r>
              <a:rPr sz="3000" b="0">
                <a:solidFill>
                  <a:srgbClr val="000000"/>
                </a:solidFill>
                <a:latin typeface="Helvetica Neue"/>
                <a:ea typeface="Helvetica Neue"/>
                <a:cs typeface="Helvetica Neue"/>
              </a:rPr>
              <a:t>More useful GPU work</a:t>
            </a:r>
          </a:p>
          <a:p xmlns:a="http://schemas.openxmlformats.org/drawingml/2006/main">
            <a:pPr algn="l">
              <a:lnSpc>
                <a:spcPct val="100000"/>
              </a:lnSpc>
              <a:buNone/>
              <a:defRPr sz="3000" b="0">
                <a:solidFill>
                  <a:srgbClr val="000000"/>
                </a:solidFill>
                <a:latin typeface="Helvetica Neue"/>
                <a:ea typeface="Helvetica Neue"/>
                <a:cs typeface="Helvetica Neue"/>
              </a:defRPr>
            </a:pPr>
            <a:r>
              <a:rPr sz="3000" b="0">
                <a:solidFill>
                  <a:srgbClr val="000000"/>
                </a:solidFill>
                <a:latin typeface="Helvetica Neue"/>
                <a:ea typeface="Helvetica Neue"/>
                <a:cs typeface="Helvetica Neue"/>
              </a:rPr>
              <a:t>through inference scheduling</a:t>
            </a:r>
          </a:p>
        </p:txBody>
      </p:sp>
      <p:sp>
        <p:nvSpPr>
          <p:cNvPr id="6" name="Subtitle 4">
            <a:extLst xmlns:a="http://schemas.openxmlformats.org/drawingml/2006/main">
              <a:ext uri="{FF2B5EF4-FFF2-40B4-BE49-F238E27FC236}">
                <a16:creationId xmlns:a16="http://schemas.microsoft.com/office/drawing/2014/main" id="{543BAB87-2ABE-9D84-8400-3B5ABA08B3C2}"/>
              </a:ext>
            </a:extLst>
          </p:cNvPr>
          <p:cNvSpPr>
            <a:spLocks xmlns:a="http://schemas.openxmlformats.org/drawingml/2006/main" noGrp="1"/>
          </p:cNvSpPr>
          <p:nvPr/>
        </p:nvSpPr>
        <p:spPr>
          <a:xfrm xmlns:a="http://schemas.openxmlformats.org/drawingml/2006/main">
            <a:off x="390525" y="390525"/>
            <a:ext cx="10477500" cy="428625"/>
          </a:xfrm>
          <a:prstGeom xmlns:a="http://schemas.openxmlformats.org/drawingml/2006/main" prst="rect">
            <a:avLst/>
          </a:prstGeom>
        </p:spPr>
        <p:txBody>
          <a:bodyPr xmlns:a="http://schemas.openxmlformats.org/drawingml/2006/main" vert="horz" lIns="0" tIns="0" rIns="0" bIns="0" anchor="t">
            <a:noAutofit/>
          </a:bodyPr>
          <a:lstStyle xmlns:a="http://schemas.openxmlformats.org/drawingml/2006/main">
            <a:lvl1pPr marL="0" indent="0" algn="l" defTabSz="914400">
              <a:lnSpc>
                <a:spcPct val="90000"/>
              </a:lnSpc>
              <a:spcBef>
                <a:spcPts val="1000"/>
              </a:spcBef>
              <a:buFont typeface="Arial"/>
              <a:buNone/>
              <a:defRPr sz="2400" kern="1200">
                <a:solidFill>
                  <a:schemeClr val="tx1"/>
                </a:solidFill>
                <a:latin typeface="+mn-lt"/>
                <a:ea typeface="+mn-lt"/>
                <a:cs typeface="+mn-lt"/>
              </a:defRPr>
            </a:lvl1pPr>
            <a:lvl2pPr marL="457200" indent="0" algn="ctr" defTabSz="914400">
              <a:lnSpc>
                <a:spcPct val="90000"/>
              </a:lnSpc>
              <a:spcBef>
                <a:spcPts val="500"/>
              </a:spcBef>
              <a:buFont typeface="Arial"/>
              <a:buNone/>
              <a:defRPr sz="2000" kern="1200">
                <a:solidFill>
                  <a:schemeClr val="tx1"/>
                </a:solidFill>
                <a:latin typeface="+mn-lt"/>
                <a:ea typeface="+mn-lt"/>
                <a:cs typeface="+mn-lt"/>
              </a:defRPr>
            </a:lvl2pPr>
            <a:lvl3pPr marL="914400" indent="0" algn="ctr" defTabSz="914400">
              <a:lnSpc>
                <a:spcPct val="90000"/>
              </a:lnSpc>
              <a:spcBef>
                <a:spcPts val="500"/>
              </a:spcBef>
              <a:buFont typeface="Arial"/>
              <a:buNone/>
              <a:defRPr sz="1800" kern="1200">
                <a:solidFill>
                  <a:schemeClr val="tx1"/>
                </a:solidFill>
                <a:latin typeface="+mn-lt"/>
                <a:ea typeface="+mn-lt"/>
                <a:cs typeface="+mn-lt"/>
              </a:defRPr>
            </a:lvl3pPr>
            <a:lvl4pPr marL="1371600" indent="0" algn="ctr" defTabSz="914400">
              <a:lnSpc>
                <a:spcPct val="90000"/>
              </a:lnSpc>
              <a:spcBef>
                <a:spcPts val="500"/>
              </a:spcBef>
              <a:buFont typeface="Arial"/>
              <a:buNone/>
              <a:defRPr sz="1600" kern="1200">
                <a:solidFill>
                  <a:schemeClr val="tx1"/>
                </a:solidFill>
                <a:latin typeface="+mn-lt"/>
                <a:ea typeface="+mn-lt"/>
                <a:cs typeface="+mn-lt"/>
              </a:defRPr>
            </a:lvl4pPr>
            <a:lvl5pPr marL="1828800" indent="0" algn="ctr" defTabSz="914400">
              <a:lnSpc>
                <a:spcPct val="90000"/>
              </a:lnSpc>
              <a:spcBef>
                <a:spcPts val="500"/>
              </a:spcBef>
              <a:buFont typeface="Arial"/>
              <a:buNone/>
              <a:defRPr sz="1600" kern="1200">
                <a:solidFill>
                  <a:schemeClr val="tx1"/>
                </a:solidFill>
                <a:latin typeface="+mn-lt"/>
                <a:ea typeface="+mn-lt"/>
                <a:cs typeface="+mn-lt"/>
              </a:defRPr>
            </a:lvl5pPr>
            <a:lvl6pPr marL="2286000" indent="0" algn="ctr" defTabSz="914400">
              <a:lnSpc>
                <a:spcPct val="90000"/>
              </a:lnSpc>
              <a:spcBef>
                <a:spcPts val="500"/>
              </a:spcBef>
              <a:buFont typeface="Arial"/>
              <a:buNone/>
              <a:defRPr sz="1600" kern="1200">
                <a:solidFill>
                  <a:schemeClr val="tx1"/>
                </a:solidFill>
                <a:latin typeface="+mn-lt"/>
                <a:ea typeface="+mn-lt"/>
                <a:cs typeface="+mn-lt"/>
              </a:defRPr>
            </a:lvl6pPr>
            <a:lvl7pPr marL="2743200" indent="0" algn="ctr" defTabSz="914400">
              <a:lnSpc>
                <a:spcPct val="90000"/>
              </a:lnSpc>
              <a:spcBef>
                <a:spcPts val="500"/>
              </a:spcBef>
              <a:buFont typeface="Arial"/>
              <a:buNone/>
              <a:defRPr sz="1600" kern="1200">
                <a:solidFill>
                  <a:schemeClr val="tx1"/>
                </a:solidFill>
                <a:latin typeface="+mn-lt"/>
                <a:ea typeface="+mn-lt"/>
                <a:cs typeface="+mn-lt"/>
              </a:defRPr>
            </a:lvl7pPr>
            <a:lvl8pPr marL="3200400" indent="0" algn="ctr" defTabSz="914400">
              <a:lnSpc>
                <a:spcPct val="90000"/>
              </a:lnSpc>
              <a:spcBef>
                <a:spcPts val="500"/>
              </a:spcBef>
              <a:buFont typeface="Arial"/>
              <a:buNone/>
              <a:defRPr sz="1600" kern="1200">
                <a:solidFill>
                  <a:schemeClr val="tx1"/>
                </a:solidFill>
                <a:latin typeface="+mn-lt"/>
                <a:ea typeface="+mn-lt"/>
                <a:cs typeface="+mn-lt"/>
              </a:defRPr>
            </a:lvl8pPr>
            <a:lvl9pPr marL="3657600" indent="0" algn="ctr" defTabSz="914400">
              <a:lnSpc>
                <a:spcPct val="90000"/>
              </a:lnSpc>
              <a:spcBef>
                <a:spcPts val="500"/>
              </a:spcBef>
              <a:buFont typeface="Arial"/>
              <a:buNone/>
              <a:defRPr sz="1600" kern="1200">
                <a:solidFill>
                  <a:schemeClr val="tx1"/>
                </a:solidFill>
                <a:latin typeface="+mn-lt"/>
                <a:ea typeface="+mn-lt"/>
                <a:cs typeface="+mn-lt"/>
              </a:defRPr>
            </a:lvl9pPr>
          </a:lstStyle>
          <a:p xmlns:a="http://schemas.openxmlformats.org/drawingml/2006/main">
            <a:pPr algn="l">
              <a:buNone/>
              <a:defRPr sz="1350" b="0">
                <a:solidFill>
                  <a:srgbClr val="000000"/>
                </a:solidFill>
                <a:latin typeface="Helvetica Neue"/>
                <a:ea typeface="Helvetica Neue"/>
                <a:cs typeface="Helvetica Neue"/>
              </a:defRPr>
            </a:pPr>
            <a:r>
              <a:rPr sz="1350" b="0">
                <a:solidFill>
                  <a:srgbClr val="000000"/>
                </a:solidFill>
                <a:latin typeface="Helvetica Neue"/>
                <a:ea typeface="Helvetica Neue"/>
                <a:cs typeface="Helvetica Neue"/>
              </a:rPr>
              <a:t>RESEARCH PROJECT</a:t>
            </a:r>
          </a:p>
        </p:txBody>
      </p:sp>
      <p:sp>
        <p:nvSpPr>
          <p:cNvPr id="7" name="SaturateLLM text 1">
            <a:extLst xmlns:a="http://schemas.openxmlformats.org/drawingml/2006/main">
              <a:ext uri="{FF2B5EF4-FFF2-40B4-BE49-F238E27FC236}">
                <a16:creationId xmlns:a16="http://schemas.microsoft.com/office/drawing/2014/main" id="{B953246D-7AD4-4CFC-B7E3-0AC62210C0FD}"/>
              </a:ext>
            </a:extLst>
          </p:cNvPr>
          <p:cNvSpPr>
            <a:spLocks xmlns:a="http://schemas.openxmlformats.org/drawingml/2006/main" noGrp="1"/>
          </p:cNvSpPr>
          <p:nvPr/>
        </p:nvSpPr>
        <p:spPr>
          <a:xfrm xmlns:a="http://schemas.openxmlformats.org/drawingml/2006/main">
            <a:off x="393383" y="5362575"/>
            <a:ext cx="11144250" cy="361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Large language models (LLMs) provide the first test bed</a:t>
            </a:r>
          </a:p>
        </p:txBody>
      </p:sp>
      <p:sp>
        <p:nvSpPr>
          <p:cNvPr id="8" name="SaturateLLM text 1">
            <a:extLst xmlns:a="http://schemas.openxmlformats.org/drawingml/2006/main">
              <a:ext uri="{FF2B5EF4-FFF2-40B4-BE49-F238E27FC236}">
                <a16:creationId xmlns:a16="http://schemas.microsoft.com/office/drawing/2014/main" id="{BF686EAB-466A-49BA-8220-640A479A0D72}"/>
              </a:ext>
            </a:extLst>
          </p:cNvPr>
          <p:cNvSpPr>
            <a:spLocks xmlns:a="http://schemas.openxmlformats.org/drawingml/2006/main" noGrp="1"/>
          </p:cNvSpPr>
          <p:nvPr/>
        </p:nvSpPr>
        <p:spPr>
          <a:xfrm xmlns:a="http://schemas.openxmlformats.org/drawingml/2006/main">
            <a:off x="393383" y="6267450"/>
            <a:ext cx="111442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350" b="0">
                <a:solidFill>
                  <a:srgbClr val="000000"/>
                </a:solidFill>
                <a:latin typeface="Helvetica Neue"/>
                <a:ea typeface="Helvetica Neue"/>
                <a:cs typeface="Helvetica Neue"/>
              </a:defRPr>
            </a:pPr>
            <a:r>
              <a:rPr sz="1350" b="0">
                <a:solidFill>
                  <a:srgbClr val="000000"/>
                </a:solidFill>
                <a:latin typeface="Helvetica Neue"/>
                <a:ea typeface="Helvetica Neue"/>
                <a:cs typeface="Helvetica Neue"/>
              </a:rPr>
              <a:t>8 September 2026     Research question and measured A100 results</a:t>
            </a:r>
          </a:p>
        </p:txBody>
      </p:sp>
    </p:spTree>
    <p:extLst>
      <p:ext uri="{BB962C8B-B14F-4D97-AF65-F5344CB8AC3E}">
        <p14:creationId xmlns:p14="http://schemas.microsoft.com/office/powerpoint/2010/main" val="325878331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7c021e3e4c634f7e"/>
              </a:rPr>
              <a:t>NVIDIA metric definition</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7cbe6f69d12b47a7"/>
              </a:rPr>
              <a:t>Our protocol and measurements</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E2598689-54C9-18A7-3A19-ED76AA08988F}" type="slidenum">
              <a:rPr sz="1125" b="0">
                <a:solidFill>
                  <a:srgbClr val="000000"/>
                </a:solidFill>
                <a:latin typeface="Helvetica Neue"/>
                <a:ea typeface="Helvetica Neue"/>
                <a:cs typeface="Helvetica Neue"/>
              </a:rPr>
              <a:t>2</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Inference, GPU utilization and the metrics we use</a:t>
            </a:r>
          </a:p>
        </p:txBody>
      </p:sp>
      <p:sp>
        <p:nvSpPr>
          <p:cNvPr id="534" name="">
            <a:extLst xmlns:a="http://schemas.openxmlformats.org/drawingml/2006/main">
              <a:ext uri="{FF2B5EF4-FFF2-40B4-BE49-F238E27FC236}">
                <a16:creationId xmlns:a16="http://schemas.microsoft.com/office/drawing/2014/main" id="{09DD4B40-C858-4175-8845-3BA85F0E7DB7}"/>
              </a:ext>
            </a:extLst>
          </p:cNvPr>
          <p:cNvSpPr>
            <a:spLocks xmlns:a="http://schemas.openxmlformats.org/drawingml/2006/main" noGrp="1"/>
          </p:cNvSpPr>
          <p:nvPr/>
        </p:nvSpPr>
        <p:spPr>
          <a:xfrm xmlns:a="http://schemas.openxmlformats.org/drawingml/2006/main">
            <a:off x="390525" y="1552575"/>
            <a:ext cx="5400675" cy="3714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marL="0" indent="0" algn="l">
              <a:spcBef>
                <a:spcPts val="0"/>
              </a:spcBef>
              <a:spcAft>
                <a:spcPts val="650"/>
              </a:spcAft>
              <a:buNone/>
              <a:defRPr sz="1800" b="0">
                <a:solidFill>
                  <a:srgbClr val="000000"/>
                </a:solidFill>
                <a:latin typeface="Helvetica Neue"/>
                <a:ea typeface="Helvetica Neue"/>
                <a:cs typeface="Helvetica Neue"/>
              </a:defRPr>
            </a:pPr>
            <a:r>
              <a:rPr sz="2100" b="1">
                <a:latin typeface="Helvetica Neue"/>
                <a:ea typeface="Helvetica Neue"/>
                <a:cs typeface="Helvetica Neue"/>
              </a:rPr>
              <a:t>Inference</a:t>
            </a:r>
          </a:p>
          <a:p xmlns:a="http://schemas.openxmlformats.org/drawingml/2006/main">
            <a:pPr marL="0" indent="0" algn="l">
              <a:spcBef>
                <a:spcPts val="0"/>
              </a:spcBef>
              <a:spcAft>
                <a:spcPts val="2000"/>
              </a:spcAft>
              <a:buNone/>
              <a:defRPr sz="1800" b="0">
                <a:solidFill>
                  <a:srgbClr val="000000"/>
                </a:solidFill>
                <a:latin typeface="Helvetica Neue"/>
                <a:ea typeface="Helvetica Neue"/>
                <a:cs typeface="Helvetica Neue"/>
              </a:defRPr>
            </a:pPr>
            <a:r>
              <a:rPr sz="1800">
                <a:latin typeface="Helvetica Neue"/>
                <a:ea typeface="Helvetica Neue"/>
                <a:cs typeface="Helvetica Neue"/>
              </a:rPr>
              <a:t>A model processes a request. An LLM first processes the prompt (prefill), then generates tokens (decode).</a:t>
            </a:r>
          </a:p>
          <a:p xmlns:a="http://schemas.openxmlformats.org/drawingml/2006/main">
            <a:pPr marL="0" indent="0" algn="l">
              <a:spcBef>
                <a:spcPts val="0"/>
              </a:spcBef>
              <a:spcAft>
                <a:spcPts val="650"/>
              </a:spcAft>
              <a:buNone/>
              <a:defRPr sz="1800" b="0">
                <a:solidFill>
                  <a:srgbClr val="000000"/>
                </a:solidFill>
                <a:latin typeface="Helvetica Neue"/>
                <a:ea typeface="Helvetica Neue"/>
                <a:cs typeface="Helvetica Neue"/>
              </a:defRPr>
            </a:pPr>
            <a:r>
              <a:rPr sz="2100" b="1">
                <a:latin typeface="Helvetica Neue"/>
                <a:ea typeface="Helvetica Neue"/>
                <a:cs typeface="Helvetica Neue"/>
              </a:rPr>
              <a:t>GPU busy time</a:t>
            </a:r>
          </a:p>
          <a:p xmlns:a="http://schemas.openxmlformats.org/drawingml/2006/main">
            <a:pPr marL="0" indent="0" algn="l">
              <a:spcBef>
                <a:spcPts val="0"/>
              </a:spcBef>
              <a:spcAft>
                <a:spcPts val="2000"/>
              </a:spcAft>
              <a:buNone/>
              <a:defRPr sz="1800" b="0">
                <a:solidFill>
                  <a:srgbClr val="000000"/>
                </a:solidFill>
                <a:latin typeface="Helvetica Neue"/>
                <a:ea typeface="Helvetica Neue"/>
                <a:cs typeface="Helvetica Neue"/>
              </a:defRPr>
            </a:pPr>
            <a:r>
              <a:rPr sz="1800">
                <a:latin typeface="Helvetica Neue"/>
                <a:ea typeface="Helvetica Neue"/>
                <a:cs typeface="Helvetica Neue"/>
              </a:rPr>
              <a:t>NVIDIA telemetry (NVML) measures time with a GPU kernel running. It does not measure achieved compute efficiency.</a:t>
            </a:r>
          </a:p>
        </p:txBody>
      </p:sp>
      <p:sp>
        <p:nvSpPr>
          <p:cNvPr id="535" name="">
            <a:extLst xmlns:a="http://schemas.openxmlformats.org/drawingml/2006/main">
              <a:ext uri="{FF2B5EF4-FFF2-40B4-BE49-F238E27FC236}">
                <a16:creationId xmlns:a16="http://schemas.microsoft.com/office/drawing/2014/main" id="{72B927E6-5990-425B-A950-DC3CEA646F06}"/>
              </a:ext>
            </a:extLst>
          </p:cNvPr>
          <p:cNvSpPr>
            <a:spLocks xmlns:a="http://schemas.openxmlformats.org/drawingml/2006/main" noGrp="1"/>
          </p:cNvSpPr>
          <p:nvPr/>
        </p:nvSpPr>
        <p:spPr>
          <a:xfrm xmlns:a="http://schemas.openxmlformats.org/drawingml/2006/main">
            <a:off x="6257925" y="1552575"/>
            <a:ext cx="5534025" cy="3714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marL="0" indent="0" algn="l">
              <a:spcBef>
                <a:spcPts val="0"/>
              </a:spcBef>
              <a:spcAft>
                <a:spcPts val="650"/>
              </a:spcAft>
              <a:buNone/>
              <a:defRPr sz="1800" b="0">
                <a:solidFill>
                  <a:srgbClr val="000000"/>
                </a:solidFill>
                <a:latin typeface="Helvetica Neue"/>
                <a:ea typeface="Helvetica Neue"/>
                <a:cs typeface="Helvetica Neue"/>
              </a:defRPr>
            </a:pPr>
            <a:r>
              <a:rPr sz="2100" b="1">
                <a:latin typeface="Helvetica Neue"/>
                <a:ea typeface="Helvetica Neue"/>
                <a:cs typeface="Helvetica Neue"/>
              </a:rPr>
              <a:t>Service-level objective (SLO)</a:t>
            </a:r>
          </a:p>
          <a:p xmlns:a="http://schemas.openxmlformats.org/drawingml/2006/main">
            <a:pPr marL="0" indent="0" algn="l">
              <a:spcBef>
                <a:spcPts val="0"/>
              </a:spcBef>
              <a:spcAft>
                <a:spcPts val="2000"/>
              </a:spcAft>
              <a:buNone/>
              <a:defRPr sz="1800" b="0">
                <a:solidFill>
                  <a:srgbClr val="000000"/>
                </a:solidFill>
                <a:latin typeface="Helvetica Neue"/>
                <a:ea typeface="Helvetica Neue"/>
                <a:cs typeface="Helvetica Neue"/>
              </a:defRPr>
            </a:pPr>
            <a:r>
              <a:rPr sz="1800">
                <a:latin typeface="Helvetica Neue"/>
                <a:ea typeface="Helvetica Neue"/>
                <a:cs typeface="Helvetica Neue"/>
              </a:rPr>
              <a:t>A latency target. TTFT is time to the first token. TPOT is average time per later token. p99 is the 99th percentile.</a:t>
            </a:r>
          </a:p>
          <a:p xmlns:a="http://schemas.openxmlformats.org/drawingml/2006/main">
            <a:pPr marL="0" indent="0" algn="l">
              <a:spcBef>
                <a:spcPts val="0"/>
              </a:spcBef>
              <a:spcAft>
                <a:spcPts val="650"/>
              </a:spcAft>
              <a:buNone/>
              <a:defRPr sz="1800" b="0">
                <a:solidFill>
                  <a:srgbClr val="000000"/>
                </a:solidFill>
                <a:latin typeface="Helvetica Neue"/>
                <a:ea typeface="Helvetica Neue"/>
                <a:cs typeface="Helvetica Neue"/>
              </a:defRPr>
            </a:pPr>
            <a:r>
              <a:rPr sz="2100" b="1">
                <a:latin typeface="Helvetica Neue"/>
                <a:ea typeface="Helvetica Neue"/>
                <a:cs typeface="Helvetica Neue"/>
              </a:rPr>
              <a:t>Useful work per GPU</a:t>
            </a:r>
          </a:p>
          <a:p xmlns:a="http://schemas.openxmlformats.org/drawingml/2006/main">
            <a:pPr marL="0" indent="0" algn="l">
              <a:spcBef>
                <a:spcPts val="0"/>
              </a:spcBef>
              <a:spcAft>
                <a:spcPts val="2000"/>
              </a:spcAft>
              <a:buNone/>
              <a:defRPr sz="1800" b="0">
                <a:solidFill>
                  <a:srgbClr val="000000"/>
                </a:solidFill>
                <a:latin typeface="Helvetica Neue"/>
                <a:ea typeface="Helvetica Neue"/>
                <a:cs typeface="Helvetica Neue"/>
              </a:defRPr>
            </a:pPr>
            <a:r>
              <a:rPr sz="1800">
                <a:latin typeface="Helvetica Neue"/>
                <a:ea typeface="Helvetica Neue"/>
                <a:cs typeface="Helvetica Neue"/>
              </a:rPr>
              <a:t>Throughput counts output tokens/s. SLO goodput counts requests meeting both latency targets per second.</a:t>
            </a:r>
          </a:p>
        </p:txBody>
      </p:sp>
      <p:sp>
        <p:nvSpPr>
          <p:cNvPr id="536" name="">
            <a:extLst xmlns:a="http://schemas.openxmlformats.org/drawingml/2006/main">
              <a:ext uri="{FF2B5EF4-FFF2-40B4-BE49-F238E27FC236}">
                <a16:creationId xmlns:a16="http://schemas.microsoft.com/office/drawing/2014/main" id="{60A373FF-3BD8-45B4-A4ED-DF6A9983682B}"/>
              </a:ext>
            </a:extLst>
          </p:cNvPr>
          <p:cNvSpPr>
            <a:spLocks xmlns:a="http://schemas.openxmlformats.org/drawingml/2006/main" noGrp="1"/>
          </p:cNvSpPr>
          <p:nvPr/>
        </p:nvSpPr>
        <p:spPr>
          <a:xfrm xmlns:a="http://schemas.openxmlformats.org/drawingml/2006/main">
            <a:off x="390525" y="5572125"/>
            <a:ext cx="11401425"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Our target: more completed inference work within the latency targets.</a:t>
            </a:r>
          </a:p>
        </p:txBody>
      </p:sp>
    </p:spTree>
    <p:extLst>
      <p:ext uri="{BB962C8B-B14F-4D97-AF65-F5344CB8AC3E}">
        <p14:creationId xmlns:p14="http://schemas.microsoft.com/office/powerpoint/2010/main" val="36671821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55b86972857b495d"/>
              </a:rPr>
              <a:t>Scheduling background: SOLA</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90052aa73de84954"/>
              </a:rPr>
              <a:t>Routing background: Dynamo</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202359C0-8A7A-196E-DD58-8E6569619F09}" type="slidenum">
              <a:rPr sz="1125" b="0">
                <a:solidFill>
                  <a:srgbClr val="000000"/>
                </a:solidFill>
                <a:latin typeface="Helvetica Neue"/>
                <a:ea typeface="Helvetica Neue"/>
                <a:cs typeface="Helvetica Neue"/>
              </a:rPr>
              <a:t>3</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Research question and hypothesis</a:t>
            </a:r>
          </a:p>
        </p:txBody>
      </p:sp>
      <p:sp>
        <p:nvSpPr>
          <p:cNvPr id="534" name="">
            <a:extLst xmlns:a="http://schemas.openxmlformats.org/drawingml/2006/main">
              <a:ext uri="{FF2B5EF4-FFF2-40B4-BE49-F238E27FC236}">
                <a16:creationId xmlns:a16="http://schemas.microsoft.com/office/drawing/2014/main" id="{AE61B6F3-184B-4E10-B4EF-0CD4A61F83A7}"/>
              </a:ext>
            </a:extLst>
          </p:cNvPr>
          <p:cNvSpPr>
            <a:spLocks xmlns:a="http://schemas.openxmlformats.org/drawingml/2006/main" noGrp="1"/>
          </p:cNvSpPr>
          <p:nvPr/>
        </p:nvSpPr>
        <p:spPr>
          <a:xfrm xmlns:a="http://schemas.openxmlformats.org/drawingml/2006/main">
            <a:off x="390525" y="1619250"/>
            <a:ext cx="5467350" cy="400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marL="0" indent="0" algn="l">
              <a:spcBef>
                <a:spcPts val="0"/>
              </a:spcBef>
              <a:spcAft>
                <a:spcPts val="650"/>
              </a:spcAft>
              <a:buNone/>
              <a:defRPr sz="1875" b="0">
                <a:solidFill>
                  <a:srgbClr val="000000"/>
                </a:solidFill>
                <a:latin typeface="Helvetica Neue"/>
                <a:ea typeface="Helvetica Neue"/>
                <a:cs typeface="Helvetica Neue"/>
              </a:defRPr>
            </a:pPr>
            <a:r>
              <a:rPr sz="2175" b="1">
                <a:latin typeface="Helvetica Neue"/>
                <a:ea typeface="Helvetica Neue"/>
                <a:cs typeface="Helvetica Neue"/>
              </a:rPr>
              <a:t>Research question</a:t>
            </a:r>
          </a:p>
          <a:p xmlns:a="http://schemas.openxmlformats.org/drawingml/2006/main">
            <a:pPr marL="0" indent="0" algn="l">
              <a:spcBef>
                <a:spcPts val="0"/>
              </a:spcBef>
              <a:spcAft>
                <a:spcPts val="2000"/>
              </a:spcAft>
              <a:buNone/>
              <a:defRPr sz="1875" b="0">
                <a:solidFill>
                  <a:srgbClr val="000000"/>
                </a:solidFill>
                <a:latin typeface="Helvetica Neue"/>
                <a:ea typeface="Helvetica Neue"/>
                <a:cs typeface="Helvetica Neue"/>
              </a:defRPr>
            </a:pPr>
            <a:r>
              <a:rPr sz="1875">
                <a:latin typeface="Helvetica Neue"/>
                <a:ea typeface="Helvetica Neue"/>
                <a:cs typeface="Helvetica Neue"/>
              </a:rPr>
              <a:t>Can scheduling decisions increase requests meeting latency targets on the same GPU as prompt lengths and arrival rates change?</a:t>
            </a:r>
          </a:p>
          <a:p xmlns:a="http://schemas.openxmlformats.org/drawingml/2006/main">
            <a:pPr marL="0" indent="0" algn="l">
              <a:spcBef>
                <a:spcPts val="0"/>
              </a:spcBef>
              <a:spcAft>
                <a:spcPts val="650"/>
              </a:spcAft>
              <a:buNone/>
              <a:defRPr sz="1875" b="0">
                <a:solidFill>
                  <a:srgbClr val="000000"/>
                </a:solidFill>
                <a:latin typeface="Helvetica Neue"/>
                <a:ea typeface="Helvetica Neue"/>
                <a:cs typeface="Helvetica Neue"/>
              </a:defRPr>
            </a:pPr>
            <a:r>
              <a:rPr sz="2175" b="1">
                <a:latin typeface="Helvetica Neue"/>
                <a:ea typeface="Helvetica Neue"/>
                <a:cs typeface="Helvetica Neue"/>
              </a:rPr>
              <a:t>First investigation</a:t>
            </a:r>
          </a:p>
          <a:p xmlns:a="http://schemas.openxmlformats.org/drawingml/2006/main">
            <a:pPr marL="0" indent="0" algn="l">
              <a:spcBef>
                <a:spcPts val="0"/>
              </a:spcBef>
              <a:spcAft>
                <a:spcPts val="2000"/>
              </a:spcAft>
              <a:buNone/>
              <a:defRPr sz="1875" b="0">
                <a:solidFill>
                  <a:srgbClr val="000000"/>
                </a:solidFill>
                <a:latin typeface="Helvetica Neue"/>
                <a:ea typeface="Helvetica Neue"/>
                <a:cs typeface="Helvetica Neue"/>
              </a:defRPr>
            </a:pPr>
            <a:r>
              <a:rPr sz="1875">
                <a:latin typeface="Helvetica Neue"/>
                <a:ea typeface="Helvetica Neue"/>
                <a:cs typeface="Helvetica Neue"/>
              </a:rPr>
              <a:t>We vary GPU replay batch sizes, then compare ways of deciding when waiting requests enter the inference engine.</a:t>
            </a:r>
          </a:p>
        </p:txBody>
      </p:sp>
      <p:sp>
        <p:nvSpPr>
          <p:cNvPr id="535" name="">
            <a:extLst xmlns:a="http://schemas.openxmlformats.org/drawingml/2006/main">
              <a:ext uri="{FF2B5EF4-FFF2-40B4-BE49-F238E27FC236}">
                <a16:creationId xmlns:a16="http://schemas.microsoft.com/office/drawing/2014/main" id="{E7606B7C-0617-4EFA-9CC9-42F0CDDECDA4}"/>
              </a:ext>
            </a:extLst>
          </p:cNvPr>
          <p:cNvSpPr>
            <a:spLocks xmlns:a="http://schemas.openxmlformats.org/drawingml/2006/main" noGrp="1"/>
          </p:cNvSpPr>
          <p:nvPr/>
        </p:nvSpPr>
        <p:spPr>
          <a:xfrm xmlns:a="http://schemas.openxmlformats.org/drawingml/2006/main">
            <a:off x="6257925" y="1619250"/>
            <a:ext cx="5534025" cy="400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marL="0" indent="0" algn="l">
              <a:spcBef>
                <a:spcPts val="0"/>
              </a:spcBef>
              <a:spcAft>
                <a:spcPts val="650"/>
              </a:spcAft>
              <a:buNone/>
              <a:defRPr sz="1875" b="0">
                <a:solidFill>
                  <a:srgbClr val="000000"/>
                </a:solidFill>
                <a:latin typeface="Helvetica Neue"/>
                <a:ea typeface="Helvetica Neue"/>
                <a:cs typeface="Helvetica Neue"/>
              </a:defRPr>
            </a:pPr>
            <a:r>
              <a:rPr sz="2175" b="1">
                <a:latin typeface="Helvetica Neue"/>
                <a:ea typeface="Helvetica Neue"/>
                <a:cs typeface="Helvetica Neue"/>
              </a:rPr>
              <a:t>Hypothesis</a:t>
            </a:r>
          </a:p>
          <a:p xmlns:a="http://schemas.openxmlformats.org/drawingml/2006/main">
            <a:pPr marL="0" indent="0" algn="l">
              <a:spcBef>
                <a:spcPts val="0"/>
              </a:spcBef>
              <a:spcAft>
                <a:spcPts val="2000"/>
              </a:spcAft>
              <a:buNone/>
              <a:defRPr sz="1875" b="0">
                <a:solidFill>
                  <a:srgbClr val="000000"/>
                </a:solidFill>
                <a:latin typeface="Helvetica Neue"/>
                <a:ea typeface="Helvetica Neue"/>
                <a:cs typeface="Helvetica Neue"/>
              </a:defRPr>
            </a:pPr>
            <a:r>
              <a:rPr sz="1875">
                <a:latin typeface="Helvetica Neue"/>
                <a:ea typeface="Helvetica Neue"/>
                <a:cs typeface="Helvetica Neue"/>
              </a:rPr>
              <a:t>Accounting for each request’s processing demand may improve useful work compared with a fixed request limit.</a:t>
            </a:r>
          </a:p>
          <a:p xmlns:a="http://schemas.openxmlformats.org/drawingml/2006/main">
            <a:pPr marL="0" indent="0" algn="l">
              <a:spcBef>
                <a:spcPts val="0"/>
              </a:spcBef>
              <a:spcAft>
                <a:spcPts val="650"/>
              </a:spcAft>
              <a:buNone/>
              <a:defRPr sz="1875" b="0">
                <a:solidFill>
                  <a:srgbClr val="000000"/>
                </a:solidFill>
                <a:latin typeface="Helvetica Neue"/>
                <a:ea typeface="Helvetica Neue"/>
                <a:cs typeface="Helvetica Neue"/>
              </a:defRPr>
            </a:pPr>
            <a:r>
              <a:rPr sz="2175" b="1">
                <a:latin typeface="Helvetica Neue"/>
                <a:ea typeface="Helvetica Neue"/>
                <a:cs typeface="Helvetica Neue"/>
              </a:rPr>
              <a:t>What could go wrong</a:t>
            </a:r>
          </a:p>
          <a:p xmlns:a="http://schemas.openxmlformats.org/drawingml/2006/main">
            <a:pPr marL="0" indent="0" algn="l">
              <a:spcBef>
                <a:spcPts val="0"/>
              </a:spcBef>
              <a:spcAft>
                <a:spcPts val="2000"/>
              </a:spcAft>
              <a:buNone/>
              <a:defRPr sz="1875" b="0">
                <a:solidFill>
                  <a:srgbClr val="000000"/>
                </a:solidFill>
                <a:latin typeface="Helvetica Neue"/>
                <a:ea typeface="Helvetica Neue"/>
                <a:cs typeface="Helvetica Neue"/>
              </a:defRPr>
            </a:pPr>
            <a:r>
              <a:rPr sz="1875">
                <a:latin typeface="Helvetica Neue"/>
                <a:ea typeface="Helvetica Neue"/>
                <a:cs typeface="Helvetica Neue"/>
              </a:rPr>
              <a:t>An extra queue can leave capacity unused or delay requests. The engine’s existing batching may already work better.</a:t>
            </a:r>
          </a:p>
        </p:txBody>
      </p:sp>
    </p:spTree>
    <p:extLst>
      <p:ext uri="{BB962C8B-B14F-4D97-AF65-F5344CB8AC3E}">
        <p14:creationId xmlns:p14="http://schemas.microsoft.com/office/powerpoint/2010/main" val="366718214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e6c67ed2479e449f"/>
              </a:rPr>
              <a:t>SOLA</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fe3a76a5d241465a"/>
              </a:rPr>
              <a:t>DuetServe</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8c4247d7f2de4b7b"/>
              </a:rPr>
              <a:t>Dynamo</a:t>
            </a:r>
            <a:r>
              <a:rPr sz="1125">
                <a:latin typeface="Helvetica Neue"/>
                <a:ea typeface="Helvetica Neue"/>
                <a:cs typeface="Helvetica Neue"/>
              </a:rPr>
              <a:t>  ·  </a:t>
            </a:r>
            <a:r>
              <a:rPr sz="1125">
                <a:solidFill>
                  <a:srgbClr val="235E9C"/>
                </a:solidFill>
                <a:latin typeface="Helvetica Neue"/>
                <a:ea typeface="Helvetica Neue"/>
                <a:cs typeface="Helvetica Neue"/>
              </a:rPr>
              <a:t>Full references: slide 15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EFD6AB9A-5F9E-5F59-51AB-3C8734130965}" type="slidenum">
              <a:rPr sz="1125" b="0">
                <a:solidFill>
                  <a:srgbClr val="000000"/>
                </a:solidFill>
                <a:latin typeface="Helvetica Neue"/>
                <a:ea typeface="Helvetica Neue"/>
                <a:cs typeface="Helvetica Neue"/>
              </a:rPr>
              <a:t>4</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State of the art in inference resource use</a:t>
            </a:r>
          </a:p>
        </p:txBody>
      </p:sp>
      <p:sp>
        <p:nvSpPr>
          <p:cNvPr id="534" name="">
            <a:extLst xmlns:a="http://schemas.openxmlformats.org/drawingml/2006/main">
              <a:ext uri="{FF2B5EF4-FFF2-40B4-BE49-F238E27FC236}">
                <a16:creationId xmlns:a16="http://schemas.microsoft.com/office/drawing/2014/main" id="{38D7C73B-BFCE-4081-9DBE-D876ECE41988}"/>
              </a:ext>
            </a:extLst>
          </p:cNvPr>
          <p:cNvSpPr>
            <a:spLocks xmlns:a="http://schemas.openxmlformats.org/drawingml/2006/main" noGrp="1"/>
          </p:cNvSpPr>
          <p:nvPr/>
        </p:nvSpPr>
        <p:spPr>
          <a:xfrm xmlns:a="http://schemas.openxmlformats.org/drawingml/2006/main">
            <a:off x="390525" y="1333500"/>
            <a:ext cx="11401425" cy="590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SOTA means current leading techniques. Performance depends on the workload.</a:t>
            </a:r>
          </a:p>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vLLM is the open-source inference engine we use as the baseline.</a:t>
            </a:r>
          </a:p>
        </p:txBody>
      </p:sp>
      <p:graphicFrame>
        <p:nvGraphicFramePr>
          <p:cNvPr id="540" name=""/>
          <p:cNvGraphicFramePr/>
          <p:nvPr/>
        </p:nvGraphicFramePr>
        <p:xfrm>
          <a:off xmlns:a="http://schemas.openxmlformats.org/drawingml/2006/main" x="390525" y="2200275"/>
          <a:ext xmlns:a="http://schemas.openxmlformats.org/drawingml/2006/main" cx="11401425" cy="3543300"/>
        </p:xfrm>
        <a:graphic xmlns:a="http://schemas.openxmlformats.org/drawingml/2006/main">
          <a:graphicData uri="http://schemas.openxmlformats.org/drawingml/2006/table">
            <a:tbl>
              <a:tblPr firstRow="0" bandRow="0"/>
              <a:tblGrid>
                <a:gridCol w="2219325"/>
                <a:gridCol w="5095875"/>
                <a:gridCol w="4086225"/>
              </a:tblGrid>
              <a:tr h="708660">
                <a:tc>
                  <a:txBody>
                    <a:bodyPr/>
                    <a:lstStyle/>
                    <a:p>
                      <a:r>
                        <a:rPr sz="1575" b="1">
                          <a:solidFill>
                            <a:srgbClr val="000000"/>
                          </a:solidFill>
                          <a:latin typeface="Helvetica Neue"/>
                          <a:ea typeface="Helvetica Neue"/>
                          <a:cs typeface="Helvetica Neue"/>
                        </a:rPr>
                        <a:t>Decision</a:t>
                      </a:r>
                    </a:p>
                  </a:txBody>
                  <a:tcPr marL="95250" marR="95250" marT="76200" marB="57150" anchor="t">
                    <a:solidFill>
                      <a:srgbClr val="EAF6FD"/>
                    </a:solidFill>
                  </a:tcPr>
                </a:tc>
                <a:tc>
                  <a:txBody>
                    <a:bodyPr/>
                    <a:lstStyle/>
                    <a:p>
                      <a:r>
                        <a:rPr sz="1575" b="1">
                          <a:solidFill>
                            <a:srgbClr val="000000"/>
                          </a:solidFill>
                          <a:latin typeface="Helvetica Neue"/>
                          <a:ea typeface="Helvetica Neue"/>
                          <a:cs typeface="Helvetica Neue"/>
                        </a:rPr>
                        <a:t>What existing systems optimize</a:t>
                      </a:r>
                    </a:p>
                  </a:txBody>
                  <a:tcPr marL="95250" marR="95250" marT="76200" marB="57150" anchor="t">
                    <a:solidFill>
                      <a:srgbClr val="EAF6FD"/>
                    </a:solidFill>
                  </a:tcPr>
                </a:tc>
                <a:tc>
                  <a:txBody>
                    <a:bodyPr/>
                    <a:lstStyle/>
                    <a:p>
                      <a:r>
                        <a:rPr sz="1575" b="1">
                          <a:solidFill>
                            <a:srgbClr val="000000"/>
                          </a:solidFill>
                          <a:latin typeface="Helvetica Neue"/>
                          <a:ea typeface="Helvetica Neue"/>
                          <a:cs typeface="Helvetica Neue"/>
                        </a:rPr>
                        <a:t>Examples</a:t>
                      </a:r>
                    </a:p>
                  </a:txBody>
                  <a:tcPr marL="95250" marR="95250" marT="76200" marB="57150" anchor="t">
                    <a:solidFill>
                      <a:srgbClr val="EAF6FD"/>
                    </a:solidFill>
                  </a:tcPr>
                </a:tc>
              </a:tr>
              <a:tr h="708660">
                <a:tc>
                  <a:txBody>
                    <a:bodyPr/>
                    <a:lstStyle/>
                    <a:p>
                      <a:r>
                        <a:rPr sz="1575">
                          <a:solidFill>
                            <a:srgbClr val="000000"/>
                          </a:solidFill>
                          <a:latin typeface="Helvetica Neue"/>
                          <a:ea typeface="Helvetica Neue"/>
                          <a:cs typeface="Helvetica Neue"/>
                        </a:rPr>
                        <a:t>Routing and pooling</a:t>
                      </a:r>
                    </a:p>
                  </a:txBody>
                  <a:tcPr marL="95250" marR="95250" marT="76200" marB="57150" anchor="t">
                    <a:solidFill>
                      <a:srgbClr val="FFFFFF"/>
                    </a:solidFill>
                  </a:tcPr>
                </a:tc>
                <a:tc>
                  <a:txBody>
                    <a:bodyPr/>
                    <a:lstStyle/>
                    <a:p>
                      <a:r>
                        <a:rPr sz="1575">
                          <a:solidFill>
                            <a:srgbClr val="000000"/>
                          </a:solidFill>
                          <a:latin typeface="Helvetica Neue"/>
                          <a:ea typeface="Helvetica Neue"/>
                          <a:cs typeface="Helvetica Neue"/>
                        </a:rPr>
                        <a:t>Choose workers using cached context and active load</a:t>
                      </a:r>
                    </a:p>
                  </a:txBody>
                  <a:tcPr marL="95250" marR="95250" marT="76200" marB="57150" anchor="t">
                    <a:solidFill>
                      <a:srgbClr val="FFFFFF"/>
                    </a:solidFill>
                  </a:tcPr>
                </a:tc>
                <a:tc>
                  <a:txBody>
                    <a:bodyPr/>
                    <a:lstStyle/>
                    <a:p>
                      <a:r>
                        <a:rPr sz="1575">
                          <a:solidFill>
                            <a:srgbClr val="000000"/>
                          </a:solidFill>
                          <a:latin typeface="Helvetica Neue"/>
                          <a:ea typeface="Helvetica Neue"/>
                          <a:cs typeface="Helvetica Neue"/>
                        </a:rPr>
                        <a:t>Dynamo docs (2026)</a:t>
                      </a:r>
                    </a:p>
                    <a:p>
                      <a:r>
                        <a:rPr sz="1575">
                          <a:solidFill>
                            <a:srgbClr val="000000"/>
                          </a:solidFill>
                          <a:latin typeface="Helvetica Neue"/>
                          <a:ea typeface="Helvetica Neue"/>
                          <a:cs typeface="Helvetica Neue"/>
                        </a:rPr>
                        <a:t>Aegaeon (SOSP 2025)</a:t>
                      </a:r>
                    </a:p>
                  </a:txBody>
                  <a:tcPr marL="95250" marR="95250" marT="76200" marB="57150" anchor="t">
                    <a:solidFill>
                      <a:srgbClr val="FFFFFF"/>
                    </a:solidFill>
                  </a:tcPr>
                </a:tc>
              </a:tr>
              <a:tr h="708660">
                <a:tc>
                  <a:txBody>
                    <a:bodyPr/>
                    <a:lstStyle/>
                    <a:p>
                      <a:r>
                        <a:rPr sz="1575">
                          <a:solidFill>
                            <a:srgbClr val="000000"/>
                          </a:solidFill>
                          <a:latin typeface="Helvetica Neue"/>
                          <a:ea typeface="Helvetica Neue"/>
                          <a:cs typeface="Helvetica Neue"/>
                        </a:rPr>
                        <a:t>Scheduling and batching</a:t>
                      </a:r>
                    </a:p>
                  </a:txBody>
                  <a:tcPr marL="95250" marR="95250" marT="76200" marB="57150" anchor="t">
                    <a:solidFill>
                      <a:srgbClr val="FFFFFF"/>
                    </a:solidFill>
                  </a:tcPr>
                </a:tc>
                <a:tc>
                  <a:txBody>
                    <a:bodyPr/>
                    <a:lstStyle/>
                    <a:p>
                      <a:r>
                        <a:rPr sz="1575">
                          <a:solidFill>
                            <a:srgbClr val="000000"/>
                          </a:solidFill>
                          <a:latin typeface="Helvetica Neue"/>
                          <a:ea typeface="Helvetica Neue"/>
                          <a:cs typeface="Helvetica Neue"/>
                        </a:rPr>
                        <a:t>Mix prompt processing and token generation</a:t>
                      </a:r>
                    </a:p>
                  </a:txBody>
                  <a:tcPr marL="95250" marR="95250" marT="76200" marB="57150" anchor="t">
                    <a:solidFill>
                      <a:srgbClr val="FFFFFF"/>
                    </a:solidFill>
                  </a:tcPr>
                </a:tc>
                <a:tc>
                  <a:txBody>
                    <a:bodyPr/>
                    <a:lstStyle/>
                    <a:p>
                      <a:r>
                        <a:rPr sz="1575">
                          <a:solidFill>
                            <a:srgbClr val="000000"/>
                          </a:solidFill>
                          <a:latin typeface="Helvetica Neue"/>
                          <a:ea typeface="Helvetica Neue"/>
                          <a:cs typeface="Helvetica Neue"/>
                        </a:rPr>
                        <a:t>SOLA (MLSys 2025)</a:t>
                      </a:r>
                    </a:p>
                    <a:p>
                      <a:r>
                        <a:rPr sz="1575">
                          <a:solidFill>
                            <a:srgbClr val="000000"/>
                          </a:solidFill>
                          <a:latin typeface="Helvetica Neue"/>
                          <a:ea typeface="Helvetica Neue"/>
                          <a:cs typeface="Helvetica Neue"/>
                        </a:rPr>
                        <a:t>Sarathi-Serve (OSDI 2024)</a:t>
                      </a:r>
                    </a:p>
                  </a:txBody>
                  <a:tcPr marL="95250" marR="95250" marT="76200" marB="57150" anchor="t">
                    <a:solidFill>
                      <a:srgbClr val="FFFFFF"/>
                    </a:solidFill>
                  </a:tcPr>
                </a:tc>
              </a:tr>
              <a:tr h="708660">
                <a:tc>
                  <a:txBody>
                    <a:bodyPr/>
                    <a:lstStyle/>
                    <a:p>
                      <a:r>
                        <a:rPr sz="1575">
                          <a:solidFill>
                            <a:srgbClr val="000000"/>
                          </a:solidFill>
                          <a:latin typeface="Helvetica Neue"/>
                          <a:ea typeface="Helvetica Neue"/>
                          <a:cs typeface="Helvetica Neue"/>
                        </a:rPr>
                        <a:t>GPU execution</a:t>
                      </a:r>
                    </a:p>
                  </a:txBody>
                  <a:tcPr marL="95250" marR="95250" marT="76200" marB="57150" anchor="t">
                    <a:solidFill>
                      <a:srgbClr val="FFFFFF"/>
                    </a:solidFill>
                  </a:tcPr>
                </a:tc>
                <a:tc>
                  <a:txBody>
                    <a:bodyPr/>
                    <a:lstStyle/>
                    <a:p>
                      <a:r>
                        <a:rPr sz="1575">
                          <a:solidFill>
                            <a:srgbClr val="000000"/>
                          </a:solidFill>
                          <a:latin typeface="Helvetica Neue"/>
                          <a:ea typeface="Helvetica Neue"/>
                          <a:cs typeface="Helvetica Neue"/>
                        </a:rPr>
                        <a:t>Overlap work and choose GPU replay batch sizes</a:t>
                      </a:r>
                    </a:p>
                  </a:txBody>
                  <a:tcPr marL="95250" marR="95250" marT="76200" marB="57150" anchor="t">
                    <a:solidFill>
                      <a:srgbClr val="FFFFFF"/>
                    </a:solidFill>
                  </a:tcPr>
                </a:tc>
                <a:tc>
                  <a:txBody>
                    <a:bodyPr/>
                    <a:lstStyle/>
                    <a:p>
                      <a:r>
                        <a:rPr sz="1575">
                          <a:solidFill>
                            <a:srgbClr val="000000"/>
                          </a:solidFill>
                          <a:latin typeface="Helvetica Neue"/>
                          <a:ea typeface="Helvetica Neue"/>
                          <a:cs typeface="Helvetica Neue"/>
                        </a:rPr>
                        <a:t>DuetServe (ICML 2026)</a:t>
                      </a:r>
                    </a:p>
                    <a:p>
                      <a:r>
                        <a:rPr sz="1575">
                          <a:solidFill>
                            <a:srgbClr val="000000"/>
                          </a:solidFill>
                          <a:latin typeface="Helvetica Neue"/>
                          <a:ea typeface="Helvetica Neue"/>
                          <a:cs typeface="Helvetica Neue"/>
                        </a:rPr>
                        <a:t>vLLM and NVIDIA docs (2026)</a:t>
                      </a:r>
                    </a:p>
                  </a:txBody>
                  <a:tcPr marL="95250" marR="95250" marT="76200" marB="57150" anchor="t">
                    <a:solidFill>
                      <a:srgbClr val="FFFFFF"/>
                    </a:solidFill>
                  </a:tcPr>
                </a:tc>
              </a:tr>
              <a:tr h="708660">
                <a:tc>
                  <a:txBody>
                    <a:bodyPr/>
                    <a:lstStyle/>
                    <a:p>
                      <a:r>
                        <a:rPr sz="1575">
                          <a:solidFill>
                            <a:srgbClr val="000000"/>
                          </a:solidFill>
                          <a:latin typeface="Helvetica Neue"/>
                          <a:ea typeface="Helvetica Neue"/>
                          <a:cs typeface="Helvetica Neue"/>
                        </a:rPr>
                        <a:t>Resource allocation</a:t>
                      </a:r>
                    </a:p>
                  </a:txBody>
                  <a:tcPr marL="95250" marR="95250" marT="76200" marB="57150" anchor="t">
                    <a:solidFill>
                      <a:srgbClr val="FFFFFF"/>
                    </a:solidFill>
                  </a:tcPr>
                </a:tc>
                <a:tc>
                  <a:txBody>
                    <a:bodyPr/>
                    <a:lstStyle/>
                    <a:p>
                      <a:r>
                        <a:rPr sz="1575">
                          <a:solidFill>
                            <a:srgbClr val="000000"/>
                          </a:solidFill>
                          <a:latin typeface="Helvetica Neue"/>
                          <a:ea typeface="Helvetica Neue"/>
                          <a:cs typeface="Helvetica Neue"/>
                        </a:rPr>
                        <a:t>Separate CPU/GPU stages and share GPU memory</a:t>
                      </a:r>
                    </a:p>
                  </a:txBody>
                  <a:tcPr marL="95250" marR="95250" marT="76200" marB="57150" anchor="t">
                    <a:solidFill>
                      <a:srgbClr val="FFFFFF"/>
                    </a:solidFill>
                  </a:tcPr>
                </a:tc>
                <a:tc>
                  <a:txBody>
                    <a:bodyPr/>
                    <a:lstStyle/>
                    <a:p>
                      <a:r>
                        <a:rPr sz="1575">
                          <a:solidFill>
                            <a:srgbClr val="000000"/>
                          </a:solidFill>
                          <a:latin typeface="Helvetica Neue"/>
                          <a:ea typeface="Helvetica Neue"/>
                          <a:cs typeface="Helvetica Neue"/>
                        </a:rPr>
                        <a:t>Prism recommendations (NSDI 2025)</a:t>
                      </a:r>
                    </a:p>
                    <a:p>
                      <a:r>
                        <a:rPr sz="1575">
                          <a:solidFill>
                            <a:srgbClr val="000000"/>
                          </a:solidFill>
                          <a:latin typeface="Helvetica Neue"/>
                          <a:ea typeface="Helvetica Neue"/>
                          <a:cs typeface="Helvetica Neue"/>
                        </a:rPr>
                        <a:t>Prism LLMs (OSDI 2026)</a:t>
                      </a:r>
                    </a:p>
                  </a:txBody>
                  <a:tcPr marL="95250" marR="95250" marT="76200" marB="57150" anchor="t">
                    <a:solidFill>
                      <a:srgbClr val="FFFFFF"/>
                    </a:solidFill>
                  </a:tcPr>
                </a:tc>
              </a:tr>
            </a:tbl>
          </a:graphicData>
        </a:graphic>
      </p:graphicFrame>
    </p:spTree>
    <p:extLst>
      <p:ext uri="{BB962C8B-B14F-4D97-AF65-F5344CB8AC3E}">
        <p14:creationId xmlns:p14="http://schemas.microsoft.com/office/powerpoint/2010/main" val="366718214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0506a80faec041c7"/>
              </a:rPr>
              <a:t>Hong et al., SOLA, MLSys 2025. Figure 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EE5B3003-2C54-13C6-9832-7637201064DE}" type="slidenum">
              <a:rPr sz="1125" b="0">
                <a:solidFill>
                  <a:srgbClr val="000000"/>
                </a:solidFill>
                <a:latin typeface="Helvetica Neue"/>
                <a:ea typeface="Helvetica Neue"/>
                <a:cs typeface="Helvetica Neue"/>
              </a:rPr>
              <a:t>5</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SOLA: more requests meet the latency targets</a:t>
            </a:r>
          </a:p>
        </p:txBody>
      </p:sp>
      <p:pic>
        <p:nvPicPr>
          <p:cNvPr id="540" name=""/>
          <p:cNvPicPr>
            <a:picLocks xmlns:a="http://schemas.openxmlformats.org/drawingml/2006/main" noChangeAspect="1"/>
          </p:cNvPicPr>
          <p:nvPr/>
        </p:nvPicPr>
        <p:blipFill>
          <a:blip xmlns:r="http://schemas.openxmlformats.org/officeDocument/2006/relationships" xmlns:a="http://schemas.openxmlformats.org/drawingml/2006/main" r:embed="Ra83eee6fee1341d1"/>
          <a:stretch xmlns:a="http://schemas.openxmlformats.org/drawingml/2006/main"/>
        </p:blipFill>
        <p:spPr>
          <a:xfrm xmlns:a="http://schemas.openxmlformats.org/drawingml/2006/main">
            <a:off x="390525" y="2168115"/>
            <a:ext cx="5600700" cy="2940869"/>
          </a:xfrm>
          <a:prstGeom xmlns:a="http://schemas.openxmlformats.org/drawingml/2006/main" prst="rect">
            <a:avLst/>
          </a:prstGeom>
        </p:spPr>
      </p:pic>
      <p:sp>
        <p:nvSpPr>
          <p:cNvPr id="535" name="">
            <a:extLst xmlns:a="http://schemas.openxmlformats.org/drawingml/2006/main">
              <a:ext uri="{FF2B5EF4-FFF2-40B4-BE49-F238E27FC236}">
                <a16:creationId xmlns:a16="http://schemas.microsoft.com/office/drawing/2014/main" id="{5E3A7EFB-E0CA-48B7-AAD1-241E256DCF31}"/>
              </a:ext>
            </a:extLst>
          </p:cNvPr>
          <p:cNvSpPr>
            <a:spLocks xmlns:a="http://schemas.openxmlformats.org/drawingml/2006/main" noGrp="1"/>
          </p:cNvSpPr>
          <p:nvPr/>
        </p:nvSpPr>
        <p:spPr>
          <a:xfrm xmlns:a="http://schemas.openxmlformats.org/drawingml/2006/main">
            <a:off x="6429375" y="1743075"/>
            <a:ext cx="5362575" cy="3714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marL="0" indent="0" algn="l">
              <a:spcBef>
                <a:spcPts val="0"/>
              </a:spcBef>
              <a:spcAft>
                <a:spcPts val="650"/>
              </a:spcAft>
              <a:buNone/>
              <a:defRPr sz="1875" b="0">
                <a:solidFill>
                  <a:srgbClr val="000000"/>
                </a:solidFill>
                <a:latin typeface="Helvetica Neue"/>
                <a:ea typeface="Helvetica Neue"/>
                <a:cs typeface="Helvetica Neue"/>
              </a:defRPr>
            </a:pPr>
            <a:r>
              <a:rPr sz="2175" b="1">
                <a:latin typeface="Helvetica Neue"/>
                <a:ea typeface="Helvetica Neue"/>
                <a:cs typeface="Helvetica Neue"/>
              </a:rPr>
              <a:t>Published result</a:t>
            </a:r>
          </a:p>
          <a:p xmlns:a="http://schemas.openxmlformats.org/drawingml/2006/main">
            <a:pPr marL="0" indent="0" algn="l">
              <a:spcBef>
                <a:spcPts val="0"/>
              </a:spcBef>
              <a:spcAft>
                <a:spcPts val="2000"/>
              </a:spcAft>
              <a:buNone/>
              <a:defRPr sz="1875" b="0">
                <a:solidFill>
                  <a:srgbClr val="000000"/>
                </a:solidFill>
                <a:latin typeface="Helvetica Neue"/>
                <a:ea typeface="Helvetica Neue"/>
                <a:cs typeface="Helvetica Neue"/>
              </a:defRPr>
            </a:pPr>
            <a:r>
              <a:rPr sz="1875">
                <a:latin typeface="Helvetica Neue"/>
                <a:ea typeface="Helvetica Neue"/>
                <a:cs typeface="Helvetica Neue"/>
              </a:rPr>
              <a:t>SLO attainment rises from 65% to 98% compared with the paper’s vLLM baseline.</a:t>
            </a:r>
          </a:p>
          <a:p xmlns:a="http://schemas.openxmlformats.org/drawingml/2006/main">
            <a:pPr marL="0" indent="0" algn="l">
              <a:spcBef>
                <a:spcPts val="0"/>
              </a:spcBef>
              <a:spcAft>
                <a:spcPts val="650"/>
              </a:spcAft>
              <a:buNone/>
              <a:defRPr sz="1875" b="0">
                <a:solidFill>
                  <a:srgbClr val="000000"/>
                </a:solidFill>
                <a:latin typeface="Helvetica Neue"/>
                <a:ea typeface="Helvetica Neue"/>
                <a:cs typeface="Helvetica Neue"/>
              </a:defRPr>
            </a:pPr>
            <a:r>
              <a:rPr sz="2175" b="1">
                <a:latin typeface="Helvetica Neue"/>
                <a:ea typeface="Helvetica Neue"/>
                <a:cs typeface="Helvetica Neue"/>
              </a:rPr>
              <a:t>Measured setting</a:t>
            </a:r>
          </a:p>
          <a:p xmlns:a="http://schemas.openxmlformats.org/drawingml/2006/main">
            <a:pPr marL="0" indent="0" algn="l">
              <a:spcBef>
                <a:spcPts val="0"/>
              </a:spcBef>
              <a:spcAft>
                <a:spcPts val="2000"/>
              </a:spcAft>
              <a:buNone/>
              <a:defRPr sz="1875" b="0">
                <a:solidFill>
                  <a:srgbClr val="000000"/>
                </a:solidFill>
                <a:latin typeface="Helvetica Neue"/>
                <a:ea typeface="Helvetica Neue"/>
                <a:cs typeface="Helvetica Neue"/>
              </a:defRPr>
            </a:pPr>
            <a:r>
              <a:rPr sz="1875">
                <a:latin typeface="Helvetica Neue"/>
                <a:ea typeface="Helvetica Neue"/>
                <a:cs typeface="Helvetica Neue"/>
              </a:rPr>
              <a:t>Llama3-70B on four A100s. ShareGPT at 4.6 requests/s. Targets: TTFT 500 ms and TPOT 200 ms.</a:t>
            </a:r>
          </a:p>
        </p:txBody>
      </p:sp>
      <p:sp>
        <p:nvSpPr>
          <p:cNvPr id="536" name="">
            <a:extLst xmlns:a="http://schemas.openxmlformats.org/drawingml/2006/main">
              <a:ext uri="{FF2B5EF4-FFF2-40B4-BE49-F238E27FC236}">
                <a16:creationId xmlns:a16="http://schemas.microsoft.com/office/drawing/2014/main" id="{C4107912-761B-410B-8E39-264D14D788D1}"/>
              </a:ext>
            </a:extLst>
          </p:cNvPr>
          <p:cNvSpPr>
            <a:spLocks xmlns:a="http://schemas.openxmlformats.org/drawingml/2006/main" noGrp="1"/>
          </p:cNvSpPr>
          <p:nvPr/>
        </p:nvSpPr>
        <p:spPr>
          <a:xfrm xmlns:a="http://schemas.openxmlformats.org/drawingml/2006/main">
            <a:off x="390525" y="5524500"/>
            <a:ext cx="5810250" cy="361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b="0">
                <a:solidFill>
                  <a:srgbClr val="000000"/>
                </a:solidFill>
                <a:latin typeface="Helvetica Neue"/>
                <a:ea typeface="Helvetica Neue"/>
                <a:cs typeface="Helvetica Neue"/>
              </a:rPr>
              <a:t>Original Figure 1. Each point is a request.</a:t>
            </a:r>
          </a:p>
        </p:txBody>
      </p:sp>
    </p:spTree>
    <p:extLst>
      <p:ext uri="{BB962C8B-B14F-4D97-AF65-F5344CB8AC3E}">
        <p14:creationId xmlns:p14="http://schemas.microsoft.com/office/powerpoint/2010/main" val="366718214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f9a496fce7974427"/>
              </a:rPr>
              <a:t>Gao et al., DuetServe, ICML 2026. Figure 6 and §5.2</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8C630A04-5A25-9E0C-9436-126091DB86B3}" type="slidenum">
              <a:rPr sz="1125" b="0">
                <a:solidFill>
                  <a:srgbClr val="000000"/>
                </a:solidFill>
                <a:latin typeface="Helvetica Neue"/>
                <a:ea typeface="Helvetica Neue"/>
                <a:cs typeface="Helvetica Neue"/>
              </a:rPr>
              <a:t>6</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DuetServe: overlap and dispatch improve throughput</a:t>
            </a:r>
          </a:p>
        </p:txBody>
      </p:sp>
      <p:pic>
        <p:nvPicPr>
          <p:cNvPr id="540" name=""/>
          <p:cNvPicPr>
            <a:picLocks xmlns:a="http://schemas.openxmlformats.org/drawingml/2006/main" noChangeAspect="1"/>
          </p:cNvPicPr>
          <p:nvPr/>
        </p:nvPicPr>
        <p:blipFill>
          <a:blip xmlns:r="http://schemas.openxmlformats.org/officeDocument/2006/relationships" xmlns:a="http://schemas.openxmlformats.org/drawingml/2006/main" r:embed="R8e2ce063ee374eee"/>
          <a:stretch xmlns:a="http://schemas.openxmlformats.org/drawingml/2006/main"/>
        </p:blipFill>
        <p:spPr>
          <a:xfrm xmlns:a="http://schemas.openxmlformats.org/drawingml/2006/main">
            <a:off x="2190750" y="1580906"/>
            <a:ext cx="2095500" cy="1114913"/>
          </a:xfrm>
          <a:prstGeom xmlns:a="http://schemas.openxmlformats.org/drawingml/2006/main" prst="rect">
            <a:avLst/>
          </a:prstGeom>
        </p:spPr>
      </p:pic>
      <p:pic>
        <p:nvPicPr>
          <p:cNvPr id="541" name=""/>
          <p:cNvPicPr>
            <a:picLocks xmlns:a="http://schemas.openxmlformats.org/drawingml/2006/main" noChangeAspect="1"/>
          </p:cNvPicPr>
          <p:nvPr/>
        </p:nvPicPr>
        <p:blipFill>
          <a:blip xmlns:r="http://schemas.openxmlformats.org/officeDocument/2006/relationships" xmlns:a="http://schemas.openxmlformats.org/drawingml/2006/main" r:embed="R362b6300a5454748"/>
          <a:stretch xmlns:a="http://schemas.openxmlformats.org/drawingml/2006/main"/>
        </p:blipFill>
        <p:spPr>
          <a:xfrm xmlns:a="http://schemas.openxmlformats.org/drawingml/2006/main">
            <a:off x="903711" y="2981325"/>
            <a:ext cx="4574327" cy="2800350"/>
          </a:xfrm>
          <a:prstGeom xmlns:a="http://schemas.openxmlformats.org/drawingml/2006/main" prst="rect">
            <a:avLst/>
          </a:prstGeom>
        </p:spPr>
      </p:pic>
      <p:sp>
        <p:nvSpPr>
          <p:cNvPr id="536" name="">
            <a:extLst xmlns:a="http://schemas.openxmlformats.org/drawingml/2006/main">
              <a:ext uri="{FF2B5EF4-FFF2-40B4-BE49-F238E27FC236}">
                <a16:creationId xmlns:a16="http://schemas.microsoft.com/office/drawing/2014/main" id="{E5018EDE-3952-42E6-AB52-24A3E4A82732}"/>
              </a:ext>
            </a:extLst>
          </p:cNvPr>
          <p:cNvSpPr>
            <a:spLocks xmlns:a="http://schemas.openxmlformats.org/drawingml/2006/main" noGrp="1"/>
          </p:cNvSpPr>
          <p:nvPr/>
        </p:nvSpPr>
        <p:spPr>
          <a:xfrm xmlns:a="http://schemas.openxmlformats.org/drawingml/2006/main">
            <a:off x="6429375" y="1743075"/>
            <a:ext cx="5362575" cy="409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marL="0" indent="0" algn="l">
              <a:spcBef>
                <a:spcPts val="0"/>
              </a:spcBef>
              <a:spcAft>
                <a:spcPts val="650"/>
              </a:spcAft>
              <a:buNone/>
              <a:defRPr sz="1800" b="0">
                <a:solidFill>
                  <a:srgbClr val="000000"/>
                </a:solidFill>
                <a:latin typeface="Helvetica Neue"/>
                <a:ea typeface="Helvetica Neue"/>
                <a:cs typeface="Helvetica Neue"/>
              </a:defRPr>
            </a:pPr>
            <a:r>
              <a:rPr sz="2100" b="1">
                <a:latin typeface="Helvetica Neue"/>
                <a:ea typeface="Helvetica Neue"/>
                <a:cs typeface="Helvetica Neue"/>
              </a:rPr>
              <a:t>Published result</a:t>
            </a:r>
          </a:p>
          <a:p xmlns:a="http://schemas.openxmlformats.org/drawingml/2006/main">
            <a:pPr marL="0" indent="0" algn="l">
              <a:spcBef>
                <a:spcPts val="0"/>
              </a:spcBef>
              <a:spcAft>
                <a:spcPts val="2000"/>
              </a:spcAft>
              <a:buNone/>
              <a:defRPr sz="1800" b="0">
                <a:solidFill>
                  <a:srgbClr val="000000"/>
                </a:solidFill>
                <a:latin typeface="Helvetica Neue"/>
                <a:ea typeface="Helvetica Neue"/>
                <a:cs typeface="Helvetica Neue"/>
              </a:defRPr>
            </a:pPr>
            <a:r>
              <a:rPr sz="1800">
                <a:latin typeface="Helvetica Neue"/>
                <a:ea typeface="Helvetica Neue"/>
                <a:cs typeface="Helvetica Neue"/>
              </a:rPr>
              <a:t>SGLang-Default: 12.43 requests/s. DuetServe: 13.57 requests/s. This is a calculated 9.2% increase.</a:t>
            </a:r>
          </a:p>
          <a:p xmlns:a="http://schemas.openxmlformats.org/drawingml/2006/main">
            <a:pPr marL="0" indent="0" algn="l">
              <a:spcBef>
                <a:spcPts val="0"/>
              </a:spcBef>
              <a:spcAft>
                <a:spcPts val="650"/>
              </a:spcAft>
              <a:buNone/>
              <a:defRPr sz="1800" b="0">
                <a:solidFill>
                  <a:srgbClr val="000000"/>
                </a:solidFill>
                <a:latin typeface="Helvetica Neue"/>
                <a:ea typeface="Helvetica Neue"/>
                <a:cs typeface="Helvetica Neue"/>
              </a:defRPr>
            </a:pPr>
            <a:r>
              <a:rPr sz="2100" b="1">
                <a:latin typeface="Helvetica Neue"/>
                <a:ea typeface="Helvetica Neue"/>
                <a:cs typeface="Helvetica Neue"/>
              </a:rPr>
              <a:t>Measured setting</a:t>
            </a:r>
          </a:p>
          <a:p xmlns:a="http://schemas.openxmlformats.org/drawingml/2006/main">
            <a:pPr marL="0" indent="0" algn="l">
              <a:spcBef>
                <a:spcPts val="0"/>
              </a:spcBef>
              <a:spcAft>
                <a:spcPts val="2000"/>
              </a:spcAft>
              <a:buNone/>
              <a:defRPr sz="1800" b="0">
                <a:solidFill>
                  <a:srgbClr val="000000"/>
                </a:solidFill>
                <a:latin typeface="Helvetica Neue"/>
                <a:ea typeface="Helvetica Neue"/>
                <a:cs typeface="Helvetica Neue"/>
              </a:defRPr>
            </a:pPr>
            <a:r>
              <a:rPr sz="1800">
                <a:latin typeface="Helvetica Neue"/>
                <a:ea typeface="Helvetica Neue"/>
                <a:cs typeface="Helvetica Neue"/>
              </a:rPr>
              <a:t>Qwen3-8B on one H100 80 GB. The incoming rate is 16 requests/s. DuetServe shares prefill/decode resources and looks ahead at execution.</a:t>
            </a:r>
          </a:p>
        </p:txBody>
      </p:sp>
    </p:spTree>
    <p:extLst>
      <p:ext uri="{BB962C8B-B14F-4D97-AF65-F5344CB8AC3E}">
        <p14:creationId xmlns:p14="http://schemas.microsoft.com/office/powerpoint/2010/main" val="36671821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53e142ca45484ab5"/>
              </a:rPr>
              <a:t>Yang et al., GPU-Disaggregated DLRM Serving, NSDI 2025. Figure 17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D3D7D1C8-AE23-AA48-DF65-C742588DBE47}" type="slidenum">
              <a:rPr sz="1125" b="0">
                <a:solidFill>
                  <a:srgbClr val="000000"/>
                </a:solidFill>
                <a:latin typeface="Helvetica Neue"/>
                <a:ea typeface="Helvetica Neue"/>
                <a:cs typeface="Helvetica Neue"/>
              </a:rPr>
              <a:t>7</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Prism: the problem also appears in recommendations</a:t>
            </a:r>
          </a:p>
        </p:txBody>
      </p:sp>
      <p:pic>
        <p:nvPicPr>
          <p:cNvPr id="540" name=""/>
          <p:cNvPicPr>
            <a:picLocks xmlns:a="http://schemas.openxmlformats.org/drawingml/2006/main" noChangeAspect="1"/>
          </p:cNvPicPr>
          <p:nvPr/>
        </p:nvPicPr>
        <p:blipFill>
          <a:blip xmlns:r="http://schemas.openxmlformats.org/officeDocument/2006/relationships" xmlns:a="http://schemas.openxmlformats.org/drawingml/2006/main" r:embed="R62814c88cdc14bf6"/>
          <a:stretch xmlns:a="http://schemas.openxmlformats.org/drawingml/2006/main"/>
        </p:blipFill>
        <p:spPr>
          <a:xfrm xmlns:a="http://schemas.openxmlformats.org/drawingml/2006/main">
            <a:off x="390525" y="2543589"/>
            <a:ext cx="5905500" cy="2285172"/>
          </a:xfrm>
          <a:prstGeom xmlns:a="http://schemas.openxmlformats.org/drawingml/2006/main" prst="rect">
            <a:avLst/>
          </a:prstGeom>
        </p:spPr>
      </p:pic>
      <p:sp>
        <p:nvSpPr>
          <p:cNvPr id="535" name="">
            <a:extLst xmlns:a="http://schemas.openxmlformats.org/drawingml/2006/main">
              <a:ext uri="{FF2B5EF4-FFF2-40B4-BE49-F238E27FC236}">
                <a16:creationId xmlns:a16="http://schemas.microsoft.com/office/drawing/2014/main" id="{92F8F445-8EF2-4BF8-B16E-B992EA29C1FD}"/>
              </a:ext>
            </a:extLst>
          </p:cNvPr>
          <p:cNvSpPr>
            <a:spLocks xmlns:a="http://schemas.openxmlformats.org/drawingml/2006/main" noGrp="1"/>
          </p:cNvSpPr>
          <p:nvPr/>
        </p:nvSpPr>
        <p:spPr>
          <a:xfrm xmlns:a="http://schemas.openxmlformats.org/drawingml/2006/main">
            <a:off x="6715125" y="1714500"/>
            <a:ext cx="5076825" cy="3762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marL="0" indent="0" algn="l">
              <a:spcBef>
                <a:spcPts val="0"/>
              </a:spcBef>
              <a:spcAft>
                <a:spcPts val="650"/>
              </a:spcAft>
              <a:buNone/>
              <a:defRPr sz="1875" b="0">
                <a:solidFill>
                  <a:srgbClr val="000000"/>
                </a:solidFill>
                <a:latin typeface="Helvetica Neue"/>
                <a:ea typeface="Helvetica Neue"/>
                <a:cs typeface="Helvetica Neue"/>
              </a:defRPr>
            </a:pPr>
            <a:r>
              <a:rPr sz="2175" b="1">
                <a:latin typeface="Helvetica Neue"/>
                <a:ea typeface="Helvetica Neue"/>
                <a:cs typeface="Helvetica Neue"/>
              </a:rPr>
              <a:t>Published result</a:t>
            </a:r>
          </a:p>
          <a:p xmlns:a="http://schemas.openxmlformats.org/drawingml/2006/main">
            <a:pPr marL="0" indent="0" algn="l">
              <a:spcBef>
                <a:spcPts val="0"/>
              </a:spcBef>
              <a:spcAft>
                <a:spcPts val="2000"/>
              </a:spcAft>
              <a:buNone/>
              <a:defRPr sz="1875" b="0">
                <a:solidFill>
                  <a:srgbClr val="000000"/>
                </a:solidFill>
                <a:latin typeface="Helvetica Neue"/>
                <a:ea typeface="Helvetica Neue"/>
                <a:cs typeface="Helvetica Neue"/>
              </a:defRPr>
            </a:pPr>
            <a:r>
              <a:rPr sz="1875">
                <a:latin typeface="Helvetica Neue"/>
                <a:ea typeface="Helvetica Neue"/>
                <a:cs typeface="Helvetica Neue"/>
              </a:rPr>
              <a:t>Prism reports 5–9× higher goodput per GPU node for the shown recommendation models.</a:t>
            </a:r>
          </a:p>
          <a:p xmlns:a="http://schemas.openxmlformats.org/drawingml/2006/main">
            <a:pPr marL="0" indent="0" algn="l">
              <a:spcBef>
                <a:spcPts val="0"/>
              </a:spcBef>
              <a:spcAft>
                <a:spcPts val="650"/>
              </a:spcAft>
              <a:buNone/>
              <a:defRPr sz="1875" b="0">
                <a:solidFill>
                  <a:srgbClr val="000000"/>
                </a:solidFill>
                <a:latin typeface="Helvetica Neue"/>
                <a:ea typeface="Helvetica Neue"/>
                <a:cs typeface="Helvetica Neue"/>
              </a:defRPr>
            </a:pPr>
            <a:r>
              <a:rPr sz="2175" b="1">
                <a:latin typeface="Helvetica Neue"/>
                <a:ea typeface="Helvetica Neue"/>
                <a:cs typeface="Helvetica Neue"/>
              </a:rPr>
              <a:t>Why resources matter</a:t>
            </a:r>
          </a:p>
          <a:p xmlns:a="http://schemas.openxmlformats.org/drawingml/2006/main">
            <a:pPr marL="0" indent="0" algn="l">
              <a:spcBef>
                <a:spcPts val="0"/>
              </a:spcBef>
              <a:spcAft>
                <a:spcPts val="2000"/>
              </a:spcAft>
              <a:buNone/>
              <a:defRPr sz="1875" b="0">
                <a:solidFill>
                  <a:srgbClr val="000000"/>
                </a:solidFill>
                <a:latin typeface="Helvetica Neue"/>
                <a:ea typeface="Helvetica Neue"/>
                <a:cs typeface="Helvetica Neue"/>
              </a:defRPr>
            </a:pPr>
            <a:r>
              <a:rPr sz="1875">
                <a:latin typeface="Helvetica Neue"/>
                <a:ea typeface="Helvetica Neue"/>
                <a:cs typeface="Helvetica Neue"/>
              </a:rPr>
              <a:t>CPU and memory limits can leave GPUs waiting. Prism separates CPU-heavy and GPU-heavy work and adds CPU nodes.</a:t>
            </a:r>
          </a:p>
        </p:txBody>
      </p:sp>
      <p:sp>
        <p:nvSpPr>
          <p:cNvPr id="536" name="">
            <a:extLst xmlns:a="http://schemas.openxmlformats.org/drawingml/2006/main">
              <a:ext uri="{FF2B5EF4-FFF2-40B4-BE49-F238E27FC236}">
                <a16:creationId xmlns:a16="http://schemas.microsoft.com/office/drawing/2014/main" id="{14D39033-4778-430B-A823-495E3B6000DB}"/>
              </a:ext>
            </a:extLst>
          </p:cNvPr>
          <p:cNvSpPr>
            <a:spLocks xmlns:a="http://schemas.openxmlformats.org/drawingml/2006/main" noGrp="1"/>
          </p:cNvSpPr>
          <p:nvPr/>
        </p:nvSpPr>
        <p:spPr>
          <a:xfrm xmlns:a="http://schemas.openxmlformats.org/drawingml/2006/main">
            <a:off x="390525" y="5295900"/>
            <a:ext cx="5905500" cy="666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b="0">
                <a:solidFill>
                  <a:srgbClr val="000000"/>
                </a:solidFill>
                <a:latin typeface="Helvetica Neue"/>
                <a:ea typeface="Helvetica Neue"/>
                <a:cs typeface="Helvetica Neue"/>
              </a:rPr>
              <a:t>Eight A100 80 GB GPUs per node.</a:t>
            </a:r>
          </a:p>
          <a:p xmlns:a="http://schemas.openxmlformats.org/drawingml/2006/main">
            <a:pPr algn="l">
              <a:defRPr sz="1575" b="0">
                <a:solidFill>
                  <a:srgbClr val="000000"/>
                </a:solidFill>
                <a:latin typeface="Helvetica Neue"/>
                <a:ea typeface="Helvetica Neue"/>
                <a:cs typeface="Helvetica Neue"/>
              </a:defRPr>
            </a:pPr>
            <a:r>
              <a:rPr sz="1575" b="0">
                <a:solidFill>
                  <a:srgbClr val="000000"/>
                </a:solidFill>
                <a:latin typeface="Helvetica Neue"/>
                <a:ea typeface="Helvetica Neue"/>
                <a:cs typeface="Helvetica Neue"/>
              </a:rPr>
              <a:t>The 9× case also uses GPU partitioning (MIG).</a:t>
            </a:r>
          </a:p>
        </p:txBody>
      </p:sp>
    </p:spTree>
    <p:extLst>
      <p:ext uri="{BB962C8B-B14F-4D97-AF65-F5344CB8AC3E}">
        <p14:creationId xmlns:p14="http://schemas.microsoft.com/office/powerpoint/2010/main" val="366718214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e567a5bf83c24055"/>
              </a:rPr>
              <a:t>vLLM CUDA graph design</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71830a7f78cc4db5"/>
              </a:rPr>
              <a:t>Measured data and W&amp;B</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BA58DA2A-B818-18A9-29C1-B697728D5BCE}" type="slidenum">
              <a:rPr sz="1125" b="0">
                <a:solidFill>
                  <a:srgbClr val="000000"/>
                </a:solidFill>
                <a:latin typeface="Helvetica Neue"/>
                <a:ea typeface="Helvetica Neue"/>
                <a:cs typeface="Helvetica Neue"/>
              </a:rPr>
              <a:t>8</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Experiment 1: changing CUDA graph batch sizes</a:t>
            </a:r>
          </a:p>
        </p:txBody>
      </p:sp>
      <p:sp>
        <p:nvSpPr>
          <p:cNvPr id="534" name="">
            <a:extLst xmlns:a="http://schemas.openxmlformats.org/drawingml/2006/main">
              <a:ext uri="{FF2B5EF4-FFF2-40B4-BE49-F238E27FC236}">
                <a16:creationId xmlns:a16="http://schemas.microsoft.com/office/drawing/2014/main" id="{BE83A2EB-8C4A-4760-A3F0-D9CAF2E9A9B4}"/>
              </a:ext>
            </a:extLst>
          </p:cNvPr>
          <p:cNvSpPr>
            <a:spLocks xmlns:a="http://schemas.openxmlformats.org/drawingml/2006/main" noGrp="1"/>
          </p:cNvSpPr>
          <p:nvPr/>
        </p:nvSpPr>
        <p:spPr>
          <a:xfrm xmlns:a="http://schemas.openxmlformats.org/drawingml/2006/main">
            <a:off x="390525" y="1323975"/>
            <a:ext cx="11401425" cy="628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CUDA graphs replay recorded GPU operations. Captured batch sizes affect padding and memory use.</a:t>
            </a:r>
          </a:p>
        </p:txBody>
      </p:sp>
      <p:graphicFrame>
        <p:nvGraphicFramePr>
          <p:cNvPr id="542" name=""/>
          <p:cNvGraphicFramePr/>
          <p:nvPr/>
        </p:nvGraphicFramePr>
        <p:xfrm>
          <a:off xmlns:a="http://schemas.openxmlformats.org/drawingml/2006/main" x="390525" y="2228850"/>
          <a:ext xmlns:a="http://schemas.openxmlformats.org/drawingml/2006/main" cx="11401425" cy="2390775"/>
        </p:xfrm>
        <a:graphic xmlns:a="http://schemas.openxmlformats.org/drawingml/2006/main">
          <a:graphicData uri="http://schemas.openxmlformats.org/drawingml/2006/table">
            <a:tbl>
              <a:tblPr firstRow="0" bandRow="0"/>
              <a:tblGrid>
                <a:gridCol w="2447925"/>
                <a:gridCol w="4391025"/>
                <a:gridCol w="4562475"/>
              </a:tblGrid>
              <a:tr h="597694">
                <a:tc>
                  <a:txBody>
                    <a:bodyPr/>
                    <a:lstStyle/>
                    <a:p>
                      <a:r>
                        <a:rPr sz="1650" b="1">
                          <a:solidFill>
                            <a:srgbClr val="000000"/>
                          </a:solidFill>
                          <a:latin typeface="Helvetica Neue"/>
                          <a:ea typeface="Helvetica Neue"/>
                          <a:cs typeface="Helvetica Neue"/>
                        </a:rPr>
                        <a:t>Configuration</a:t>
                      </a:r>
                    </a:p>
                  </a:txBody>
                  <a:tcPr marL="95250" marR="95250" marT="76200" marB="57150" anchor="t">
                    <a:solidFill>
                      <a:srgbClr val="EAF6FD"/>
                    </a:solidFill>
                  </a:tcPr>
                </a:tc>
                <a:tc>
                  <a:txBody>
                    <a:bodyPr/>
                    <a:lstStyle/>
                    <a:p>
                      <a:r>
                        <a:rPr sz="1650" b="1">
                          <a:solidFill>
                            <a:srgbClr val="000000"/>
                          </a:solidFill>
                          <a:latin typeface="Helvetica Neue"/>
                          <a:ea typeface="Helvetica Neue"/>
                          <a:cs typeface="Helvetica Neue"/>
                        </a:rPr>
                        <a:t>Captured batch sizes</a:t>
                      </a:r>
                    </a:p>
                  </a:txBody>
                  <a:tcPr marL="95250" marR="95250" marT="76200" marB="57150" anchor="t">
                    <a:solidFill>
                      <a:srgbClr val="EAF6FD"/>
                    </a:solidFill>
                  </a:tcPr>
                </a:tc>
                <a:tc>
                  <a:txBody>
                    <a:bodyPr/>
                    <a:lstStyle/>
                    <a:p>
                      <a:r>
                        <a:rPr sz="1650" b="1">
                          <a:solidFill>
                            <a:srgbClr val="000000"/>
                          </a:solidFill>
                          <a:latin typeface="Helvetica Neue"/>
                          <a:ea typeface="Helvetica Neue"/>
                          <a:cs typeface="Helvetica Neue"/>
                        </a:rPr>
                        <a:t>Question</a:t>
                      </a:r>
                    </a:p>
                  </a:txBody>
                  <a:tcPr marL="95250" marR="95250" marT="76200" marB="57150" anchor="t">
                    <a:solidFill>
                      <a:srgbClr val="EAF6FD"/>
                    </a:solidFill>
                  </a:tcPr>
                </a:tc>
              </a:tr>
              <a:tr h="597694">
                <a:tc>
                  <a:txBody>
                    <a:bodyPr/>
                    <a:lstStyle/>
                    <a:p>
                      <a:r>
                        <a:rPr sz="1650">
                          <a:solidFill>
                            <a:srgbClr val="000000"/>
                          </a:solidFill>
                          <a:latin typeface="Helvetica Neue"/>
                          <a:ea typeface="Helvetica Neue"/>
                          <a:cs typeface="Helvetica Neue"/>
                        </a:rPr>
                        <a:t>Current default</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35 sizes selected by vLLM</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How well does the current engine work?</a:t>
                      </a:r>
                    </a:p>
                  </a:txBody>
                  <a:tcPr marL="95250" marR="95250" marT="76200" marB="57150" anchor="t">
                    <a:solidFill>
                      <a:srgbClr val="FFFFFF"/>
                    </a:solidFill>
                  </a:tcPr>
                </a:tc>
              </a:tr>
              <a:tr h="597694">
                <a:tc>
                  <a:txBody>
                    <a:bodyPr/>
                    <a:lstStyle/>
                    <a:p>
                      <a:r>
                        <a:rPr sz="1650">
                          <a:solidFill>
                            <a:srgbClr val="000000"/>
                          </a:solidFill>
                          <a:latin typeface="Helvetica Neue"/>
                          <a:ea typeface="Helvetica Neue"/>
                          <a:cs typeface="Helvetica Neue"/>
                        </a:rPr>
                        <a:t>Coarse grid</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9 powers-of-two sizes</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Does a sparse set lose throughput?</a:t>
                      </a:r>
                    </a:p>
                  </a:txBody>
                  <a:tcPr marL="95250" marR="95250" marT="76200" marB="57150" anchor="t">
                    <a:solidFill>
                      <a:srgbClr val="FFFFFF"/>
                    </a:solidFill>
                  </a:tcPr>
                </a:tc>
              </a:tr>
              <a:tr h="597694">
                <a:tc>
                  <a:txBody>
                    <a:bodyPr/>
                    <a:lstStyle/>
                    <a:p>
                      <a:r>
                        <a:rPr sz="1650">
                          <a:solidFill>
                            <a:srgbClr val="000000"/>
                          </a:solidFill>
                          <a:latin typeface="Helvetica Neue"/>
                          <a:ea typeface="Helvetica Neue"/>
                          <a:cs typeface="Helvetica Neue"/>
                        </a:rPr>
                        <a:t>Matched set</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Coarse grid plus 8 tested sizes (17 total)</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Does exact coverage help?</a:t>
                      </a:r>
                    </a:p>
                  </a:txBody>
                  <a:tcPr marL="95250" marR="95250" marT="76200" marB="57150" anchor="t">
                    <a:solidFill>
                      <a:srgbClr val="FFFFFF"/>
                    </a:solidFill>
                  </a:tcPr>
                </a:tc>
              </a:tr>
            </a:tbl>
          </a:graphicData>
        </a:graphic>
      </p:graphicFrame>
      <p:sp>
        <p:nvSpPr>
          <p:cNvPr id="536" name="">
            <a:extLst xmlns:a="http://schemas.openxmlformats.org/drawingml/2006/main">
              <a:ext uri="{FF2B5EF4-FFF2-40B4-BE49-F238E27FC236}">
                <a16:creationId xmlns:a16="http://schemas.microsoft.com/office/drawing/2014/main" id="{43461719-E18C-4CCC-A587-2FAB750D1E44}"/>
              </a:ext>
            </a:extLst>
          </p:cNvPr>
          <p:cNvSpPr>
            <a:spLocks xmlns:a="http://schemas.openxmlformats.org/drawingml/2006/main" noGrp="1"/>
          </p:cNvSpPr>
          <p:nvPr/>
        </p:nvSpPr>
        <p:spPr>
          <a:xfrm xmlns:a="http://schemas.openxmlformats.org/drawingml/2006/main">
            <a:off x="390525" y="4905375"/>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Same A100 40 GB, vLLM 0.28.0, BF16 precision and capture ceiling 256.</a:t>
            </a:r>
          </a:p>
        </p:txBody>
      </p:sp>
      <p:sp>
        <p:nvSpPr>
          <p:cNvPr id="537" name="">
            <a:extLst xmlns:a="http://schemas.openxmlformats.org/drawingml/2006/main">
              <a:ext uri="{FF2B5EF4-FFF2-40B4-BE49-F238E27FC236}">
                <a16:creationId xmlns:a16="http://schemas.microsoft.com/office/drawing/2014/main" id="{53F8E501-4424-451C-BF08-E6FB30D28292}"/>
              </a:ext>
            </a:extLst>
          </p:cNvPr>
          <p:cNvSpPr>
            <a:spLocks xmlns:a="http://schemas.openxmlformats.org/drawingml/2006/main" noGrp="1"/>
          </p:cNvSpPr>
          <p:nvPr/>
        </p:nvSpPr>
        <p:spPr>
          <a:xfrm xmlns:a="http://schemas.openxmlformats.org/drawingml/2006/main">
            <a:off x="390525" y="5381625"/>
            <a:ext cx="11401425" cy="5810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128 input + 128 output tokens. 8 batches × 3 configurations × 3 repeats = 72 calls/model.</a:t>
            </a:r>
          </a:p>
        </p:txBody>
      </p:sp>
    </p:spTree>
    <p:extLst>
      <p:ext uri="{BB962C8B-B14F-4D97-AF65-F5344CB8AC3E}">
        <p14:creationId xmlns:p14="http://schemas.microsoft.com/office/powerpoint/2010/main" val="366718214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8a65cd16e4154771"/>
              </a:rPr>
              <a:t>Source: raw timings and W&amp;B runs</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388657AE-30A1-5A7A-6A7F-315D84436430}" type="slidenum">
              <a:rPr sz="1125" b="0">
                <a:solidFill>
                  <a:srgbClr val="000000"/>
                </a:solidFill>
                <a:latin typeface="Helvetica Neue"/>
                <a:ea typeface="Helvetica Neue"/>
                <a:cs typeface="Helvetica Neue"/>
              </a:rPr>
              <a:t>9</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Current models: all 216 timing measurements</a:t>
            </a:r>
          </a:p>
        </p:txBody>
      </p:sp>
      <p:sp>
        <p:nvSpPr>
          <p:cNvPr id="534" name="">
            <a:extLst xmlns:a="http://schemas.openxmlformats.org/drawingml/2006/main">
              <a:ext uri="{FF2B5EF4-FFF2-40B4-BE49-F238E27FC236}">
                <a16:creationId xmlns:a16="http://schemas.microsoft.com/office/drawing/2014/main" id="{E3464F79-4B36-4AC8-B0CB-728E7048EE21}"/>
              </a:ext>
            </a:extLst>
          </p:cNvPr>
          <p:cNvSpPr>
            <a:spLocks xmlns:a="http://schemas.openxmlformats.org/drawingml/2006/main" noGrp="1"/>
          </p:cNvSpPr>
          <p:nvPr/>
        </p:nvSpPr>
        <p:spPr>
          <a:xfrm xmlns:a="http://schemas.openxmlformats.org/drawingml/2006/main">
            <a:off x="390525" y="1304925"/>
            <a:ext cx="1140142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Output tokens/s (higher is better). Points show every repeat. Lines show means.</a:t>
            </a:r>
          </a:p>
        </p:txBody>
      </p:sp>
      <p:sp>
        <p:nvSpPr>
          <p:cNvPr id="535" name="">
            <a:extLst xmlns:a="http://schemas.openxmlformats.org/drawingml/2006/main">
              <a:ext uri="{FF2B5EF4-FFF2-40B4-BE49-F238E27FC236}">
                <a16:creationId xmlns:a16="http://schemas.microsoft.com/office/drawing/2014/main" id="{AA6ABBA8-DAD9-4750-B1FD-6B3565F64184}"/>
              </a:ext>
            </a:extLst>
          </p:cNvPr>
          <p:cNvSpPr>
            <a:spLocks xmlns:a="http://schemas.openxmlformats.org/drawingml/2006/main" noGrp="1"/>
          </p:cNvSpPr>
          <p:nvPr/>
        </p:nvSpPr>
        <p:spPr>
          <a:xfrm xmlns:a="http://schemas.openxmlformats.org/drawingml/2006/main">
            <a:off x="390525" y="2019300"/>
            <a:ext cx="360997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Gemma 4 12B</a:t>
            </a:r>
          </a:p>
        </p:txBody>
      </p:sp>
      <p:graphicFrame>
        <p:nvGraphicFramePr>
          <p:cNvPr id="552" name="Chart"/>
          <p:cNvGraphicFramePr/>
          <p:nvPr/>
        </p:nvGraphicFramePr>
        <p:xfrm>
          <a:off xmlns:a="http://schemas.openxmlformats.org/drawingml/2006/main" x="390525" y="2466975"/>
          <a:ext xmlns:a="http://schemas.openxmlformats.org/drawingml/2006/main" cx="3609975" cy="2847975"/>
        </p:xfrm>
        <a:graphic xmlns:a="http://schemas.openxmlformats.org/drawingml/2006/main">
          <a:graphicData uri="http://schemas.openxmlformats.org/drawingml/2006/chart">
            <c:chart xmlns:r="http://schemas.openxmlformats.org/officeDocument/2006/relationships" xmlns:c="http://schemas.openxmlformats.org/drawingml/2006/chart" r:id="Rb69c46229b634121"/>
          </a:graphicData>
        </a:graphic>
      </p:graphicFrame>
      <p:sp>
        <p:nvSpPr>
          <p:cNvPr id="537" name="">
            <a:extLst xmlns:a="http://schemas.openxmlformats.org/drawingml/2006/main">
              <a:ext uri="{FF2B5EF4-FFF2-40B4-BE49-F238E27FC236}">
                <a16:creationId xmlns:a16="http://schemas.microsoft.com/office/drawing/2014/main" id="{26F8DD6B-B58C-4BA1-92F0-35598EEC91F8}"/>
              </a:ext>
            </a:extLst>
          </p:cNvPr>
          <p:cNvSpPr>
            <a:spLocks xmlns:a="http://schemas.openxmlformats.org/drawingml/2006/main" noGrp="1"/>
          </p:cNvSpPr>
          <p:nvPr/>
        </p:nvSpPr>
        <p:spPr>
          <a:xfrm xmlns:a="http://schemas.openxmlformats.org/drawingml/2006/main">
            <a:off x="962025" y="5410200"/>
            <a:ext cx="2857500" cy="2952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00" b="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Requests in fixed batch</a:t>
            </a:r>
          </a:p>
        </p:txBody>
      </p:sp>
      <p:sp>
        <p:nvSpPr>
          <p:cNvPr id="538" name="">
            <a:extLst xmlns:a="http://schemas.openxmlformats.org/drawingml/2006/main">
              <a:ext uri="{FF2B5EF4-FFF2-40B4-BE49-F238E27FC236}">
                <a16:creationId xmlns:a16="http://schemas.microsoft.com/office/drawing/2014/main" id="{F323E914-43F3-443F-BA2B-6A8F87C284D3}"/>
              </a:ext>
            </a:extLst>
          </p:cNvPr>
          <p:cNvSpPr>
            <a:spLocks xmlns:a="http://schemas.openxmlformats.org/drawingml/2006/main" noGrp="1"/>
          </p:cNvSpPr>
          <p:nvPr/>
        </p:nvSpPr>
        <p:spPr>
          <a:xfrm xmlns:a="http://schemas.openxmlformats.org/drawingml/2006/main">
            <a:off x="4305300" y="2019300"/>
            <a:ext cx="360997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Qwen3.5-9B</a:t>
            </a:r>
          </a:p>
        </p:txBody>
      </p:sp>
      <p:graphicFrame>
        <p:nvGraphicFramePr>
          <p:cNvPr id="555" name="Chart"/>
          <p:cNvGraphicFramePr/>
          <p:nvPr/>
        </p:nvGraphicFramePr>
        <p:xfrm>
          <a:off xmlns:a="http://schemas.openxmlformats.org/drawingml/2006/main" x="4305300" y="2466975"/>
          <a:ext xmlns:a="http://schemas.openxmlformats.org/drawingml/2006/main" cx="3609975" cy="2847975"/>
        </p:xfrm>
        <a:graphic xmlns:a="http://schemas.openxmlformats.org/drawingml/2006/main">
          <a:graphicData uri="http://schemas.openxmlformats.org/drawingml/2006/chart">
            <c:chart xmlns:r="http://schemas.openxmlformats.org/officeDocument/2006/relationships" xmlns:c="http://schemas.openxmlformats.org/drawingml/2006/chart" r:id="R844dc5e694504e64"/>
          </a:graphicData>
        </a:graphic>
      </p:graphicFrame>
      <p:sp>
        <p:nvSpPr>
          <p:cNvPr id="540" name="">
            <a:extLst xmlns:a="http://schemas.openxmlformats.org/drawingml/2006/main">
              <a:ext uri="{FF2B5EF4-FFF2-40B4-BE49-F238E27FC236}">
                <a16:creationId xmlns:a16="http://schemas.microsoft.com/office/drawing/2014/main" id="{A9AC67D2-9DD2-4946-97B2-5C907D556FAA}"/>
              </a:ext>
            </a:extLst>
          </p:cNvPr>
          <p:cNvSpPr>
            <a:spLocks xmlns:a="http://schemas.openxmlformats.org/drawingml/2006/main" noGrp="1"/>
          </p:cNvSpPr>
          <p:nvPr/>
        </p:nvSpPr>
        <p:spPr>
          <a:xfrm xmlns:a="http://schemas.openxmlformats.org/drawingml/2006/main">
            <a:off x="4876800" y="5410200"/>
            <a:ext cx="2857500" cy="2952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00" b="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Requests in fixed batch</a:t>
            </a:r>
          </a:p>
        </p:txBody>
      </p:sp>
      <p:sp>
        <p:nvSpPr>
          <p:cNvPr id="541" name="">
            <a:extLst xmlns:a="http://schemas.openxmlformats.org/drawingml/2006/main">
              <a:ext uri="{FF2B5EF4-FFF2-40B4-BE49-F238E27FC236}">
                <a16:creationId xmlns:a16="http://schemas.microsoft.com/office/drawing/2014/main" id="{4789C1B2-AF29-418D-A7CA-E5B8945C39AB}"/>
              </a:ext>
            </a:extLst>
          </p:cNvPr>
          <p:cNvSpPr>
            <a:spLocks xmlns:a="http://schemas.openxmlformats.org/drawingml/2006/main" noGrp="1"/>
          </p:cNvSpPr>
          <p:nvPr/>
        </p:nvSpPr>
        <p:spPr>
          <a:xfrm xmlns:a="http://schemas.openxmlformats.org/drawingml/2006/main">
            <a:off x="8220075" y="2019300"/>
            <a:ext cx="360997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Gemma 4 E4B</a:t>
            </a:r>
          </a:p>
        </p:txBody>
      </p:sp>
      <p:graphicFrame>
        <p:nvGraphicFramePr>
          <p:cNvPr id="558" name="Chart"/>
          <p:cNvGraphicFramePr/>
          <p:nvPr/>
        </p:nvGraphicFramePr>
        <p:xfrm>
          <a:off xmlns:a="http://schemas.openxmlformats.org/drawingml/2006/main" x="8220075" y="2466975"/>
          <a:ext xmlns:a="http://schemas.openxmlformats.org/drawingml/2006/main" cx="3609975" cy="2847975"/>
        </p:xfrm>
        <a:graphic xmlns:a="http://schemas.openxmlformats.org/drawingml/2006/main">
          <a:graphicData uri="http://schemas.openxmlformats.org/drawingml/2006/chart">
            <c:chart xmlns:r="http://schemas.openxmlformats.org/officeDocument/2006/relationships" xmlns:c="http://schemas.openxmlformats.org/drawingml/2006/chart" r:id="R94ba4a09d0a64618"/>
          </a:graphicData>
        </a:graphic>
      </p:graphicFrame>
      <p:sp>
        <p:nvSpPr>
          <p:cNvPr id="543" name="">
            <a:extLst xmlns:a="http://schemas.openxmlformats.org/drawingml/2006/main">
              <a:ext uri="{FF2B5EF4-FFF2-40B4-BE49-F238E27FC236}">
                <a16:creationId xmlns:a16="http://schemas.microsoft.com/office/drawing/2014/main" id="{EBC6515A-B014-4D65-B7C1-3546DF876B44}"/>
              </a:ext>
            </a:extLst>
          </p:cNvPr>
          <p:cNvSpPr>
            <a:spLocks xmlns:a="http://schemas.openxmlformats.org/drawingml/2006/main" noGrp="1"/>
          </p:cNvSpPr>
          <p:nvPr/>
        </p:nvSpPr>
        <p:spPr>
          <a:xfrm xmlns:a="http://schemas.openxmlformats.org/drawingml/2006/main">
            <a:off x="8791575" y="5410200"/>
            <a:ext cx="2857500" cy="2952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00" b="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Requests in fixed batch</a:t>
            </a:r>
          </a:p>
        </p:txBody>
      </p:sp>
      <p:sp>
        <p:nvSpPr>
          <p:cNvPr id="544" name="">
            <a:extLst xmlns:a="http://schemas.openxmlformats.org/drawingml/2006/main">
              <a:ext uri="{FF2B5EF4-FFF2-40B4-BE49-F238E27FC236}">
                <a16:creationId xmlns:a16="http://schemas.microsoft.com/office/drawing/2014/main" id="{F63B986A-4947-4D3D-9114-5DDC44A3406E}"/>
              </a:ext>
            </a:extLst>
          </p:cNvPr>
          <p:cNvSpPr>
            <a:spLocks xmlns:a="http://schemas.openxmlformats.org/drawingml/2006/main" noGrp="1"/>
          </p:cNvSpPr>
          <p:nvPr/>
        </p:nvSpPr>
        <p:spPr>
          <a:xfrm xmlns:a="http://schemas.openxmlformats.org/drawingml/2006/main">
            <a:off x="1000125" y="5848350"/>
            <a:ext cx="3667125"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222222"/>
                </a:solidFill>
                <a:latin typeface="Helvetica Neue"/>
                <a:ea typeface="Helvetica Neue"/>
                <a:cs typeface="Helvetica Neue"/>
              </a:defRPr>
            </a:pPr>
            <a:r>
              <a:rPr sz="1650" b="0">
                <a:solidFill>
                  <a:srgbClr val="222222"/>
                </a:solidFill>
                <a:latin typeface="Helvetica Neue"/>
                <a:ea typeface="Helvetica Neue"/>
                <a:cs typeface="Helvetica Neue"/>
              </a:rPr>
              <a:t>● Current default</a:t>
            </a:r>
          </a:p>
        </p:txBody>
      </p:sp>
      <p:sp>
        <p:nvSpPr>
          <p:cNvPr id="545" name="">
            <a:extLst xmlns:a="http://schemas.openxmlformats.org/drawingml/2006/main">
              <a:ext uri="{FF2B5EF4-FFF2-40B4-BE49-F238E27FC236}">
                <a16:creationId xmlns:a16="http://schemas.microsoft.com/office/drawing/2014/main" id="{BB6F5F8A-D76C-4797-AF75-B7F3667C9AB9}"/>
              </a:ext>
            </a:extLst>
          </p:cNvPr>
          <p:cNvSpPr>
            <a:spLocks xmlns:a="http://schemas.openxmlformats.org/drawingml/2006/main" noGrp="1"/>
          </p:cNvSpPr>
          <p:nvPr/>
        </p:nvSpPr>
        <p:spPr>
          <a:xfrm xmlns:a="http://schemas.openxmlformats.org/drawingml/2006/main">
            <a:off x="4695825" y="5848350"/>
            <a:ext cx="3667125"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3D8DFF"/>
                </a:solidFill>
                <a:latin typeface="Helvetica Neue"/>
                <a:ea typeface="Helvetica Neue"/>
                <a:cs typeface="Helvetica Neue"/>
              </a:defRPr>
            </a:pPr>
            <a:r>
              <a:rPr sz="1650" b="0">
                <a:solidFill>
                  <a:srgbClr val="3D8DFF"/>
                </a:solidFill>
                <a:latin typeface="Helvetica Neue"/>
                <a:ea typeface="Helvetica Neue"/>
                <a:cs typeface="Helvetica Neue"/>
              </a:rPr>
              <a:t>◆ Manual matched set</a:t>
            </a:r>
          </a:p>
        </p:txBody>
      </p:sp>
      <p:sp>
        <p:nvSpPr>
          <p:cNvPr id="546" name="">
            <a:extLst xmlns:a="http://schemas.openxmlformats.org/drawingml/2006/main">
              <a:ext uri="{FF2B5EF4-FFF2-40B4-BE49-F238E27FC236}">
                <a16:creationId xmlns:a16="http://schemas.microsoft.com/office/drawing/2014/main" id="{65FD2657-FD4D-4869-8253-83EA0108EB3B}"/>
              </a:ext>
            </a:extLst>
          </p:cNvPr>
          <p:cNvSpPr>
            <a:spLocks xmlns:a="http://schemas.openxmlformats.org/drawingml/2006/main" noGrp="1"/>
          </p:cNvSpPr>
          <p:nvPr/>
        </p:nvSpPr>
        <p:spPr>
          <a:xfrm xmlns:a="http://schemas.openxmlformats.org/drawingml/2006/main">
            <a:off x="8391525" y="5848350"/>
            <a:ext cx="3667125"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909AA8"/>
                </a:solidFill>
                <a:latin typeface="Helvetica Neue"/>
                <a:ea typeface="Helvetica Neue"/>
                <a:cs typeface="Helvetica Neue"/>
              </a:defRPr>
            </a:pPr>
            <a:r>
              <a:rPr sz="1650" b="0">
                <a:solidFill>
                  <a:srgbClr val="909AA8"/>
                </a:solidFill>
                <a:latin typeface="Helvetica Neue"/>
                <a:ea typeface="Helvetica Neue"/>
                <a:cs typeface="Helvetica Neue"/>
              </a:rPr>
              <a:t>▲ Coarse grid</a:t>
            </a:r>
          </a:p>
        </p:txBody>
      </p:sp>
    </p:spTree>
    <p:extLst>
      <p:ext uri="{BB962C8B-B14F-4D97-AF65-F5344CB8AC3E}">
        <p14:creationId xmlns:p14="http://schemas.microsoft.com/office/powerpoint/2010/main" val="36671821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3d815c6573054e06"/>
              </a:rPr>
              <a:t>Source: earlier Qwen raw timings and W&amp;B</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DB7BEEEC-A170-5376-2B6E-CB54687B0CB1}" type="slidenum">
              <a:rPr sz="1125" b="0">
                <a:solidFill>
                  <a:srgbClr val="000000"/>
                </a:solidFill>
                <a:latin typeface="Helvetica Neue"/>
                <a:ea typeface="Helvetica Neue"/>
                <a:cs typeface="Helvetica Neue"/>
              </a:rPr>
              <a:t>10</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Earlier Qwen controls: all 144 timing measurements</a:t>
            </a:r>
          </a:p>
        </p:txBody>
      </p:sp>
      <p:sp>
        <p:nvSpPr>
          <p:cNvPr id="534" name="">
            <a:extLst xmlns:a="http://schemas.openxmlformats.org/drawingml/2006/main">
              <a:ext uri="{FF2B5EF4-FFF2-40B4-BE49-F238E27FC236}">
                <a16:creationId xmlns:a16="http://schemas.microsoft.com/office/drawing/2014/main" id="{0AFA4A5F-4348-4A3D-ABEC-76F3F6929F8A}"/>
              </a:ext>
            </a:extLst>
          </p:cNvPr>
          <p:cNvSpPr>
            <a:spLocks xmlns:a="http://schemas.openxmlformats.org/drawingml/2006/main" noGrp="1"/>
          </p:cNvSpPr>
          <p:nvPr/>
        </p:nvSpPr>
        <p:spPr>
          <a:xfrm xmlns:a="http://schemas.openxmlformats.org/drawingml/2006/main">
            <a:off x="390525" y="1304925"/>
            <a:ext cx="11401425" cy="6000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Output tokens/s (higher is better). Two older controls, with every repeat and configuration mean.</a:t>
            </a:r>
          </a:p>
        </p:txBody>
      </p:sp>
      <p:sp>
        <p:nvSpPr>
          <p:cNvPr id="535" name="">
            <a:extLst xmlns:a="http://schemas.openxmlformats.org/drawingml/2006/main">
              <a:ext uri="{FF2B5EF4-FFF2-40B4-BE49-F238E27FC236}">
                <a16:creationId xmlns:a16="http://schemas.microsoft.com/office/drawing/2014/main" id="{BD58618D-9263-44A4-B21B-95EC5CE7E3AF}"/>
              </a:ext>
            </a:extLst>
          </p:cNvPr>
          <p:cNvSpPr>
            <a:spLocks xmlns:a="http://schemas.openxmlformats.org/drawingml/2006/main" noGrp="1"/>
          </p:cNvSpPr>
          <p:nvPr/>
        </p:nvSpPr>
        <p:spPr>
          <a:xfrm xmlns:a="http://schemas.openxmlformats.org/drawingml/2006/main">
            <a:off x="390525" y="2057400"/>
            <a:ext cx="54959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Qwen2.5-1.5B</a:t>
            </a:r>
          </a:p>
        </p:txBody>
      </p:sp>
      <p:graphicFrame>
        <p:nvGraphicFramePr>
          <p:cNvPr id="549" name="Chart"/>
          <p:cNvGraphicFramePr/>
          <p:nvPr/>
        </p:nvGraphicFramePr>
        <p:xfrm>
          <a:off xmlns:a="http://schemas.openxmlformats.org/drawingml/2006/main" x="390525" y="2457450"/>
          <a:ext xmlns:a="http://schemas.openxmlformats.org/drawingml/2006/main" cx="5495925" cy="2800350"/>
        </p:xfrm>
        <a:graphic xmlns:a="http://schemas.openxmlformats.org/drawingml/2006/main">
          <a:graphicData uri="http://schemas.openxmlformats.org/drawingml/2006/chart">
            <c:chart xmlns:r="http://schemas.openxmlformats.org/officeDocument/2006/relationships" xmlns:c="http://schemas.openxmlformats.org/drawingml/2006/chart" r:id="Rc51a9b0daa2241d5"/>
          </a:graphicData>
        </a:graphic>
      </p:graphicFrame>
      <p:sp>
        <p:nvSpPr>
          <p:cNvPr id="537" name="">
            <a:extLst xmlns:a="http://schemas.openxmlformats.org/drawingml/2006/main">
              <a:ext uri="{FF2B5EF4-FFF2-40B4-BE49-F238E27FC236}">
                <a16:creationId xmlns:a16="http://schemas.microsoft.com/office/drawing/2014/main" id="{21716D0F-A73C-4A87-827D-6D0C43E12E9F}"/>
              </a:ext>
            </a:extLst>
          </p:cNvPr>
          <p:cNvSpPr>
            <a:spLocks xmlns:a="http://schemas.openxmlformats.org/drawingml/2006/main" noGrp="1"/>
          </p:cNvSpPr>
          <p:nvPr/>
        </p:nvSpPr>
        <p:spPr>
          <a:xfrm xmlns:a="http://schemas.openxmlformats.org/drawingml/2006/main">
            <a:off x="2105025" y="5381625"/>
            <a:ext cx="338137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b="0">
                <a:solidFill>
                  <a:srgbClr val="000000"/>
                </a:solidFill>
                <a:latin typeface="Helvetica Neue"/>
                <a:ea typeface="Helvetica Neue"/>
                <a:cs typeface="Helvetica Neue"/>
              </a:rPr>
              <a:t>Requests in fixed batch</a:t>
            </a:r>
          </a:p>
        </p:txBody>
      </p:sp>
      <p:sp>
        <p:nvSpPr>
          <p:cNvPr id="538" name="">
            <a:extLst xmlns:a="http://schemas.openxmlformats.org/drawingml/2006/main">
              <a:ext uri="{FF2B5EF4-FFF2-40B4-BE49-F238E27FC236}">
                <a16:creationId xmlns:a16="http://schemas.microsoft.com/office/drawing/2014/main" id="{3D85CB83-DE45-449A-ACC6-620499476961}"/>
              </a:ext>
            </a:extLst>
          </p:cNvPr>
          <p:cNvSpPr>
            <a:spLocks xmlns:a="http://schemas.openxmlformats.org/drawingml/2006/main" noGrp="1"/>
          </p:cNvSpPr>
          <p:nvPr/>
        </p:nvSpPr>
        <p:spPr>
          <a:xfrm xmlns:a="http://schemas.openxmlformats.org/drawingml/2006/main">
            <a:off x="6267450" y="2057400"/>
            <a:ext cx="54959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Qwen2.5-7B</a:t>
            </a:r>
          </a:p>
        </p:txBody>
      </p:sp>
      <p:graphicFrame>
        <p:nvGraphicFramePr>
          <p:cNvPr id="552" name="Chart"/>
          <p:cNvGraphicFramePr/>
          <p:nvPr/>
        </p:nvGraphicFramePr>
        <p:xfrm>
          <a:off xmlns:a="http://schemas.openxmlformats.org/drawingml/2006/main" x="6267450" y="2457450"/>
          <a:ext xmlns:a="http://schemas.openxmlformats.org/drawingml/2006/main" cx="5495925" cy="2800350"/>
        </p:xfrm>
        <a:graphic xmlns:a="http://schemas.openxmlformats.org/drawingml/2006/main">
          <a:graphicData uri="http://schemas.openxmlformats.org/drawingml/2006/chart">
            <c:chart xmlns:r="http://schemas.openxmlformats.org/officeDocument/2006/relationships" xmlns:c="http://schemas.openxmlformats.org/drawingml/2006/chart" r:id="Rc4bd7512061b46a4"/>
          </a:graphicData>
        </a:graphic>
      </p:graphicFrame>
      <p:sp>
        <p:nvSpPr>
          <p:cNvPr id="540" name="">
            <a:extLst xmlns:a="http://schemas.openxmlformats.org/drawingml/2006/main">
              <a:ext uri="{FF2B5EF4-FFF2-40B4-BE49-F238E27FC236}">
                <a16:creationId xmlns:a16="http://schemas.microsoft.com/office/drawing/2014/main" id="{F0665969-C7EA-4FCC-A507-881847F7E43B}"/>
              </a:ext>
            </a:extLst>
          </p:cNvPr>
          <p:cNvSpPr>
            <a:spLocks xmlns:a="http://schemas.openxmlformats.org/drawingml/2006/main" noGrp="1"/>
          </p:cNvSpPr>
          <p:nvPr/>
        </p:nvSpPr>
        <p:spPr>
          <a:xfrm xmlns:a="http://schemas.openxmlformats.org/drawingml/2006/main">
            <a:off x="7981950" y="5381625"/>
            <a:ext cx="338137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b="0">
                <a:solidFill>
                  <a:srgbClr val="000000"/>
                </a:solidFill>
                <a:latin typeface="Helvetica Neue"/>
                <a:ea typeface="Helvetica Neue"/>
                <a:cs typeface="Helvetica Neue"/>
              </a:rPr>
              <a:t>Requests in fixed batch</a:t>
            </a:r>
          </a:p>
        </p:txBody>
      </p:sp>
      <p:sp>
        <p:nvSpPr>
          <p:cNvPr id="541" name="">
            <a:extLst xmlns:a="http://schemas.openxmlformats.org/drawingml/2006/main">
              <a:ext uri="{FF2B5EF4-FFF2-40B4-BE49-F238E27FC236}">
                <a16:creationId xmlns:a16="http://schemas.microsoft.com/office/drawing/2014/main" id="{8AA1162D-6CFB-4CF7-A3B4-BA84790D3BFF}"/>
              </a:ext>
            </a:extLst>
          </p:cNvPr>
          <p:cNvSpPr>
            <a:spLocks xmlns:a="http://schemas.openxmlformats.org/drawingml/2006/main" noGrp="1"/>
          </p:cNvSpPr>
          <p:nvPr/>
        </p:nvSpPr>
        <p:spPr>
          <a:xfrm xmlns:a="http://schemas.openxmlformats.org/drawingml/2006/main">
            <a:off x="1000125" y="5848350"/>
            <a:ext cx="3667125"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222222"/>
                </a:solidFill>
                <a:latin typeface="Helvetica Neue"/>
                <a:ea typeface="Helvetica Neue"/>
                <a:cs typeface="Helvetica Neue"/>
              </a:defRPr>
            </a:pPr>
            <a:r>
              <a:rPr sz="1650" b="0">
                <a:solidFill>
                  <a:srgbClr val="222222"/>
                </a:solidFill>
                <a:latin typeface="Helvetica Neue"/>
                <a:ea typeface="Helvetica Neue"/>
                <a:cs typeface="Helvetica Neue"/>
              </a:rPr>
              <a:t>● Current default</a:t>
            </a:r>
          </a:p>
        </p:txBody>
      </p:sp>
      <p:sp>
        <p:nvSpPr>
          <p:cNvPr id="542" name="">
            <a:extLst xmlns:a="http://schemas.openxmlformats.org/drawingml/2006/main">
              <a:ext uri="{FF2B5EF4-FFF2-40B4-BE49-F238E27FC236}">
                <a16:creationId xmlns:a16="http://schemas.microsoft.com/office/drawing/2014/main" id="{01C89C03-E2B6-4EBB-8FE7-DA799CBC438A}"/>
              </a:ext>
            </a:extLst>
          </p:cNvPr>
          <p:cNvSpPr>
            <a:spLocks xmlns:a="http://schemas.openxmlformats.org/drawingml/2006/main" noGrp="1"/>
          </p:cNvSpPr>
          <p:nvPr/>
        </p:nvSpPr>
        <p:spPr>
          <a:xfrm xmlns:a="http://schemas.openxmlformats.org/drawingml/2006/main">
            <a:off x="4695825" y="5848350"/>
            <a:ext cx="3667125"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3D8DFF"/>
                </a:solidFill>
                <a:latin typeface="Helvetica Neue"/>
                <a:ea typeface="Helvetica Neue"/>
                <a:cs typeface="Helvetica Neue"/>
              </a:defRPr>
            </a:pPr>
            <a:r>
              <a:rPr sz="1650" b="0">
                <a:solidFill>
                  <a:srgbClr val="3D8DFF"/>
                </a:solidFill>
                <a:latin typeface="Helvetica Neue"/>
                <a:ea typeface="Helvetica Neue"/>
                <a:cs typeface="Helvetica Neue"/>
              </a:rPr>
              <a:t>◆ Manual matched set</a:t>
            </a:r>
          </a:p>
        </p:txBody>
      </p:sp>
      <p:sp>
        <p:nvSpPr>
          <p:cNvPr id="543" name="">
            <a:extLst xmlns:a="http://schemas.openxmlformats.org/drawingml/2006/main">
              <a:ext uri="{FF2B5EF4-FFF2-40B4-BE49-F238E27FC236}">
                <a16:creationId xmlns:a16="http://schemas.microsoft.com/office/drawing/2014/main" id="{5C2A9630-B74E-40DC-9BA1-A5DC106337DF}"/>
              </a:ext>
            </a:extLst>
          </p:cNvPr>
          <p:cNvSpPr>
            <a:spLocks xmlns:a="http://schemas.openxmlformats.org/drawingml/2006/main" noGrp="1"/>
          </p:cNvSpPr>
          <p:nvPr/>
        </p:nvSpPr>
        <p:spPr>
          <a:xfrm xmlns:a="http://schemas.openxmlformats.org/drawingml/2006/main">
            <a:off x="8391525" y="5848350"/>
            <a:ext cx="3667125"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909AA8"/>
                </a:solidFill>
                <a:latin typeface="Helvetica Neue"/>
                <a:ea typeface="Helvetica Neue"/>
                <a:cs typeface="Helvetica Neue"/>
              </a:defRPr>
            </a:pPr>
            <a:r>
              <a:rPr sz="1650" b="0">
                <a:solidFill>
                  <a:srgbClr val="909AA8"/>
                </a:solidFill>
                <a:latin typeface="Helvetica Neue"/>
                <a:ea typeface="Helvetica Neue"/>
                <a:cs typeface="Helvetica Neue"/>
              </a:rPr>
              <a:t>▲ Coarse grid</a:t>
            </a:r>
          </a:p>
        </p:txBody>
      </p:sp>
    </p:spTree>
    <p:extLst>
      <p:ext uri="{BB962C8B-B14F-4D97-AF65-F5344CB8AC3E}">
        <p14:creationId xmlns:p14="http://schemas.microsoft.com/office/powerpoint/2010/main" val="36671821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11e35890b82849fc"/>
              </a:rPr>
              <a:t>Source: recorded timings and sampled engine logs</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30394428-F1DC-E5F6-DB0C-7DE31F3D8A23}" type="slidenum">
              <a:rPr sz="1125" b="0">
                <a:solidFill>
                  <a:srgbClr val="000000"/>
                </a:solidFill>
                <a:latin typeface="Helvetica Neue"/>
                <a:ea typeface="Helvetica Neue"/>
                <a:cs typeface="Helvetica Neue"/>
              </a:rPr>
              <a:t>11</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What the capture controls tell us</a:t>
            </a:r>
          </a:p>
        </p:txBody>
      </p:sp>
      <p:sp>
        <p:nvSpPr>
          <p:cNvPr id="534" name="">
            <a:extLst xmlns:a="http://schemas.openxmlformats.org/drawingml/2006/main">
              <a:ext uri="{FF2B5EF4-FFF2-40B4-BE49-F238E27FC236}">
                <a16:creationId xmlns:a16="http://schemas.microsoft.com/office/drawing/2014/main" id="{521FEEE4-FDAD-434B-BB24-ACAF6C4ACAED}"/>
              </a:ext>
            </a:extLst>
          </p:cNvPr>
          <p:cNvSpPr>
            <a:spLocks xmlns:a="http://schemas.openxmlformats.org/drawingml/2006/main" noGrp="1"/>
          </p:cNvSpPr>
          <p:nvPr/>
        </p:nvSpPr>
        <p:spPr>
          <a:xfrm xmlns:a="http://schemas.openxmlformats.org/drawingml/2006/main">
            <a:off x="390525" y="1695450"/>
            <a:ext cx="5467350" cy="3857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marL="0" indent="0" algn="l">
              <a:spcBef>
                <a:spcPts val="0"/>
              </a:spcBef>
              <a:spcAft>
                <a:spcPts val="650"/>
              </a:spcAft>
              <a:buNone/>
              <a:defRPr sz="1875" b="0">
                <a:solidFill>
                  <a:srgbClr val="000000"/>
                </a:solidFill>
                <a:latin typeface="Helvetica Neue"/>
                <a:ea typeface="Helvetica Neue"/>
                <a:cs typeface="Helvetica Neue"/>
              </a:defRPr>
            </a:pPr>
            <a:r>
              <a:rPr sz="2175" b="1">
                <a:latin typeface="Helvetica Neue"/>
                <a:ea typeface="Helvetica Neue"/>
                <a:cs typeface="Helvetica Neue"/>
              </a:rPr>
              <a:t>The current default is strong</a:t>
            </a:r>
          </a:p>
          <a:p xmlns:a="http://schemas.openxmlformats.org/drawingml/2006/main">
            <a:pPr marL="0" indent="0" algn="l">
              <a:spcBef>
                <a:spcPts val="0"/>
              </a:spcBef>
              <a:spcAft>
                <a:spcPts val="2000"/>
              </a:spcAft>
              <a:buNone/>
              <a:defRPr sz="1875" b="0">
                <a:solidFill>
                  <a:srgbClr val="000000"/>
                </a:solidFill>
                <a:latin typeface="Helvetica Neue"/>
                <a:ea typeface="Helvetica Neue"/>
                <a:cs typeface="Helvetica Neue"/>
              </a:defRPr>
            </a:pPr>
            <a:r>
              <a:rPr sz="1875">
                <a:latin typeface="Helvetica Neue"/>
                <a:ea typeface="Helvetica Neue"/>
                <a:cs typeface="Helvetica Neue"/>
              </a:rPr>
              <a:t>Across current models, matched-set differences range from -0.6% to +0.3%. Coarse grids lose up to 3.8%.</a:t>
            </a:r>
          </a:p>
          <a:p xmlns:a="http://schemas.openxmlformats.org/drawingml/2006/main">
            <a:pPr marL="0" indent="0" algn="l">
              <a:spcBef>
                <a:spcPts val="0"/>
              </a:spcBef>
              <a:spcAft>
                <a:spcPts val="650"/>
              </a:spcAft>
              <a:buNone/>
              <a:defRPr sz="1875" b="0">
                <a:solidFill>
                  <a:srgbClr val="000000"/>
                </a:solidFill>
                <a:latin typeface="Helvetica Neue"/>
                <a:ea typeface="Helvetica Neue"/>
                <a:cs typeface="Helvetica Neue"/>
              </a:defRPr>
            </a:pPr>
            <a:r>
              <a:rPr sz="2175" b="1">
                <a:latin typeface="Helvetica Neue"/>
                <a:ea typeface="Helvetica Neue"/>
                <a:cs typeface="Helvetica Neue"/>
              </a:rPr>
              <a:t>Memory pressure remains relevant</a:t>
            </a:r>
          </a:p>
          <a:p xmlns:a="http://schemas.openxmlformats.org/drawingml/2006/main">
            <a:pPr marL="0" indent="0" algn="l">
              <a:spcBef>
                <a:spcPts val="0"/>
              </a:spcBef>
              <a:spcAft>
                <a:spcPts val="2000"/>
              </a:spcAft>
              <a:buNone/>
              <a:defRPr sz="1875" b="0">
                <a:solidFill>
                  <a:srgbClr val="000000"/>
                </a:solidFill>
                <a:latin typeface="Helvetica Neue"/>
                <a:ea typeface="Helvetica Neue"/>
                <a:cs typeface="Helvetica Neue"/>
              </a:defRPr>
            </a:pPr>
            <a:r>
              <a:rPr sz="1875">
                <a:latin typeface="Helvetica Neue"/>
                <a:ea typeface="Helvetica Neue"/>
                <a:cs typeface="Helvetica Neue"/>
              </a:rPr>
              <a:t>Gemma 4 12B throughput falls 10.1% from batch 95 to 127. Sampled logs also reach 99.7% KV-cache occupancy.</a:t>
            </a:r>
          </a:p>
        </p:txBody>
      </p:sp>
      <p:sp>
        <p:nvSpPr>
          <p:cNvPr id="535" name="">
            <a:extLst xmlns:a="http://schemas.openxmlformats.org/drawingml/2006/main">
              <a:ext uri="{FF2B5EF4-FFF2-40B4-BE49-F238E27FC236}">
                <a16:creationId xmlns:a16="http://schemas.microsoft.com/office/drawing/2014/main" id="{FC2446D1-9AB6-4810-9FBD-28A5B2B8896B}"/>
              </a:ext>
            </a:extLst>
          </p:cNvPr>
          <p:cNvSpPr>
            <a:spLocks xmlns:a="http://schemas.openxmlformats.org/drawingml/2006/main" noGrp="1"/>
          </p:cNvSpPr>
          <p:nvPr/>
        </p:nvSpPr>
        <p:spPr>
          <a:xfrm xmlns:a="http://schemas.openxmlformats.org/drawingml/2006/main">
            <a:off x="6257925" y="1695450"/>
            <a:ext cx="5534025" cy="3857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marL="0" indent="0" algn="l">
              <a:spcBef>
                <a:spcPts val="0"/>
              </a:spcBef>
              <a:spcAft>
                <a:spcPts val="650"/>
              </a:spcAft>
              <a:buNone/>
              <a:defRPr sz="1875" b="0">
                <a:solidFill>
                  <a:srgbClr val="000000"/>
                </a:solidFill>
                <a:latin typeface="Helvetica Neue"/>
                <a:ea typeface="Helvetica Neue"/>
                <a:cs typeface="Helvetica Neue"/>
              </a:defRPr>
            </a:pPr>
            <a:r>
              <a:rPr sz="2175" b="1">
                <a:latin typeface="Helvetica Neue"/>
                <a:ea typeface="Helvetica Neue"/>
                <a:cs typeface="Helvetica Neue"/>
              </a:rPr>
              <a:t>What this establishes</a:t>
            </a:r>
          </a:p>
          <a:p xmlns:a="http://schemas.openxmlformats.org/drawingml/2006/main">
            <a:pPr marL="0" indent="0" algn="l">
              <a:spcBef>
                <a:spcPts val="0"/>
              </a:spcBef>
              <a:spcAft>
                <a:spcPts val="2000"/>
              </a:spcAft>
              <a:buNone/>
              <a:defRPr sz="1875" b="0">
                <a:solidFill>
                  <a:srgbClr val="000000"/>
                </a:solidFill>
                <a:latin typeface="Helvetica Neue"/>
                <a:ea typeface="Helvetica Neue"/>
                <a:cs typeface="Helvetica Neue"/>
              </a:defRPr>
            </a:pPr>
            <a:r>
              <a:rPr sz="1875">
                <a:latin typeface="Helvetica Neue"/>
                <a:ea typeface="Helvetica Neue"/>
                <a:cs typeface="Helvetica Neue"/>
              </a:rPr>
              <a:t>The settings affect measured throughput. Exact capture matching alone has not shown a useful improvement.</a:t>
            </a:r>
          </a:p>
          <a:p xmlns:a="http://schemas.openxmlformats.org/drawingml/2006/main">
            <a:pPr marL="0" indent="0" algn="l">
              <a:spcBef>
                <a:spcPts val="0"/>
              </a:spcBef>
              <a:spcAft>
                <a:spcPts val="650"/>
              </a:spcAft>
              <a:buNone/>
              <a:defRPr sz="1875" b="0">
                <a:solidFill>
                  <a:srgbClr val="000000"/>
                </a:solidFill>
                <a:latin typeface="Helvetica Neue"/>
                <a:ea typeface="Helvetica Neue"/>
                <a:cs typeface="Helvetica Neue"/>
              </a:defRPr>
            </a:pPr>
            <a:r>
              <a:rPr sz="2175" b="1">
                <a:latin typeface="Helvetica Neue"/>
                <a:ea typeface="Helvetica Neue"/>
                <a:cs typeface="Helvetica Neue"/>
              </a:rPr>
              <a:t>Why investigate admission next?</a:t>
            </a:r>
          </a:p>
          <a:p xmlns:a="http://schemas.openxmlformats.org/drawingml/2006/main">
            <a:pPr marL="0" indent="0" algn="l">
              <a:spcBef>
                <a:spcPts val="0"/>
              </a:spcBef>
              <a:spcAft>
                <a:spcPts val="2000"/>
              </a:spcAft>
              <a:buNone/>
              <a:defRPr sz="1875" b="0">
                <a:solidFill>
                  <a:srgbClr val="000000"/>
                </a:solidFill>
                <a:latin typeface="Helvetica Neue"/>
                <a:ea typeface="Helvetica Neue"/>
                <a:cs typeface="Helvetica Neue"/>
              </a:defRPr>
            </a:pPr>
            <a:r>
              <a:rPr sz="1875">
                <a:latin typeface="Helvetica Neue"/>
                <a:ea typeface="Helvetica Neue"/>
                <a:cs typeface="Helvetica Neue"/>
              </a:rPr>
              <a:t>A fixed batch omits changing arrivals and waiting. We next test how a queue policy handles a burst of long prompts.</a:t>
            </a:r>
          </a:p>
        </p:txBody>
      </p:sp>
      <p:sp>
        <p:nvSpPr>
          <p:cNvPr id="536" name="">
            <a:extLst xmlns:a="http://schemas.openxmlformats.org/drawingml/2006/main">
              <a:ext uri="{FF2B5EF4-FFF2-40B4-BE49-F238E27FC236}">
                <a16:creationId xmlns:a16="http://schemas.microsoft.com/office/drawing/2014/main" id="{1D973049-D6DD-486D-AC87-DB20BD2A1216}"/>
              </a:ext>
            </a:extLst>
          </p:cNvPr>
          <p:cNvSpPr>
            <a:spLocks xmlns:a="http://schemas.openxmlformats.org/drawingml/2006/main" noGrp="1"/>
          </p:cNvSpPr>
          <p:nvPr/>
        </p:nvSpPr>
        <p:spPr>
          <a:xfrm xmlns:a="http://schemas.openxmlformats.org/drawingml/2006/main">
            <a:off x="390525" y="5724525"/>
            <a:ext cx="11401425" cy="3905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KV cache holds prior-token attention state. Its occupancy is a memory metric.</a:t>
            </a:r>
          </a:p>
        </p:txBody>
      </p:sp>
    </p:spTree>
    <p:extLst>
      <p:ext uri="{BB962C8B-B14F-4D97-AF65-F5344CB8AC3E}">
        <p14:creationId xmlns:p14="http://schemas.microsoft.com/office/powerpoint/2010/main" val="366718214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c4396f581f0d453c"/>
              </a:rPr>
              <a:t>Exact protocol, traces and W&amp;B</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4DB16885-0D3F-A391-B669-3211DB3B26E8}" type="slidenum">
              <a:rPr sz="1125" b="0">
                <a:solidFill>
                  <a:srgbClr val="000000"/>
                </a:solidFill>
                <a:latin typeface="Helvetica Neue"/>
                <a:ea typeface="Helvetica Neue"/>
                <a:cs typeface="Helvetica Neue"/>
              </a:rPr>
              <a:t>12</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Experiment 2: when should requests enter the engine?</a:t>
            </a:r>
          </a:p>
        </p:txBody>
      </p:sp>
      <p:sp>
        <p:nvSpPr>
          <p:cNvPr id="534" name="">
            <a:extLst xmlns:a="http://schemas.openxmlformats.org/drawingml/2006/main">
              <a:ext uri="{FF2B5EF4-FFF2-40B4-BE49-F238E27FC236}">
                <a16:creationId xmlns:a16="http://schemas.microsoft.com/office/drawing/2014/main" id="{BFAC4E53-81DC-4158-B0E1-8B7A1EC66A77}"/>
              </a:ext>
            </a:extLst>
          </p:cNvPr>
          <p:cNvSpPr>
            <a:spLocks xmlns:a="http://schemas.openxmlformats.org/drawingml/2006/main" noGrp="1"/>
          </p:cNvSpPr>
          <p:nvPr/>
        </p:nvSpPr>
        <p:spPr>
          <a:xfrm xmlns:a="http://schemas.openxmlformats.org/drawingml/2006/main">
            <a:off x="390525" y="1304925"/>
            <a:ext cx="11401425" cy="5048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Same Gemma 4 12B and A100. Replay the same request sequence for each policy.</a:t>
            </a:r>
          </a:p>
        </p:txBody>
      </p:sp>
      <p:graphicFrame>
        <p:nvGraphicFramePr>
          <p:cNvPr id="544" name=""/>
          <p:cNvGraphicFramePr/>
          <p:nvPr/>
        </p:nvGraphicFramePr>
        <p:xfrm>
          <a:off xmlns:a="http://schemas.openxmlformats.org/drawingml/2006/main" x="390525" y="1981200"/>
          <a:ext xmlns:a="http://schemas.openxmlformats.org/drawingml/2006/main" cx="11401425" cy="2200275"/>
        </p:xfrm>
        <a:graphic xmlns:a="http://schemas.openxmlformats.org/drawingml/2006/main">
          <a:graphicData uri="http://schemas.openxmlformats.org/drawingml/2006/table">
            <a:tbl>
              <a:tblPr firstRow="0" bandRow="0"/>
              <a:tblGrid>
                <a:gridCol w="2638425"/>
                <a:gridCol w="8763000"/>
              </a:tblGrid>
              <a:tr h="550069">
                <a:tc>
                  <a:txBody>
                    <a:bodyPr/>
                    <a:lstStyle/>
                    <a:p>
                      <a:r>
                        <a:rPr sz="1650" b="1">
                          <a:solidFill>
                            <a:srgbClr val="000000"/>
                          </a:solidFill>
                          <a:latin typeface="Helvetica Neue"/>
                          <a:ea typeface="Helvetica Neue"/>
                          <a:cs typeface="Helvetica Neue"/>
                        </a:rPr>
                        <a:t>Policy</a:t>
                      </a:r>
                    </a:p>
                  </a:txBody>
                  <a:tcPr marL="95250" marR="95250" marT="76200" marB="57150" anchor="t">
                    <a:solidFill>
                      <a:srgbClr val="EAF6FD"/>
                    </a:solidFill>
                  </a:tcPr>
                </a:tc>
                <a:tc>
                  <a:txBody>
                    <a:bodyPr/>
                    <a:lstStyle/>
                    <a:p>
                      <a:r>
                        <a:rPr sz="1650" b="1">
                          <a:solidFill>
                            <a:srgbClr val="000000"/>
                          </a:solidFill>
                          <a:latin typeface="Helvetica Neue"/>
                          <a:ea typeface="Helvetica Neue"/>
                          <a:cs typeface="Helvetica Neue"/>
                        </a:rPr>
                        <a:t>Admission rule before the vLLM engine</a:t>
                      </a:r>
                    </a:p>
                  </a:txBody>
                  <a:tcPr marL="95250" marR="95250" marT="76200" marB="57150" anchor="t">
                    <a:solidFill>
                      <a:srgbClr val="EAF6FD"/>
                    </a:solidFill>
                  </a:tcPr>
                </a:tc>
              </a:tr>
              <a:tr h="550069">
                <a:tc>
                  <a:txBody>
                    <a:bodyPr/>
                    <a:lstStyle/>
                    <a:p>
                      <a:r>
                        <a:rPr sz="1650">
                          <a:solidFill>
                            <a:srgbClr val="000000"/>
                          </a:solidFill>
                          <a:latin typeface="Helvetica Neue"/>
                          <a:ea typeface="Helvetica Neue"/>
                          <a:cs typeface="Helvetica Neue"/>
                        </a:rPr>
                        <a:t>vLLM default</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Send every request on arrival. vLLM manages continuous batching.</a:t>
                      </a:r>
                    </a:p>
                  </a:txBody>
                  <a:tcPr marL="95250" marR="95250" marT="76200" marB="57150" anchor="t">
                    <a:solidFill>
                      <a:srgbClr val="FFFFFF"/>
                    </a:solidFill>
                  </a:tcPr>
                </a:tc>
              </a:tr>
              <a:tr h="550069">
                <a:tc>
                  <a:txBody>
                    <a:bodyPr/>
                    <a:lstStyle/>
                    <a:p>
                      <a:r>
                        <a:rPr sz="1650">
                          <a:solidFill>
                            <a:srgbClr val="000000"/>
                          </a:solidFill>
                          <a:latin typeface="Helvetica Neue"/>
                          <a:ea typeface="Helvetica Neue"/>
                          <a:cs typeface="Helvetica Neue"/>
                        </a:rPr>
                        <a:t>Fixed limit 32</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Admit at most 32 unfinished requests, in arrival order.</a:t>
                      </a:r>
                    </a:p>
                  </a:txBody>
                  <a:tcPr marL="95250" marR="95250" marT="76200" marB="57150" anchor="t">
                    <a:solidFill>
                      <a:srgbClr val="FFFFFF"/>
                    </a:solidFill>
                  </a:tcPr>
                </a:tc>
              </a:tr>
              <a:tr h="550069">
                <a:tc>
                  <a:txBody>
                    <a:bodyPr/>
                    <a:lstStyle/>
                    <a:p>
                      <a:r>
                        <a:rPr sz="1650">
                          <a:solidFill>
                            <a:srgbClr val="000000"/>
                          </a:solidFill>
                          <a:latin typeface="Helvetica Neue"/>
                          <a:ea typeface="Helvetica Neue"/>
                          <a:cs typeface="Helvetica Neue"/>
                        </a:rPr>
                        <a:t>Context budget</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Reserve input + 128 output tokens per request, up to 20,000 total.</a:t>
                      </a:r>
                    </a:p>
                  </a:txBody>
                  <a:tcPr marL="95250" marR="95250" marT="76200" marB="57150" anchor="t">
                    <a:solidFill>
                      <a:srgbClr val="FFFFFF"/>
                    </a:solidFill>
                  </a:tcPr>
                </a:tc>
              </a:tr>
            </a:tbl>
          </a:graphicData>
        </a:graphic>
      </p:graphicFrame>
      <p:sp>
        <p:nvSpPr>
          <p:cNvPr id="536" name="">
            <a:extLst xmlns:a="http://schemas.openxmlformats.org/drawingml/2006/main">
              <a:ext uri="{FF2B5EF4-FFF2-40B4-BE49-F238E27FC236}">
                <a16:creationId xmlns:a16="http://schemas.microsoft.com/office/drawing/2014/main" id="{53396DB8-AAFA-46A1-A4AA-34543AFA358F}"/>
              </a:ext>
            </a:extLst>
          </p:cNvPr>
          <p:cNvSpPr>
            <a:spLocks xmlns:a="http://schemas.openxmlformats.org/drawingml/2006/main" noGrp="1"/>
          </p:cNvSpPr>
          <p:nvPr/>
        </p:nvSpPr>
        <p:spPr>
          <a:xfrm xmlns:a="http://schemas.openxmlformats.org/drawingml/2006/main">
            <a:off x="390525" y="4391025"/>
            <a:ext cx="1140142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Trace: 96 short, 48 long, 96 short prompts (128 / 2,048 tokens), at 8 arrivals/s.</a:t>
            </a:r>
          </a:p>
        </p:txBody>
      </p:sp>
      <p:sp>
        <p:nvSpPr>
          <p:cNvPr id="537" name="">
            <a:extLst xmlns:a="http://schemas.openxmlformats.org/drawingml/2006/main">
              <a:ext uri="{FF2B5EF4-FFF2-40B4-BE49-F238E27FC236}">
                <a16:creationId xmlns:a16="http://schemas.microsoft.com/office/drawing/2014/main" id="{03A03C59-F39F-4A49-BC39-63952103AF26}"/>
              </a:ext>
            </a:extLst>
          </p:cNvPr>
          <p:cNvSpPr>
            <a:spLocks xmlns:a="http://schemas.openxmlformats.org/drawingml/2006/main" noGrp="1"/>
          </p:cNvSpPr>
          <p:nvPr/>
        </p:nvSpPr>
        <p:spPr>
          <a:xfrm xmlns:a="http://schemas.openxmlformats.org/drawingml/2006/main">
            <a:off x="390525" y="4781550"/>
            <a:ext cx="114014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240 requests × 3 policies × 3 independent engine runs = 2,160 requests.</a:t>
            </a:r>
          </a:p>
        </p:txBody>
      </p:sp>
      <p:sp>
        <p:nvSpPr>
          <p:cNvPr id="538" name="">
            <a:extLst xmlns:a="http://schemas.openxmlformats.org/drawingml/2006/main">
              <a:ext uri="{FF2B5EF4-FFF2-40B4-BE49-F238E27FC236}">
                <a16:creationId xmlns:a16="http://schemas.microsoft.com/office/drawing/2014/main" id="{69450E64-BE78-4AE7-A4E5-FE45E7CA9BEF}"/>
              </a:ext>
            </a:extLst>
          </p:cNvPr>
          <p:cNvSpPr>
            <a:spLocks xmlns:a="http://schemas.openxmlformats.org/drawingml/2006/main" noGrp="1"/>
          </p:cNvSpPr>
          <p:nvPr/>
        </p:nvSpPr>
        <p:spPr>
          <a:xfrm xmlns:a="http://schemas.openxmlformats.org/drawingml/2006/main">
            <a:off x="390525" y="5172075"/>
            <a:ext cx="114014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Targets: TTFT ≤ 2 s and mean TPOT ≤ 100 ms. Admission waiting counts.</a:t>
            </a:r>
          </a:p>
        </p:txBody>
      </p:sp>
      <p:sp>
        <p:nvSpPr>
          <p:cNvPr id="539" name="">
            <a:extLst xmlns:a="http://schemas.openxmlformats.org/drawingml/2006/main">
              <a:ext uri="{FF2B5EF4-FFF2-40B4-BE49-F238E27FC236}">
                <a16:creationId xmlns:a16="http://schemas.microsoft.com/office/drawing/2014/main" id="{B8474C49-F71C-4A7F-9F31-1424542F90AE}"/>
              </a:ext>
            </a:extLst>
          </p:cNvPr>
          <p:cNvSpPr>
            <a:spLocks xmlns:a="http://schemas.openxmlformats.org/drawingml/2006/main" noGrp="1"/>
          </p:cNvSpPr>
          <p:nvPr/>
        </p:nvSpPr>
        <p:spPr>
          <a:xfrm xmlns:a="http://schemas.openxmlformats.org/drawingml/2006/main">
            <a:off x="390525" y="5610225"/>
            <a:ext cx="11401425" cy="5810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Pass rule: ≥5% higher goodput than both controls in all 3 runs, with no worse p99 first-token delay or stream gap.</a:t>
            </a:r>
          </a:p>
        </p:txBody>
      </p:sp>
    </p:spTree>
    <p:extLst>
      <p:ext uri="{BB962C8B-B14F-4D97-AF65-F5344CB8AC3E}">
        <p14:creationId xmlns:p14="http://schemas.microsoft.com/office/powerpoint/2010/main" val="366718214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bde014be1c61466c"/>
              </a:rPr>
              <a:t>Source: request and telemetry records, three independent engine runs</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2DD23107-4986-8758-3A93-3D74F35908CC}" type="slidenum">
              <a:rPr sz="1125" b="0">
                <a:solidFill>
                  <a:srgbClr val="000000"/>
                </a:solidFill>
                <a:latin typeface="Helvetica Neue"/>
                <a:ea typeface="Helvetica Neue"/>
                <a:cs typeface="Helvetica Neue"/>
              </a:rPr>
              <a:t>13</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Scheduling results: all four metrics and repetitions</a:t>
            </a:r>
          </a:p>
        </p:txBody>
      </p:sp>
      <p:sp>
        <p:nvSpPr>
          <p:cNvPr id="534" name="">
            <a:extLst xmlns:a="http://schemas.openxmlformats.org/drawingml/2006/main">
              <a:ext uri="{FF2B5EF4-FFF2-40B4-BE49-F238E27FC236}">
                <a16:creationId xmlns:a16="http://schemas.microsoft.com/office/drawing/2014/main" id="{0F178086-0B59-42BB-9C80-76646C531C95}"/>
              </a:ext>
            </a:extLst>
          </p:cNvPr>
          <p:cNvSpPr>
            <a:spLocks xmlns:a="http://schemas.openxmlformats.org/drawingml/2006/main" noGrp="1"/>
          </p:cNvSpPr>
          <p:nvPr/>
        </p:nvSpPr>
        <p:spPr>
          <a:xfrm xmlns:a="http://schemas.openxmlformats.org/drawingml/2006/main">
            <a:off x="390525" y="1285875"/>
            <a:ext cx="11401425"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Gray dots show 3 independent runs per policy. Blue markers show means. Points may overlap.</a:t>
            </a:r>
          </a:p>
        </p:txBody>
      </p:sp>
      <p:sp>
        <p:nvSpPr>
          <p:cNvPr id="535" name="">
            <a:extLst xmlns:a="http://schemas.openxmlformats.org/drawingml/2006/main">
              <a:ext uri="{FF2B5EF4-FFF2-40B4-BE49-F238E27FC236}">
                <a16:creationId xmlns:a16="http://schemas.microsoft.com/office/drawing/2014/main" id="{0BAC6C5F-BFA0-407E-B3DD-19DDD6B0415F}"/>
              </a:ext>
            </a:extLst>
          </p:cNvPr>
          <p:cNvSpPr>
            <a:spLocks xmlns:a="http://schemas.openxmlformats.org/drawingml/2006/main" noGrp="1"/>
          </p:cNvSpPr>
          <p:nvPr/>
        </p:nvSpPr>
        <p:spPr>
          <a:xfrm xmlns:a="http://schemas.openxmlformats.org/drawingml/2006/main">
            <a:off x="390525" y="1866900"/>
            <a:ext cx="54959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SLO goodput (requests/s), higher is better</a:t>
            </a:r>
          </a:p>
        </p:txBody>
      </p:sp>
      <p:graphicFrame>
        <p:nvGraphicFramePr>
          <p:cNvPr id="548" name="Chart"/>
          <p:cNvGraphicFramePr/>
          <p:nvPr/>
        </p:nvGraphicFramePr>
        <p:xfrm>
          <a:off xmlns:a="http://schemas.openxmlformats.org/drawingml/2006/main" x="390525" y="2247900"/>
          <a:ext xmlns:a="http://schemas.openxmlformats.org/drawingml/2006/main" cx="5495925" cy="1647825"/>
        </p:xfrm>
        <a:graphic xmlns:a="http://schemas.openxmlformats.org/drawingml/2006/main">
          <a:graphicData uri="http://schemas.openxmlformats.org/drawingml/2006/chart">
            <c:chart xmlns:r="http://schemas.openxmlformats.org/officeDocument/2006/relationships" xmlns:c="http://schemas.openxmlformats.org/drawingml/2006/chart" r:id="R78825d87d01b40de"/>
          </a:graphicData>
        </a:graphic>
      </p:graphicFrame>
      <p:sp>
        <p:nvSpPr>
          <p:cNvPr id="537" name="">
            <a:extLst xmlns:a="http://schemas.openxmlformats.org/drawingml/2006/main">
              <a:ext uri="{FF2B5EF4-FFF2-40B4-BE49-F238E27FC236}">
                <a16:creationId xmlns:a16="http://schemas.microsoft.com/office/drawing/2014/main" id="{20F41410-F7BB-4A3A-8019-207E21C51337}"/>
              </a:ext>
            </a:extLst>
          </p:cNvPr>
          <p:cNvSpPr>
            <a:spLocks xmlns:a="http://schemas.openxmlformats.org/drawingml/2006/main" noGrp="1"/>
          </p:cNvSpPr>
          <p:nvPr/>
        </p:nvSpPr>
        <p:spPr>
          <a:xfrm xmlns:a="http://schemas.openxmlformats.org/drawingml/2006/main">
            <a:off x="6267450" y="1866900"/>
            <a:ext cx="54959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Output tokens/s, higher is better</a:t>
            </a:r>
          </a:p>
        </p:txBody>
      </p:sp>
      <p:graphicFrame>
        <p:nvGraphicFramePr>
          <p:cNvPr id="550" name="Chart"/>
          <p:cNvGraphicFramePr/>
          <p:nvPr/>
        </p:nvGraphicFramePr>
        <p:xfrm>
          <a:off xmlns:a="http://schemas.openxmlformats.org/drawingml/2006/main" x="6267450" y="2247900"/>
          <a:ext xmlns:a="http://schemas.openxmlformats.org/drawingml/2006/main" cx="5495925" cy="1647825"/>
        </p:xfrm>
        <a:graphic xmlns:a="http://schemas.openxmlformats.org/drawingml/2006/main">
          <a:graphicData uri="http://schemas.openxmlformats.org/drawingml/2006/chart">
            <c:chart xmlns:r="http://schemas.openxmlformats.org/officeDocument/2006/relationships" xmlns:c="http://schemas.openxmlformats.org/drawingml/2006/chart" r:id="Rd6adf96959e14867"/>
          </a:graphicData>
        </a:graphic>
      </p:graphicFrame>
      <p:sp>
        <p:nvSpPr>
          <p:cNvPr id="539" name="">
            <a:extLst xmlns:a="http://schemas.openxmlformats.org/drawingml/2006/main">
              <a:ext uri="{FF2B5EF4-FFF2-40B4-BE49-F238E27FC236}">
                <a16:creationId xmlns:a16="http://schemas.microsoft.com/office/drawing/2014/main" id="{791B667E-EC1F-44D7-AA5B-EF5C302F8604}"/>
              </a:ext>
            </a:extLst>
          </p:cNvPr>
          <p:cNvSpPr>
            <a:spLocks xmlns:a="http://schemas.openxmlformats.org/drawingml/2006/main" noGrp="1"/>
          </p:cNvSpPr>
          <p:nvPr/>
        </p:nvSpPr>
        <p:spPr>
          <a:xfrm xmlns:a="http://schemas.openxmlformats.org/drawingml/2006/main">
            <a:off x="390525" y="3990975"/>
            <a:ext cx="54959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p99 first-token delay (s), lower is better</a:t>
            </a:r>
          </a:p>
        </p:txBody>
      </p:sp>
      <p:graphicFrame>
        <p:nvGraphicFramePr>
          <p:cNvPr id="552" name="Chart"/>
          <p:cNvGraphicFramePr/>
          <p:nvPr/>
        </p:nvGraphicFramePr>
        <p:xfrm>
          <a:off xmlns:a="http://schemas.openxmlformats.org/drawingml/2006/main" x="390525" y="4371975"/>
          <a:ext xmlns:a="http://schemas.openxmlformats.org/drawingml/2006/main" cx="5495925" cy="1647825"/>
        </p:xfrm>
        <a:graphic xmlns:a="http://schemas.openxmlformats.org/drawingml/2006/main">
          <a:graphicData uri="http://schemas.openxmlformats.org/drawingml/2006/chart">
            <c:chart xmlns:r="http://schemas.openxmlformats.org/officeDocument/2006/relationships" xmlns:c="http://schemas.openxmlformats.org/drawingml/2006/chart" r:id="R8076aca6634f4294"/>
          </a:graphicData>
        </a:graphic>
      </p:graphicFrame>
      <p:sp>
        <p:nvSpPr>
          <p:cNvPr id="541" name="">
            <a:extLst xmlns:a="http://schemas.openxmlformats.org/drawingml/2006/main">
              <a:ext uri="{FF2B5EF4-FFF2-40B4-BE49-F238E27FC236}">
                <a16:creationId xmlns:a16="http://schemas.microsoft.com/office/drawing/2014/main" id="{1187CB67-93EA-438F-81CF-B77A0D0C2DA3}"/>
              </a:ext>
            </a:extLst>
          </p:cNvPr>
          <p:cNvSpPr>
            <a:spLocks xmlns:a="http://schemas.openxmlformats.org/drawingml/2006/main" noGrp="1"/>
          </p:cNvSpPr>
          <p:nvPr/>
        </p:nvSpPr>
        <p:spPr>
          <a:xfrm xmlns:a="http://schemas.openxmlformats.org/drawingml/2006/main">
            <a:off x="6267450" y="3990975"/>
            <a:ext cx="54959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NVML GPU busy time (%)</a:t>
            </a:r>
          </a:p>
        </p:txBody>
      </p:sp>
      <p:graphicFrame>
        <p:nvGraphicFramePr>
          <p:cNvPr id="554" name="Chart"/>
          <p:cNvGraphicFramePr/>
          <p:nvPr/>
        </p:nvGraphicFramePr>
        <p:xfrm>
          <a:off xmlns:a="http://schemas.openxmlformats.org/drawingml/2006/main" x="6267450" y="4371975"/>
          <a:ext xmlns:a="http://schemas.openxmlformats.org/drawingml/2006/main" cx="5495925" cy="1647825"/>
        </p:xfrm>
        <a:graphic xmlns:a="http://schemas.openxmlformats.org/drawingml/2006/main">
          <a:graphicData uri="http://schemas.openxmlformats.org/drawingml/2006/chart">
            <c:chart xmlns:r="http://schemas.openxmlformats.org/officeDocument/2006/relationships" xmlns:c="http://schemas.openxmlformats.org/drawingml/2006/chart" r:id="R74a6b71b0b944ce2"/>
          </a:graphicData>
        </a:graphic>
      </p:graphicFrame>
    </p:spTree>
    <p:extLst>
      <p:ext uri="{BB962C8B-B14F-4D97-AF65-F5344CB8AC3E}">
        <p14:creationId xmlns:p14="http://schemas.microsoft.com/office/powerpoint/2010/main" val="36671821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206870585ecc4fc4"/>
              </a:rPr>
              <a:t>Measured comparison</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bf27371fa71e4eff"/>
              </a:rPr>
              <a:t>Request-level phase analysis</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327921A4-25C4-3DB4-06B1-32693CEE2241}" type="slidenum">
              <a:rPr sz="1125" b="0">
                <a:solidFill>
                  <a:srgbClr val="000000"/>
                </a:solidFill>
                <a:latin typeface="Helvetica Neue"/>
                <a:ea typeface="Helvetica Neue"/>
                <a:cs typeface="Helvetica Neue"/>
              </a:rPr>
              <a:t>14</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What we learned and the next research question</a:t>
            </a:r>
          </a:p>
        </p:txBody>
      </p:sp>
      <p:sp>
        <p:nvSpPr>
          <p:cNvPr id="534" name="">
            <a:extLst xmlns:a="http://schemas.openxmlformats.org/drawingml/2006/main">
              <a:ext uri="{FF2B5EF4-FFF2-40B4-BE49-F238E27FC236}">
                <a16:creationId xmlns:a16="http://schemas.microsoft.com/office/drawing/2014/main" id="{792D43F7-EE89-40D3-B81A-F5A85F5AEA44}"/>
              </a:ext>
            </a:extLst>
          </p:cNvPr>
          <p:cNvSpPr>
            <a:spLocks xmlns:a="http://schemas.openxmlformats.org/drawingml/2006/main" noGrp="1"/>
          </p:cNvSpPr>
          <p:nvPr/>
        </p:nvSpPr>
        <p:spPr>
          <a:xfrm xmlns:a="http://schemas.openxmlformats.org/drawingml/2006/main">
            <a:off x="390525" y="1657350"/>
            <a:ext cx="5467350" cy="4048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marL="0" indent="0" algn="l">
              <a:spcBef>
                <a:spcPts val="0"/>
              </a:spcBef>
              <a:spcAft>
                <a:spcPts val="650"/>
              </a:spcAft>
              <a:buNone/>
              <a:defRPr sz="1800" b="0">
                <a:solidFill>
                  <a:srgbClr val="000000"/>
                </a:solidFill>
                <a:latin typeface="Helvetica Neue"/>
                <a:ea typeface="Helvetica Neue"/>
                <a:cs typeface="Helvetica Neue"/>
              </a:defRPr>
            </a:pPr>
            <a:r>
              <a:rPr sz="2100" b="1">
                <a:latin typeface="Helvetica Neue"/>
                <a:ea typeface="Helvetica Neue"/>
                <a:cs typeface="Helvetica Neue"/>
              </a:rPr>
              <a:t>Measured finding</a:t>
            </a:r>
          </a:p>
          <a:p xmlns:a="http://schemas.openxmlformats.org/drawingml/2006/main">
            <a:pPr marL="0" indent="0" algn="l">
              <a:spcBef>
                <a:spcPts val="0"/>
              </a:spcBef>
              <a:spcAft>
                <a:spcPts val="2000"/>
              </a:spcAft>
              <a:buNone/>
              <a:defRPr sz="1800" b="0">
                <a:solidFill>
                  <a:srgbClr val="000000"/>
                </a:solidFill>
                <a:latin typeface="Helvetica Neue"/>
                <a:ea typeface="Helvetica Neue"/>
                <a:cs typeface="Helvetica Neue"/>
              </a:defRPr>
            </a:pPr>
            <a:r>
              <a:rPr sz="1800">
                <a:latin typeface="Helvetica Neue"/>
                <a:ea typeface="Helvetica Neue"/>
                <a:cs typeface="Helvetica Neue"/>
              </a:rPr>
              <a:t>The context-budget rule loses 20–24% SLO goodput versus vLLM default across paired runs. Its p99 first-token delay increases.</a:t>
            </a:r>
          </a:p>
          <a:p xmlns:a="http://schemas.openxmlformats.org/drawingml/2006/main">
            <a:pPr marL="0" indent="0" algn="l">
              <a:spcBef>
                <a:spcPts val="0"/>
              </a:spcBef>
              <a:spcAft>
                <a:spcPts val="650"/>
              </a:spcAft>
              <a:buNone/>
              <a:defRPr sz="1800" b="0">
                <a:solidFill>
                  <a:srgbClr val="000000"/>
                </a:solidFill>
                <a:latin typeface="Helvetica Neue"/>
                <a:ea typeface="Helvetica Neue"/>
                <a:cs typeface="Helvetica Neue"/>
              </a:defRPr>
            </a:pPr>
            <a:r>
              <a:rPr sz="2100" b="1">
                <a:latin typeface="Helvetica Neue"/>
                <a:ea typeface="Helvetica Neue"/>
                <a:cs typeface="Helvetica Neue"/>
              </a:rPr>
              <a:t>Problem exposed by the trace</a:t>
            </a:r>
          </a:p>
          <a:p xmlns:a="http://schemas.openxmlformats.org/drawingml/2006/main">
            <a:pPr marL="0" indent="0" algn="l">
              <a:spcBef>
                <a:spcPts val="0"/>
              </a:spcBef>
              <a:spcAft>
                <a:spcPts val="2000"/>
              </a:spcAft>
              <a:buNone/>
              <a:defRPr sz="1800" b="0">
                <a:solidFill>
                  <a:srgbClr val="000000"/>
                </a:solidFill>
                <a:latin typeface="Helvetica Neue"/>
                <a:ea typeface="Helvetica Neue"/>
                <a:cs typeface="Helvetica Neue"/>
              </a:defRPr>
            </a:pPr>
            <a:r>
              <a:rPr sz="1800">
                <a:latin typeface="Helvetica Neue"/>
                <a:ea typeface="Helvetica Neue"/>
                <a:cs typeface="Helvetica Neue"/>
              </a:rPr>
              <a:t>All 96 short requests after the long burst miss our latency targets under every policy and repetition. Recovery is poor in this workload.</a:t>
            </a:r>
          </a:p>
        </p:txBody>
      </p:sp>
      <p:sp>
        <p:nvSpPr>
          <p:cNvPr id="535" name="">
            <a:extLst xmlns:a="http://schemas.openxmlformats.org/drawingml/2006/main">
              <a:ext uri="{FF2B5EF4-FFF2-40B4-BE49-F238E27FC236}">
                <a16:creationId xmlns:a16="http://schemas.microsoft.com/office/drawing/2014/main" id="{E020501F-8364-4D7D-99FB-2E8BB7B6C4C3}"/>
              </a:ext>
            </a:extLst>
          </p:cNvPr>
          <p:cNvSpPr>
            <a:spLocks xmlns:a="http://schemas.openxmlformats.org/drawingml/2006/main" noGrp="1"/>
          </p:cNvSpPr>
          <p:nvPr/>
        </p:nvSpPr>
        <p:spPr>
          <a:xfrm xmlns:a="http://schemas.openxmlformats.org/drawingml/2006/main">
            <a:off x="6257925" y="1657350"/>
            <a:ext cx="5534025" cy="4048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marL="0" indent="0" algn="l">
              <a:spcBef>
                <a:spcPts val="0"/>
              </a:spcBef>
              <a:spcAft>
                <a:spcPts val="650"/>
              </a:spcAft>
              <a:buNone/>
              <a:defRPr sz="1800" b="0">
                <a:solidFill>
                  <a:srgbClr val="000000"/>
                </a:solidFill>
                <a:latin typeface="Helvetica Neue"/>
                <a:ea typeface="Helvetica Neue"/>
                <a:cs typeface="Helvetica Neue"/>
              </a:defRPr>
            </a:pPr>
            <a:r>
              <a:rPr sz="2100" b="1">
                <a:latin typeface="Helvetica Neue"/>
                <a:ea typeface="Helvetica Neue"/>
                <a:cs typeface="Helvetica Neue"/>
              </a:rPr>
              <a:t>Question to investigate next</a:t>
            </a:r>
          </a:p>
          <a:p xmlns:a="http://schemas.openxmlformats.org/drawingml/2006/main">
            <a:pPr marL="0" indent="0" algn="l">
              <a:spcBef>
                <a:spcPts val="0"/>
              </a:spcBef>
              <a:spcAft>
                <a:spcPts val="2000"/>
              </a:spcAft>
              <a:buNone/>
              <a:defRPr sz="1800" b="0">
                <a:solidFill>
                  <a:srgbClr val="000000"/>
                </a:solidFill>
                <a:latin typeface="Helvetica Neue"/>
                <a:ea typeface="Helvetica Neue"/>
                <a:cs typeface="Helvetica Neue"/>
              </a:defRPr>
            </a:pPr>
            <a:r>
              <a:rPr sz="1800">
                <a:latin typeface="Helvetica Neue"/>
                <a:ea typeface="Helvetica Neue"/>
                <a:cs typeface="Helvetica Neue"/>
              </a:rPr>
              <a:t>Can admission based on service cost and latency targets preserve useful concurrency and improve recovery after a long-prompt burst?</a:t>
            </a:r>
          </a:p>
          <a:p xmlns:a="http://schemas.openxmlformats.org/drawingml/2006/main">
            <a:pPr marL="0" indent="0" algn="l">
              <a:spcBef>
                <a:spcPts val="0"/>
              </a:spcBef>
              <a:spcAft>
                <a:spcPts val="650"/>
              </a:spcAft>
              <a:buNone/>
              <a:defRPr sz="1800" b="0">
                <a:solidFill>
                  <a:srgbClr val="000000"/>
                </a:solidFill>
                <a:latin typeface="Helvetica Neue"/>
                <a:ea typeface="Helvetica Neue"/>
                <a:cs typeface="Helvetica Neue"/>
              </a:defRPr>
            </a:pPr>
            <a:r>
              <a:rPr sz="2100" b="1">
                <a:latin typeface="Helvetica Neue"/>
                <a:ea typeface="Helvetica Neue"/>
                <a:cs typeface="Helvetica Neue"/>
              </a:rPr>
              <a:t>One next experiment</a:t>
            </a:r>
          </a:p>
          <a:p xmlns:a="http://schemas.openxmlformats.org/drawingml/2006/main">
            <a:pPr marL="0" indent="0" algn="l">
              <a:spcBef>
                <a:spcPts val="0"/>
              </a:spcBef>
              <a:spcAft>
                <a:spcPts val="2000"/>
              </a:spcAft>
              <a:buNone/>
              <a:defRPr sz="1800" b="0">
                <a:solidFill>
                  <a:srgbClr val="000000"/>
                </a:solidFill>
                <a:latin typeface="Helvetica Neue"/>
                <a:ea typeface="Helvetica Neue"/>
                <a:cs typeface="Helvetica Neue"/>
              </a:defRPr>
            </a:pPr>
            <a:r>
              <a:rPr sz="1800">
                <a:latin typeface="Helvetica Neue"/>
                <a:ea typeface="Helvetica Neue"/>
                <a:cs typeface="Helvetica Neue"/>
              </a:rPr>
              <a:t>Calibrate on separate data. Compare one adaptive rule with vLLM and a tuned fixed limit on unseen burst traces at several arrival rates.</a:t>
            </a:r>
          </a:p>
        </p:txBody>
      </p:sp>
    </p:spTree>
    <p:extLst>
      <p:ext uri="{BB962C8B-B14F-4D97-AF65-F5344CB8AC3E}">
        <p14:creationId xmlns:p14="http://schemas.microsoft.com/office/powerpoint/2010/main" val="366718214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3e81ad08d0d54b22"/>
              </a:rPr>
              <a:t>Full bibliography and reproducibility files</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fe32d560f95c4686"/>
              </a:rPr>
              <a:t>W&amp;B experiment project</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EA83FA91-883A-0168-8075-96CEB9DCA3C2}" type="slidenum">
              <a:rPr sz="1125" b="0">
                <a:solidFill>
                  <a:srgbClr val="000000"/>
                </a:solidFill>
                <a:latin typeface="Helvetica Neue"/>
                <a:ea typeface="Helvetica Neue"/>
                <a:cs typeface="Helvetica Neue"/>
              </a:rPr>
              <a:t>15</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References and experiment records</a:t>
            </a:r>
          </a:p>
        </p:txBody>
      </p:sp>
      <p:sp>
        <p:nvSpPr>
          <p:cNvPr id="534" name="">
            <a:extLst xmlns:a="http://schemas.openxmlformats.org/drawingml/2006/main">
              <a:ext uri="{FF2B5EF4-FFF2-40B4-BE49-F238E27FC236}">
                <a16:creationId xmlns:a16="http://schemas.microsoft.com/office/drawing/2014/main" id="{F65A35FA-9925-4D3E-B701-71DBE09D117D}"/>
              </a:ext>
            </a:extLst>
          </p:cNvPr>
          <p:cNvSpPr>
            <a:spLocks xmlns:a="http://schemas.openxmlformats.org/drawingml/2006/main" noGrp="1"/>
          </p:cNvSpPr>
          <p:nvPr/>
        </p:nvSpPr>
        <p:spPr>
          <a:xfrm xmlns:a="http://schemas.openxmlformats.org/drawingml/2006/main">
            <a:off x="390525" y="1352550"/>
            <a:ext cx="11401425" cy="3143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a:solidFill>
                  <a:srgbClr val="235E9C"/>
                </a:solidFill>
                <a:latin typeface="Helvetica Neue"/>
                <a:ea typeface="Helvetica Neue"/>
                <a:cs typeface="Helvetica Neue"/>
                <a:hlinkClick xmlns:r="http://schemas.openxmlformats.org/officeDocument/2006/relationships" r:id="R9f0b17c40bd44966"/>
              </a:rPr>
              <a:t>[1] Hong et al. SOLA. MLSys 2025. Figure 1</a:t>
            </a:r>
          </a:p>
        </p:txBody>
      </p:sp>
      <p:sp>
        <p:nvSpPr>
          <p:cNvPr id="535" name="">
            <a:extLst xmlns:a="http://schemas.openxmlformats.org/drawingml/2006/main">
              <a:ext uri="{FF2B5EF4-FFF2-40B4-BE49-F238E27FC236}">
                <a16:creationId xmlns:a16="http://schemas.microsoft.com/office/drawing/2014/main" id="{D871209E-3283-4E53-B0F7-EA69CBA9B986}"/>
              </a:ext>
            </a:extLst>
          </p:cNvPr>
          <p:cNvSpPr>
            <a:spLocks xmlns:a="http://schemas.openxmlformats.org/drawingml/2006/main" noGrp="1"/>
          </p:cNvSpPr>
          <p:nvPr/>
        </p:nvSpPr>
        <p:spPr>
          <a:xfrm xmlns:a="http://schemas.openxmlformats.org/drawingml/2006/main">
            <a:off x="390525" y="1714500"/>
            <a:ext cx="11401425" cy="3143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a:solidFill>
                  <a:srgbClr val="235E9C"/>
                </a:solidFill>
                <a:latin typeface="Helvetica Neue"/>
                <a:ea typeface="Helvetica Neue"/>
                <a:cs typeface="Helvetica Neue"/>
                <a:hlinkClick xmlns:r="http://schemas.openxmlformats.org/officeDocument/2006/relationships" r:id="R5263f2f459ed447d"/>
              </a:rPr>
              <a:t>[2] Gao et al. DuetServe. ICML 2026. Figure 6</a:t>
            </a:r>
          </a:p>
        </p:txBody>
      </p:sp>
      <p:sp>
        <p:nvSpPr>
          <p:cNvPr id="536" name="">
            <a:extLst xmlns:a="http://schemas.openxmlformats.org/drawingml/2006/main">
              <a:ext uri="{FF2B5EF4-FFF2-40B4-BE49-F238E27FC236}">
                <a16:creationId xmlns:a16="http://schemas.microsoft.com/office/drawing/2014/main" id="{D71B5580-BBE6-441D-9109-BAAAE3D77BBC}"/>
              </a:ext>
            </a:extLst>
          </p:cNvPr>
          <p:cNvSpPr>
            <a:spLocks xmlns:a="http://schemas.openxmlformats.org/drawingml/2006/main" noGrp="1"/>
          </p:cNvSpPr>
          <p:nvPr/>
        </p:nvSpPr>
        <p:spPr>
          <a:xfrm xmlns:a="http://schemas.openxmlformats.org/drawingml/2006/main">
            <a:off x="390525" y="2076450"/>
            <a:ext cx="11401425" cy="3143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a:solidFill>
                  <a:srgbClr val="235E9C"/>
                </a:solidFill>
                <a:latin typeface="Helvetica Neue"/>
                <a:ea typeface="Helvetica Neue"/>
                <a:cs typeface="Helvetica Neue"/>
                <a:hlinkClick xmlns:r="http://schemas.openxmlformats.org/officeDocument/2006/relationships" r:id="Rc37c99321d264390"/>
              </a:rPr>
              <a:t>[3] Yang et al. GPU-disaggregated DLRM serving. NSDI 2025</a:t>
            </a:r>
          </a:p>
        </p:txBody>
      </p:sp>
      <p:sp>
        <p:nvSpPr>
          <p:cNvPr id="537" name="">
            <a:extLst xmlns:a="http://schemas.openxmlformats.org/drawingml/2006/main">
              <a:ext uri="{FF2B5EF4-FFF2-40B4-BE49-F238E27FC236}">
                <a16:creationId xmlns:a16="http://schemas.microsoft.com/office/drawing/2014/main" id="{B4F75F24-8FE4-48CB-BEF7-3F59B39BA1AB}"/>
              </a:ext>
            </a:extLst>
          </p:cNvPr>
          <p:cNvSpPr>
            <a:spLocks xmlns:a="http://schemas.openxmlformats.org/drawingml/2006/main" noGrp="1"/>
          </p:cNvSpPr>
          <p:nvPr/>
        </p:nvSpPr>
        <p:spPr>
          <a:xfrm xmlns:a="http://schemas.openxmlformats.org/drawingml/2006/main">
            <a:off x="390525" y="2438400"/>
            <a:ext cx="11401425" cy="3143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a:solidFill>
                  <a:srgbClr val="235E9C"/>
                </a:solidFill>
                <a:latin typeface="Helvetica Neue"/>
                <a:ea typeface="Helvetica Neue"/>
                <a:cs typeface="Helvetica Neue"/>
                <a:hlinkClick xmlns:r="http://schemas.openxmlformats.org/officeDocument/2006/relationships" r:id="R35e0b10e18fd4903"/>
              </a:rPr>
              <a:t>[4] Agrawal et al. Sarathi-Serve. OSDI 2024</a:t>
            </a:r>
          </a:p>
        </p:txBody>
      </p:sp>
      <p:sp>
        <p:nvSpPr>
          <p:cNvPr id="538" name="">
            <a:extLst xmlns:a="http://schemas.openxmlformats.org/drawingml/2006/main">
              <a:ext uri="{FF2B5EF4-FFF2-40B4-BE49-F238E27FC236}">
                <a16:creationId xmlns:a16="http://schemas.microsoft.com/office/drawing/2014/main" id="{EE13C955-464E-4B0A-8FC5-94AD06F1D0C3}"/>
              </a:ext>
            </a:extLst>
          </p:cNvPr>
          <p:cNvSpPr>
            <a:spLocks xmlns:a="http://schemas.openxmlformats.org/drawingml/2006/main" noGrp="1"/>
          </p:cNvSpPr>
          <p:nvPr/>
        </p:nvSpPr>
        <p:spPr>
          <a:xfrm xmlns:a="http://schemas.openxmlformats.org/drawingml/2006/main">
            <a:off x="390525" y="2800350"/>
            <a:ext cx="11401425" cy="3143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a:solidFill>
                  <a:srgbClr val="235E9C"/>
                </a:solidFill>
                <a:latin typeface="Helvetica Neue"/>
                <a:ea typeface="Helvetica Neue"/>
                <a:cs typeface="Helvetica Neue"/>
                <a:hlinkClick xmlns:r="http://schemas.openxmlformats.org/officeDocument/2006/relationships" r:id="Rb8a6bc8b4b8146eb"/>
              </a:rPr>
              <a:t>[5] Aegaeon: GPU pooling for concurrent LLM serving. SOSP 2025</a:t>
            </a:r>
          </a:p>
        </p:txBody>
      </p:sp>
      <p:sp>
        <p:nvSpPr>
          <p:cNvPr id="539" name="">
            <a:extLst xmlns:a="http://schemas.openxmlformats.org/drawingml/2006/main">
              <a:ext uri="{FF2B5EF4-FFF2-40B4-BE49-F238E27FC236}">
                <a16:creationId xmlns:a16="http://schemas.microsoft.com/office/drawing/2014/main" id="{37D0C937-AC9D-47CC-AB3F-2837B2E30B84}"/>
              </a:ext>
            </a:extLst>
          </p:cNvPr>
          <p:cNvSpPr>
            <a:spLocks xmlns:a="http://schemas.openxmlformats.org/drawingml/2006/main" noGrp="1"/>
          </p:cNvSpPr>
          <p:nvPr/>
        </p:nvSpPr>
        <p:spPr>
          <a:xfrm xmlns:a="http://schemas.openxmlformats.org/drawingml/2006/main">
            <a:off x="390525" y="3162300"/>
            <a:ext cx="11401425" cy="3143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a:solidFill>
                  <a:srgbClr val="235E9C"/>
                </a:solidFill>
                <a:latin typeface="Helvetica Neue"/>
                <a:ea typeface="Helvetica Neue"/>
                <a:cs typeface="Helvetica Neue"/>
                <a:hlinkClick xmlns:r="http://schemas.openxmlformats.org/officeDocument/2006/relationships" r:id="R039df70fcb3441f1"/>
              </a:rPr>
              <a:t>[6] Prism: GPU memory ballooning for LLMs. OSDI 2026</a:t>
            </a:r>
          </a:p>
        </p:txBody>
      </p:sp>
      <p:sp>
        <p:nvSpPr>
          <p:cNvPr id="540" name="">
            <a:extLst xmlns:a="http://schemas.openxmlformats.org/drawingml/2006/main">
              <a:ext uri="{FF2B5EF4-FFF2-40B4-BE49-F238E27FC236}">
                <a16:creationId xmlns:a16="http://schemas.microsoft.com/office/drawing/2014/main" id="{25E01C10-3510-494F-8F69-3A037CBE8D73}"/>
              </a:ext>
            </a:extLst>
          </p:cNvPr>
          <p:cNvSpPr>
            <a:spLocks xmlns:a="http://schemas.openxmlformats.org/drawingml/2006/main" noGrp="1"/>
          </p:cNvSpPr>
          <p:nvPr/>
        </p:nvSpPr>
        <p:spPr>
          <a:xfrm xmlns:a="http://schemas.openxmlformats.org/drawingml/2006/main">
            <a:off x="390525" y="3524250"/>
            <a:ext cx="11401425" cy="3143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a:solidFill>
                  <a:srgbClr val="235E9C"/>
                </a:solidFill>
                <a:latin typeface="Helvetica Neue"/>
                <a:ea typeface="Helvetica Neue"/>
                <a:cs typeface="Helvetica Neue"/>
                <a:hlinkClick xmlns:r="http://schemas.openxmlformats.org/officeDocument/2006/relationships" r:id="R81ab0e8281c14822"/>
              </a:rPr>
              <a:t>[7] NVIDIA Dynamo: KV-aware routing documentation</a:t>
            </a:r>
          </a:p>
        </p:txBody>
      </p:sp>
      <p:sp>
        <p:nvSpPr>
          <p:cNvPr id="541" name="">
            <a:extLst xmlns:a="http://schemas.openxmlformats.org/drawingml/2006/main">
              <a:ext uri="{FF2B5EF4-FFF2-40B4-BE49-F238E27FC236}">
                <a16:creationId xmlns:a16="http://schemas.microsoft.com/office/drawing/2014/main" id="{F0F01B0E-7522-4787-811F-1C5316DD5E05}"/>
              </a:ext>
            </a:extLst>
          </p:cNvPr>
          <p:cNvSpPr>
            <a:spLocks xmlns:a="http://schemas.openxmlformats.org/drawingml/2006/main" noGrp="1"/>
          </p:cNvSpPr>
          <p:nvPr/>
        </p:nvSpPr>
        <p:spPr>
          <a:xfrm xmlns:a="http://schemas.openxmlformats.org/drawingml/2006/main">
            <a:off x="390525" y="3886200"/>
            <a:ext cx="11401425" cy="3143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a:solidFill>
                  <a:srgbClr val="235E9C"/>
                </a:solidFill>
                <a:latin typeface="Helvetica Neue"/>
                <a:ea typeface="Helvetica Neue"/>
                <a:cs typeface="Helvetica Neue"/>
                <a:hlinkClick xmlns:r="http://schemas.openxmlformats.org/officeDocument/2006/relationships" r:id="Rdee412a0693e4cd9"/>
              </a:rPr>
              <a:t>[8] NVIDIA: tuning CUDA graph batch sizes. August 2026</a:t>
            </a:r>
          </a:p>
        </p:txBody>
      </p:sp>
      <p:sp>
        <p:nvSpPr>
          <p:cNvPr id="542" name="">
            <a:extLst xmlns:a="http://schemas.openxmlformats.org/drawingml/2006/main">
              <a:ext uri="{FF2B5EF4-FFF2-40B4-BE49-F238E27FC236}">
                <a16:creationId xmlns:a16="http://schemas.microsoft.com/office/drawing/2014/main" id="{3663B004-2CFD-45E3-8A1D-7E9C8094CB9B}"/>
              </a:ext>
            </a:extLst>
          </p:cNvPr>
          <p:cNvSpPr>
            <a:spLocks xmlns:a="http://schemas.openxmlformats.org/drawingml/2006/main" noGrp="1"/>
          </p:cNvSpPr>
          <p:nvPr/>
        </p:nvSpPr>
        <p:spPr>
          <a:xfrm xmlns:a="http://schemas.openxmlformats.org/drawingml/2006/main">
            <a:off x="390525" y="4248150"/>
            <a:ext cx="11401425" cy="3143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a:solidFill>
                  <a:srgbClr val="235E9C"/>
                </a:solidFill>
                <a:latin typeface="Helvetica Neue"/>
                <a:ea typeface="Helvetica Neue"/>
                <a:cs typeface="Helvetica Neue"/>
                <a:hlinkClick xmlns:r="http://schemas.openxmlformats.org/officeDocument/2006/relationships" r:id="R30734ad38a41492d"/>
              </a:rPr>
              <a:t>[9] vLLM: CUDA graph design documentation</a:t>
            </a:r>
          </a:p>
        </p:txBody>
      </p:sp>
      <p:sp>
        <p:nvSpPr>
          <p:cNvPr id="543" name="">
            <a:extLst xmlns:a="http://schemas.openxmlformats.org/drawingml/2006/main">
              <a:ext uri="{FF2B5EF4-FFF2-40B4-BE49-F238E27FC236}">
                <a16:creationId xmlns:a16="http://schemas.microsoft.com/office/drawing/2014/main" id="{2EF6C148-6025-4514-BE1A-424BB3AC2098}"/>
              </a:ext>
            </a:extLst>
          </p:cNvPr>
          <p:cNvSpPr>
            <a:spLocks xmlns:a="http://schemas.openxmlformats.org/drawingml/2006/main" noGrp="1"/>
          </p:cNvSpPr>
          <p:nvPr/>
        </p:nvSpPr>
        <p:spPr>
          <a:xfrm xmlns:a="http://schemas.openxmlformats.org/drawingml/2006/main">
            <a:off x="390525" y="4610100"/>
            <a:ext cx="11401425" cy="3143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a:solidFill>
                  <a:srgbClr val="235E9C"/>
                </a:solidFill>
                <a:latin typeface="Helvetica Neue"/>
                <a:ea typeface="Helvetica Neue"/>
                <a:cs typeface="Helvetica Neue"/>
                <a:hlinkClick xmlns:r="http://schemas.openxmlformats.org/officeDocument/2006/relationships" r:id="R057eb4050d0e4aaa"/>
              </a:rPr>
              <a:t>[10] NVIDIA: NVML utilization metric definition</a:t>
            </a:r>
          </a:p>
        </p:txBody>
      </p:sp>
      <p:sp>
        <p:nvSpPr>
          <p:cNvPr id="544" name="">
            <a:extLst xmlns:a="http://schemas.openxmlformats.org/drawingml/2006/main">
              <a:ext uri="{FF2B5EF4-FFF2-40B4-BE49-F238E27FC236}">
                <a16:creationId xmlns:a16="http://schemas.microsoft.com/office/drawing/2014/main" id="{08FB1495-8BCE-4F8A-885D-6CC8563B5ED4}"/>
              </a:ext>
            </a:extLst>
          </p:cNvPr>
          <p:cNvSpPr>
            <a:spLocks xmlns:a="http://schemas.openxmlformats.org/drawingml/2006/main" noGrp="1"/>
          </p:cNvSpPr>
          <p:nvPr/>
        </p:nvSpPr>
        <p:spPr>
          <a:xfrm xmlns:a="http://schemas.openxmlformats.org/drawingml/2006/main">
            <a:off x="390525" y="4972050"/>
            <a:ext cx="11401425" cy="3143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a:solidFill>
                  <a:srgbClr val="235E9C"/>
                </a:solidFill>
                <a:latin typeface="Helvetica Neue"/>
                <a:ea typeface="Helvetica Neue"/>
                <a:cs typeface="Helvetica Neue"/>
                <a:hlinkClick xmlns:r="http://schemas.openxmlformats.org/officeDocument/2006/relationships" r:id="R915814af1530417a"/>
              </a:rPr>
              <a:t>[11] Model and WikiText revisions: saved manifests</a:t>
            </a:r>
          </a:p>
        </p:txBody>
      </p:sp>
      <p:sp>
        <p:nvSpPr>
          <p:cNvPr id="545" name="">
            <a:extLst xmlns:a="http://schemas.openxmlformats.org/drawingml/2006/main">
              <a:ext uri="{FF2B5EF4-FFF2-40B4-BE49-F238E27FC236}">
                <a16:creationId xmlns:a16="http://schemas.microsoft.com/office/drawing/2014/main" id="{9CBEAE65-9E01-483F-92F7-32AA4B7DB164}"/>
              </a:ext>
            </a:extLst>
          </p:cNvPr>
          <p:cNvSpPr>
            <a:spLocks xmlns:a="http://schemas.openxmlformats.org/drawingml/2006/main" noGrp="1"/>
          </p:cNvSpPr>
          <p:nvPr/>
        </p:nvSpPr>
        <p:spPr>
          <a:xfrm xmlns:a="http://schemas.openxmlformats.org/drawingml/2006/main">
            <a:off x="390525" y="5334000"/>
            <a:ext cx="11401425" cy="3143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a:solidFill>
                  <a:srgbClr val="235E9C"/>
                </a:solidFill>
                <a:latin typeface="Helvetica Neue"/>
                <a:ea typeface="Helvetica Neue"/>
                <a:cs typeface="Helvetica Neue"/>
                <a:hlinkClick xmlns:r="http://schemas.openxmlformats.org/officeDocument/2006/relationships" r:id="Re96e5d9f624f4582"/>
              </a:rPr>
              <a:t>[12] Our measurements: raw records and W&amp;B runs</a:t>
            </a:r>
          </a:p>
        </p:txBody>
      </p:sp>
      <p:sp>
        <p:nvSpPr>
          <p:cNvPr id="546" name="">
            <a:extLst xmlns:a="http://schemas.openxmlformats.org/drawingml/2006/main">
              <a:ext uri="{FF2B5EF4-FFF2-40B4-BE49-F238E27FC236}">
                <a16:creationId xmlns:a16="http://schemas.microsoft.com/office/drawing/2014/main" id="{829A1747-6AEF-475E-8A29-EA459038A234}"/>
              </a:ext>
            </a:extLst>
          </p:cNvPr>
          <p:cNvSpPr>
            <a:spLocks xmlns:a="http://schemas.openxmlformats.org/drawingml/2006/main" noGrp="1"/>
          </p:cNvSpPr>
          <p:nvPr/>
        </p:nvSpPr>
        <p:spPr>
          <a:xfrm xmlns:a="http://schemas.openxmlformats.org/drawingml/2006/main">
            <a:off x="390525" y="5857875"/>
            <a:ext cx="11401425"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b="0">
                <a:solidFill>
                  <a:srgbClr val="000000"/>
                </a:solidFill>
                <a:latin typeface="Helvetica Neue"/>
                <a:ea typeface="Helvetica Neue"/>
                <a:cs typeface="Helvetica Neue"/>
              </a:rPr>
              <a:t>Paper figures retain their original data. Our plots use saved A100 measurements.</a:t>
            </a:r>
          </a:p>
        </p:txBody>
      </p:sp>
    </p:spTree>
    <p:extLst>
      <p:ext uri="{BB962C8B-B14F-4D97-AF65-F5344CB8AC3E}">
        <p14:creationId xmlns:p14="http://schemas.microsoft.com/office/powerpoint/2010/main" val="3667182145"/>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2026-09-08T17:28:50.0680000Z</dcterms:created>
  <dcterms:modified xsi:type="dcterms:W3CDTF">2026-09-08T17:28:50.0680000Z</dcterms:modified>
</coreProperties>
</file>