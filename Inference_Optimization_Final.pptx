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slides/charts/chart9.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2334c50070f45b2" /><Relationship Type="http://schemas.openxmlformats.org/officeDocument/2006/relationships/extended-properties" Target="/docProps/app.xml" Id="Rdf2d9c328c29446e" /><Relationship Type="http://schemas.openxmlformats.org/officeDocument/2006/relationships/officeDocument" Target="/ppt/presentation.xml" Id="Rf00c1dce69ad4cf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01b7d47c970433b"/>
  </p:sldMasterIdLst>
  <p:notesMasterIdLst>
    <p:notesMasterId xmlns:r="http://schemas.openxmlformats.org/officeDocument/2006/relationships" r:id="Rcbcfb738a6214c0c"/>
  </p:notesMasterIdLst>
  <p:sldIdLst>
    <p:sldId xmlns:r="http://schemas.openxmlformats.org/officeDocument/2006/relationships" id="256" r:id="R3ac60d30fad641e8"/>
    <p:sldId xmlns:r="http://schemas.openxmlformats.org/officeDocument/2006/relationships" id="257" r:id="R4ee64e54d4be4046"/>
    <p:sldId xmlns:r="http://schemas.openxmlformats.org/officeDocument/2006/relationships" id="258" r:id="R9d2d97ad5ffc4088"/>
    <p:sldId xmlns:r="http://schemas.openxmlformats.org/officeDocument/2006/relationships" id="259" r:id="R78fc32c291ac4cae"/>
    <p:sldId xmlns:r="http://schemas.openxmlformats.org/officeDocument/2006/relationships" id="260" r:id="R4c2f0d29e4bd4769"/>
    <p:sldId xmlns:r="http://schemas.openxmlformats.org/officeDocument/2006/relationships" id="261" r:id="Ra1f6ef9acc6842f9"/>
    <p:sldId xmlns:r="http://schemas.openxmlformats.org/officeDocument/2006/relationships" id="262" r:id="R36b74079e83340c2"/>
    <p:sldId xmlns:r="http://schemas.openxmlformats.org/officeDocument/2006/relationships" id="263" r:id="R635c32189b384568"/>
    <p:sldId xmlns:r="http://schemas.openxmlformats.org/officeDocument/2006/relationships" id="264" r:id="R2100175117c54cde"/>
    <p:sldId xmlns:r="http://schemas.openxmlformats.org/officeDocument/2006/relationships" id="265" r:id="R0425b2fd072a4aac"/>
    <p:sldId xmlns:r="http://schemas.openxmlformats.org/officeDocument/2006/relationships" id="266" r:id="R7202232879424f15"/>
    <p:sldId xmlns:r="http://schemas.openxmlformats.org/officeDocument/2006/relationships" id="267" r:id="R0397adea2ed14637"/>
    <p:sldId xmlns:r="http://schemas.openxmlformats.org/officeDocument/2006/relationships" id="268" r:id="R7e6142c178984c6d"/>
    <p:sldId xmlns:r="http://schemas.openxmlformats.org/officeDocument/2006/relationships" id="269" r:id="Rd8ce43586286454a"/>
    <p:sldId xmlns:r="http://schemas.openxmlformats.org/officeDocument/2006/relationships" id="270" r:id="Rd539c36f769a45bc"/>
    <p:sldId xmlns:r="http://schemas.openxmlformats.org/officeDocument/2006/relationships" id="271" r:id="R86cf757190ea4bbc"/>
    <p:sldId xmlns:r="http://schemas.openxmlformats.org/officeDocument/2006/relationships" id="272" r:id="Rc3d0832b4e3d4044"/>
    <p:sldId xmlns:r="http://schemas.openxmlformats.org/officeDocument/2006/relationships" id="273" r:id="R4c13e8357d30427c"/>
  </p:sldIdLst>
  <p:sldSz cx="12192000" cy="6858000"/>
  <p:notesSz cx="6858000" cy="9144000"/>
  <p:embeddedFontLst>
    <p:embeddedFont>
      <p:font typeface="OpenAI Sans"/>
      <p:regular xmlns:r="http://schemas.openxmlformats.org/officeDocument/2006/relationships" r:id="Raec2c0ebcf89461a"/>
      <p:bold xmlns:r="http://schemas.openxmlformats.org/officeDocument/2006/relationships" r:id="Rac703e6d76814f26"/>
      <p:italic xmlns:r="http://schemas.openxmlformats.org/officeDocument/2006/relationships" r:id="Ra211b1ffe273438a"/>
      <p:boldItalic xmlns:r="http://schemas.openxmlformats.org/officeDocument/2006/relationships" r:id="R77b00c9ef6f04988"/>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baafdf5ed794516" /><Relationship Type="http://schemas.openxmlformats.org/officeDocument/2006/relationships/slideMaster" Target="/ppt/slideMasters/slideMaster1.xml" Id="Rf01b7d47c970433b" /><Relationship Type="http://schemas.openxmlformats.org/officeDocument/2006/relationships/notesMaster" Target="/ppt/notesMasters/notesMaster1.xml" Id="Rcbcfb738a6214c0c" /><Relationship Type="http://schemas.openxmlformats.org/officeDocument/2006/relationships/presProps" Target="/ppt/presProps.xml" Id="R1145d49de3ab4998" /><Relationship Type="http://schemas.openxmlformats.org/officeDocument/2006/relationships/viewProps" Target="/ppt/viewProps.xml" Id="R62a958332c714c55" /><Relationship Type="http://schemas.openxmlformats.org/officeDocument/2006/relationships/tableStyles" Target="/ppt/tableStyles.xml" Id="Raa7fd0f68a9f4553" /><Relationship Type="http://schemas.openxmlformats.org/officeDocument/2006/relationships/font" Target="/ppt/fonts/font.dat" Id="Raec2c0ebcf89461a" /><Relationship Type="http://schemas.openxmlformats.org/officeDocument/2006/relationships/font" Target="/ppt/fonts/font2.dat" Id="Rac703e6d76814f26" /><Relationship Type="http://schemas.openxmlformats.org/officeDocument/2006/relationships/font" Target="/ppt/fonts/font3.dat" Id="Ra211b1ffe273438a" /><Relationship Type="http://schemas.openxmlformats.org/officeDocument/2006/relationships/font" Target="/ppt/fonts/font4.dat" Id="R77b00c9ef6f04988" /><Relationship Type="http://schemas.openxmlformats.org/officeDocument/2006/relationships/slide" Target="/ppt/slides/slide1.xml" Id="R3ac60d30fad641e8" /><Relationship Type="http://schemas.openxmlformats.org/officeDocument/2006/relationships/slide" Target="/ppt/slides/slide2.xml" Id="R4ee64e54d4be4046" /><Relationship Type="http://schemas.openxmlformats.org/officeDocument/2006/relationships/slide" Target="/ppt/slides/slide3.xml" Id="R9d2d97ad5ffc4088" /><Relationship Type="http://schemas.openxmlformats.org/officeDocument/2006/relationships/slide" Target="/ppt/slides/slide4.xml" Id="R78fc32c291ac4cae" /><Relationship Type="http://schemas.openxmlformats.org/officeDocument/2006/relationships/slide" Target="/ppt/slides/slide5.xml" Id="R4c2f0d29e4bd4769" /><Relationship Type="http://schemas.openxmlformats.org/officeDocument/2006/relationships/slide" Target="/ppt/slides/slide6.xml" Id="Ra1f6ef9acc6842f9" /><Relationship Type="http://schemas.openxmlformats.org/officeDocument/2006/relationships/slide" Target="/ppt/slides/slide7.xml" Id="R36b74079e83340c2" /><Relationship Type="http://schemas.openxmlformats.org/officeDocument/2006/relationships/slide" Target="/ppt/slides/slide8.xml" Id="R635c32189b384568" /><Relationship Type="http://schemas.openxmlformats.org/officeDocument/2006/relationships/slide" Target="/ppt/slides/slide9.xml" Id="R2100175117c54cde" /><Relationship Type="http://schemas.openxmlformats.org/officeDocument/2006/relationships/slide" Target="/ppt/slides/slide10.xml" Id="R0425b2fd072a4aac" /><Relationship Type="http://schemas.openxmlformats.org/officeDocument/2006/relationships/slide" Target="/ppt/slides/slide11.xml" Id="R7202232879424f15" /><Relationship Type="http://schemas.openxmlformats.org/officeDocument/2006/relationships/slide" Target="/ppt/slides/slide12.xml" Id="R0397adea2ed14637" /><Relationship Type="http://schemas.openxmlformats.org/officeDocument/2006/relationships/slide" Target="/ppt/slides/slide13.xml" Id="R7e6142c178984c6d" /><Relationship Type="http://schemas.openxmlformats.org/officeDocument/2006/relationships/slide" Target="/ppt/slides/slide14.xml" Id="Rd8ce43586286454a" /><Relationship Type="http://schemas.openxmlformats.org/officeDocument/2006/relationships/slide" Target="/ppt/slides/slide15.xml" Id="Rd539c36f769a45bc" /><Relationship Type="http://schemas.openxmlformats.org/officeDocument/2006/relationships/slide" Target="/ppt/slides/slide16.xml" Id="R86cf757190ea4bbc" /><Relationship Type="http://schemas.openxmlformats.org/officeDocument/2006/relationships/slide" Target="/ppt/slides/slide17.xml" Id="Rc3d0832b4e3d4044" /><Relationship Type="http://schemas.openxmlformats.org/officeDocument/2006/relationships/slide" Target="/ppt/slides/slide18.xml" Id="R4c13e8357d3042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c471a8d280471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4d94a990e784680" /><Relationship Type="http://schemas.openxmlformats.org/officeDocument/2006/relationships/notesMaster" Target="/ppt/notesMasters/notesMaster1.xml" Id="Rf02ef9a00d9541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2fc05f805546e4" /><Relationship Type="http://schemas.openxmlformats.org/officeDocument/2006/relationships/notesMaster" Target="/ppt/notesMasters/notesMaster1.xml" Id="Rfbb06c778c5f40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33bc2da32b46ef" /><Relationship Type="http://schemas.openxmlformats.org/officeDocument/2006/relationships/notesMaster" Target="/ppt/notesMasters/notesMaster1.xml" Id="Rce7269808cf94547"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489a2ed0854e23" /><Relationship Type="http://schemas.openxmlformats.org/officeDocument/2006/relationships/notesMaster" Target="/ppt/notesMasters/notesMaster1.xml" Id="R0db9531f9f794c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ea38bc72a22495f" /><Relationship Type="http://schemas.openxmlformats.org/officeDocument/2006/relationships/notesMaster" Target="/ppt/notesMasters/notesMaster1.xml" Id="R81d891c07cda46b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4124a5ad9844e3" /><Relationship Type="http://schemas.openxmlformats.org/officeDocument/2006/relationships/notesMaster" Target="/ppt/notesMasters/notesMaster1.xml" Id="Rb12711cb981244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1ea1c839ab4391" /><Relationship Type="http://schemas.openxmlformats.org/officeDocument/2006/relationships/notesMaster" Target="/ppt/notesMasters/notesMaster1.xml" Id="Rfc885d67d9654b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7d02bbb2ce44ebf" /><Relationship Type="http://schemas.openxmlformats.org/officeDocument/2006/relationships/notesMaster" Target="/ppt/notesMasters/notesMaster1.xml" Id="R1e19f737d66d448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f49fe44d224b7c" /><Relationship Type="http://schemas.openxmlformats.org/officeDocument/2006/relationships/notesMaster" Target="/ppt/notesMasters/notesMaster1.xml" Id="Rd091944a7e8449b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dedbc7acf01435a" /><Relationship Type="http://schemas.openxmlformats.org/officeDocument/2006/relationships/notesMaster" Target="/ppt/notesMasters/notesMaster1.xml" Id="R03b6545c90bc485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a814eba3114142" /><Relationship Type="http://schemas.openxmlformats.org/officeDocument/2006/relationships/notesMaster" Target="/ppt/notesMasters/notesMaster1.xml" Id="R5ae86e6464c74a2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fecd00cef174874" /><Relationship Type="http://schemas.openxmlformats.org/officeDocument/2006/relationships/notesMaster" Target="/ppt/notesMasters/notesMaster1.xml" Id="R3b23fda6376541a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c4cc562af6d4757" /><Relationship Type="http://schemas.openxmlformats.org/officeDocument/2006/relationships/notesMaster" Target="/ppt/notesMasters/notesMaster1.xml" Id="Rf7cf1d1aaed547d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0310c4b7aff4252" /><Relationship Type="http://schemas.openxmlformats.org/officeDocument/2006/relationships/notesMaster" Target="/ppt/notesMasters/notesMaster1.xml" Id="Rd176d7b277aa4c4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fc59804e9da4a95" /><Relationship Type="http://schemas.openxmlformats.org/officeDocument/2006/relationships/notesMaster" Target="/ppt/notesMasters/notesMaster1.xml" Id="Raeb081c5ab3043b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07624967b524f07" /><Relationship Type="http://schemas.openxmlformats.org/officeDocument/2006/relationships/notesMaster" Target="/ppt/notesMasters/notesMaster1.xml" Id="Ra58c7f74451b41c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9c84285620343a6" /><Relationship Type="http://schemas.openxmlformats.org/officeDocument/2006/relationships/notesMaster" Target="/ppt/notesMasters/notesMaster1.xml" Id="Ra9d0b691ad42474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43c8791f134b94" /><Relationship Type="http://schemas.openxmlformats.org/officeDocument/2006/relationships/notesMaster" Target="/ppt/notesMasters/notesMaster1.xml" Id="R985c1c72f10040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project is called Inference Optimization. We want better admission decisions to increase SLO goodput: the number of requests completed within their latency targets per second on the same GPU.</a:t>
            </a:r>
          </a:p>
          <a:p xmlns:a="http://schemas.openxmlformats.org/drawingml/2006/main">
            <a:r>
              <a:t/>
            </a:r>
          </a:p>
          <a:p xmlns:a="http://schemas.openxmlformats.org/drawingml/2006/main">
            <a:r>
              <a:t>The completed tests give us a research progression. We observed a burst-recovery problem, measured default vLLM and a simple admission limit, and tested a context-budget rule. That rule performed worse, so we do not yet have a better scheduler.</a:t>
            </a:r>
          </a:p>
          <a:p xmlns:a="http://schemas.openxmlformats.org/drawingml/2006/main">
            <a:r>
              <a:t/>
            </a:r>
          </a:p>
          <a:p xmlns:a="http://schemas.openxmlformats.org/drawingml/2006/main">
            <a:r>
              <a:t>Our next question is whether estimated processing cost, system state and remaining latency budget can guide better admission decisions. The presentation separates published results, our measurements and this untested next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 better admission decisions increase SLO goodput during bursts of long prompts? SLO goodput means the number of requests completed within latency targets per second. In our finite replay experiment, the denominator includes the arrival period and the time required to finish all outstanding work.</a:t>
            </a:r>
          </a:p>
          <a:p xmlns:a="http://schemas.openxmlformats.org/drawingml/2006/main">
            <a:r>
              <a:t/>
            </a:r>
          </a:p>
          <a:p xmlns:a="http://schemas.openxmlformats.org/drawingml/2006/main">
            <a:r>
              <a:t>Imagine short questions arriving, followed by long documents and then more short questions. The later questions may spend their latency budget waiting for the backlog to clear. Admission decides when and how many waiting requests enter the serving engine.</a:t>
            </a:r>
          </a:p>
          <a:p xmlns:a="http://schemas.openxmlformats.org/drawingml/2006/main">
            <a:r>
              <a:t/>
            </a:r>
          </a:p>
          <a:p xmlns:a="http://schemas.openxmlformats.org/drawingml/2006/main">
            <a:r>
              <a:t>Our hypothesis is that estimated processing cost, system state and remaining latency budget can improve SLO goodput without worsening tail latency. System state could include queued work and available resources; the useful signals still need to be tested. The competing explanation is that an extra gate suppresses useful concurrency and delays work that vLLM handles more effectively.</a:t>
            </a:r>
          </a:p>
          <a:p xmlns:a="http://schemas.openxmlformats.org/drawingml/2006/main">
            <a:r>
              <a:t/>
            </a:r>
          </a:p>
          <a:p xmlns:a="http://schemas.openxmlformats.org/drawingml/2006/main">
            <a:r>
              <a:t>Evidence: https://github.com/nileshsarkar-ai/Inference-Optimization/blob/master/outputs/Research_Question.md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contains results from other researchers. For each paper, I will explain the objective, the experimental setup, the axes and the result.</a:t>
            </a:r>
          </a:p>
          <a:p xmlns:a="http://schemas.openxmlformats.org/drawingml/2006/main">
            <a:r>
              <a:t/>
            </a:r>
          </a:p>
          <a:p xmlns:a="http://schemas.openxmlformats.org/drawingml/2006/main">
            <a:r>
              <a:t>Their results provide background for our investigation. They are not results from our GPU, and their headline gains cannot be compared directly because the hardware, models and workloads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literature shows several different places where inference can be improved. SOLA studies request scheduling and the amount of work performed in each iteration. DuetServe studies how prompt processing and output generation share GPU execution resources. Prism studies how recommendation inference uses CPU and GPU resources across machines.</a:t>
            </a:r>
          </a:p>
          <a:p xmlns:a="http://schemas.openxmlformats.org/drawingml/2006/main">
            <a:r>
              <a:t/>
            </a:r>
          </a:p>
          <a:p xmlns:a="http://schemas.openxmlformats.org/drawingml/2006/main">
            <a:r>
              <a:t>We selected these examples to understand why a GPU utilization problem may come from scheduling, execution overlap or another part of the system. This is a map of selected approaches, not a claim that one system wins every benchmark.</a:t>
            </a:r>
          </a:p>
          <a:p xmlns:a="http://schemas.openxmlformats.org/drawingml/2006/main">
            <a:r>
              <a:t/>
            </a:r>
          </a:p>
          <a:p xmlns:a="http://schemas.openxmlformats.org/drawingml/2006/main">
            <a:r>
              <a:t>The next three slides each show an original published figure with its own conditions.</a:t>
            </a:r>
          </a:p>
          <a:p xmlns:a="http://schemas.openxmlformats.org/drawingml/2006/main">
            <a:r>
              <a:t/>
            </a:r>
          </a:p>
          <a:p xmlns:a="http://schemas.openxmlformats.org/drawingml/2006/main">
            <a:r>
              <a:t>Sources: SOLA https://proceedings.mlsys.org/paper_files/paper/2025/file/bc82dbfbfa43232be85b8d9838f49c3e-Paper-Conference.pdf</a:t>
            </a:r>
          </a:p>
          <a:p xmlns:a="http://schemas.openxmlformats.org/drawingml/2006/main">
            <a:r>
              <a:t>DuetServe https://pages.cs.wisc.edu/~markhill/papers/icml2026_DuetServe.pdf</a:t>
            </a:r>
          </a:p>
          <a:p xmlns:a="http://schemas.openxmlformats.org/drawingml/2006/main">
            <a:r>
              <a:t>Prism https://www.usenix.org/system/files/nsdi25-yang.pdf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SOLA tries to increase the proportion of requests meeting response-time targets. It uses request and system state to change execution order and work per iteration.</a:t>
            </a:r>
          </a:p>
          <a:p xmlns:a="http://schemas.openxmlformats.org/drawingml/2006/main">
            <a:r>
              <a:t/>
            </a:r>
          </a:p>
          <a:p xmlns:a="http://schemas.openxmlformats.org/drawingml/2006/main">
            <a:r>
              <a:t>Read the two panels from left to right: the paper's vLLM baseline and SOLA. Each point is a request. Moving right means waiting longer for the first token. Moving up means more time per output token. The shaded lower-left region meets both targets.</a:t>
            </a:r>
          </a:p>
          <a:p xmlns:a="http://schemas.openxmlformats.org/drawingml/2006/main">
            <a:r>
              <a:t/>
            </a:r>
          </a:p>
          <a:p xmlns:a="http://schemas.openxmlformats.org/drawingml/2006/main">
            <a:r>
              <a:t>In this Llama3-70B test on four A100 GPUs, the reported attainment increases from 65% to 98%. This supports investigating state-aware scheduling, but it does not establish the same gain on our model or newer vLLM version.</a:t>
            </a:r>
          </a:p>
          <a:p xmlns:a="http://schemas.openxmlformats.org/drawingml/2006/main">
            <a:r>
              <a:t/>
            </a:r>
          </a:p>
          <a:p xmlns:a="http://schemas.openxmlformats.org/drawingml/2006/main">
            <a:r>
              <a:t>Source, Figure 1: https://proceedings.mlsys.org/paper_files/paper/2025/file/bc82dbfbfa43232be85b8d9838f49c3e-Paper-Conference.pdf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DuetServe aims to keep token generation progressing while prompt processing also uses the GPU. It adaptively shares execution resources between these phases.</a:t>
            </a:r>
          </a:p>
          <a:p xmlns:a="http://schemas.openxmlformats.org/drawingml/2006/main">
            <a:r>
              <a:t/>
            </a:r>
          </a:p>
          <a:p xmlns:a="http://schemas.openxmlformats.org/drawingml/2006/main">
            <a:r>
              <a:t>The horizontal axis is the incoming request rate, called QPS. The vertical axis is the rate of completed requests. The orange curve is DuetServe. The panel uses AzureCode requests and Qwen3-8B on one H100 80 GB.</a:t>
            </a:r>
          </a:p>
          <a:p xmlns:a="http://schemas.openxmlformats.org/drawingml/2006/main">
            <a:r>
              <a:t/>
            </a:r>
          </a:p>
          <a:p xmlns:a="http://schemas.openxmlformats.org/drawingml/2006/main">
            <a:r>
              <a:t>At sixteen incoming requests per second, section 5.2 reports 13.57 completed requests per second for DuetServe and 12.43 for SGLang-Default. The 9.2 percent difference is our calculation from those reported values. This is throughput, not an SLO-attainment percentage. The paper also discusses a first-token versus later-token latency tradeoff.</a:t>
            </a:r>
          </a:p>
          <a:p xmlns:a="http://schemas.openxmlformats.org/drawingml/2006/main">
            <a:r>
              <a:t/>
            </a:r>
          </a:p>
          <a:p xmlns:a="http://schemas.openxmlformats.org/drawingml/2006/main">
            <a:r>
              <a:t>Source, Figure 6 and section 5.2: https://pages.cs.wisc.edu/~markhill/papers/icml2026_DuetServe.pdf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Prism shows that inference efficiency also matters outside language models. Recommendation models can need substantial CPU work and memory, which limits how much of a GPU node can be used.</a:t>
            </a:r>
          </a:p>
          <a:p xmlns:a="http://schemas.openxmlformats.org/drawingml/2006/main">
            <a:r>
              <a:t/>
            </a:r>
          </a:p>
          <a:p xmlns:a="http://schemas.openxmlformats.org/drawingml/2006/main">
            <a:r>
              <a:t>The graph compares two recommendation models. Different bars represent different deployments. In Prism's labels, the two numbers count CPU-side and GPU-side inference instances. Taller bars mean more goodput under the paper's twenty-five-millisecond latency condition.</a:t>
            </a:r>
          </a:p>
          <a:p xmlns:a="http://schemas.openxmlformats.org/drawingml/2006/main">
            <a:r>
              <a:t/>
            </a:r>
          </a:p>
          <a:p xmlns:a="http://schemas.openxmlformats.org/drawingml/2006/main">
            <a:r>
              <a:t>The reported five-to-nine-times gains use added CPU nodes. The nine-times case also partitions GPUs with MIG. Therefore this is evidence about resource balance, not a claim that unchanged total hardware became nine times faster. It does not validate our admission rule beyond language models.</a:t>
            </a:r>
          </a:p>
          <a:p xmlns:a="http://schemas.openxmlformats.org/drawingml/2006/main">
            <a:r>
              <a:t/>
            </a:r>
          </a:p>
          <a:p xmlns:a="http://schemas.openxmlformats.org/drawingml/2006/main">
            <a:r>
              <a:t>Source, Figure 17 and section 5.3: https://www.usenix.org/system/files/nsdi25-yang.pdf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this point, the experiments and measurements are our own. We used one rented A100 40 GB GPU and saved the code, inputs, configurations and outputs.</a:t>
            </a:r>
          </a:p>
          <a:p xmlns:a="http://schemas.openxmlformats.org/drawingml/2006/main">
            <a:r>
              <a:t/>
            </a:r>
          </a:p>
          <a:p xmlns:a="http://schemas.openxmlformats.org/drawingml/2006/main">
            <a:r>
              <a:t>There are two different studies. The first changes CUDA-graph capture sizes on five models. The second changes when requests enter vLLM during a burst, using Gemma 4 12B. They answer different questions and their throughput numbers should not be directly compared.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system we actually used. All experiments ran on the same A100 PCIe 40 GB GPU, with BF16 precision and one GPU per model. The table records the installed software versions. CPU model and total host RAM were not reliably recorded, so we do not claim those specifications.</a:t>
            </a:r>
          </a:p>
          <a:p xmlns:a="http://schemas.openxmlformats.org/drawingml/2006/main">
            <a:r>
              <a:t/>
            </a:r>
          </a:p>
          <a:p xmlns:a="http://schemas.openxmlformats.org/drawingml/2006/main">
            <a:r>
              <a:t>Throughput counts output tokens per second. SLO goodput counts requests that meet both response-time targets per second. In the scheduling study, the denominator includes replaying arrivals and finishing outstanding work.</a:t>
            </a:r>
          </a:p>
          <a:p xmlns:a="http://schemas.openxmlformats.org/drawingml/2006/main">
            <a:r>
              <a:t/>
            </a:r>
          </a:p>
          <a:p xmlns:a="http://schemas.openxmlformats.org/drawingml/2006/main">
            <a:r>
              <a:t>GPU busy time comes from NVIDIA telemetry. It reports time with a kernel running, not achieved compute efficiency. More VRAM occupied is not itself a performance improvement.</a:t>
            </a:r>
          </a:p>
          <a:p xmlns:a="http://schemas.openxmlformats.org/drawingml/2006/main">
            <a:r>
              <a:t/>
            </a:r>
          </a:p>
          <a:p xmlns:a="http://schemas.openxmlformats.org/drawingml/2006/main">
            <a:r>
              <a:t>Additional settings: NVIDIA driver 595.58.03, Transformers 5.16.1, engine memory fraction 0.85, maximum 128 sequences, 4096 batched tokens, prefix cache off and chunked prefill on. Capture maximum context is 512; scheduling maximum context is 4096.</a:t>
            </a:r>
          </a:p>
          <a:p xmlns:a="http://schemas.openxmlformats.org/drawingml/2006/main">
            <a:r>
              <a:t/>
            </a:r>
          </a:p>
          <a:p xmlns:a="http://schemas.openxmlformats.org/drawingml/2006/main">
            <a:r>
              <a:t>Evidence: https://github.com/nileshsarkar-ai/Inference-Optimization/blob/master/outputs/Experiment_Inventory.md</a:t>
            </a:r>
          </a:p>
          <a:p xmlns:a="http://schemas.openxmlformats.org/drawingml/2006/main">
            <a:r>
              <a:t>Metric: https://docs.nvidia.com/deploy/nvml-api/structnvmlUtilization__t.html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with a bounded execution-setting experiment before designing a scheduler. CUDA graphs record GPU operations so they can be replayed. A captured size that does not fit the workload exactly can involve padding, while storing many graphs has a memory cost.</a:t>
            </a:r>
          </a:p>
          <a:p xmlns:a="http://schemas.openxmlformats.org/drawingml/2006/main">
            <a:r>
              <a:t/>
            </a:r>
          </a:p>
          <a:p xmlns:a="http://schemas.openxmlformats.org/drawingml/2006/main">
            <a:r>
              <a:t>We compared the engine's default set, a coarse set and a set including our exact tested batch sizes. Everything else was held fixed within each model. Each request had 128 input and 128 output tokens. We timed eight batch sizes with three warmed repetitions for each configuration.</a:t>
            </a:r>
          </a:p>
          <a:p xmlns:a="http://schemas.openxmlformats.org/drawingml/2006/main">
            <a:r>
              <a:t/>
            </a:r>
          </a:p>
          <a:p xmlns:a="http://schemas.openxmlformats.org/drawingml/2006/main">
            <a:r>
              <a:t>A fresh engine process was used per configuration, but configuration order was fixed. The repetitions within a configuration are not independent process repetitions. Timing includes prompt processing and host work. The separate profiler runs are excluded.</a:t>
            </a:r>
          </a:p>
          <a:p xmlns:a="http://schemas.openxmlformats.org/drawingml/2006/main">
            <a:r>
              <a:t/>
            </a:r>
          </a:p>
          <a:p xmlns:a="http://schemas.openxmlformats.org/drawingml/2006/main">
            <a:r>
              <a:t>Why this experiment: it tests whether an accessible execution setting leaves a useful improvement before adding queueing logic.</a:t>
            </a:r>
          </a:p>
          <a:p xmlns:a="http://schemas.openxmlformats.org/drawingml/2006/main">
            <a:r>
              <a:t/>
            </a:r>
          </a:p>
          <a:p xmlns:a="http://schemas.openxmlformats.org/drawingml/2006/main">
            <a:r>
              <a:t>Protocol: https://github.com/nileshsarkar-ai/Inference-Optimization/blob/master/outputs/model_suite/README.md</a:t>
            </a:r>
          </a:p>
          <a:p xmlns:a="http://schemas.openxmlformats.org/drawingml/2006/main">
            <a:r>
              <a:t>Engineering background: https://nvidia.github.io/TensorRT-LLM/latest/blogs/tech_blog/blog20_Tuning_CUDA_Graph_Batch_Sizes_for_Higher_Output_Throughput.html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study introduces changing arrivals and queueing, which the fixed-batch experiment does not test. We replay the same short-long-short request trace for each policy within a repetition.</a:t>
            </a:r>
          </a:p>
          <a:p xmlns:a="http://schemas.openxmlformats.org/drawingml/2006/main">
            <a:r>
              <a:t/>
            </a:r>
          </a:p>
          <a:p xmlns:a="http://schemas.openxmlformats.org/drawingml/2006/main">
            <a:r>
              <a:t>Direct submission lets vLLM receive each request on arrival. Fixed 32 adds a FIFO gate. The candidate reserves input length plus the known 128-token output budget, with at most twenty thousand estimated tokens admitted. This is a token heuristic, not actual measured compute cost or live KV bytes.</a:t>
            </a:r>
          </a:p>
          <a:p xmlns:a="http://schemas.openxmlformats.org/drawingml/2006/main">
            <a:r>
              <a:t/>
            </a:r>
          </a:p>
          <a:p xmlns:a="http://schemas.openxmlformats.org/drawingml/2006/main">
            <a:r>
              <a:t>Our targets are a first token within two seconds and mean subsequent-token time within one hundred milliseconds. All waiting counts from the scheduled arrival. Three independent engine processes each run all policies, with rotated policy order. Every request completes before moving to the next policy.</a:t>
            </a:r>
          </a:p>
          <a:p xmlns:a="http://schemas.openxmlformats.org/drawingml/2006/main">
            <a:r>
              <a:t/>
            </a:r>
          </a:p>
          <a:p xmlns:a="http://schemas.openxmlformats.org/drawingml/2006/main">
            <a:r>
              <a:t>The declared success criterion requires at least five percent more goodput than both controls in every paired repetition, without worsening p99 first-token delay or p99 stream gap. A p99 is a ninety-ninth-percentile value.</a:t>
            </a:r>
          </a:p>
          <a:p xmlns:a="http://schemas.openxmlformats.org/drawingml/2006/main">
            <a:r>
              <a:t/>
            </a:r>
          </a:p>
          <a:p xmlns:a="http://schemas.openxmlformats.org/drawingml/2006/main">
            <a:r>
              <a:t>Protocol: https://github.com/nileshsarkar-ai/Inference-Optimization/blob/master/outputs/scheduling_validation/PROTOCOL.md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following graphs are our measurements, taken from the saved experiment records. The CUDA-graph comparison comes first, followed by the request-admission comparison.</a:t>
            </a:r>
          </a:p>
          <a:p xmlns:a="http://schemas.openxmlformats.org/drawingml/2006/main">
            <a:r>
              <a:t/>
            </a:r>
          </a:p>
          <a:p xmlns:a="http://schemas.openxmlformats.org/drawingml/2006/main">
            <a:r>
              <a:t>The chart points show actual repetitions. The lines or diamonds show calculated means. We will separate what was observed from what it suggests, and we will not describe the unsuccessful candidate as an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panels show Gemma 4 12B, Qwen3.5-9B and Gemma 4 E4B. The horizontal axis is the number of requests submitted in a fixed batch. The vertical axis is generated output tokens per second. Compare configurations within each panel because the vertical ranges differ.</a:t>
            </a:r>
          </a:p>
          <a:p xmlns:a="http://schemas.openxmlformats.org/drawingml/2006/main">
            <a:r>
              <a:t/>
            </a:r>
          </a:p>
          <a:p xmlns:a="http://schemas.openxmlformats.org/drawingml/2006/main">
            <a:r>
              <a:t>Black shows vLLM's default capture sizes, blue the exact matched set and gray the coarse grid. Every recorded repeat appears as a point, and lines connect the means. Closely overlapping points are expected.</a:t>
            </a:r>
          </a:p>
          <a:p xmlns:a="http://schemas.openxmlformats.org/drawingml/2006/main">
            <a:r>
              <a:t/>
            </a:r>
          </a:p>
          <a:p xmlns:a="http://schemas.openxmlformats.org/drawingml/2006/main">
            <a:r>
              <a:t>Matched settings differ from default by approximately minus 0.6 to plus 0.3 percent. This study does not establish a useful gain from manual matching. Coarse grids lose up to 3.8 percent. Gemma 12B throughput falls at the largest batches, but high KV occupancy in logs does not prove the cause.</a:t>
            </a:r>
          </a:p>
          <a:p xmlns:a="http://schemas.openxmlformats.org/drawingml/2006/main">
            <a:r>
              <a:t/>
            </a:r>
          </a:p>
          <a:p xmlns:a="http://schemas.openxmlformats.org/drawingml/2006/main">
            <a:r>
              <a:t>The peaks label the best tested default batch for each model. They are not general model benchmarks or online serving capacity.</a:t>
            </a:r>
          </a:p>
          <a:p xmlns:a="http://schemas.openxmlformats.org/drawingml/2006/main">
            <a:r>
              <a:t/>
            </a:r>
          </a:p>
          <a:p xmlns:a="http://schemas.openxmlformats.org/drawingml/2006/main">
            <a:r>
              <a:t>Measurements: https://github.com/nileshsarkar-ai/Inference-Optimization/tree/master/outputs/current_model_summary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retained our earlier Qwen2.5 controls. They use the same batch-size and capture-size comparison, with all 144 recorded timing calls shown.</a:t>
            </a:r>
          </a:p>
          <a:p xmlns:a="http://schemas.openxmlformats.org/drawingml/2006/main">
            <a:r>
              <a:t/>
            </a:r>
          </a:p>
          <a:p xmlns:a="http://schemas.openxmlformats.org/drawingml/2006/main">
            <a:r>
              <a:t>Read the axes and colors the same way as the previous slide. The smaller model achieves more tokens per second in these tests, but the purpose here is the configuration comparison within a model. These are older controls and are not presented as the newest available models.</a:t>
            </a:r>
          </a:p>
          <a:p xmlns:a="http://schemas.openxmlformats.org/drawingml/2006/main">
            <a:r>
              <a:t/>
            </a:r>
          </a:p>
          <a:p xmlns:a="http://schemas.openxmlformats.org/drawingml/2006/main">
            <a:r>
              <a:t>The five-model coverage applies to the CUDA-graph study. It does not mean that the scheduling candidate has been evaluated on five models. Scheduling was tested on Gemma 4 12B only.</a:t>
            </a:r>
          </a:p>
          <a:p xmlns:a="http://schemas.openxmlformats.org/drawingml/2006/main">
            <a:r>
              <a:t/>
            </a:r>
          </a:p>
          <a:p xmlns:a="http://schemas.openxmlformats.org/drawingml/2006/main">
            <a:r>
              <a:t>Raw records: https://github.com/nileshsarkar-ai/Inference-Optimization/tree/master/outputs/experiment_data</a:t>
            </a:r>
          </a:p>
          <a:p xmlns:a="http://schemas.openxmlformats.org/drawingml/2006/main">
            <a:r>
              <a:t>https://github.com/nileshsarkar-ai/Inference-Optimization/tree/master/outputs/experiment_data_qwen7b_complete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four performance measures for our scheduling comparison. Each point represents a policy in one independent engine repetition, and each diamond is its mean. Some points overlap.</a:t>
            </a:r>
          </a:p>
          <a:p xmlns:a="http://schemas.openxmlformats.org/drawingml/2006/main">
            <a:r>
              <a:t/>
            </a:r>
          </a:p>
          <a:p xmlns:a="http://schemas.openxmlformats.org/drawingml/2006/main">
            <a:r>
              <a:t>The upper-left panel is SLO goodput: requests meeting both latency targets per second, where higher is better. The upper-right is total generated tokens per second. The lower-left is first-token tail latency, where lower is better. The lower-right is the GPU-busy percentage.</a:t>
            </a:r>
          </a:p>
          <a:p xmlns:a="http://schemas.openxmlformats.org/drawingml/2006/main">
            <a:r>
              <a:t/>
            </a:r>
          </a:p>
          <a:p xmlns:a="http://schemas.openxmlformats.org/drawingml/2006/main">
            <a:r>
              <a:t>The context-budget rule performs worse on SLO goodput and output throughput and increases first-token delay. Yet GPU busy time is near one hundred percent for every policy. This shows why that percentage alone is an inadequate optimization target.</a:t>
            </a:r>
          </a:p>
          <a:p xmlns:a="http://schemas.openxmlformats.org/drawingml/2006/main">
            <a:r>
              <a:t/>
            </a:r>
          </a:p>
          <a:p xmlns:a="http://schemas.openxmlformats.org/drawingml/2006/main">
            <a:r>
              <a:t>These are timed burst workloads. Do not compare the tokens-per-second values directly against the fixed-batch graphs as a performance regression because the inputs, arrival behavior and timing procedure differ.</a:t>
            </a:r>
          </a:p>
          <a:p xmlns:a="http://schemas.openxmlformats.org/drawingml/2006/main">
            <a:r>
              <a:t/>
            </a:r>
          </a:p>
          <a:p xmlns:a="http://schemas.openxmlformats.org/drawingml/2006/main">
            <a:r>
              <a:t>Data: https://github.com/nileshsarkar-ai/Inference-Optimization/blob/master/outputs/scheduling_results/analysis/validation.json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gives the means behind the scheduling graphs. Default vLLM produces about 2.588 requests meeting the latency targets per second, compared with 2.013 for the context-budget rule. Across paired repetitions, the rule reduces SLO goodput by twenty to twenty-four percent. The latency column averages each run's p99; it is not a percentile pooled across all requests.</a:t>
            </a:r>
          </a:p>
          <a:p xmlns:a="http://schemas.openxmlformats.org/drawingml/2006/main">
            <a:r>
              <a:t/>
            </a:r>
          </a:p>
          <a:p xmlns:a="http://schemas.openxmlformats.org/drawingml/2006/main">
            <a:r>
              <a:t>We established two observations under these test conditions. Near-one-hundred-percent GPU busy time coexists with requests missing their latency targets. Also, our first context-budget admission rule performs worse than default vLLM. GPU activity alone therefore does not tell us how much timely service the system provides.</a:t>
            </a:r>
          </a:p>
          <a:p xmlns:a="http://schemas.openxmlformats.org/drawingml/2006/main">
            <a:r>
              <a:t/>
            </a:r>
          </a:p>
          <a:p xmlns:a="http://schemas.openxmlformats.org/drawingml/2006/main">
            <a:r>
              <a:t>The phase analysis identifies the burst-recovery problem. All ninety-six initial short requests meet the targets, while none of the ninety-six short requests after the long burst meet them in any policy or repetition. Similar numbers pass across policies, but the candidate takes longer to drain the workload, which explains much of its lower SLO goodput.</a:t>
            </a:r>
          </a:p>
          <a:p xmlns:a="http://schemas.openxmlformats.org/drawingml/2006/main">
            <a:r>
              <a:t/>
            </a:r>
          </a:p>
          <a:p xmlns:a="http://schemas.openxmlformats.org/drawingml/2006/main">
            <a:r>
              <a:t>These results reject this tested setting. They do not isolate the causal bottleneck or establish sustainable capacity at eight requests per second.</a:t>
            </a:r>
          </a:p>
          <a:p xmlns:a="http://schemas.openxmlformats.org/drawingml/2006/main">
            <a:r>
              <a:t/>
            </a:r>
          </a:p>
          <a:p xmlns:a="http://schemas.openxmlformats.org/drawingml/2006/main">
            <a:r>
              <a:t>Results: https://github.com/nileshsarkar-ai/Inference-Optimization/blob/master/outputs/scheduling_results/analysis/validation.json</a:t>
            </a:r>
          </a:p>
          <a:p xmlns:a="http://schemas.openxmlformats.org/drawingml/2006/main">
            <a:r>
              <a:t>Phase analysis: https://github.com/nileshsarkar-ai/Inference-Optimization/blob/master/outputs/scheduling_results/analysis/phase_diagnostics.json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research progression is: problem observed, baselines measured, a simple hypothesis tested, the tested rule rejected, then a better-controlled next hypothesis.</a:t>
            </a:r>
          </a:p>
          <a:p xmlns:a="http://schemas.openxmlformats.org/drawingml/2006/main">
            <a:r>
              <a:t/>
            </a:r>
          </a:p>
          <a:p xmlns:a="http://schemas.openxmlformats.org/drawingml/2006/main">
            <a:r>
              <a:t>We do not yet have a better scheduler. We have a reproducible burst-recovery problem and evidence that this simple size-based gate is insufficient under the tested conditions. The next question is whether admission decisions informed by estimated processing cost, system state and remaining latency budget can increase SLO goodput beyond both default vLLM and simpler admission limits.</a:t>
            </a:r>
          </a:p>
          <a:p xmlns:a="http://schemas.openxmlformats.org/drawingml/2006/main">
            <a:r>
              <a:t/>
            </a:r>
          </a:p>
          <a:p xmlns:a="http://schemas.openxmlformats.org/drawingml/2006/main">
            <a:r>
              <a:t>We propose one controlled comparison. Use separate data to estimate processing cost, identify useful state signals and calibrate a strong simple admission limit. Freeze the candidate and controls before testing on unseen burst traces at predeclared arrival rates, with independent engine repetitions on the same GPU and model. Include a version with adaptation removed to test what the adaptive decision adds.</a:t>
            </a:r>
          </a:p>
          <a:p xmlns:a="http://schemas.openxmlformats.org/drawingml/2006/main">
            <a:r>
              <a:t/>
            </a:r>
          </a:p>
          <a:p xmlns:a="http://schemas.openxmlformats.org/drawingml/2006/main">
            <a:r>
              <a:t>All requests and waiting time must count. Keep fairness conditions matched and check tail latency for long requests as well as SLO goodput. Report any dropped requests. The current gate admits at most nine all-long requests and changes throttling, ordering and age protection together, so its failure does not identify the best replacement or rule out every size-based policy.</a:t>
            </a:r>
          </a:p>
          <a:p xmlns:a="http://schemas.openxmlformats.org/drawingml/2006/main">
            <a:r>
              <a:t/>
            </a:r>
          </a:p>
          <a:p xmlns:a="http://schemas.openxmlformats.org/drawingml/2006/main">
            <a:r>
              <a:t>The outcome remains open: the adaptive candidate may help, fail, or reveal a load beyond what this hardware can serve within the targets. One model and workload do not establish generalization or improved GPU compute efficiency.</a:t>
            </a:r>
          </a:p>
          <a:p xmlns:a="http://schemas.openxmlformats.org/drawingml/2006/main">
            <a:r>
              <a:t/>
            </a:r>
          </a:p>
          <a:p xmlns:a="http://schemas.openxmlformats.org/drawingml/2006/main">
            <a:r>
              <a:t>Assessment: https://github.com/nileshsarkar-ai/Inference-Optimization/blob/master/outputs/Methodology_Assessment.md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links identify the original published figures, official engineering documentation and our reproducibility records. The three papers discussed in detail are SOLA, DuetServe and the recommendation-serving Prism system.</a:t>
            </a:r>
          </a:p>
          <a:p xmlns:a="http://schemas.openxmlformats.org/drawingml/2006/main">
            <a:r>
              <a:t/>
            </a:r>
          </a:p>
          <a:p xmlns:a="http://schemas.openxmlformats.org/drawingml/2006/main">
            <a:r>
              <a:t>NVIDIA's graph-tuning article is an engineering report, not a peer-reviewed paper. The vLLM and NVML links document implementation behavior and metric definitions. The repository contains model and dataset revisions, the executed code, raw requests, measurements, plots and the full bibliography.</a:t>
            </a:r>
          </a:p>
          <a:p xmlns:a="http://schemas.openxmlformats.org/drawingml/2006/main">
            <a:r>
              <a:t/>
            </a:r>
          </a:p>
          <a:p xmlns:a="http://schemas.openxmlformats.org/drawingml/2006/main">
            <a:r>
              <a:t>The final research message is that we have measured a burst-recovery failure and rejected one simple admission rule. The next hypothesis tests whether processing cost, system state and remaining latency budget can guide admission to increase SLO goodput beyond default vLLM and calibrated simple limits. The algorithm and any improvement remain to be established.</a:t>
            </a:r>
          </a:p>
          <a:p xmlns:a="http://schemas.openxmlformats.org/drawingml/2006/main">
            <a:r>
              <a:t/>
            </a:r>
          </a:p>
          <a:p xmlns:a="http://schemas.openxmlformats.org/drawingml/2006/main">
            <a:r>
              <a:t>Full references: https://github.com/nileshsarkar-ai/Inference-Optimization/blob/master/outputs/References.md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c986f8ecc34b8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a2f998936a4e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c29f9d8f73439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21050835854bd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3750f98bcc4d5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5f39532b4f049bc"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d13ca6b61be448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f0779fc9eaf44421"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aa017b10584f6d" /><Relationship Type="http://schemas.openxmlformats.org/officeDocument/2006/relationships/slideLayout" Target="/ppt/slideLayouts/slideLayout1.xml" Id="R02cf0483b5bc41fb" /><Relationship Type="http://schemas.openxmlformats.org/officeDocument/2006/relationships/slideLayout" Target="/ppt/slideLayouts/slideLayout2.xml" Id="Ra0f5bc91e3c94bee" /><Relationship Type="http://schemas.openxmlformats.org/officeDocument/2006/relationships/slideLayout" Target="/ppt/slideLayouts/slideLayout3.xml" Id="R255a55869e0242f9" /><Relationship Type="http://schemas.openxmlformats.org/officeDocument/2006/relationships/slideLayout" Target="/ppt/slideLayouts/slideLayout4.xml" Id="R05bbb4cb21014f78" /><Relationship Type="http://schemas.openxmlformats.org/officeDocument/2006/relationships/slideLayout" Target="/ppt/slideLayouts/slideLayout5.xml" Id="R8bd582f245474a39" /><Relationship Type="http://schemas.openxmlformats.org/officeDocument/2006/relationships/slideLayout" Target="/ppt/slideLayouts/slideLayout6.xml" Id="R366fed52e419490f" /><Relationship Type="http://schemas.openxmlformats.org/officeDocument/2006/relationships/slideLayout" Target="/ppt/slideLayouts/slideLayout7.xml" Id="R00340edf2e314b8b" /><Relationship Type="http://schemas.openxmlformats.org/officeDocument/2006/relationships/slideLayout" Target="/ppt/slideLayouts/slideLayout8.xml" Id="Rd1037c5f6c5546a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cf0483b5bc41fb"/>
    <p:sldLayoutId xmlns:r="http://schemas.openxmlformats.org/officeDocument/2006/relationships" id="2147483650" r:id="Ra0f5bc91e3c94bee"/>
    <p:sldLayoutId xmlns:r="http://schemas.openxmlformats.org/officeDocument/2006/relationships" id="2147483651" r:id="R255a55869e0242f9"/>
    <p:sldLayoutId xmlns:r="http://schemas.openxmlformats.org/officeDocument/2006/relationships" id="2147483652" r:id="R05bbb4cb21014f78"/>
    <p:sldLayoutId xmlns:r="http://schemas.openxmlformats.org/officeDocument/2006/relationships" id="2147483653" r:id="R8bd582f245474a39"/>
    <p:sldLayoutId xmlns:r="http://schemas.openxmlformats.org/officeDocument/2006/relationships" id="2147483654" r:id="R366fed52e419490f"/>
    <p:sldLayoutId xmlns:r="http://schemas.openxmlformats.org/officeDocument/2006/relationships" id="2147483655" r:id="R00340edf2e314b8b"/>
    <p:sldLayoutId xmlns:r="http://schemas.openxmlformats.org/officeDocument/2006/relationships" id="2147483656" r:id="Rd1037c5f6c5546ae"/>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978aaab430140bd" /><Relationship Type="http://schemas.openxmlformats.org/officeDocument/2006/relationships/notesSlide" Target="/ppt/notesSlides/notesSlide1.xml" Id="Rd93475212e4240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af25b221f8d4c76" /><Relationship Type="http://schemas.openxmlformats.org/officeDocument/2006/relationships/hyperlink" Target="https://github.com/nileshsarkar-ai/Inference-Optimization/blob/master/outputs/Research_Question.md" TargetMode="External" Id="Re51ac9bd81e649fa" /><Relationship Type="http://schemas.openxmlformats.org/officeDocument/2006/relationships/notesSlide" Target="/ppt/notesSlides/notesSlide2.xml" Id="R585c164ce50e4e8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e95add99a1f4e67" /><Relationship Type="http://schemas.openxmlformats.org/officeDocument/2006/relationships/notesSlide" Target="/ppt/notesSlides/notesSlide3.xml" Id="R3b4ea3be993f49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45b8b26cc17443b" /><Relationship Type="http://schemas.openxmlformats.org/officeDocument/2006/relationships/hyperlink" Target="https://proceedings.mlsys.org/paper_files/paper/2025/file/bc82dbfbfa43232be85b8d9838f49c3e-Paper-Conference.pdf" TargetMode="External" Id="R6ebe34ae422047fe" /><Relationship Type="http://schemas.openxmlformats.org/officeDocument/2006/relationships/hyperlink" Target="https://pages.cs.wisc.edu/~markhill/papers/icml2026_DuetServe.pdf" TargetMode="External" Id="R15f3ad7327aa476d" /><Relationship Type="http://schemas.openxmlformats.org/officeDocument/2006/relationships/hyperlink" Target="https://www.usenix.org/system/files/nsdi25-yang.pdf" TargetMode="External" Id="R13b7f24a80b547a8" /><Relationship Type="http://schemas.openxmlformats.org/officeDocument/2006/relationships/notesSlide" Target="/ppt/notesSlides/notesSlide4.xml" Id="Rb8b59f82b6af4a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a71f35aa21b4dc3" /><Relationship Type="http://schemas.openxmlformats.org/officeDocument/2006/relationships/hyperlink" Target="https://proceedings.mlsys.org/paper_files/paper/2025/file/bc82dbfbfa43232be85b8d9838f49c3e-Paper-Conference.pdf" TargetMode="External" Id="R85de6d08a45c430c" /><Relationship Type="http://schemas.openxmlformats.org/officeDocument/2006/relationships/image" Target="/ppt/media/image.png" Id="R52c969f5b73648a6" /><Relationship Type="http://schemas.openxmlformats.org/officeDocument/2006/relationships/notesSlide" Target="/ppt/notesSlides/notesSlide5.xml" Id="Racb27fa5654940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16d6cc0ac8f4beb" /><Relationship Type="http://schemas.openxmlformats.org/officeDocument/2006/relationships/hyperlink" Target="https://pages.cs.wisc.edu/~markhill/papers/icml2026_DuetServe.pdf" TargetMode="External" Id="R9aa26c17701c43e5" /><Relationship Type="http://schemas.openxmlformats.org/officeDocument/2006/relationships/image" Target="/ppt/media/image2.png" Id="Rf476dd89263f4aeb" /><Relationship Type="http://schemas.openxmlformats.org/officeDocument/2006/relationships/image" Target="/ppt/media/image3.png" Id="R505bc6629ff046fa" /><Relationship Type="http://schemas.openxmlformats.org/officeDocument/2006/relationships/notesSlide" Target="/ppt/notesSlides/notesSlide6.xml" Id="R3e0de4d4d5464d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0f3ff6f8bd245ce" /><Relationship Type="http://schemas.openxmlformats.org/officeDocument/2006/relationships/hyperlink" Target="https://www.usenix.org/system/files/nsdi25-yang.pdf" TargetMode="External" Id="R1384ae997a134388" /><Relationship Type="http://schemas.openxmlformats.org/officeDocument/2006/relationships/image" Target="/ppt/media/image4.png" Id="R8bfb9331844140f4" /><Relationship Type="http://schemas.openxmlformats.org/officeDocument/2006/relationships/notesSlide" Target="/ppt/notesSlides/notesSlide7.xml" Id="R7294392bea5c4f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9191d392a544c90" /><Relationship Type="http://schemas.openxmlformats.org/officeDocument/2006/relationships/notesSlide" Target="/ppt/notesSlides/notesSlide8.xml" Id="R59fc9f96e45b43b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73fe9be451a4af0" /><Relationship Type="http://schemas.openxmlformats.org/officeDocument/2006/relationships/hyperlink" Target="https://github.com/nileshsarkar-ai/Inference-Optimization/blob/master/outputs/Experiment_Inventory.md" TargetMode="External" Id="R942858dcee0c4f21" /><Relationship Type="http://schemas.openxmlformats.org/officeDocument/2006/relationships/hyperlink" Target="https://docs.nvidia.com/deploy/nvml-api/structnvmlUtilization__t.html" TargetMode="External" Id="Rdbe3666fa49d47b6" /><Relationship Type="http://schemas.openxmlformats.org/officeDocument/2006/relationships/notesSlide" Target="/ppt/notesSlides/notesSlide9.xml" Id="Ra718f8dce3224c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ab5ede07fb84b0d" /><Relationship Type="http://schemas.openxmlformats.org/officeDocument/2006/relationships/hyperlink" Target="https://github.com/nileshsarkar-ai/Inference-Optimization/blob/master/outputs/model_suite/README.md" TargetMode="External" Id="Rfef04ba8031444cd" /><Relationship Type="http://schemas.openxmlformats.org/officeDocument/2006/relationships/hyperlink" Target="https://nvidia.github.io/TensorRT-LLM/latest/blogs/tech_blog/blog20_Tuning_CUDA_Graph_Batch_Sizes_for_Higher_Output_Throughput.html" TargetMode="External" Id="Rb128b36080b4429b" /><Relationship Type="http://schemas.openxmlformats.org/officeDocument/2006/relationships/notesSlide" Target="/ppt/notesSlides/notesSlide10.xml" Id="R4d0f4ab09805457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621c8e0df9a4fb4" /><Relationship Type="http://schemas.openxmlformats.org/officeDocument/2006/relationships/hyperlink" Target="https://github.com/nileshsarkar-ai/Inference-Optimization/blob/master/outputs/scheduling_validation/PROTOCOL.md" TargetMode="External" Id="R4a69896e24be4b9a" /><Relationship Type="http://schemas.openxmlformats.org/officeDocument/2006/relationships/hyperlink" Target="https://wandb.ai/nileshsarkar-ai/saturatellm-feasibility" TargetMode="External" Id="Rb8a266e9fc3c4328" /><Relationship Type="http://schemas.openxmlformats.org/officeDocument/2006/relationships/notesSlide" Target="/ppt/notesSlides/notesSlide11.xml" Id="Rb406c81eeb5b46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09a70be79884772" /><Relationship Type="http://schemas.openxmlformats.org/officeDocument/2006/relationships/notesSlide" Target="/ppt/notesSlides/notesSlide12.xml" Id="Rbfd33b69745e42b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e5f6c7e808f4afb" /><Relationship Type="http://schemas.openxmlformats.org/officeDocument/2006/relationships/hyperlink" Target="https://wandb.ai/nileshsarkar-ai/saturatellm-feasibility" TargetMode="External" Id="Rd666df03d5814918" /><Relationship Type="http://schemas.openxmlformats.org/officeDocument/2006/relationships/chart" Target="/ppt/slides/charts/chart1.xml" Id="R3cfbd7fbbfa6421d" /><Relationship Type="http://schemas.openxmlformats.org/officeDocument/2006/relationships/chart" Target="/ppt/slides/charts/chart2.xml" Id="R4c04a7fe82ef4d7c" /><Relationship Type="http://schemas.openxmlformats.org/officeDocument/2006/relationships/chart" Target="/ppt/slides/charts/chart3.xml" Id="Rd532295e66784791" /><Relationship Type="http://schemas.openxmlformats.org/officeDocument/2006/relationships/notesSlide" Target="/ppt/notesSlides/notesSlide13.xml" Id="R8e1ea35475d84b7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fbecd5bfcc94caa" /><Relationship Type="http://schemas.openxmlformats.org/officeDocument/2006/relationships/hyperlink" Target="https://wandb.ai/nileshsarkar-ai/saturatellm-feasibility" TargetMode="External" Id="R4d1741a47aca46f9" /><Relationship Type="http://schemas.openxmlformats.org/officeDocument/2006/relationships/chart" Target="/ppt/slides/charts/chart4.xml" Id="R9e9d7db444d14633" /><Relationship Type="http://schemas.openxmlformats.org/officeDocument/2006/relationships/chart" Target="/ppt/slides/charts/chart5.xml" Id="R6a6f1c8db5e74bf4" /><Relationship Type="http://schemas.openxmlformats.org/officeDocument/2006/relationships/notesSlide" Target="/ppt/notesSlides/notesSlide14.xml" Id="R8de24cd4709f4dd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19fc4867f5d40fd" /><Relationship Type="http://schemas.openxmlformats.org/officeDocument/2006/relationships/hyperlink" Target="https://github.com/nileshsarkar-ai/Inference-Optimization/blob/master/outputs/scheduling_results/analysis/validation.json" TargetMode="External" Id="R794e34240ea34af9" /><Relationship Type="http://schemas.openxmlformats.org/officeDocument/2006/relationships/chart" Target="/ppt/slides/charts/chart6.xml" Id="Rcd75ff90ee6c4d33" /><Relationship Type="http://schemas.openxmlformats.org/officeDocument/2006/relationships/chart" Target="/ppt/slides/charts/chart7.xml" Id="R64361b3b58354b9f" /><Relationship Type="http://schemas.openxmlformats.org/officeDocument/2006/relationships/chart" Target="/ppt/slides/charts/chart8.xml" Id="R99016566769f49eb" /><Relationship Type="http://schemas.openxmlformats.org/officeDocument/2006/relationships/chart" Target="/ppt/slides/charts/chart9.xml" Id="R611e3b9f33574fa5" /><Relationship Type="http://schemas.openxmlformats.org/officeDocument/2006/relationships/notesSlide" Target="/ppt/notesSlides/notesSlide15.xml" Id="Rf4c389bd8749436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75f9a621a6540de" /><Relationship Type="http://schemas.openxmlformats.org/officeDocument/2006/relationships/hyperlink" Target="https://github.com/nileshsarkar-ai/Inference-Optimization/blob/master/outputs/scheduling_results/analysis/validation.json" TargetMode="External" Id="Rd44ae0a233ec4427" /><Relationship Type="http://schemas.openxmlformats.org/officeDocument/2006/relationships/hyperlink" Target="https://github.com/nileshsarkar-ai/Inference-Optimization/blob/master/outputs/scheduling_results/analysis/phase_diagnostics.json" TargetMode="External" Id="Rae5e15dd24104694" /><Relationship Type="http://schemas.openxmlformats.org/officeDocument/2006/relationships/notesSlide" Target="/ppt/notesSlides/notesSlide16.xml" Id="R8cff0cbed6954e7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a5a5dea4193428b" /><Relationship Type="http://schemas.openxmlformats.org/officeDocument/2006/relationships/hyperlink" Target="https://github.com/nileshsarkar-ai/Inference-Optimization/blob/master/outputs/Methodology_Assessment.md" TargetMode="External" Id="R9a03816b58ce4cdb" /><Relationship Type="http://schemas.openxmlformats.org/officeDocument/2006/relationships/notesSlide" Target="/ppt/notesSlides/notesSlide17.xml" Id="Rc709f535dc77457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2a437de220341fa" /><Relationship Type="http://schemas.openxmlformats.org/officeDocument/2006/relationships/hyperlink" Target="https://github.com/nileshsarkar-ai/Inference-Optimization/blob/master/outputs/References.md" TargetMode="External" Id="R409b5cbd6fc04940" /><Relationship Type="http://schemas.openxmlformats.org/officeDocument/2006/relationships/hyperlink" Target="https://proceedings.mlsys.org/paper_files/paper/2025/file/bc82dbfbfa43232be85b8d9838f49c3e-Paper-Conference.pdf" TargetMode="External" Id="Rbbf78ec97c21483a" /><Relationship Type="http://schemas.openxmlformats.org/officeDocument/2006/relationships/hyperlink" Target="https://pages.cs.wisc.edu/~markhill/papers/icml2026_DuetServe.pdf" TargetMode="External" Id="Ra75da8b12c8c4334" /><Relationship Type="http://schemas.openxmlformats.org/officeDocument/2006/relationships/hyperlink" Target="https://www.usenix.org/system/files/nsdi25-yang.pdf" TargetMode="External" Id="Rfddd7470312d451b" /><Relationship Type="http://schemas.openxmlformats.org/officeDocument/2006/relationships/hyperlink" Target="https://nvidia.github.io/TensorRT-LLM/latest/blogs/tech_blog/blog20_Tuning_CUDA_Graph_Batch_Sizes_for_Higher_Output_Throughput.html" TargetMode="External" Id="Rd3e9ecf4fc2b4378" /><Relationship Type="http://schemas.openxmlformats.org/officeDocument/2006/relationships/hyperlink" Target="https://docs.vllm.ai/en/stable/design/cuda_graphs/" TargetMode="External" Id="R48c2d5ec883e459b" /><Relationship Type="http://schemas.openxmlformats.org/officeDocument/2006/relationships/hyperlink" Target="https://docs.nvidia.com/deploy/nvml-api/structnvmlUtilization__t.html" TargetMode="External" Id="Rf509c3953d914b6c" /><Relationship Type="http://schemas.openxmlformats.org/officeDocument/2006/relationships/hyperlink" Target="https://github.com/nileshsarkar-ai/Inference-Optimization/blob/master/outputs/Experiment_Inventory.md" TargetMode="External" Id="Rb33e34b5e6de4b8c" /><Relationship Type="http://schemas.openxmlformats.org/officeDocument/2006/relationships/hyperlink" Target="https://github.com/nileshsarkar-ai/Inference-Optimization" TargetMode="External" Id="R441fc8b30a92424d" /><Relationship Type="http://schemas.openxmlformats.org/officeDocument/2006/relationships/hyperlink" Target="https://wandb.ai/nileshsarkar-ai/saturatellm-feasibility" TargetMode="External" Id="Rb29dac88188946ae" /><Relationship Type="http://schemas.openxmlformats.org/officeDocument/2006/relationships/notesSlide" Target="/ppt/notesSlides/notesSlide18.xml" Id="Rac1804122a9243f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900.026292</c:v>
                </c:pt>
                <c:pt idx="1">
                  <c:v>1086.87851</c:v>
                </c:pt>
                <c:pt idx="2">
                  <c:v>1411.592573</c:v>
                </c:pt>
                <c:pt idx="3">
                  <c:v>1686.367271</c:v>
                </c:pt>
                <c:pt idx="4">
                  <c:v>1939.569993</c:v>
                </c:pt>
                <c:pt idx="5">
                  <c:v>2129.999211</c:v>
                </c:pt>
                <c:pt idx="6">
                  <c:v>2031.520295</c:v>
                </c:pt>
                <c:pt idx="7">
                  <c:v>1913.990544</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901.504014</c:v>
                </c:pt>
                <c:pt idx="1">
                  <c:v>900.298264</c:v>
                </c:pt>
                <c:pt idx="2">
                  <c:v>898.276596</c:v>
                </c:pt>
                <c:pt idx="3">
                  <c:v>1087.05495</c:v>
                </c:pt>
                <c:pt idx="4">
                  <c:v>1084.635628</c:v>
                </c:pt>
                <c:pt idx="5">
                  <c:v>1088.944951</c:v>
                </c:pt>
                <c:pt idx="6">
                  <c:v>1413.144787</c:v>
                </c:pt>
                <c:pt idx="7">
                  <c:v>1411.771275</c:v>
                </c:pt>
                <c:pt idx="8">
                  <c:v>1409.861656</c:v>
                </c:pt>
                <c:pt idx="9">
                  <c:v>1687.92451</c:v>
                </c:pt>
                <c:pt idx="10">
                  <c:v>1686.576692</c:v>
                </c:pt>
                <c:pt idx="11">
                  <c:v>1684.600612</c:v>
                </c:pt>
                <c:pt idx="12">
                  <c:v>1940.408872</c:v>
                </c:pt>
                <c:pt idx="13">
                  <c:v>1940.682095</c:v>
                </c:pt>
                <c:pt idx="14">
                  <c:v>1937.619012</c:v>
                </c:pt>
                <c:pt idx="15">
                  <c:v>2130.0822</c:v>
                </c:pt>
                <c:pt idx="16">
                  <c:v>2131.768513</c:v>
                </c:pt>
                <c:pt idx="17">
                  <c:v>2128.146918</c:v>
                </c:pt>
                <c:pt idx="18">
                  <c:v>2032.414347</c:v>
                </c:pt>
                <c:pt idx="19">
                  <c:v>2031.936647</c:v>
                </c:pt>
                <c:pt idx="20">
                  <c:v>2030.209892</c:v>
                </c:pt>
                <c:pt idx="21">
                  <c:v>1917.128089</c:v>
                </c:pt>
                <c:pt idx="22">
                  <c:v>1911.583453</c:v>
                </c:pt>
                <c:pt idx="23">
                  <c:v>1913.26009</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894.684273</c:v>
                </c:pt>
                <c:pt idx="1">
                  <c:v>1080.475892</c:v>
                </c:pt>
                <c:pt idx="2">
                  <c:v>1408.19504</c:v>
                </c:pt>
                <c:pt idx="3">
                  <c:v>1683.783917</c:v>
                </c:pt>
                <c:pt idx="4">
                  <c:v>1938.5039</c:v>
                </c:pt>
                <c:pt idx="5">
                  <c:v>2131.403691</c:v>
                </c:pt>
                <c:pt idx="6">
                  <c:v>2029.961391</c:v>
                </c:pt>
                <c:pt idx="7">
                  <c:v>1913.815254</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893.90188</c:v>
                </c:pt>
                <c:pt idx="1">
                  <c:v>895.872549</c:v>
                </c:pt>
                <c:pt idx="2">
                  <c:v>894.278391</c:v>
                </c:pt>
                <c:pt idx="3">
                  <c:v>1082.656111</c:v>
                </c:pt>
                <c:pt idx="4">
                  <c:v>1079.993231</c:v>
                </c:pt>
                <c:pt idx="5">
                  <c:v>1078.778334</c:v>
                </c:pt>
                <c:pt idx="6">
                  <c:v>1408.921922</c:v>
                </c:pt>
                <c:pt idx="7">
                  <c:v>1407.793742</c:v>
                </c:pt>
                <c:pt idx="8">
                  <c:v>1407.869457</c:v>
                </c:pt>
                <c:pt idx="9">
                  <c:v>1684.420444</c:v>
                </c:pt>
                <c:pt idx="10">
                  <c:v>1683.064618</c:v>
                </c:pt>
                <c:pt idx="11">
                  <c:v>1683.86669</c:v>
                </c:pt>
                <c:pt idx="12">
                  <c:v>1941.325854</c:v>
                </c:pt>
                <c:pt idx="13">
                  <c:v>1938.585973</c:v>
                </c:pt>
                <c:pt idx="14">
                  <c:v>1935.599874</c:v>
                </c:pt>
                <c:pt idx="15">
                  <c:v>2132.278562</c:v>
                </c:pt>
                <c:pt idx="16">
                  <c:v>2133.863087</c:v>
                </c:pt>
                <c:pt idx="17">
                  <c:v>2128.069422</c:v>
                </c:pt>
                <c:pt idx="18">
                  <c:v>2030.252336</c:v>
                </c:pt>
                <c:pt idx="19">
                  <c:v>2029.912295</c:v>
                </c:pt>
                <c:pt idx="20">
                  <c:v>2029.719543</c:v>
                </c:pt>
                <c:pt idx="21">
                  <c:v>1917.509538</c:v>
                </c:pt>
                <c:pt idx="22">
                  <c:v>1912.905662</c:v>
                </c:pt>
                <c:pt idx="23">
                  <c:v>1911.030563</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894.531817</c:v>
                </c:pt>
                <c:pt idx="1">
                  <c:v>1086.356924</c:v>
                </c:pt>
                <c:pt idx="2">
                  <c:v>1398.151453</c:v>
                </c:pt>
                <c:pt idx="3">
                  <c:v>1687.272907</c:v>
                </c:pt>
                <c:pt idx="4">
                  <c:v>1889.709748</c:v>
                </c:pt>
                <c:pt idx="5">
                  <c:v>2099.712776</c:v>
                </c:pt>
                <c:pt idx="6">
                  <c:v>2021.259706</c:v>
                </c:pt>
                <c:pt idx="7">
                  <c:v>1911.305704</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895.228028</c:v>
                </c:pt>
                <c:pt idx="1">
                  <c:v>894.832305</c:v>
                </c:pt>
                <c:pt idx="2">
                  <c:v>893.535117</c:v>
                </c:pt>
                <c:pt idx="3">
                  <c:v>1087.747273</c:v>
                </c:pt>
                <c:pt idx="4">
                  <c:v>1085.852238</c:v>
                </c:pt>
                <c:pt idx="5">
                  <c:v>1085.47126</c:v>
                </c:pt>
                <c:pt idx="6">
                  <c:v>1398.417761</c:v>
                </c:pt>
                <c:pt idx="7">
                  <c:v>1397.733271</c:v>
                </c:pt>
                <c:pt idx="8">
                  <c:v>1398.303328</c:v>
                </c:pt>
                <c:pt idx="9">
                  <c:v>1688.05738</c:v>
                </c:pt>
                <c:pt idx="10">
                  <c:v>1688.497269</c:v>
                </c:pt>
                <c:pt idx="11">
                  <c:v>1685.264071</c:v>
                </c:pt>
                <c:pt idx="12">
                  <c:v>1892.275657</c:v>
                </c:pt>
                <c:pt idx="13">
                  <c:v>1889.889974</c:v>
                </c:pt>
                <c:pt idx="14">
                  <c:v>1886.963614</c:v>
                </c:pt>
                <c:pt idx="15">
                  <c:v>2101.49107</c:v>
                </c:pt>
                <c:pt idx="16">
                  <c:v>2102.720468</c:v>
                </c:pt>
                <c:pt idx="17">
                  <c:v>2094.926791</c:v>
                </c:pt>
                <c:pt idx="18">
                  <c:v>2022.982661</c:v>
                </c:pt>
                <c:pt idx="19">
                  <c:v>2019.771997</c:v>
                </c:pt>
                <c:pt idx="20">
                  <c:v>2021.024459</c:v>
                </c:pt>
                <c:pt idx="21">
                  <c:v>1915.298242</c:v>
                </c:pt>
                <c:pt idx="22">
                  <c:v>1910.669936</c:v>
                </c:pt>
                <c:pt idx="23">
                  <c:v>1907.948934</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3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1322.507892</c:v>
                </c:pt>
                <c:pt idx="1">
                  <c:v>1587.132297</c:v>
                </c:pt>
                <c:pt idx="2">
                  <c:v>2137.436155</c:v>
                </c:pt>
                <c:pt idx="3">
                  <c:v>2509.912128</c:v>
                </c:pt>
                <c:pt idx="4">
                  <c:v>2756.969241</c:v>
                </c:pt>
                <c:pt idx="5">
                  <c:v>2957.513531</c:v>
                </c:pt>
                <c:pt idx="6">
                  <c:v>3193.111389</c:v>
                </c:pt>
                <c:pt idx="7">
                  <c:v>3377.973406</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1323.914125</c:v>
                </c:pt>
                <c:pt idx="1">
                  <c:v>1322.516235</c:v>
                </c:pt>
                <c:pt idx="2">
                  <c:v>1321.093317</c:v>
                </c:pt>
                <c:pt idx="3">
                  <c:v>1589.343199</c:v>
                </c:pt>
                <c:pt idx="4">
                  <c:v>1586.407963</c:v>
                </c:pt>
                <c:pt idx="5">
                  <c:v>1585.645728</c:v>
                </c:pt>
                <c:pt idx="6">
                  <c:v>2139.665182</c:v>
                </c:pt>
                <c:pt idx="7">
                  <c:v>2138.403481</c:v>
                </c:pt>
                <c:pt idx="8">
                  <c:v>2134.239801</c:v>
                </c:pt>
                <c:pt idx="9">
                  <c:v>2510.685256</c:v>
                </c:pt>
                <c:pt idx="10">
                  <c:v>2510.345465</c:v>
                </c:pt>
                <c:pt idx="11">
                  <c:v>2508.705664</c:v>
                </c:pt>
                <c:pt idx="12">
                  <c:v>2762.470293</c:v>
                </c:pt>
                <c:pt idx="13">
                  <c:v>2756.506916</c:v>
                </c:pt>
                <c:pt idx="14">
                  <c:v>2751.930513</c:v>
                </c:pt>
                <c:pt idx="15">
                  <c:v>2960.751852</c:v>
                </c:pt>
                <c:pt idx="16">
                  <c:v>2959.500444</c:v>
                </c:pt>
                <c:pt idx="17">
                  <c:v>2952.288296</c:v>
                </c:pt>
                <c:pt idx="18">
                  <c:v>3192.854005</c:v>
                </c:pt>
                <c:pt idx="19">
                  <c:v>3200.049124</c:v>
                </c:pt>
                <c:pt idx="20">
                  <c:v>3186.431038</c:v>
                </c:pt>
                <c:pt idx="21">
                  <c:v>3382.66727</c:v>
                </c:pt>
                <c:pt idx="22">
                  <c:v>3376.044949</c:v>
                </c:pt>
                <c:pt idx="23">
                  <c:v>3375.208001</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1321.170765</c:v>
                </c:pt>
                <c:pt idx="1">
                  <c:v>1590.053502</c:v>
                </c:pt>
                <c:pt idx="2">
                  <c:v>2135.403175</c:v>
                </c:pt>
                <c:pt idx="3">
                  <c:v>2511.327119</c:v>
                </c:pt>
                <c:pt idx="4">
                  <c:v>2754.923832</c:v>
                </c:pt>
                <c:pt idx="5">
                  <c:v>2958.690167</c:v>
                </c:pt>
                <c:pt idx="6">
                  <c:v>3190.404815</c:v>
                </c:pt>
                <c:pt idx="7">
                  <c:v>3376.199171</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1323.236409</c:v>
                </c:pt>
                <c:pt idx="1">
                  <c:v>1318.602869</c:v>
                </c:pt>
                <c:pt idx="2">
                  <c:v>1321.673017</c:v>
                </c:pt>
                <c:pt idx="3">
                  <c:v>1591.798092</c:v>
                </c:pt>
                <c:pt idx="4">
                  <c:v>1589.409134</c:v>
                </c:pt>
                <c:pt idx="5">
                  <c:v>1588.95328</c:v>
                </c:pt>
                <c:pt idx="6">
                  <c:v>2138.616564</c:v>
                </c:pt>
                <c:pt idx="7">
                  <c:v>2134.832101</c:v>
                </c:pt>
                <c:pt idx="8">
                  <c:v>2132.760859</c:v>
                </c:pt>
                <c:pt idx="9">
                  <c:v>2515.032032</c:v>
                </c:pt>
                <c:pt idx="10">
                  <c:v>2510.231579</c:v>
                </c:pt>
                <c:pt idx="11">
                  <c:v>2508.717745</c:v>
                </c:pt>
                <c:pt idx="12">
                  <c:v>2760.347553</c:v>
                </c:pt>
                <c:pt idx="13">
                  <c:v>2753.84543</c:v>
                </c:pt>
                <c:pt idx="14">
                  <c:v>2750.578511</c:v>
                </c:pt>
                <c:pt idx="15">
                  <c:v>2959.08614</c:v>
                </c:pt>
                <c:pt idx="16">
                  <c:v>2958.524294</c:v>
                </c:pt>
                <c:pt idx="17">
                  <c:v>2958.460066</c:v>
                </c:pt>
                <c:pt idx="18">
                  <c:v>3191.561261</c:v>
                </c:pt>
                <c:pt idx="19">
                  <c:v>3188.996005</c:v>
                </c:pt>
                <c:pt idx="20">
                  <c:v>3190.657179</c:v>
                </c:pt>
                <c:pt idx="21">
                  <c:v>3383.558852</c:v>
                </c:pt>
                <c:pt idx="22">
                  <c:v>3374.013824</c:v>
                </c:pt>
                <c:pt idx="23">
                  <c:v>3371.024837</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1306.347245</c:v>
                </c:pt>
                <c:pt idx="1">
                  <c:v>1587.908435</c:v>
                </c:pt>
                <c:pt idx="2">
                  <c:v>2124.102188</c:v>
                </c:pt>
                <c:pt idx="3">
                  <c:v>2511.272852</c:v>
                </c:pt>
                <c:pt idx="4">
                  <c:v>2675.412627</c:v>
                </c:pt>
                <c:pt idx="5">
                  <c:v>2934.041232</c:v>
                </c:pt>
                <c:pt idx="6">
                  <c:v>3174.819922</c:v>
                </c:pt>
                <c:pt idx="7">
                  <c:v>3379.578496</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1307.394277</c:v>
                </c:pt>
                <c:pt idx="1">
                  <c:v>1306.772505</c:v>
                </c:pt>
                <c:pt idx="2">
                  <c:v>1304.874951</c:v>
                </c:pt>
                <c:pt idx="3">
                  <c:v>1589.063091</c:v>
                </c:pt>
                <c:pt idx="4">
                  <c:v>1589.246658</c:v>
                </c:pt>
                <c:pt idx="5">
                  <c:v>1585.415556</c:v>
                </c:pt>
                <c:pt idx="6">
                  <c:v>2123.949014</c:v>
                </c:pt>
                <c:pt idx="7">
                  <c:v>2125.635926</c:v>
                </c:pt>
                <c:pt idx="8">
                  <c:v>2122.721625</c:v>
                </c:pt>
                <c:pt idx="9">
                  <c:v>2513.501603</c:v>
                </c:pt>
                <c:pt idx="10">
                  <c:v>2511.165799</c:v>
                </c:pt>
                <c:pt idx="11">
                  <c:v>2509.151155</c:v>
                </c:pt>
                <c:pt idx="12">
                  <c:v>2676.760449</c:v>
                </c:pt>
                <c:pt idx="13">
                  <c:v>2675.271505</c:v>
                </c:pt>
                <c:pt idx="14">
                  <c:v>2674.205927</c:v>
                </c:pt>
                <c:pt idx="15">
                  <c:v>2935.424049</c:v>
                </c:pt>
                <c:pt idx="16">
                  <c:v>2934.508755</c:v>
                </c:pt>
                <c:pt idx="17">
                  <c:v>2932.190893</c:v>
                </c:pt>
                <c:pt idx="18">
                  <c:v>3173.665127</c:v>
                </c:pt>
                <c:pt idx="19">
                  <c:v>3180.366305</c:v>
                </c:pt>
                <c:pt idx="20">
                  <c:v>3170.428334</c:v>
                </c:pt>
                <c:pt idx="21">
                  <c:v>3385.953085</c:v>
                </c:pt>
                <c:pt idx="22">
                  <c:v>3377.426204</c:v>
                </c:pt>
                <c:pt idx="23">
                  <c:v>3375.3562</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4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1967.004321</c:v>
                </c:pt>
                <c:pt idx="1">
                  <c:v>2436.258479</c:v>
                </c:pt>
                <c:pt idx="2">
                  <c:v>3344.837721</c:v>
                </c:pt>
                <c:pt idx="3">
                  <c:v>3983.462435</c:v>
                </c:pt>
                <c:pt idx="4">
                  <c:v>4775.490641</c:v>
                </c:pt>
                <c:pt idx="5">
                  <c:v>5317.520088</c:v>
                </c:pt>
                <c:pt idx="6">
                  <c:v>5674.003347</c:v>
                </c:pt>
                <c:pt idx="7">
                  <c:v>6075.754284</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1966.68284</c:v>
                </c:pt>
                <c:pt idx="1">
                  <c:v>1966.504381</c:v>
                </c:pt>
                <c:pt idx="2">
                  <c:v>1967.825743</c:v>
                </c:pt>
                <c:pt idx="3">
                  <c:v>2432.673321</c:v>
                </c:pt>
                <c:pt idx="4">
                  <c:v>2437.023283</c:v>
                </c:pt>
                <c:pt idx="5">
                  <c:v>2439.078834</c:v>
                </c:pt>
                <c:pt idx="6">
                  <c:v>3344.732114</c:v>
                </c:pt>
                <c:pt idx="7">
                  <c:v>3348.275115</c:v>
                </c:pt>
                <c:pt idx="8">
                  <c:v>3341.505933</c:v>
                </c:pt>
                <c:pt idx="9">
                  <c:v>3992.864306</c:v>
                </c:pt>
                <c:pt idx="10">
                  <c:v>3976.839528</c:v>
                </c:pt>
                <c:pt idx="11">
                  <c:v>3980.683473</c:v>
                </c:pt>
                <c:pt idx="12">
                  <c:v>4779.850473</c:v>
                </c:pt>
                <c:pt idx="13">
                  <c:v>4771.240551</c:v>
                </c:pt>
                <c:pt idx="14">
                  <c:v>4775.380898</c:v>
                </c:pt>
                <c:pt idx="15">
                  <c:v>5311.905001</c:v>
                </c:pt>
                <c:pt idx="16">
                  <c:v>5329.292162</c:v>
                </c:pt>
                <c:pt idx="17">
                  <c:v>5311.363101</c:v>
                </c:pt>
                <c:pt idx="18">
                  <c:v>5681.137315</c:v>
                </c:pt>
                <c:pt idx="19">
                  <c:v>5676.054415</c:v>
                </c:pt>
                <c:pt idx="20">
                  <c:v>5664.818309</c:v>
                </c:pt>
                <c:pt idx="21">
                  <c:v>6092.749581</c:v>
                </c:pt>
                <c:pt idx="22">
                  <c:v>6064.900474</c:v>
                </c:pt>
                <c:pt idx="23">
                  <c:v>6069.612798</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1972.48731</c:v>
                </c:pt>
                <c:pt idx="1">
                  <c:v>2443.823385</c:v>
                </c:pt>
                <c:pt idx="2">
                  <c:v>3351.299354</c:v>
                </c:pt>
                <c:pt idx="3">
                  <c:v>3986.617807</c:v>
                </c:pt>
                <c:pt idx="4">
                  <c:v>4783.261346</c:v>
                </c:pt>
                <c:pt idx="5">
                  <c:v>5327.221157</c:v>
                </c:pt>
                <c:pt idx="6">
                  <c:v>5685.588463</c:v>
                </c:pt>
                <c:pt idx="7">
                  <c:v>6093.866958</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1971.774553</c:v>
                </c:pt>
                <c:pt idx="1">
                  <c:v>1973.066101</c:v>
                </c:pt>
                <c:pt idx="2">
                  <c:v>1972.621276</c:v>
                </c:pt>
                <c:pt idx="3">
                  <c:v>2440.446039</c:v>
                </c:pt>
                <c:pt idx="4">
                  <c:v>2444.793745</c:v>
                </c:pt>
                <c:pt idx="5">
                  <c:v>2446.230372</c:v>
                </c:pt>
                <c:pt idx="6">
                  <c:v>3357.33263</c:v>
                </c:pt>
                <c:pt idx="7">
                  <c:v>3352.598404</c:v>
                </c:pt>
                <c:pt idx="8">
                  <c:v>3343.967029</c:v>
                </c:pt>
                <c:pt idx="9">
                  <c:v>3985.526612</c:v>
                </c:pt>
                <c:pt idx="10">
                  <c:v>3990.341389</c:v>
                </c:pt>
                <c:pt idx="11">
                  <c:v>3983.98542</c:v>
                </c:pt>
                <c:pt idx="12">
                  <c:v>4799.329675</c:v>
                </c:pt>
                <c:pt idx="13">
                  <c:v>4780.965889</c:v>
                </c:pt>
                <c:pt idx="14">
                  <c:v>4769.488475</c:v>
                </c:pt>
                <c:pt idx="15">
                  <c:v>5327.975643</c:v>
                </c:pt>
                <c:pt idx="16">
                  <c:v>5341.367638</c:v>
                </c:pt>
                <c:pt idx="17">
                  <c:v>5312.32019</c:v>
                </c:pt>
                <c:pt idx="18">
                  <c:v>5685.404555</c:v>
                </c:pt>
                <c:pt idx="19">
                  <c:v>5697.342375</c:v>
                </c:pt>
                <c:pt idx="20">
                  <c:v>5674.018459</c:v>
                </c:pt>
                <c:pt idx="21">
                  <c:v>6113.753747</c:v>
                </c:pt>
                <c:pt idx="22">
                  <c:v>6088.549788</c:v>
                </c:pt>
                <c:pt idx="23">
                  <c:v>6079.297341</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1964.726974</c:v>
                </c:pt>
                <c:pt idx="1">
                  <c:v>2439.417597</c:v>
                </c:pt>
                <c:pt idx="2">
                  <c:v>3294.988753</c:v>
                </c:pt>
                <c:pt idx="3">
                  <c:v>3989.242286</c:v>
                </c:pt>
                <c:pt idx="4">
                  <c:v>4595.886111</c:v>
                </c:pt>
                <c:pt idx="5">
                  <c:v>5183.731848</c:v>
                </c:pt>
                <c:pt idx="6">
                  <c:v>5614.946929</c:v>
                </c:pt>
                <c:pt idx="7">
                  <c:v>6079.909263</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1964.017234</c:v>
                </c:pt>
                <c:pt idx="1">
                  <c:v>1963.287749</c:v>
                </c:pt>
                <c:pt idx="2">
                  <c:v>1966.875941</c:v>
                </c:pt>
                <c:pt idx="3">
                  <c:v>2437.867433</c:v>
                </c:pt>
                <c:pt idx="4">
                  <c:v>2438.890673</c:v>
                </c:pt>
                <c:pt idx="5">
                  <c:v>2441.494684</c:v>
                </c:pt>
                <c:pt idx="6">
                  <c:v>3299.283734</c:v>
                </c:pt>
                <c:pt idx="7">
                  <c:v>3295.18601</c:v>
                </c:pt>
                <c:pt idx="8">
                  <c:v>3290.496515</c:v>
                </c:pt>
                <c:pt idx="9">
                  <c:v>3989.683592</c:v>
                </c:pt>
                <c:pt idx="10">
                  <c:v>3988.159579</c:v>
                </c:pt>
                <c:pt idx="11">
                  <c:v>3989.883688</c:v>
                </c:pt>
                <c:pt idx="12">
                  <c:v>4600.379203</c:v>
                </c:pt>
                <c:pt idx="13">
                  <c:v>4600.647439</c:v>
                </c:pt>
                <c:pt idx="14">
                  <c:v>4586.631691</c:v>
                </c:pt>
                <c:pt idx="15">
                  <c:v>5181.531182</c:v>
                </c:pt>
                <c:pt idx="16">
                  <c:v>5190.854356</c:v>
                </c:pt>
                <c:pt idx="17">
                  <c:v>5178.810006</c:v>
                </c:pt>
                <c:pt idx="18">
                  <c:v>5627.299321</c:v>
                </c:pt>
                <c:pt idx="19">
                  <c:v>5608.31202</c:v>
                </c:pt>
                <c:pt idx="20">
                  <c:v>5609.229446</c:v>
                </c:pt>
                <c:pt idx="21">
                  <c:v>6098.484973</c:v>
                </c:pt>
                <c:pt idx="22">
                  <c:v>6076.067467</c:v>
                </c:pt>
                <c:pt idx="23">
                  <c:v>6065.17535</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8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2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5040.818198</c:v>
                </c:pt>
                <c:pt idx="1">
                  <c:v>6239.597221</c:v>
                </c:pt>
                <c:pt idx="2">
                  <c:v>9017.996025</c:v>
                </c:pt>
                <c:pt idx="3">
                  <c:v>10743.351354</c:v>
                </c:pt>
                <c:pt idx="4">
                  <c:v>12088.661067</c:v>
                </c:pt>
                <c:pt idx="5">
                  <c:v>14153.666311</c:v>
                </c:pt>
                <c:pt idx="6">
                  <c:v>15279.372457</c:v>
                </c:pt>
                <c:pt idx="7">
                  <c:v>16453.324265</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5042.917462</c:v>
                </c:pt>
                <c:pt idx="1">
                  <c:v>5034.09264</c:v>
                </c:pt>
                <c:pt idx="2">
                  <c:v>5045.444492</c:v>
                </c:pt>
                <c:pt idx="3">
                  <c:v>6238.669838</c:v>
                </c:pt>
                <c:pt idx="4">
                  <c:v>6240.879967</c:v>
                </c:pt>
                <c:pt idx="5">
                  <c:v>6239.241858</c:v>
                </c:pt>
                <c:pt idx="6">
                  <c:v>9031.840782</c:v>
                </c:pt>
                <c:pt idx="7">
                  <c:v>9007.585171</c:v>
                </c:pt>
                <c:pt idx="8">
                  <c:v>9014.562122</c:v>
                </c:pt>
                <c:pt idx="9">
                  <c:v>10727.414553</c:v>
                </c:pt>
                <c:pt idx="10">
                  <c:v>10771.802923</c:v>
                </c:pt>
                <c:pt idx="11">
                  <c:v>10730.836587</c:v>
                </c:pt>
                <c:pt idx="12">
                  <c:v>12106.222517</c:v>
                </c:pt>
                <c:pt idx="13">
                  <c:v>12103.775865</c:v>
                </c:pt>
                <c:pt idx="14">
                  <c:v>12055.98482</c:v>
                </c:pt>
                <c:pt idx="15">
                  <c:v>14157.51458</c:v>
                </c:pt>
                <c:pt idx="16">
                  <c:v>14148.847079</c:v>
                </c:pt>
                <c:pt idx="17">
                  <c:v>14154.637275</c:v>
                </c:pt>
                <c:pt idx="18">
                  <c:v>15269.042055</c:v>
                </c:pt>
                <c:pt idx="19">
                  <c:v>15278.784684</c:v>
                </c:pt>
                <c:pt idx="20">
                  <c:v>15290.290631</c:v>
                </c:pt>
                <c:pt idx="21">
                  <c:v>16440.287185</c:v>
                </c:pt>
                <c:pt idx="22">
                  <c:v>16499.48739</c:v>
                </c:pt>
                <c:pt idx="23">
                  <c:v>16420.19822</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5039.477869</c:v>
                </c:pt>
                <c:pt idx="1">
                  <c:v>6269.132124</c:v>
                </c:pt>
                <c:pt idx="2">
                  <c:v>9026.535306</c:v>
                </c:pt>
                <c:pt idx="3">
                  <c:v>10735.29812</c:v>
                </c:pt>
                <c:pt idx="4">
                  <c:v>12098.720228</c:v>
                </c:pt>
                <c:pt idx="5">
                  <c:v>14134.311014</c:v>
                </c:pt>
                <c:pt idx="6">
                  <c:v>15261.174298</c:v>
                </c:pt>
                <c:pt idx="7">
                  <c:v>16438.472888</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5043.099772</c:v>
                </c:pt>
                <c:pt idx="1">
                  <c:v>5040.435788</c:v>
                </c:pt>
                <c:pt idx="2">
                  <c:v>5034.898047</c:v>
                </c:pt>
                <c:pt idx="3">
                  <c:v>6280.064203</c:v>
                </c:pt>
                <c:pt idx="4">
                  <c:v>6264.736686</c:v>
                </c:pt>
                <c:pt idx="5">
                  <c:v>6262.595484</c:v>
                </c:pt>
                <c:pt idx="6">
                  <c:v>9024.312313</c:v>
                </c:pt>
                <c:pt idx="7">
                  <c:v>9023.14273</c:v>
                </c:pt>
                <c:pt idx="8">
                  <c:v>9032.150875</c:v>
                </c:pt>
                <c:pt idx="9">
                  <c:v>10730.712114</c:v>
                </c:pt>
                <c:pt idx="10">
                  <c:v>10729.429941</c:v>
                </c:pt>
                <c:pt idx="11">
                  <c:v>10745.752304</c:v>
                </c:pt>
                <c:pt idx="12">
                  <c:v>12113.67235</c:v>
                </c:pt>
                <c:pt idx="13">
                  <c:v>12119.759672</c:v>
                </c:pt>
                <c:pt idx="14">
                  <c:v>12062.728663</c:v>
                </c:pt>
                <c:pt idx="15">
                  <c:v>14165.044432</c:v>
                </c:pt>
                <c:pt idx="16">
                  <c:v>14123.376526</c:v>
                </c:pt>
                <c:pt idx="17">
                  <c:v>14114.512085</c:v>
                </c:pt>
                <c:pt idx="18">
                  <c:v>15284.472061</c:v>
                </c:pt>
                <c:pt idx="19">
                  <c:v>15241.455955</c:v>
                </c:pt>
                <c:pt idx="20">
                  <c:v>15257.594878</c:v>
                </c:pt>
                <c:pt idx="21">
                  <c:v>16446.247826</c:v>
                </c:pt>
                <c:pt idx="22">
                  <c:v>16453.352804</c:v>
                </c:pt>
                <c:pt idx="23">
                  <c:v>16415.818034</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5050.223912</c:v>
                </c:pt>
                <c:pt idx="1">
                  <c:v>6245.429683</c:v>
                </c:pt>
                <c:pt idx="2">
                  <c:v>8752.189963</c:v>
                </c:pt>
                <c:pt idx="3">
                  <c:v>10737.430781</c:v>
                </c:pt>
                <c:pt idx="4">
                  <c:v>12258.264537</c:v>
                </c:pt>
                <c:pt idx="5">
                  <c:v>13859.055323</c:v>
                </c:pt>
                <c:pt idx="6">
                  <c:v>15154.353684</c:v>
                </c:pt>
                <c:pt idx="7">
                  <c:v>16451.725988</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5077.454361</c:v>
                </c:pt>
                <c:pt idx="1">
                  <c:v>5016.165442</c:v>
                </c:pt>
                <c:pt idx="2">
                  <c:v>5057.051934</c:v>
                </c:pt>
                <c:pt idx="3">
                  <c:v>6236.225973</c:v>
                </c:pt>
                <c:pt idx="4">
                  <c:v>6245.048374</c:v>
                </c:pt>
                <c:pt idx="5">
                  <c:v>6255.014701</c:v>
                </c:pt>
                <c:pt idx="6">
                  <c:v>8752.894788</c:v>
                </c:pt>
                <c:pt idx="7">
                  <c:v>8741.261713</c:v>
                </c:pt>
                <c:pt idx="8">
                  <c:v>8762.41339</c:v>
                </c:pt>
                <c:pt idx="9">
                  <c:v>10761.252108</c:v>
                </c:pt>
                <c:pt idx="10">
                  <c:v>10735.031649</c:v>
                </c:pt>
                <c:pt idx="11">
                  <c:v>10716.008584</c:v>
                </c:pt>
                <c:pt idx="12">
                  <c:v>12282.74963</c:v>
                </c:pt>
                <c:pt idx="13">
                  <c:v>12267.109803</c:v>
                </c:pt>
                <c:pt idx="14">
                  <c:v>12224.934176</c:v>
                </c:pt>
                <c:pt idx="15">
                  <c:v>13871.395089</c:v>
                </c:pt>
                <c:pt idx="16">
                  <c:v>13872.260145</c:v>
                </c:pt>
                <c:pt idx="17">
                  <c:v>13833.510734</c:v>
                </c:pt>
                <c:pt idx="18">
                  <c:v>15176.348003</c:v>
                </c:pt>
                <c:pt idx="19">
                  <c:v>15139.157609</c:v>
                </c:pt>
                <c:pt idx="20">
                  <c:v>15147.55544</c:v>
                </c:pt>
                <c:pt idx="21">
                  <c:v>16437.569094</c:v>
                </c:pt>
                <c:pt idx="22">
                  <c:v>16499.899987</c:v>
                </c:pt>
                <c:pt idx="23">
                  <c:v>16417.708883</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20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5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1641.916522</c:v>
                </c:pt>
                <c:pt idx="1">
                  <c:v>1995.09421</c:v>
                </c:pt>
                <c:pt idx="2">
                  <c:v>2721.561836</c:v>
                </c:pt>
                <c:pt idx="3">
                  <c:v>3238.705963</c:v>
                </c:pt>
                <c:pt idx="4">
                  <c:v>3754.958383</c:v>
                </c:pt>
                <c:pt idx="5">
                  <c:v>4165.499942</c:v>
                </c:pt>
                <c:pt idx="6">
                  <c:v>4534.380999</c:v>
                </c:pt>
                <c:pt idx="7">
                  <c:v>4881.287256</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1643.776043</c:v>
                </c:pt>
                <c:pt idx="1">
                  <c:v>1640.221189</c:v>
                </c:pt>
                <c:pt idx="2">
                  <c:v>1641.752336</c:v>
                </c:pt>
                <c:pt idx="3">
                  <c:v>2000.850906</c:v>
                </c:pt>
                <c:pt idx="4">
                  <c:v>1992.251654</c:v>
                </c:pt>
                <c:pt idx="5">
                  <c:v>1992.180071</c:v>
                </c:pt>
                <c:pt idx="6">
                  <c:v>2721.903602</c:v>
                </c:pt>
                <c:pt idx="7">
                  <c:v>2719.754045</c:v>
                </c:pt>
                <c:pt idx="8">
                  <c:v>2723.027862</c:v>
                </c:pt>
                <c:pt idx="9">
                  <c:v>3240.964536</c:v>
                </c:pt>
                <c:pt idx="10">
                  <c:v>3239.118169</c:v>
                </c:pt>
                <c:pt idx="11">
                  <c:v>3236.035182</c:v>
                </c:pt>
                <c:pt idx="12">
                  <c:v>3761.359988</c:v>
                </c:pt>
                <c:pt idx="13">
                  <c:v>3755.527427</c:v>
                </c:pt>
                <c:pt idx="14">
                  <c:v>3747.987735</c:v>
                </c:pt>
                <c:pt idx="15">
                  <c:v>4167.990066</c:v>
                </c:pt>
                <c:pt idx="16">
                  <c:v>4170.217156</c:v>
                </c:pt>
                <c:pt idx="17">
                  <c:v>4158.292604</c:v>
                </c:pt>
                <c:pt idx="18">
                  <c:v>4535.07452</c:v>
                </c:pt>
                <c:pt idx="19">
                  <c:v>4538.703978</c:v>
                </c:pt>
                <c:pt idx="20">
                  <c:v>4529.364499</c:v>
                </c:pt>
                <c:pt idx="21">
                  <c:v>4888.796932</c:v>
                </c:pt>
                <c:pt idx="22">
                  <c:v>4884.788524</c:v>
                </c:pt>
                <c:pt idx="23">
                  <c:v>4870.276311</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1641.211916</c:v>
                </c:pt>
                <c:pt idx="1">
                  <c:v>1996.726808</c:v>
                </c:pt>
                <c:pt idx="2">
                  <c:v>2721.161601</c:v>
                </c:pt>
                <c:pt idx="3">
                  <c:v>3235.417099</c:v>
                </c:pt>
                <c:pt idx="4">
                  <c:v>3751.589766</c:v>
                </c:pt>
                <c:pt idx="5">
                  <c:v>4153.833454</c:v>
                </c:pt>
                <c:pt idx="6">
                  <c:v>4532.879415</c:v>
                </c:pt>
                <c:pt idx="7">
                  <c:v>4875.049191</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1642.506918</c:v>
                </c:pt>
                <c:pt idx="1">
                  <c:v>1639.929288</c:v>
                </c:pt>
                <c:pt idx="2">
                  <c:v>1641.199543</c:v>
                </c:pt>
                <c:pt idx="3">
                  <c:v>2001.437937</c:v>
                </c:pt>
                <c:pt idx="4">
                  <c:v>1992.266818</c:v>
                </c:pt>
                <c:pt idx="5">
                  <c:v>1996.475669</c:v>
                </c:pt>
                <c:pt idx="6">
                  <c:v>2716.472555</c:v>
                </c:pt>
                <c:pt idx="7">
                  <c:v>2723.659561</c:v>
                </c:pt>
                <c:pt idx="8">
                  <c:v>2723.352685</c:v>
                </c:pt>
                <c:pt idx="9">
                  <c:v>3235.630487</c:v>
                </c:pt>
                <c:pt idx="10">
                  <c:v>3238.858464</c:v>
                </c:pt>
                <c:pt idx="11">
                  <c:v>3231.762346</c:v>
                </c:pt>
                <c:pt idx="12">
                  <c:v>3758.00892</c:v>
                </c:pt>
                <c:pt idx="13">
                  <c:v>3752.177551</c:v>
                </c:pt>
                <c:pt idx="14">
                  <c:v>3744.582827</c:v>
                </c:pt>
                <c:pt idx="15">
                  <c:v>4152.225337</c:v>
                </c:pt>
                <c:pt idx="16">
                  <c:v>4159.444432</c:v>
                </c:pt>
                <c:pt idx="17">
                  <c:v>4149.830592</c:v>
                </c:pt>
                <c:pt idx="18">
                  <c:v>4534.065045</c:v>
                </c:pt>
                <c:pt idx="19">
                  <c:v>4537.6535</c:v>
                </c:pt>
                <c:pt idx="20">
                  <c:v>4526.919702</c:v>
                </c:pt>
                <c:pt idx="21">
                  <c:v>4889.705447</c:v>
                </c:pt>
                <c:pt idx="22">
                  <c:v>4868.257886</c:v>
                </c:pt>
                <c:pt idx="23">
                  <c:v>4867.18424</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1617.185971</c:v>
                </c:pt>
                <c:pt idx="1">
                  <c:v>2003.009671</c:v>
                </c:pt>
                <c:pt idx="2">
                  <c:v>2658.470135</c:v>
                </c:pt>
                <c:pt idx="3">
                  <c:v>3241.273499</c:v>
                </c:pt>
                <c:pt idx="4">
                  <c:v>3621.339874</c:v>
                </c:pt>
                <c:pt idx="5">
                  <c:v>4076.387127</c:v>
                </c:pt>
                <c:pt idx="6">
                  <c:v>4498.318942</c:v>
                </c:pt>
                <c:pt idx="7">
                  <c:v>4867.875204</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1616.045091</c:v>
                </c:pt>
                <c:pt idx="1">
                  <c:v>1615.109922</c:v>
                </c:pt>
                <c:pt idx="2">
                  <c:v>1620.402901</c:v>
                </c:pt>
                <c:pt idx="3">
                  <c:v>2000.788052</c:v>
                </c:pt>
                <c:pt idx="4">
                  <c:v>1996.810621</c:v>
                </c:pt>
                <c:pt idx="5">
                  <c:v>2011.43034</c:v>
                </c:pt>
                <c:pt idx="6">
                  <c:v>2655.712552</c:v>
                </c:pt>
                <c:pt idx="7">
                  <c:v>2658.472716</c:v>
                </c:pt>
                <c:pt idx="8">
                  <c:v>2661.225136</c:v>
                </c:pt>
                <c:pt idx="9">
                  <c:v>3249.552741</c:v>
                </c:pt>
                <c:pt idx="10">
                  <c:v>3235.681023</c:v>
                </c:pt>
                <c:pt idx="11">
                  <c:v>3238.586734</c:v>
                </c:pt>
                <c:pt idx="12">
                  <c:v>3629.990076</c:v>
                </c:pt>
                <c:pt idx="13">
                  <c:v>3617.757859</c:v>
                </c:pt>
                <c:pt idx="14">
                  <c:v>3616.271686</c:v>
                </c:pt>
                <c:pt idx="15">
                  <c:v>4094.636539</c:v>
                </c:pt>
                <c:pt idx="16">
                  <c:v>4076.859337</c:v>
                </c:pt>
                <c:pt idx="17">
                  <c:v>4057.665504</c:v>
                </c:pt>
                <c:pt idx="18">
                  <c:v>4494.686888</c:v>
                </c:pt>
                <c:pt idx="19">
                  <c:v>4502.376717</c:v>
                </c:pt>
                <c:pt idx="20">
                  <c:v>4497.893221</c:v>
                </c:pt>
                <c:pt idx="21">
                  <c:v>4879.280349</c:v>
                </c:pt>
                <c:pt idx="22">
                  <c:v>4862.31611</c:v>
                </c:pt>
                <c:pt idx="23">
                  <c:v>4862.029154</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5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2.474528</c:v>
                </c:pt>
                <c:pt idx="1">
                  <c:v>2.119759</c:v>
                </c:pt>
                <c:pt idx="2">
                  <c:v>1.980397</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2.692156</c:v>
                </c:pt>
                <c:pt idx="1">
                  <c:v>2.210569</c:v>
                </c:pt>
                <c:pt idx="2">
                  <c:v>2.045659</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2.596512</c:v>
                </c:pt>
                <c:pt idx="1">
                  <c:v>2.275168</c:v>
                </c:pt>
                <c:pt idx="2">
                  <c:v>2.013751</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2.587732</c:v>
                </c:pt>
                <c:pt idx="1">
                  <c:v>2.201832</c:v>
                </c:pt>
                <c:pt idx="2">
                  <c:v>2.013269</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4"/>
          <c:min val="0"/>
        </c:scaling>
        <c:delete val="0"/>
        <c:axPos val="l"/>
        <c:majorGridlines>
          <c:spPr>
            <a:ln xmlns:a="http://schemas.openxmlformats.org/drawingml/2006/main" w="6668">
              <a:solidFill>
                <a:srgbClr val="DDDDDD"/>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1"/>
      </c:valAx>
    </c:plotArea>
    <c:plotVisOnly val="1"/>
  </c:chart>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745.269584</c:v>
                </c:pt>
                <c:pt idx="1">
                  <c:v>644.74269</c:v>
                </c:pt>
                <c:pt idx="2">
                  <c:v>602.354447</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787.647926</c:v>
                </c:pt>
                <c:pt idx="1">
                  <c:v>679.086766</c:v>
                </c:pt>
                <c:pt idx="2">
                  <c:v>616.104375</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766.969601</c:v>
                </c:pt>
                <c:pt idx="1">
                  <c:v>672.049502</c:v>
                </c:pt>
                <c:pt idx="2">
                  <c:v>606.494352</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766.629037</c:v>
                </c:pt>
                <c:pt idx="1">
                  <c:v>665.292986</c:v>
                </c:pt>
                <c:pt idx="2">
                  <c:v>608.317725</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1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250"/>
      </c:valAx>
    </c:plotArea>
    <c:plotVisOnly val="1"/>
  </c:chart>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16.419807</c:v>
                </c:pt>
                <c:pt idx="1">
                  <c:v>16.09527</c:v>
                </c:pt>
                <c:pt idx="2">
                  <c:v>24.324803</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12.793509</c:v>
                </c:pt>
                <c:pt idx="1">
                  <c:v>15.458788</c:v>
                </c:pt>
                <c:pt idx="2">
                  <c:v>24.316188</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11.900901</c:v>
                </c:pt>
                <c:pt idx="1">
                  <c:v>13.413897</c:v>
                </c:pt>
                <c:pt idx="2">
                  <c:v>23.042388</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13.704739</c:v>
                </c:pt>
                <c:pt idx="1">
                  <c:v>14.989318</c:v>
                </c:pt>
                <c:pt idx="2">
                  <c:v>23.89446</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3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10"/>
      </c:valAx>
    </c:plotArea>
    <c:plotVisOnly val="1"/>
  </c:chart>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99.985437</c:v>
                </c:pt>
                <c:pt idx="1">
                  <c:v>99.508403</c:v>
                </c:pt>
                <c:pt idx="2">
                  <c:v>99.484252</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99.307692</c:v>
                </c:pt>
                <c:pt idx="1">
                  <c:v>99.99115</c:v>
                </c:pt>
                <c:pt idx="2">
                  <c:v>99.879518</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99.085</c:v>
                </c:pt>
                <c:pt idx="1">
                  <c:v>99.517544</c:v>
                </c:pt>
                <c:pt idx="2">
                  <c:v>99.980237</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99.459376</c:v>
                </c:pt>
                <c:pt idx="1">
                  <c:v>99.672366</c:v>
                </c:pt>
                <c:pt idx="2">
                  <c:v>99.781336</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105"/>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25"/>
      </c:valAx>
    </c:plotArea>
    <c:plotVisOnly val="1"/>
  </c:chart>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390525" y="2200275"/>
            <a:ext cx="11239500" cy="1809750"/>
          </a:xfrm>
        </p:spPr>
        <p:txBody>
          <a:bodyPr xmlns:a="http://schemas.openxmlformats.org/drawingml/2006/main" lIns="0" tIns="0" rIns="0" bIns="0" anchor="t">
            <a:noAutofit/>
          </a:bodyPr>
          <a:lstStyle xmlns:a="http://schemas.openxmlformats.org/drawingml/2006/main"/>
          <a:p xmlns:a="http://schemas.openxmlformats.org/drawingml/2006/main">
            <a:pPr algn="l">
              <a:buNone/>
              <a:defRPr sz="6150" b="0">
                <a:solidFill>
                  <a:srgbClr val="000000"/>
                </a:solidFill>
                <a:latin typeface="Helvetica Neue"/>
                <a:ea typeface="Helvetica Neue"/>
                <a:cs typeface="Helvetica Neue"/>
              </a:defRPr>
            </a:pPr>
            <a:r>
              <a:rPr sz="6150" b="0">
                <a:solidFill>
                  <a:srgbClr val="000000"/>
                </a:solidFill>
                <a:latin typeface="Helvetica Neue"/>
                <a:ea typeface="Helvetica Neue"/>
                <a:cs typeface="Helvetica Neue"/>
              </a:rPr>
              <a:t>Inference</a:t>
            </a:r>
          </a:p>
          <a:p xmlns:a="http://schemas.openxmlformats.org/drawingml/2006/main">
            <a:pPr algn="l">
              <a:buNone/>
              <a:defRPr sz="6150" b="0">
                <a:solidFill>
                  <a:srgbClr val="000000"/>
                </a:solidFill>
                <a:latin typeface="Helvetica Neue"/>
                <a:ea typeface="Helvetica Neue"/>
                <a:cs typeface="Helvetica Neue"/>
              </a:defRPr>
            </a:pPr>
            <a:r>
              <a:rPr sz="6150" b="0">
                <a:solidFill>
                  <a:srgbClr val="000000"/>
                </a:solidFill>
                <a:latin typeface="Helvetica Neue"/>
                <a:ea typeface="Helvetica Neue"/>
                <a:cs typeface="Helvetica Neue"/>
              </a:rPr>
              <a:t>Optimization</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390525" y="4276725"/>
            <a:ext cx="10953750" cy="495300"/>
          </a:xfrm>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Improving GPU Utilization for LLM Inference</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390525" y="390525"/>
            <a:ext cx="10477500" cy="42862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algn="l">
              <a:buNone/>
              <a:defRPr sz="1350" b="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
            </a:r>
          </a:p>
        </p:txBody>
      </p:sp>
      <p:sp>
        <p:nvSpPr>
          <p:cNvPr id="7" name="SaturateLLM text 1">
            <a:extLst xmlns:a="http://schemas.openxmlformats.org/drawingml/2006/main">
              <a:ext uri="{FF2B5EF4-FFF2-40B4-BE49-F238E27FC236}">
                <a16:creationId xmlns:a16="http://schemas.microsoft.com/office/drawing/2014/main" id="{B953246D-7AD4-4CFC-B7E3-0AC62210C0FD}"/>
              </a:ext>
            </a:extLst>
          </p:cNvPr>
          <p:cNvSpPr>
            <a:spLocks xmlns:a="http://schemas.openxmlformats.org/drawingml/2006/main" noGrp="1"/>
          </p:cNvSpPr>
          <p:nvPr/>
        </p:nvSpPr>
        <p:spPr>
          <a:xfrm xmlns:a="http://schemas.openxmlformats.org/drawingml/2006/main">
            <a:off x="393383" y="5362575"/>
            <a:ext cx="1114425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
            </a:r>
          </a:p>
        </p:txBody>
      </p:sp>
      <p:sp>
        <p:nvSpPr>
          <p:cNvPr id="8" name="SaturateLLM text 1">
            <a:extLst xmlns:a="http://schemas.openxmlformats.org/drawingml/2006/main">
              <a:ext uri="{FF2B5EF4-FFF2-40B4-BE49-F238E27FC236}">
                <a16:creationId xmlns:a16="http://schemas.microsoft.com/office/drawing/2014/main" id="{BF686EAB-466A-49BA-8220-640A479A0D72}"/>
              </a:ext>
            </a:extLst>
          </p:cNvPr>
          <p:cNvSpPr>
            <a:spLocks xmlns:a="http://schemas.openxmlformats.org/drawingml/2006/main" noGrp="1"/>
          </p:cNvSpPr>
          <p:nvPr/>
        </p:nvSpPr>
        <p:spPr>
          <a:xfrm xmlns:a="http://schemas.openxmlformats.org/drawingml/2006/main">
            <a:off x="393383" y="6267450"/>
            <a:ext cx="111442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350" b="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
            </a:r>
          </a:p>
        </p:txBody>
      </p:sp>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e51ac9bd81e649fa"/>
              </a:rPr>
              <a:t>Research question and evidence</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2598689-54C9-18A7-3A19-ED76AA08988F}" type="slidenum">
              <a:rPr sz="1125" b="0">
                <a:solidFill>
                  <a:srgbClr val="000000"/>
                </a:solidFill>
                <a:latin typeface="Helvetica Neue"/>
                <a:ea typeface="Helvetica Neue"/>
                <a:cs typeface="Helvetica Neue"/>
              </a:rPr>
              <a:t>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Research question</a:t>
            </a:r>
          </a:p>
        </p:txBody>
      </p:sp>
      <p:sp>
        <p:nvSpPr>
          <p:cNvPr id="534" name="">
            <a:extLst xmlns:a="http://schemas.openxmlformats.org/drawingml/2006/main">
              <a:ext uri="{FF2B5EF4-FFF2-40B4-BE49-F238E27FC236}">
                <a16:creationId xmlns:a16="http://schemas.microsoft.com/office/drawing/2014/main" id="{7AD839B9-0174-4453-AF7F-9029A6CB3352}"/>
              </a:ext>
            </a:extLst>
          </p:cNvPr>
          <p:cNvSpPr>
            <a:spLocks xmlns:a="http://schemas.openxmlformats.org/drawingml/2006/main" noGrp="1"/>
          </p:cNvSpPr>
          <p:nvPr/>
        </p:nvSpPr>
        <p:spPr>
          <a:xfrm xmlns:a="http://schemas.openxmlformats.org/drawingml/2006/main">
            <a:off x="390525" y="1371600"/>
            <a:ext cx="11401425" cy="942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1">
                <a:solidFill>
                  <a:srgbClr val="000000"/>
                </a:solidFill>
                <a:latin typeface="Helvetica Neue"/>
                <a:ea typeface="Helvetica Neue"/>
                <a:cs typeface="Helvetica Neue"/>
              </a:defRPr>
            </a:pPr>
            <a:r>
              <a:rPr sz="2475" b="1">
                <a:solidFill>
                  <a:srgbClr val="000000"/>
                </a:solidFill>
                <a:latin typeface="Helvetica Neue"/>
                <a:ea typeface="Helvetica Neue"/>
                <a:cs typeface="Helvetica Neue"/>
              </a:rPr>
              <a:t>Can better admission decisions increase SLO goodput during bursts of long prompts?</a:t>
            </a:r>
          </a:p>
        </p:txBody>
      </p:sp>
      <p:sp>
        <p:nvSpPr>
          <p:cNvPr id="535" name="">
            <a:extLst xmlns:a="http://schemas.openxmlformats.org/drawingml/2006/main">
              <a:ext uri="{FF2B5EF4-FFF2-40B4-BE49-F238E27FC236}">
                <a16:creationId xmlns:a16="http://schemas.microsoft.com/office/drawing/2014/main" id="{B20958F7-AE7F-4BC7-A93D-80CF0E1582E0}"/>
              </a:ext>
            </a:extLst>
          </p:cNvPr>
          <p:cNvSpPr>
            <a:spLocks xmlns:a="http://schemas.openxmlformats.org/drawingml/2006/main" noGrp="1"/>
          </p:cNvSpPr>
          <p:nvPr/>
        </p:nvSpPr>
        <p:spPr>
          <a:xfrm xmlns:a="http://schemas.openxmlformats.org/drawingml/2006/main">
            <a:off x="390525" y="2409825"/>
            <a:ext cx="11401425"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SLO goodput: requests completed within latency targets per second.</a:t>
            </a:r>
          </a:p>
        </p:txBody>
      </p:sp>
      <p:sp>
        <p:nvSpPr>
          <p:cNvPr id="536" name="">
            <a:extLst xmlns:a="http://schemas.openxmlformats.org/drawingml/2006/main">
              <a:ext uri="{FF2B5EF4-FFF2-40B4-BE49-F238E27FC236}">
                <a16:creationId xmlns:a16="http://schemas.microsoft.com/office/drawing/2014/main" id="{E7D28C30-772B-4A69-92E5-867BD0438158}"/>
              </a:ext>
            </a:extLst>
          </p:cNvPr>
          <p:cNvSpPr>
            <a:spLocks xmlns:a="http://schemas.openxmlformats.org/drawingml/2006/main" noGrp="1"/>
          </p:cNvSpPr>
          <p:nvPr/>
        </p:nvSpPr>
        <p:spPr>
          <a:xfrm xmlns:a="http://schemas.openxmlformats.org/drawingml/2006/main">
            <a:off x="390525" y="3171825"/>
            <a:ext cx="53816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Scheduling trade-offs</a:t>
            </a:r>
          </a:p>
        </p:txBody>
      </p:sp>
      <p:sp>
        <p:nvSpPr>
          <p:cNvPr id="537" name="">
            <a:extLst xmlns:a="http://schemas.openxmlformats.org/drawingml/2006/main">
              <a:ext uri="{FF2B5EF4-FFF2-40B4-BE49-F238E27FC236}">
                <a16:creationId xmlns:a16="http://schemas.microsoft.com/office/drawing/2014/main" id="{60A175EF-1D47-49F3-A5F7-7A9939D73F39}"/>
              </a:ext>
            </a:extLst>
          </p:cNvPr>
          <p:cNvSpPr>
            <a:spLocks xmlns:a="http://schemas.openxmlformats.org/drawingml/2006/main" noGrp="1"/>
          </p:cNvSpPr>
          <p:nvPr/>
        </p:nvSpPr>
        <p:spPr>
          <a:xfrm xmlns:a="http://schemas.openxmlformats.org/drawingml/2006/main">
            <a:off x="390525" y="3581400"/>
            <a:ext cx="5381625" cy="120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Admission limits can leave capacity unused or delay requests. Increased GPU busy time need not improve SLO goodput.</a:t>
            </a:r>
          </a:p>
        </p:txBody>
      </p:sp>
      <p:sp>
        <p:nvSpPr>
          <p:cNvPr id="538" name="">
            <a:extLst xmlns:a="http://schemas.openxmlformats.org/drawingml/2006/main">
              <a:ext uri="{FF2B5EF4-FFF2-40B4-BE49-F238E27FC236}">
                <a16:creationId xmlns:a16="http://schemas.microsoft.com/office/drawing/2014/main" id="{02748DDE-950D-4E41-9631-EC18662E3E40}"/>
              </a:ext>
            </a:extLst>
          </p:cNvPr>
          <p:cNvSpPr>
            <a:spLocks xmlns:a="http://schemas.openxmlformats.org/drawingml/2006/main" noGrp="1"/>
          </p:cNvSpPr>
          <p:nvPr/>
        </p:nvSpPr>
        <p:spPr>
          <a:xfrm xmlns:a="http://schemas.openxmlformats.org/drawingml/2006/main">
            <a:off x="6257925" y="3171825"/>
            <a:ext cx="55340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Controlled workload</a:t>
            </a:r>
          </a:p>
        </p:txBody>
      </p:sp>
      <p:sp>
        <p:nvSpPr>
          <p:cNvPr id="539" name="">
            <a:extLst xmlns:a="http://schemas.openxmlformats.org/drawingml/2006/main">
              <a:ext uri="{FF2B5EF4-FFF2-40B4-BE49-F238E27FC236}">
                <a16:creationId xmlns:a16="http://schemas.microsoft.com/office/drawing/2014/main" id="{45D5950B-3183-41B6-B5FC-9A1ADD769142}"/>
              </a:ext>
            </a:extLst>
          </p:cNvPr>
          <p:cNvSpPr>
            <a:spLocks xmlns:a="http://schemas.openxmlformats.org/drawingml/2006/main" noGrp="1"/>
          </p:cNvSpPr>
          <p:nvPr/>
        </p:nvSpPr>
        <p:spPr>
          <a:xfrm xmlns:a="http://schemas.openxmlformats.org/drawingml/2006/main">
            <a:off x="6257925" y="3581400"/>
            <a:ext cx="5534025" cy="120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Short prompts, a burst of long prompts, then short prompts. Measure recovery, SLO goodput and tail latency.</a:t>
            </a:r>
          </a:p>
        </p:txBody>
      </p:sp>
      <p:sp>
        <p:nvSpPr>
          <p:cNvPr id="540" name="">
            <a:extLst xmlns:a="http://schemas.openxmlformats.org/drawingml/2006/main">
              <a:ext uri="{FF2B5EF4-FFF2-40B4-BE49-F238E27FC236}">
                <a16:creationId xmlns:a16="http://schemas.microsoft.com/office/drawing/2014/main" id="{15FDF2F8-BD20-4B94-8638-087B974FC43A}"/>
              </a:ext>
            </a:extLst>
          </p:cNvPr>
          <p:cNvSpPr>
            <a:spLocks xmlns:a="http://schemas.openxmlformats.org/drawingml/2006/main" noGrp="1"/>
          </p:cNvSpPr>
          <p:nvPr/>
        </p:nvSpPr>
        <p:spPr>
          <a:xfrm xmlns:a="http://schemas.openxmlformats.org/drawingml/2006/main">
            <a:off x="390525" y="5057775"/>
            <a:ext cx="11401425" cy="7334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Hypothesis: estimated processing cost, system state and remaining latency budget can guide admission to increase SLO goodput without worse tail latency.</a:t>
            </a:r>
          </a:p>
        </p:txBody>
      </p:sp>
      <p:sp>
        <p:nvSpPr>
          <p:cNvPr id="541" name="">
            <a:extLst xmlns:a="http://schemas.openxmlformats.org/drawingml/2006/main">
              <a:ext uri="{FF2B5EF4-FFF2-40B4-BE49-F238E27FC236}">
                <a16:creationId xmlns:a16="http://schemas.microsoft.com/office/drawing/2014/main" id="{99F215A1-D337-40BE-AD69-47746EED6FA5}"/>
              </a:ext>
            </a:extLst>
          </p:cNvPr>
          <p:cNvSpPr>
            <a:spLocks xmlns:a="http://schemas.openxmlformats.org/drawingml/2006/main" noGrp="1"/>
          </p:cNvSpPr>
          <p:nvPr/>
        </p:nvSpPr>
        <p:spPr>
          <a:xfrm xmlns:a="http://schemas.openxmlformats.org/drawingml/2006/main">
            <a:off x="390525" y="5895975"/>
            <a:ext cx="114014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Initial scope: single-GPU LLM serving, with all requests and waiting time included.</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202359C0-8A7A-196E-DD58-8E6569619F09}" type="slidenum">
              <a:rPr sz="1125" b="0">
                <a:solidFill>
                  <a:srgbClr val="000000"/>
                </a:solidFill>
                <a:latin typeface="Helvetica Neue"/>
                <a:ea typeface="Helvetica Neue"/>
                <a:cs typeface="Helvetica Neue"/>
              </a:rPr>
              <a:t>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Previous Literature Review</a:t>
            </a:r>
          </a:p>
        </p:txBody>
      </p:sp>
      <p:sp>
        <p:nvSpPr>
          <p:cNvPr id="534" name="">
            <a:extLst xmlns:a="http://schemas.openxmlformats.org/drawingml/2006/main">
              <a:ext uri="{FF2B5EF4-FFF2-40B4-BE49-F238E27FC236}">
                <a16:creationId xmlns:a16="http://schemas.microsoft.com/office/drawing/2014/main" id="{CFB4D5AD-C791-4686-8668-A801171C2D19}"/>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6ebe34ae422047fe"/>
              </a:rPr>
              <a:t>SOLA</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15f3ad7327aa476d"/>
              </a:rPr>
              <a:t>DuetServe</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13b7f24a80b547a8"/>
              </a:rPr>
              <a:t>Prism recommendation serving</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FD6AB9A-5F9E-5F59-51AB-3C8734130965}" type="slidenum">
              <a:rPr sz="1125" b="0">
                <a:solidFill>
                  <a:srgbClr val="000000"/>
                </a:solidFill>
                <a:latin typeface="Helvetica Neue"/>
                <a:ea typeface="Helvetica Neue"/>
                <a:cs typeface="Helvetica Neue"/>
              </a:rPr>
              <a:t>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What existing inference systems optimize</a:t>
            </a:r>
          </a:p>
        </p:txBody>
      </p:sp>
      <p:sp>
        <p:nvSpPr>
          <p:cNvPr id="534" name="">
            <a:extLst xmlns:a="http://schemas.openxmlformats.org/drawingml/2006/main">
              <a:ext uri="{FF2B5EF4-FFF2-40B4-BE49-F238E27FC236}">
                <a16:creationId xmlns:a16="http://schemas.microsoft.com/office/drawing/2014/main" id="{1CF3A2A1-DA9D-4AB0-AA4F-DF8A5313F9E9}"/>
              </a:ext>
            </a:extLst>
          </p:cNvPr>
          <p:cNvSpPr>
            <a:spLocks xmlns:a="http://schemas.openxmlformats.org/drawingml/2006/main" noGrp="1"/>
          </p:cNvSpPr>
          <p:nvPr/>
        </p:nvSpPr>
        <p:spPr>
          <a:xfrm xmlns:a="http://schemas.openxmlformats.org/drawingml/2006/main">
            <a:off x="390525" y="1362075"/>
            <a:ext cx="11401425" cy="666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Selected systems address request scheduling, GPU execution overlap and resource allocation.</a:t>
            </a:r>
          </a:p>
        </p:txBody>
      </p:sp>
      <p:graphicFrame>
        <p:nvGraphicFramePr>
          <p:cNvPr id="541" name=""/>
          <p:cNvGraphicFramePr/>
          <p:nvPr/>
        </p:nvGraphicFramePr>
        <p:xfrm>
          <a:off xmlns:a="http://schemas.openxmlformats.org/drawingml/2006/main" x="390525" y="2276475"/>
          <a:ext xmlns:a="http://schemas.openxmlformats.org/drawingml/2006/main" cx="11401425" cy="3076575"/>
        </p:xfrm>
        <a:graphic xmlns:a="http://schemas.openxmlformats.org/drawingml/2006/main">
          <a:graphicData uri="http://schemas.openxmlformats.org/drawingml/2006/table">
            <a:tbl>
              <a:tblPr firstRow="0" bandRow="0"/>
              <a:tblGrid>
                <a:gridCol w="2143125"/>
                <a:gridCol w="4772025"/>
                <a:gridCol w="4486275"/>
              </a:tblGrid>
              <a:tr h="769144">
                <a:tc>
                  <a:txBody>
                    <a:bodyPr/>
                    <a:lstStyle/>
                    <a:p>
                      <a:r>
                        <a:rPr sz="1725" b="1">
                          <a:solidFill>
                            <a:srgbClr val="000000"/>
                          </a:solidFill>
                          <a:latin typeface="Helvetica Neue"/>
                          <a:ea typeface="Helvetica Neue"/>
                          <a:cs typeface="Helvetica Neue"/>
                        </a:rPr>
                        <a:t>System</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What it tries to improve</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How the selected experiment tests it</a:t>
                      </a:r>
                    </a:p>
                  </a:txBody>
                  <a:tcPr marL="95250" marR="95250" marT="76200" marB="57150" anchor="t">
                    <a:solidFill>
                      <a:srgbClr val="EAF6FD"/>
                    </a:solidFill>
                  </a:tcPr>
                </a:tc>
              </a:tr>
              <a:tr h="769144">
                <a:tc>
                  <a:txBody>
                    <a:bodyPr/>
                    <a:lstStyle/>
                    <a:p>
                      <a:r>
                        <a:rPr sz="1725">
                          <a:solidFill>
                            <a:srgbClr val="000000"/>
                          </a:solidFill>
                          <a:latin typeface="Helvetica Neue"/>
                          <a:ea typeface="Helvetica Neue"/>
                          <a:cs typeface="Helvetica Neue"/>
                        </a:rPr>
                        <a:t>SOLA</a:t>
                      </a:r>
                    </a:p>
                    <a:p>
                      <a:r>
                        <a:rPr sz="1725">
                          <a:solidFill>
                            <a:srgbClr val="000000"/>
                          </a:solidFill>
                          <a:latin typeface="Helvetica Neue"/>
                          <a:ea typeface="Helvetica Neue"/>
                          <a:cs typeface="Helvetica Neue"/>
                        </a:rPr>
                        <a:t>MLSys 2025</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Request order and work per GPU iteration, using request and system state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Compare first-token and per-token latency against the paper’s vLLM baseline</a:t>
                      </a:r>
                    </a:p>
                  </a:txBody>
                  <a:tcPr marL="95250" marR="95250" marT="76200" marB="57150" anchor="t">
                    <a:solidFill>
                      <a:srgbClr val="FFFFFF"/>
                    </a:solidFill>
                  </a:tcPr>
                </a:tc>
              </a:tr>
              <a:tr h="769144">
                <a:tc>
                  <a:txBody>
                    <a:bodyPr/>
                    <a:lstStyle/>
                    <a:p>
                      <a:r>
                        <a:rPr sz="1725">
                          <a:solidFill>
                            <a:srgbClr val="000000"/>
                          </a:solidFill>
                          <a:latin typeface="Helvetica Neue"/>
                          <a:ea typeface="Helvetica Neue"/>
                          <a:cs typeface="Helvetica Neue"/>
                        </a:rPr>
                        <a:t>DuetServe</a:t>
                      </a:r>
                    </a:p>
                    <a:p>
                      <a:r>
                        <a:rPr sz="1725">
                          <a:solidFill>
                            <a:srgbClr val="000000"/>
                          </a:solidFill>
                          <a:latin typeface="Helvetica Neue"/>
                          <a:ea typeface="Helvetica Neue"/>
                          <a:cs typeface="Helvetica Neue"/>
                        </a:rPr>
                        <a:t>ICML 2026</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Sharing GPU execution resources between prefill and decode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Increase offered request rate and compare completed requests/s</a:t>
                      </a:r>
                    </a:p>
                  </a:txBody>
                  <a:tcPr marL="95250" marR="95250" marT="76200" marB="57150" anchor="t">
                    <a:solidFill>
                      <a:srgbClr val="FFFFFF"/>
                    </a:solidFill>
                  </a:tcPr>
                </a:tc>
              </a:tr>
              <a:tr h="769144">
                <a:tc>
                  <a:txBody>
                    <a:bodyPr/>
                    <a:lstStyle/>
                    <a:p>
                      <a:r>
                        <a:rPr sz="1725">
                          <a:solidFill>
                            <a:srgbClr val="000000"/>
                          </a:solidFill>
                          <a:latin typeface="Helvetica Neue"/>
                          <a:ea typeface="Helvetica Neue"/>
                          <a:cs typeface="Helvetica Neue"/>
                        </a:rPr>
                        <a:t>Prism</a:t>
                      </a:r>
                    </a:p>
                    <a:p>
                      <a:r>
                        <a:rPr sz="1725">
                          <a:solidFill>
                            <a:srgbClr val="000000"/>
                          </a:solidFill>
                          <a:latin typeface="Helvetica Neue"/>
                          <a:ea typeface="Helvetica Neue"/>
                          <a:cs typeface="Helvetica Neue"/>
                        </a:rPr>
                        <a:t>NSDI 2025</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CPU/GPU resource use in recommendation inference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Vary CPU-side and GPU-side instances and compare goodput per GPU node</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2D4DE789-35B4-40BB-8CBE-3F4038DEF3DE}"/>
              </a:ext>
            </a:extLst>
          </p:cNvPr>
          <p:cNvSpPr>
            <a:spLocks xmlns:a="http://schemas.openxmlformats.org/drawingml/2006/main" noGrp="1"/>
          </p:cNvSpPr>
          <p:nvPr/>
        </p:nvSpPr>
        <p:spPr>
          <a:xfrm xmlns:a="http://schemas.openxmlformats.org/drawingml/2006/main">
            <a:off x="390525" y="5695950"/>
            <a:ext cx="11401425"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Their gains use different hardware, workloads and latency targets. They do not form a single performance ranking.</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85de6d08a45c430c"/>
              </a:rPr>
              <a:t>Hong et al., SOLA, MLSys 2025. Original Figure 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E5B3003-2C54-13C6-9832-7637201064DE}" type="slidenum">
              <a:rPr sz="1125" b="0">
                <a:solidFill>
                  <a:srgbClr val="000000"/>
                </a:solidFill>
                <a:latin typeface="Helvetica Neue"/>
                <a:ea typeface="Helvetica Neue"/>
                <a:cs typeface="Helvetica Neue"/>
              </a:rPr>
              <a:t>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SOLA: scheduling to meet latency targets</a:t>
            </a:r>
          </a:p>
        </p:txBody>
      </p:sp>
      <p:pic>
        <p:nvPicPr>
          <p:cNvPr id="545" name=""/>
          <p:cNvPicPr>
            <a:picLocks xmlns:a="http://schemas.openxmlformats.org/drawingml/2006/main" noChangeAspect="1"/>
          </p:cNvPicPr>
          <p:nvPr/>
        </p:nvPicPr>
        <p:blipFill>
          <a:blip xmlns:r="http://schemas.openxmlformats.org/officeDocument/2006/relationships" xmlns:a="http://schemas.openxmlformats.org/drawingml/2006/main" r:embed="R52c969f5b73648a6"/>
          <a:stretch xmlns:a="http://schemas.openxmlformats.org/drawingml/2006/main"/>
        </p:blipFill>
        <p:spPr>
          <a:xfrm xmlns:a="http://schemas.openxmlformats.org/drawingml/2006/main">
            <a:off x="390525" y="2182403"/>
            <a:ext cx="5600700" cy="2940869"/>
          </a:xfrm>
          <a:prstGeom xmlns:a="http://schemas.openxmlformats.org/drawingml/2006/main" prst="rect">
            <a:avLst/>
          </a:prstGeom>
        </p:spPr>
      </p:pic>
      <p:sp>
        <p:nvSpPr>
          <p:cNvPr id="535" name="">
            <a:extLst xmlns:a="http://schemas.openxmlformats.org/drawingml/2006/main">
              <a:ext uri="{FF2B5EF4-FFF2-40B4-BE49-F238E27FC236}">
                <a16:creationId xmlns:a16="http://schemas.microsoft.com/office/drawing/2014/main" id="{C64A7F79-1DD2-47F9-9291-3484B26AE55F}"/>
              </a:ext>
            </a:extLst>
          </p:cNvPr>
          <p:cNvSpPr>
            <a:spLocks xmlns:a="http://schemas.openxmlformats.org/drawingml/2006/main" noGrp="1"/>
          </p:cNvSpPr>
          <p:nvPr/>
        </p:nvSpPr>
        <p:spPr>
          <a:xfrm xmlns:a="http://schemas.openxmlformats.org/drawingml/2006/main">
            <a:off x="390525" y="5295900"/>
            <a:ext cx="5600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Read the graph: each point is a request.</a:t>
            </a:r>
          </a:p>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x = first-token delay (TTFT), y = time per output token (TPOT). The shaded corner meets both targets.</a:t>
            </a:r>
          </a:p>
        </p:txBody>
      </p:sp>
      <p:sp>
        <p:nvSpPr>
          <p:cNvPr id="536" name="">
            <a:extLst xmlns:a="http://schemas.openxmlformats.org/drawingml/2006/main">
              <a:ext uri="{FF2B5EF4-FFF2-40B4-BE49-F238E27FC236}">
                <a16:creationId xmlns:a16="http://schemas.microsoft.com/office/drawing/2014/main" id="{F7FF2044-CAAE-4CD0-9B03-BADEED99AFCE}"/>
              </a:ext>
            </a:extLst>
          </p:cNvPr>
          <p:cNvSpPr>
            <a:spLocks xmlns:a="http://schemas.openxmlformats.org/drawingml/2006/main" noGrp="1"/>
          </p:cNvSpPr>
          <p:nvPr/>
        </p:nvSpPr>
        <p:spPr>
          <a:xfrm xmlns:a="http://schemas.openxmlformats.org/drawingml/2006/main">
            <a:off x="6505575" y="1457325"/>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7" name="">
            <a:extLst xmlns:a="http://schemas.openxmlformats.org/drawingml/2006/main">
              <a:ext uri="{FF2B5EF4-FFF2-40B4-BE49-F238E27FC236}">
                <a16:creationId xmlns:a16="http://schemas.microsoft.com/office/drawing/2014/main" id="{ECFA7D2D-29D2-437E-AFE9-BDD0A4033CE3}"/>
              </a:ext>
            </a:extLst>
          </p:cNvPr>
          <p:cNvSpPr>
            <a:spLocks xmlns:a="http://schemas.openxmlformats.org/drawingml/2006/main" noGrp="1"/>
          </p:cNvSpPr>
          <p:nvPr/>
        </p:nvSpPr>
        <p:spPr>
          <a:xfrm xmlns:a="http://schemas.openxmlformats.org/drawingml/2006/main">
            <a:off x="6505575" y="1866900"/>
            <a:ext cx="5286375"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SOLA changes request order and work per iteration using current request and engine state.</a:t>
            </a:r>
          </a:p>
        </p:txBody>
      </p:sp>
      <p:sp>
        <p:nvSpPr>
          <p:cNvPr id="538" name="">
            <a:extLst xmlns:a="http://schemas.openxmlformats.org/drawingml/2006/main">
              <a:ext uri="{FF2B5EF4-FFF2-40B4-BE49-F238E27FC236}">
                <a16:creationId xmlns:a16="http://schemas.microsoft.com/office/drawing/2014/main" id="{E2BE16DB-C584-403B-96EE-94DDE7BF0E76}"/>
              </a:ext>
            </a:extLst>
          </p:cNvPr>
          <p:cNvSpPr>
            <a:spLocks xmlns:a="http://schemas.openxmlformats.org/drawingml/2006/main" noGrp="1"/>
          </p:cNvSpPr>
          <p:nvPr/>
        </p:nvSpPr>
        <p:spPr>
          <a:xfrm xmlns:a="http://schemas.openxmlformats.org/drawingml/2006/main">
            <a:off x="6505575" y="293370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39" name="">
            <a:extLst xmlns:a="http://schemas.openxmlformats.org/drawingml/2006/main">
              <a:ext uri="{FF2B5EF4-FFF2-40B4-BE49-F238E27FC236}">
                <a16:creationId xmlns:a16="http://schemas.microsoft.com/office/drawing/2014/main" id="{1B78162B-3EA9-46C2-BDAD-5DF422C2D414}"/>
              </a:ext>
            </a:extLst>
          </p:cNvPr>
          <p:cNvSpPr>
            <a:spLocks xmlns:a="http://schemas.openxmlformats.org/drawingml/2006/main" noGrp="1"/>
          </p:cNvSpPr>
          <p:nvPr/>
        </p:nvSpPr>
        <p:spPr>
          <a:xfrm xmlns:a="http://schemas.openxmlformats.org/drawingml/2006/main">
            <a:off x="6505575" y="3343275"/>
            <a:ext cx="5286375"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Llama3-70B on 4 A100s. ShareGPT at 4.6 requests/s. Targets: TTFT 0.5 s and TPOT 0.2 s.</a:t>
            </a:r>
          </a:p>
        </p:txBody>
      </p:sp>
      <p:sp>
        <p:nvSpPr>
          <p:cNvPr id="540" name="">
            <a:extLst xmlns:a="http://schemas.openxmlformats.org/drawingml/2006/main">
              <a:ext uri="{FF2B5EF4-FFF2-40B4-BE49-F238E27FC236}">
                <a16:creationId xmlns:a16="http://schemas.microsoft.com/office/drawing/2014/main" id="{C115E2B6-769A-42ED-87B3-89E92E1EAABE}"/>
              </a:ext>
            </a:extLst>
          </p:cNvPr>
          <p:cNvSpPr>
            <a:spLocks xmlns:a="http://schemas.openxmlformats.org/drawingml/2006/main" noGrp="1"/>
          </p:cNvSpPr>
          <p:nvPr/>
        </p:nvSpPr>
        <p:spPr>
          <a:xfrm xmlns:a="http://schemas.openxmlformats.org/drawingml/2006/main">
            <a:off x="6505575" y="455295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Result and relevance</a:t>
            </a:r>
          </a:p>
        </p:txBody>
      </p:sp>
      <p:sp>
        <p:nvSpPr>
          <p:cNvPr id="541" name="">
            <a:extLst xmlns:a="http://schemas.openxmlformats.org/drawingml/2006/main">
              <a:ext uri="{FF2B5EF4-FFF2-40B4-BE49-F238E27FC236}">
                <a16:creationId xmlns:a16="http://schemas.microsoft.com/office/drawing/2014/main" id="{8C133F2B-F0CF-475F-AFA8-F2BEBE47DD07}"/>
              </a:ext>
            </a:extLst>
          </p:cNvPr>
          <p:cNvSpPr>
            <a:spLocks xmlns:a="http://schemas.openxmlformats.org/drawingml/2006/main" noGrp="1"/>
          </p:cNvSpPr>
          <p:nvPr/>
        </p:nvSpPr>
        <p:spPr>
          <a:xfrm xmlns:a="http://schemas.openxmlformats.org/drawingml/2006/main">
            <a:off x="6505575" y="4962525"/>
            <a:ext cx="5286375"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Target attainment rises from 65% to 98%. Scheduling can change useful completions. This is the paper’s result, under its own setup.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9aa26c17701c43e5"/>
              </a:rPr>
              <a:t>Gao et al., DuetServe, ICML 2026. Figure 6 and §5.2</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8C630A04-5A25-9E0C-9436-126091DB86B3}" type="slidenum">
              <a:rPr sz="1125" b="0">
                <a:solidFill>
                  <a:srgbClr val="000000"/>
                </a:solidFill>
                <a:latin typeface="Helvetica Neue"/>
                <a:ea typeface="Helvetica Neue"/>
                <a:cs typeface="Helvetica Neue"/>
              </a:rPr>
              <a:t>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DuetServe: sharing GPU resources across inference stages</a:t>
            </a:r>
          </a:p>
        </p:txBody>
      </p:sp>
      <p:pic>
        <p:nvPicPr>
          <p:cNvPr id="546" name=""/>
          <p:cNvPicPr>
            <a:picLocks xmlns:a="http://schemas.openxmlformats.org/drawingml/2006/main" noChangeAspect="1"/>
          </p:cNvPicPr>
          <p:nvPr/>
        </p:nvPicPr>
        <p:blipFill>
          <a:blip xmlns:r="http://schemas.openxmlformats.org/officeDocument/2006/relationships" xmlns:a="http://schemas.openxmlformats.org/drawingml/2006/main" r:embed="Rf476dd89263f4aeb"/>
          <a:stretch xmlns:a="http://schemas.openxmlformats.org/drawingml/2006/main"/>
        </p:blipFill>
        <p:spPr>
          <a:xfrm xmlns:a="http://schemas.openxmlformats.org/drawingml/2006/main">
            <a:off x="390525" y="1729154"/>
            <a:ext cx="2057400" cy="1094642"/>
          </a:xfrm>
          <a:prstGeom xmlns:a="http://schemas.openxmlformats.org/drawingml/2006/main" prst="rect">
            <a:avLst/>
          </a:prstGeom>
        </p:spPr>
      </p:pic>
      <p:sp>
        <p:nvSpPr>
          <p:cNvPr id="535" name="">
            <a:extLst xmlns:a="http://schemas.openxmlformats.org/drawingml/2006/main">
              <a:ext uri="{FF2B5EF4-FFF2-40B4-BE49-F238E27FC236}">
                <a16:creationId xmlns:a16="http://schemas.microsoft.com/office/drawing/2014/main" id="{FE202DA1-7AC5-40D2-9017-1BB0C55E407F}"/>
              </a:ext>
            </a:extLst>
          </p:cNvPr>
          <p:cNvSpPr>
            <a:spLocks xmlns:a="http://schemas.openxmlformats.org/drawingml/2006/main" noGrp="1"/>
          </p:cNvSpPr>
          <p:nvPr/>
        </p:nvSpPr>
        <p:spPr>
          <a:xfrm xmlns:a="http://schemas.openxmlformats.org/drawingml/2006/main">
            <a:off x="2743200" y="1619250"/>
            <a:ext cx="3238500" cy="1162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QPS is incoming requests/s.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The vertical axis counts completed requests/s. Higher lines mean greater throughput.</a:t>
            </a:r>
          </a:p>
        </p:txBody>
      </p:sp>
      <p:pic>
        <p:nvPicPr>
          <p:cNvPr id="548" name=""/>
          <p:cNvPicPr>
            <a:picLocks xmlns:a="http://schemas.openxmlformats.org/drawingml/2006/main" noChangeAspect="1"/>
          </p:cNvPicPr>
          <p:nvPr/>
        </p:nvPicPr>
        <p:blipFill>
          <a:blip xmlns:r="http://schemas.openxmlformats.org/officeDocument/2006/relationships" xmlns:a="http://schemas.openxmlformats.org/drawingml/2006/main" r:embed="R505bc6629ff046fa"/>
          <a:stretch xmlns:a="http://schemas.openxmlformats.org/drawingml/2006/main"/>
        </p:blipFill>
        <p:spPr>
          <a:xfrm xmlns:a="http://schemas.openxmlformats.org/drawingml/2006/main">
            <a:off x="903711" y="3105150"/>
            <a:ext cx="4574327" cy="2800350"/>
          </a:xfrm>
          <a:prstGeom xmlns:a="http://schemas.openxmlformats.org/drawingml/2006/main" prst="rect">
            <a:avLst/>
          </a:prstGeom>
        </p:spPr>
      </p:pic>
      <p:sp>
        <p:nvSpPr>
          <p:cNvPr id="537" name="">
            <a:extLst xmlns:a="http://schemas.openxmlformats.org/drawingml/2006/main">
              <a:ext uri="{FF2B5EF4-FFF2-40B4-BE49-F238E27FC236}">
                <a16:creationId xmlns:a16="http://schemas.microsoft.com/office/drawing/2014/main" id="{6EC2A242-A14A-4F89-9F88-E9D029AA2B5B}"/>
              </a:ext>
            </a:extLst>
          </p:cNvPr>
          <p:cNvSpPr>
            <a:spLocks xmlns:a="http://schemas.openxmlformats.org/drawingml/2006/main" noGrp="1"/>
          </p:cNvSpPr>
          <p:nvPr/>
        </p:nvSpPr>
        <p:spPr>
          <a:xfrm xmlns:a="http://schemas.openxmlformats.org/drawingml/2006/main">
            <a:off x="6505575" y="1457325"/>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8" name="">
            <a:extLst xmlns:a="http://schemas.openxmlformats.org/drawingml/2006/main">
              <a:ext uri="{FF2B5EF4-FFF2-40B4-BE49-F238E27FC236}">
                <a16:creationId xmlns:a16="http://schemas.microsoft.com/office/drawing/2014/main" id="{3F594FFD-0A45-4D9C-AA46-5FC53B16850F}"/>
              </a:ext>
            </a:extLst>
          </p:cNvPr>
          <p:cNvSpPr>
            <a:spLocks xmlns:a="http://schemas.openxmlformats.org/drawingml/2006/main" noGrp="1"/>
          </p:cNvSpPr>
          <p:nvPr/>
        </p:nvSpPr>
        <p:spPr>
          <a:xfrm xmlns:a="http://schemas.openxmlformats.org/drawingml/2006/main">
            <a:off x="6505575" y="1866900"/>
            <a:ext cx="5286375" cy="904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DuetServe overlaps prompt processing with token generation using adaptive GPU resource sharing.</a:t>
            </a:r>
          </a:p>
        </p:txBody>
      </p:sp>
      <p:sp>
        <p:nvSpPr>
          <p:cNvPr id="539" name="">
            <a:extLst xmlns:a="http://schemas.openxmlformats.org/drawingml/2006/main">
              <a:ext uri="{FF2B5EF4-FFF2-40B4-BE49-F238E27FC236}">
                <a16:creationId xmlns:a16="http://schemas.microsoft.com/office/drawing/2014/main" id="{CE307264-77FF-4A26-8F58-274B4900C77A}"/>
              </a:ext>
            </a:extLst>
          </p:cNvPr>
          <p:cNvSpPr>
            <a:spLocks xmlns:a="http://schemas.openxmlformats.org/drawingml/2006/main" noGrp="1"/>
          </p:cNvSpPr>
          <p:nvPr/>
        </p:nvSpPr>
        <p:spPr>
          <a:xfrm xmlns:a="http://schemas.openxmlformats.org/drawingml/2006/main">
            <a:off x="6505575" y="299085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40" name="">
            <a:extLst xmlns:a="http://schemas.openxmlformats.org/drawingml/2006/main">
              <a:ext uri="{FF2B5EF4-FFF2-40B4-BE49-F238E27FC236}">
                <a16:creationId xmlns:a16="http://schemas.microsoft.com/office/drawing/2014/main" id="{70F2D38F-1906-4CAC-B298-EBEC598E9C88}"/>
              </a:ext>
            </a:extLst>
          </p:cNvPr>
          <p:cNvSpPr>
            <a:spLocks xmlns:a="http://schemas.openxmlformats.org/drawingml/2006/main" noGrp="1"/>
          </p:cNvSpPr>
          <p:nvPr/>
        </p:nvSpPr>
        <p:spPr>
          <a:xfrm xmlns:a="http://schemas.openxmlformats.org/drawingml/2006/main">
            <a:off x="6505575" y="3400425"/>
            <a:ext cx="5286375"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Qwen3-8B on 1 H100 80 GB. The AzureCode workload increases incoming rate from 10 to 16 requests/s.</a:t>
            </a:r>
          </a:p>
        </p:txBody>
      </p:sp>
      <p:sp>
        <p:nvSpPr>
          <p:cNvPr id="541" name="">
            <a:extLst xmlns:a="http://schemas.openxmlformats.org/drawingml/2006/main">
              <a:ext uri="{FF2B5EF4-FFF2-40B4-BE49-F238E27FC236}">
                <a16:creationId xmlns:a16="http://schemas.microsoft.com/office/drawing/2014/main" id="{83803811-A531-4E72-BC6B-9CC02E5C7A94}"/>
              </a:ext>
            </a:extLst>
          </p:cNvPr>
          <p:cNvSpPr>
            <a:spLocks xmlns:a="http://schemas.openxmlformats.org/drawingml/2006/main" noGrp="1"/>
          </p:cNvSpPr>
          <p:nvPr/>
        </p:nvSpPr>
        <p:spPr>
          <a:xfrm xmlns:a="http://schemas.openxmlformats.org/drawingml/2006/main">
            <a:off x="6505575" y="453390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Result and relevance</a:t>
            </a:r>
          </a:p>
        </p:txBody>
      </p:sp>
      <p:sp>
        <p:nvSpPr>
          <p:cNvPr id="542" name="">
            <a:extLst xmlns:a="http://schemas.openxmlformats.org/drawingml/2006/main">
              <a:ext uri="{FF2B5EF4-FFF2-40B4-BE49-F238E27FC236}">
                <a16:creationId xmlns:a16="http://schemas.microsoft.com/office/drawing/2014/main" id="{53FD78D7-B40D-4CE4-B839-AE19937EB04C}"/>
              </a:ext>
            </a:extLst>
          </p:cNvPr>
          <p:cNvSpPr>
            <a:spLocks xmlns:a="http://schemas.openxmlformats.org/drawingml/2006/main" noGrp="1"/>
          </p:cNvSpPr>
          <p:nvPr/>
        </p:nvSpPr>
        <p:spPr>
          <a:xfrm xmlns:a="http://schemas.openxmlformats.org/drawingml/2006/main">
            <a:off x="6505575" y="4943475"/>
            <a:ext cx="5286375" cy="1323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At 16 incoming requests/s: 12.43 for SGLang-Default, 13.57 for DuetServe (+9.2%, calculated). Execution scheduling affects completed work.</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1384ae997a134388"/>
              </a:rPr>
              <a:t>Yang et al., GPU-Disaggregated DLRM Serving, NSDI 2025. Figure 17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3D7D1C8-AE23-AA48-DF65-C742588DBE47}" type="slidenum">
              <a:rPr sz="1125" b="0">
                <a:solidFill>
                  <a:srgbClr val="000000"/>
                </a:solidFill>
                <a:latin typeface="Helvetica Neue"/>
                <a:ea typeface="Helvetica Neue"/>
                <a:cs typeface="Helvetica Neue"/>
              </a:rPr>
              <a:t>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Prism: recommendation inference across CPU and GPU nodes</a:t>
            </a:r>
          </a:p>
        </p:txBody>
      </p:sp>
      <p:sp>
        <p:nvSpPr>
          <p:cNvPr id="534" name="">
            <a:extLst xmlns:a="http://schemas.openxmlformats.org/drawingml/2006/main">
              <a:ext uri="{FF2B5EF4-FFF2-40B4-BE49-F238E27FC236}">
                <a16:creationId xmlns:a16="http://schemas.microsoft.com/office/drawing/2014/main" id="{7FF367D6-2F58-4D85-AE73-A4CE1869E8C1}"/>
              </a:ext>
            </a:extLst>
          </p:cNvPr>
          <p:cNvSpPr>
            <a:spLocks xmlns:a="http://schemas.openxmlformats.org/drawingml/2006/main" noGrp="1"/>
          </p:cNvSpPr>
          <p:nvPr/>
        </p:nvSpPr>
        <p:spPr>
          <a:xfrm xmlns:a="http://schemas.openxmlformats.org/drawingml/2006/main">
            <a:off x="390525" y="1647825"/>
            <a:ext cx="5934075" cy="666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Original Figure 17. Taller bars mean higher goodput under a 25 ms service-latency target.</a:t>
            </a:r>
          </a:p>
        </p:txBody>
      </p:sp>
      <p:pic>
        <p:nvPicPr>
          <p:cNvPr id="547" name=""/>
          <p:cNvPicPr>
            <a:picLocks xmlns:a="http://schemas.openxmlformats.org/drawingml/2006/main" noChangeAspect="1"/>
          </p:cNvPicPr>
          <p:nvPr/>
        </p:nvPicPr>
        <p:blipFill>
          <a:blip xmlns:r="http://schemas.openxmlformats.org/officeDocument/2006/relationships" xmlns:a="http://schemas.openxmlformats.org/drawingml/2006/main" r:embed="R8bfb9331844140f4"/>
          <a:stretch xmlns:a="http://schemas.openxmlformats.org/drawingml/2006/main"/>
        </p:blipFill>
        <p:spPr>
          <a:xfrm xmlns:a="http://schemas.openxmlformats.org/drawingml/2006/main">
            <a:off x="390525" y="2723798"/>
            <a:ext cx="5934075" cy="2296229"/>
          </a:xfrm>
          <a:prstGeom xmlns:a="http://schemas.openxmlformats.org/drawingml/2006/main" prst="rect">
            <a:avLst/>
          </a:prstGeom>
        </p:spPr>
      </p:pic>
      <p:sp>
        <p:nvSpPr>
          <p:cNvPr id="536" name="">
            <a:extLst xmlns:a="http://schemas.openxmlformats.org/drawingml/2006/main">
              <a:ext uri="{FF2B5EF4-FFF2-40B4-BE49-F238E27FC236}">
                <a16:creationId xmlns:a16="http://schemas.microsoft.com/office/drawing/2014/main" id="{25506B85-8E99-49C0-B759-E29E66D9B689}"/>
              </a:ext>
            </a:extLst>
          </p:cNvPr>
          <p:cNvSpPr>
            <a:spLocks xmlns:a="http://schemas.openxmlformats.org/drawingml/2006/main" noGrp="1"/>
          </p:cNvSpPr>
          <p:nvPr/>
        </p:nvSpPr>
        <p:spPr>
          <a:xfrm xmlns:a="http://schemas.openxmlformats.org/drawingml/2006/main">
            <a:off x="390525" y="5305425"/>
            <a:ext cx="5934075" cy="866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x = two recommendation models.</a:t>
            </a:r>
          </a:p>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Prism (CN, HN) labels CPU-side and GPU-side instance counts. OOM means out of memory.</a:t>
            </a:r>
          </a:p>
        </p:txBody>
      </p:sp>
      <p:sp>
        <p:nvSpPr>
          <p:cNvPr id="537" name="">
            <a:extLst xmlns:a="http://schemas.openxmlformats.org/drawingml/2006/main">
              <a:ext uri="{FF2B5EF4-FFF2-40B4-BE49-F238E27FC236}">
                <a16:creationId xmlns:a16="http://schemas.microsoft.com/office/drawing/2014/main" id="{2FBD75A2-B863-4FDD-9E27-4BA06BE930AE}"/>
              </a:ext>
            </a:extLst>
          </p:cNvPr>
          <p:cNvSpPr>
            <a:spLocks xmlns:a="http://schemas.openxmlformats.org/drawingml/2006/main" noGrp="1"/>
          </p:cNvSpPr>
          <p:nvPr/>
        </p:nvSpPr>
        <p:spPr>
          <a:xfrm xmlns:a="http://schemas.openxmlformats.org/drawingml/2006/main">
            <a:off x="6772275" y="14573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8" name="">
            <a:extLst xmlns:a="http://schemas.openxmlformats.org/drawingml/2006/main">
              <a:ext uri="{FF2B5EF4-FFF2-40B4-BE49-F238E27FC236}">
                <a16:creationId xmlns:a16="http://schemas.microsoft.com/office/drawing/2014/main" id="{ACC9BE6E-328E-4364-A1A3-69528D5B89DF}"/>
              </a:ext>
            </a:extLst>
          </p:cNvPr>
          <p:cNvSpPr>
            <a:spLocks xmlns:a="http://schemas.openxmlformats.org/drawingml/2006/main" noGrp="1"/>
          </p:cNvSpPr>
          <p:nvPr/>
        </p:nvSpPr>
        <p:spPr>
          <a:xfrm xmlns:a="http://schemas.openxmlformats.org/drawingml/2006/main">
            <a:off x="6772275" y="1866900"/>
            <a:ext cx="5019675" cy="1076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Separate CPU-heavy and GPU-heavy model stages so CPU or memory limits do not strand GPU capacity.</a:t>
            </a:r>
          </a:p>
        </p:txBody>
      </p:sp>
      <p:sp>
        <p:nvSpPr>
          <p:cNvPr id="539" name="">
            <a:extLst xmlns:a="http://schemas.openxmlformats.org/drawingml/2006/main">
              <a:ext uri="{FF2B5EF4-FFF2-40B4-BE49-F238E27FC236}">
                <a16:creationId xmlns:a16="http://schemas.microsoft.com/office/drawing/2014/main" id="{F4036E60-6693-40E7-82F6-903F81F5BD89}"/>
              </a:ext>
            </a:extLst>
          </p:cNvPr>
          <p:cNvSpPr>
            <a:spLocks xmlns:a="http://schemas.openxmlformats.org/drawingml/2006/main" noGrp="1"/>
          </p:cNvSpPr>
          <p:nvPr/>
        </p:nvSpPr>
        <p:spPr>
          <a:xfrm xmlns:a="http://schemas.openxmlformats.org/drawingml/2006/main">
            <a:off x="6772275" y="30956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40" name="">
            <a:extLst xmlns:a="http://schemas.openxmlformats.org/drawingml/2006/main">
              <a:ext uri="{FF2B5EF4-FFF2-40B4-BE49-F238E27FC236}">
                <a16:creationId xmlns:a16="http://schemas.microsoft.com/office/drawing/2014/main" id="{FE6BE08B-C1C6-4483-9049-1C20EEFE90D6}"/>
              </a:ext>
            </a:extLst>
          </p:cNvPr>
          <p:cNvSpPr>
            <a:spLocks xmlns:a="http://schemas.openxmlformats.org/drawingml/2006/main" noGrp="1"/>
          </p:cNvSpPr>
          <p:nvPr/>
        </p:nvSpPr>
        <p:spPr>
          <a:xfrm xmlns:a="http://schemas.openxmlformats.org/drawingml/2006/main">
            <a:off x="6772275" y="3505200"/>
            <a:ext cx="5019675" cy="1019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One node with 8 A100 80 GB GPUs, plus separate CPU nodes. Vary the number of inference instances.</a:t>
            </a:r>
          </a:p>
        </p:txBody>
      </p:sp>
      <p:sp>
        <p:nvSpPr>
          <p:cNvPr id="541" name="">
            <a:extLst xmlns:a="http://schemas.openxmlformats.org/drawingml/2006/main">
              <a:ext uri="{FF2B5EF4-FFF2-40B4-BE49-F238E27FC236}">
                <a16:creationId xmlns:a16="http://schemas.microsoft.com/office/drawing/2014/main" id="{A1E3F87D-AA22-4863-9C36-A1B7222C4E07}"/>
              </a:ext>
            </a:extLst>
          </p:cNvPr>
          <p:cNvSpPr>
            <a:spLocks xmlns:a="http://schemas.openxmlformats.org/drawingml/2006/main" noGrp="1"/>
          </p:cNvSpPr>
          <p:nvPr/>
        </p:nvSpPr>
        <p:spPr>
          <a:xfrm xmlns:a="http://schemas.openxmlformats.org/drawingml/2006/main">
            <a:off x="6772275" y="46577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Result and relevance</a:t>
            </a:r>
          </a:p>
        </p:txBody>
      </p:sp>
      <p:sp>
        <p:nvSpPr>
          <p:cNvPr id="542" name="">
            <a:extLst xmlns:a="http://schemas.openxmlformats.org/drawingml/2006/main">
              <a:ext uri="{FF2B5EF4-FFF2-40B4-BE49-F238E27FC236}">
                <a16:creationId xmlns:a16="http://schemas.microsoft.com/office/drawing/2014/main" id="{608F292D-3996-4E3F-B8BB-5C639C636734}"/>
              </a:ext>
            </a:extLst>
          </p:cNvPr>
          <p:cNvSpPr>
            <a:spLocks xmlns:a="http://schemas.openxmlformats.org/drawingml/2006/main" noGrp="1"/>
          </p:cNvSpPr>
          <p:nvPr/>
        </p:nvSpPr>
        <p:spPr>
          <a:xfrm xmlns:a="http://schemas.openxmlformats.org/drawingml/2006/main">
            <a:off x="6772275" y="5067300"/>
            <a:ext cx="5019675"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Reported goodput rises 5–9×. The 9× case uses GPU partitioning (MIG). Added CPU resources matter, so this is not a same-total-hardware gain.</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BA58DA2A-B818-18A9-29C1-B697728D5BCE}" type="slidenum">
              <a:rPr sz="1125" b="0">
                <a:solidFill>
                  <a:srgbClr val="000000"/>
                </a:solidFill>
                <a:latin typeface="Helvetica Neue"/>
                <a:ea typeface="Helvetica Neue"/>
                <a:cs typeface="Helvetica Neue"/>
              </a:rPr>
              <a:t>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Our Experiments</a:t>
            </a:r>
          </a:p>
        </p:txBody>
      </p:sp>
      <p:sp>
        <p:nvSpPr>
          <p:cNvPr id="534" name="">
            <a:extLst xmlns:a="http://schemas.openxmlformats.org/drawingml/2006/main">
              <a:ext uri="{FF2B5EF4-FFF2-40B4-BE49-F238E27FC236}">
                <a16:creationId xmlns:a16="http://schemas.microsoft.com/office/drawing/2014/main" id="{4FC4AD88-68ED-4C3D-8E82-EA7D21EB5733}"/>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942858dcee0c4f21"/>
              </a:rPr>
              <a:t>Recorded system and model revisions</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dbe3666fa49d47b6"/>
              </a:rPr>
              <a:t>NVIDIA metric definition</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88657AE-30A1-5A7A-6A7F-315D84436430}" type="slidenum">
              <a:rPr sz="1125" b="0">
                <a:solidFill>
                  <a:srgbClr val="000000"/>
                </a:solidFill>
                <a:latin typeface="Helvetica Neue"/>
                <a:ea typeface="Helvetica Neue"/>
                <a:cs typeface="Helvetica Neue"/>
              </a:rPr>
              <a:t>9</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experimental system and performance measures</a:t>
            </a:r>
          </a:p>
        </p:txBody>
      </p:sp>
      <p:graphicFrame>
        <p:nvGraphicFramePr>
          <p:cNvPr id="545" name=""/>
          <p:cNvGraphicFramePr/>
          <p:nvPr/>
        </p:nvGraphicFramePr>
        <p:xfrm>
          <a:off xmlns:a="http://schemas.openxmlformats.org/drawingml/2006/main" x="390525" y="1476375"/>
          <a:ext xmlns:a="http://schemas.openxmlformats.org/drawingml/2006/main" cx="5610225" cy="3705225"/>
        </p:xfrm>
        <a:graphic xmlns:a="http://schemas.openxmlformats.org/drawingml/2006/main">
          <a:graphicData uri="http://schemas.openxmlformats.org/drawingml/2006/table">
            <a:tbl>
              <a:tblPr firstRow="0" bandRow="0"/>
              <a:tblGrid>
                <a:gridCol w="2009775"/>
                <a:gridCol w="3600450"/>
              </a:tblGrid>
              <a:tr h="617538">
                <a:tc>
                  <a:txBody>
                    <a:bodyPr/>
                    <a:lstStyle/>
                    <a:p>
                      <a:r>
                        <a:rPr sz="1650" b="1">
                          <a:solidFill>
                            <a:srgbClr val="000000"/>
                          </a:solidFill>
                          <a:latin typeface="Helvetica Neue"/>
                          <a:ea typeface="Helvetica Neue"/>
                          <a:cs typeface="Helvetica Neue"/>
                        </a:rPr>
                        <a:t>Component</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Recorded setup</a:t>
                      </a:r>
                    </a:p>
                  </a:txBody>
                  <a:tcPr marL="95250" marR="95250" marT="76200" marB="57150" anchor="t">
                    <a:solidFill>
                      <a:srgbClr val="EAF6FD"/>
                    </a:solidFill>
                  </a:tcPr>
                </a:tc>
              </a:tr>
              <a:tr h="617538">
                <a:tc>
                  <a:txBody>
                    <a:bodyPr/>
                    <a:lstStyle/>
                    <a:p>
                      <a:r>
                        <a:rPr sz="1650">
                          <a:solidFill>
                            <a:srgbClr val="000000"/>
                          </a:solidFill>
                          <a:latin typeface="Helvetica Neue"/>
                          <a:ea typeface="Helvetica Neue"/>
                          <a:cs typeface="Helvetica Neue"/>
                        </a:rPr>
                        <a:t>GPU</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NVIDIA A100 PCIe, 40 GB</a:t>
                      </a:r>
                    </a:p>
                    <a:p>
                      <a:r>
                        <a:rPr sz="1650">
                          <a:solidFill>
                            <a:srgbClr val="000000"/>
                          </a:solidFill>
                          <a:latin typeface="Helvetica Neue"/>
                          <a:ea typeface="Helvetica Neue"/>
                          <a:cs typeface="Helvetica Neue"/>
                        </a:rPr>
                        <a:t>JarvisLabs, 250 W limit</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Precision</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BF16</a:t>
                      </a:r>
                    </a:p>
                    <a:p>
                      <a:r>
                        <a:rPr sz="1650">
                          <a:solidFill>
                            <a:srgbClr val="000000"/>
                          </a:solidFill>
                          <a:latin typeface="Helvetica Neue"/>
                          <a:ea typeface="Helvetica Neue"/>
                          <a:cs typeface="Helvetica Neue"/>
                        </a:rPr>
                        <a:t>One GPU per model</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Serving software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vLLM 0.28.0</a:t>
                      </a:r>
                    </a:p>
                    <a:p>
                      <a:r>
                        <a:rPr sz="1650">
                          <a:solidFill>
                            <a:srgbClr val="000000"/>
                          </a:solidFill>
                          <a:latin typeface="Helvetica Neue"/>
                          <a:ea typeface="Helvetica Neue"/>
                          <a:cs typeface="Helvetica Neue"/>
                        </a:rPr>
                        <a:t>PyTorch 2.13.0</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Runtime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Python 3.12.13</a:t>
                      </a:r>
                    </a:p>
                    <a:p>
                      <a:r>
                        <a:rPr sz="1650">
                          <a:solidFill>
                            <a:srgbClr val="000000"/>
                          </a:solidFill>
                          <a:latin typeface="Helvetica Neue"/>
                          <a:ea typeface="Helvetica Neue"/>
                          <a:cs typeface="Helvetica Neue"/>
                        </a:rPr>
                        <a:t>CUDA package 13.0.96</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Inputs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WikiText-2 test text</a:t>
                      </a:r>
                    </a:p>
                    <a:p>
                      <a:r>
                        <a:rPr sz="1650">
                          <a:solidFill>
                            <a:srgbClr val="000000"/>
                          </a:solidFill>
                          <a:latin typeface="Helvetica Neue"/>
                          <a:ea typeface="Helvetica Neue"/>
                          <a:cs typeface="Helvetica Neue"/>
                        </a:rPr>
                        <a:t>128 generated tokens/request</a:t>
                      </a:r>
                    </a:p>
                  </a:txBody>
                  <a:tcPr marL="95250" marR="95250" marT="76200" marB="57150" anchor="t">
                    <a:solidFill>
                      <a:srgbClr val="FFFFFF"/>
                    </a:solidFill>
                  </a:tcPr>
                </a:tc>
              </a:tr>
            </a:tbl>
          </a:graphicData>
        </a:graphic>
      </p:graphicFrame>
      <p:sp>
        <p:nvSpPr>
          <p:cNvPr id="535" name="">
            <a:extLst xmlns:a="http://schemas.openxmlformats.org/drawingml/2006/main">
              <a:ext uri="{FF2B5EF4-FFF2-40B4-BE49-F238E27FC236}">
                <a16:creationId xmlns:a16="http://schemas.microsoft.com/office/drawing/2014/main" id="{83A0C007-9076-414E-898F-9E2D6C78E127}"/>
              </a:ext>
            </a:extLst>
          </p:cNvPr>
          <p:cNvSpPr>
            <a:spLocks xmlns:a="http://schemas.openxmlformats.org/drawingml/2006/main" noGrp="1"/>
          </p:cNvSpPr>
          <p:nvPr/>
        </p:nvSpPr>
        <p:spPr>
          <a:xfrm xmlns:a="http://schemas.openxmlformats.org/drawingml/2006/main">
            <a:off x="6496050" y="1552575"/>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Throughput</a:t>
            </a:r>
          </a:p>
        </p:txBody>
      </p:sp>
      <p:sp>
        <p:nvSpPr>
          <p:cNvPr id="536" name="">
            <a:extLst xmlns:a="http://schemas.openxmlformats.org/drawingml/2006/main">
              <a:ext uri="{FF2B5EF4-FFF2-40B4-BE49-F238E27FC236}">
                <a16:creationId xmlns:a16="http://schemas.microsoft.com/office/drawing/2014/main" id="{8E876970-8080-4AF8-9BFB-B4A2F0EF278B}"/>
              </a:ext>
            </a:extLst>
          </p:cNvPr>
          <p:cNvSpPr>
            <a:spLocks xmlns:a="http://schemas.openxmlformats.org/drawingml/2006/main" noGrp="1"/>
          </p:cNvSpPr>
          <p:nvPr/>
        </p:nvSpPr>
        <p:spPr>
          <a:xfrm xmlns:a="http://schemas.openxmlformats.org/drawingml/2006/main">
            <a:off x="6496050" y="1962150"/>
            <a:ext cx="5295900" cy="752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Generated output tokens divided by elapsed seconds.</a:t>
            </a:r>
          </a:p>
        </p:txBody>
      </p:sp>
      <p:sp>
        <p:nvSpPr>
          <p:cNvPr id="537" name="">
            <a:extLst xmlns:a="http://schemas.openxmlformats.org/drawingml/2006/main">
              <a:ext uri="{FF2B5EF4-FFF2-40B4-BE49-F238E27FC236}">
                <a16:creationId xmlns:a16="http://schemas.microsoft.com/office/drawing/2014/main" id="{1B37CE33-4787-4449-ADF6-71D98EC410F4}"/>
              </a:ext>
            </a:extLst>
          </p:cNvPr>
          <p:cNvSpPr>
            <a:spLocks xmlns:a="http://schemas.openxmlformats.org/drawingml/2006/main" noGrp="1"/>
          </p:cNvSpPr>
          <p:nvPr/>
        </p:nvSpPr>
        <p:spPr>
          <a:xfrm xmlns:a="http://schemas.openxmlformats.org/drawingml/2006/main">
            <a:off x="6496050" y="2952750"/>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SLO goodput</a:t>
            </a:r>
          </a:p>
        </p:txBody>
      </p:sp>
      <p:sp>
        <p:nvSpPr>
          <p:cNvPr id="538" name="">
            <a:extLst xmlns:a="http://schemas.openxmlformats.org/drawingml/2006/main">
              <a:ext uri="{FF2B5EF4-FFF2-40B4-BE49-F238E27FC236}">
                <a16:creationId xmlns:a16="http://schemas.microsoft.com/office/drawing/2014/main" id="{9E9C43E1-CAB3-4D4D-937A-72E8BABACF3C}"/>
              </a:ext>
            </a:extLst>
          </p:cNvPr>
          <p:cNvSpPr>
            <a:spLocks xmlns:a="http://schemas.openxmlformats.org/drawingml/2006/main" noGrp="1"/>
          </p:cNvSpPr>
          <p:nvPr/>
        </p:nvSpPr>
        <p:spPr>
          <a:xfrm xmlns:a="http://schemas.openxmlformats.org/drawingml/2006/main">
            <a:off x="6496050" y="3362325"/>
            <a:ext cx="529590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Requests meeting both latency targets divided by the full replay-and-drain duration.</a:t>
            </a:r>
          </a:p>
        </p:txBody>
      </p:sp>
      <p:sp>
        <p:nvSpPr>
          <p:cNvPr id="539" name="">
            <a:extLst xmlns:a="http://schemas.openxmlformats.org/drawingml/2006/main">
              <a:ext uri="{FF2B5EF4-FFF2-40B4-BE49-F238E27FC236}">
                <a16:creationId xmlns:a16="http://schemas.microsoft.com/office/drawing/2014/main" id="{FA424166-082E-415D-9A04-AE171398A2B7}"/>
              </a:ext>
            </a:extLst>
          </p:cNvPr>
          <p:cNvSpPr>
            <a:spLocks xmlns:a="http://schemas.openxmlformats.org/drawingml/2006/main" noGrp="1"/>
          </p:cNvSpPr>
          <p:nvPr/>
        </p:nvSpPr>
        <p:spPr>
          <a:xfrm xmlns:a="http://schemas.openxmlformats.org/drawingml/2006/main">
            <a:off x="6496050" y="4343400"/>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Latency and GPU busy time</a:t>
            </a:r>
          </a:p>
        </p:txBody>
      </p:sp>
      <p:sp>
        <p:nvSpPr>
          <p:cNvPr id="540" name="">
            <a:extLst xmlns:a="http://schemas.openxmlformats.org/drawingml/2006/main">
              <a:ext uri="{FF2B5EF4-FFF2-40B4-BE49-F238E27FC236}">
                <a16:creationId xmlns:a16="http://schemas.microsoft.com/office/drawing/2014/main" id="{215014A6-F294-4358-943E-D957309114B8}"/>
              </a:ext>
            </a:extLst>
          </p:cNvPr>
          <p:cNvSpPr>
            <a:spLocks xmlns:a="http://schemas.openxmlformats.org/drawingml/2006/main" noGrp="1"/>
          </p:cNvSpPr>
          <p:nvPr/>
        </p:nvSpPr>
        <p:spPr>
          <a:xfrm xmlns:a="http://schemas.openxmlformats.org/drawingml/2006/main">
            <a:off x="6496050" y="4752975"/>
            <a:ext cx="5295900" cy="1390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TTFT measures first-token delay. TPOT measures average later-token delay. NVML busy time records kernel activity, not compute efficiency.</a:t>
            </a:r>
          </a:p>
        </p:txBody>
      </p:sp>
      <p:sp>
        <p:nvSpPr>
          <p:cNvPr id="541" name="">
            <a:extLst xmlns:a="http://schemas.openxmlformats.org/drawingml/2006/main">
              <a:ext uri="{FF2B5EF4-FFF2-40B4-BE49-F238E27FC236}">
                <a16:creationId xmlns:a16="http://schemas.microsoft.com/office/drawing/2014/main" id="{93C3ED1B-03F3-451B-BE0E-06191CEDA76A}"/>
              </a:ext>
            </a:extLst>
          </p:cNvPr>
          <p:cNvSpPr>
            <a:spLocks xmlns:a="http://schemas.openxmlformats.org/drawingml/2006/main" noGrp="1"/>
          </p:cNvSpPr>
          <p:nvPr/>
        </p:nvSpPr>
        <p:spPr>
          <a:xfrm xmlns:a="http://schemas.openxmlformats.org/drawingml/2006/main">
            <a:off x="390525" y="5695950"/>
            <a:ext cx="5610225" cy="561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Experiment 1 uses five models and fixed batches. Experiment 2 uses Gemma 4 12B and timed arrivals.</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fef04ba8031444cd"/>
              </a:rPr>
              <a:t>Our executed capture protocol</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b128b36080b4429b"/>
              </a:rPr>
              <a:t>NVIDIA capture-size tradeoff</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B7BEEEC-A170-5376-2B6E-CB54687B0CB1}" type="slidenum">
              <a:rPr sz="1125" b="0">
                <a:solidFill>
                  <a:srgbClr val="000000"/>
                </a:solidFill>
                <a:latin typeface="Helvetica Neue"/>
                <a:ea typeface="Helvetica Neue"/>
                <a:cs typeface="Helvetica Neue"/>
              </a:rPr>
              <a:t>10</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CUDA graph configuration</a:t>
            </a:r>
          </a:p>
        </p:txBody>
      </p:sp>
      <p:sp>
        <p:nvSpPr>
          <p:cNvPr id="534" name="">
            <a:extLst xmlns:a="http://schemas.openxmlformats.org/drawingml/2006/main">
              <a:ext uri="{FF2B5EF4-FFF2-40B4-BE49-F238E27FC236}">
                <a16:creationId xmlns:a16="http://schemas.microsoft.com/office/drawing/2014/main" id="{649EE8D6-2BC2-49C8-92DE-7C7CDB6B92B8}"/>
              </a:ext>
            </a:extLst>
          </p:cNvPr>
          <p:cNvSpPr>
            <a:spLocks xmlns:a="http://schemas.openxmlformats.org/drawingml/2006/main" noGrp="1"/>
          </p:cNvSpPr>
          <p:nvPr/>
        </p:nvSpPr>
        <p:spPr>
          <a:xfrm xmlns:a="http://schemas.openxmlformats.org/drawingml/2006/main">
            <a:off x="390525" y="1314450"/>
            <a:ext cx="11401425"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Question: does matching recorded GPU execution sizes to our batches improve throughput?</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CUDA graphs replay recorded GPU operations. Their sizes affect padding and memory use.</a:t>
            </a:r>
          </a:p>
        </p:txBody>
      </p:sp>
      <p:graphicFrame>
        <p:nvGraphicFramePr>
          <p:cNvPr id="542" name=""/>
          <p:cNvGraphicFramePr/>
          <p:nvPr/>
        </p:nvGraphicFramePr>
        <p:xfrm>
          <a:off xmlns:a="http://schemas.openxmlformats.org/drawingml/2006/main" x="390525" y="2371725"/>
          <a:ext xmlns:a="http://schemas.openxmlformats.org/drawingml/2006/main" cx="11401425" cy="2238375"/>
        </p:xfrm>
        <a:graphic xmlns:a="http://schemas.openxmlformats.org/drawingml/2006/main">
          <a:graphicData uri="http://schemas.openxmlformats.org/drawingml/2006/table">
            <a:tbl>
              <a:tblPr firstRow="0" bandRow="0"/>
              <a:tblGrid>
                <a:gridCol w="3219450"/>
                <a:gridCol w="4181475"/>
                <a:gridCol w="4000500"/>
              </a:tblGrid>
              <a:tr h="559594">
                <a:tc>
                  <a:txBody>
                    <a:bodyPr/>
                    <a:lstStyle/>
                    <a:p>
                      <a:r>
                        <a:rPr sz="1650" b="1">
                          <a:solidFill>
                            <a:srgbClr val="000000"/>
                          </a:solidFill>
                          <a:latin typeface="Helvetica Neue"/>
                          <a:ea typeface="Helvetica Neue"/>
                          <a:cs typeface="Helvetica Neue"/>
                        </a:rPr>
                        <a:t>Configuration changed</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Captured sizes</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Role in the comparison</a:t>
                      </a:r>
                    </a:p>
                  </a:txBody>
                  <a:tcPr marL="95250" marR="95250" marT="76200" marB="57150" anchor="t">
                    <a:solidFill>
                      <a:srgbClr val="EAF6FD"/>
                    </a:solidFill>
                  </a:tcPr>
                </a:tc>
              </a:tr>
              <a:tr h="559594">
                <a:tc>
                  <a:txBody>
                    <a:bodyPr/>
                    <a:lstStyle/>
                    <a:p>
                      <a:r>
                        <a:rPr sz="1650">
                          <a:solidFill>
                            <a:srgbClr val="000000"/>
                          </a:solidFill>
                          <a:latin typeface="Helvetica Neue"/>
                          <a:ea typeface="Helvetica Neue"/>
                          <a:cs typeface="Helvetica Neue"/>
                        </a:rPr>
                        <a:t>vLLM default captures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35 sizes from the engine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Current engine baseline</a:t>
                      </a:r>
                    </a:p>
                  </a:txBody>
                  <a:tcPr marL="95250" marR="95250" marT="76200" marB="57150" anchor="t">
                    <a:solidFill>
                      <a:srgbClr val="FFFFFF"/>
                    </a:solidFill>
                  </a:tcPr>
                </a:tc>
              </a:tr>
              <a:tr h="559594">
                <a:tc>
                  <a:txBody>
                    <a:bodyPr/>
                    <a:lstStyle/>
                    <a:p>
                      <a:r>
                        <a:rPr sz="1650">
                          <a:solidFill>
                            <a:srgbClr val="000000"/>
                          </a:solidFill>
                          <a:latin typeface="Helvetica Neue"/>
                          <a:ea typeface="Helvetica Neue"/>
                          <a:cs typeface="Helvetica Neue"/>
                        </a:rPr>
                        <a:t>Coarse capture grid</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9 powers-of-two sizes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Test the cost of a sparse set</a:t>
                      </a:r>
                    </a:p>
                  </a:txBody>
                  <a:tcPr marL="95250" marR="95250" marT="76200" marB="57150" anchor="t">
                    <a:solidFill>
                      <a:srgbClr val="FFFFFF"/>
                    </a:solidFill>
                  </a:tcPr>
                </a:tc>
              </a:tr>
              <a:tr h="559594">
                <a:tc>
                  <a:txBody>
                    <a:bodyPr/>
                    <a:lstStyle/>
                    <a:p>
                      <a:r>
                        <a:rPr sz="1650">
                          <a:solidFill>
                            <a:srgbClr val="000000"/>
                          </a:solidFill>
                          <a:latin typeface="Helvetica Neue"/>
                          <a:ea typeface="Helvetica Neue"/>
                          <a:cs typeface="Helvetica Neue"/>
                        </a:rPr>
                        <a:t>Exact batch matches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17 sizes; covers all 8 tested batches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Test whether exact coverage helps</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FC899511-DE66-48F5-936C-845BBBE6E742}"/>
              </a:ext>
            </a:extLst>
          </p:cNvPr>
          <p:cNvSpPr>
            <a:spLocks xmlns:a="http://schemas.openxmlformats.org/drawingml/2006/main" noGrp="1"/>
          </p:cNvSpPr>
          <p:nvPr/>
        </p:nvSpPr>
        <p:spPr>
          <a:xfrm xmlns:a="http://schemas.openxmlformats.org/drawingml/2006/main">
            <a:off x="390525" y="4857750"/>
            <a:ext cx="11401425"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Held fixed: A100 40 GB, BF16, 128 input + 128 output tokens/request, and graph ceiling 256.</a:t>
            </a:r>
          </a:p>
        </p:txBody>
      </p:sp>
      <p:sp>
        <p:nvSpPr>
          <p:cNvPr id="537" name="">
            <a:extLst xmlns:a="http://schemas.openxmlformats.org/drawingml/2006/main">
              <a:ext uri="{FF2B5EF4-FFF2-40B4-BE49-F238E27FC236}">
                <a16:creationId xmlns:a16="http://schemas.microsoft.com/office/drawing/2014/main" id="{8657D3E3-CCCC-40E0-AC43-313982621FB0}"/>
              </a:ext>
            </a:extLst>
          </p:cNvPr>
          <p:cNvSpPr>
            <a:spLocks xmlns:a="http://schemas.openxmlformats.org/drawingml/2006/main" noGrp="1"/>
          </p:cNvSpPr>
          <p:nvPr/>
        </p:nvSpPr>
        <p:spPr>
          <a:xfrm xmlns:a="http://schemas.openxmlformats.org/drawingml/2006/main">
            <a:off x="390525" y="5543550"/>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8 batches × 3 configurations × 3 warmed repeats × 5 models = 360 timing calls.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We time full generation calls. Initialization and separate profiler runs are excluded.</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4a69896e24be4b9a"/>
              </a:rPr>
              <a:t>Our frozen protocol and exact settings</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b8a266e9fc3c4328"/>
              </a:rPr>
              <a:t>W&amp;B runs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0394428-F1DC-E5F6-DB0C-7DE31F3D8A23}" type="slidenum">
              <a:rPr sz="1125" b="0">
                <a:solidFill>
                  <a:srgbClr val="000000"/>
                </a:solidFill>
                <a:latin typeface="Helvetica Neue"/>
                <a:ea typeface="Helvetica Neue"/>
                <a:cs typeface="Helvetica Neue"/>
              </a:rPr>
              <a:t>11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2: admission during a long-prompt burst</a:t>
            </a:r>
          </a:p>
        </p:txBody>
      </p:sp>
      <p:sp>
        <p:nvSpPr>
          <p:cNvPr id="534" name="">
            <a:extLst xmlns:a="http://schemas.openxmlformats.org/drawingml/2006/main">
              <a:ext uri="{FF2B5EF4-FFF2-40B4-BE49-F238E27FC236}">
                <a16:creationId xmlns:a16="http://schemas.microsoft.com/office/drawing/2014/main" id="{DDDB1743-1AA8-423E-AC68-B1AD055F1683}"/>
              </a:ext>
            </a:extLst>
          </p:cNvPr>
          <p:cNvSpPr>
            <a:spLocks xmlns:a="http://schemas.openxmlformats.org/drawingml/2006/main" noGrp="1"/>
          </p:cNvSpPr>
          <p:nvPr/>
        </p:nvSpPr>
        <p:spPr>
          <a:xfrm xmlns:a="http://schemas.openxmlformats.org/drawingml/2006/main">
            <a:off x="390525" y="1333500"/>
            <a:ext cx="11401425"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Gemma 4 12B on the same A100. We replay saved arrivals through each admission rule before vLLM.</a:t>
            </a:r>
          </a:p>
        </p:txBody>
      </p:sp>
      <p:graphicFrame>
        <p:nvGraphicFramePr>
          <p:cNvPr id="543" name=""/>
          <p:cNvGraphicFramePr/>
          <p:nvPr/>
        </p:nvGraphicFramePr>
        <p:xfrm>
          <a:off xmlns:a="http://schemas.openxmlformats.org/drawingml/2006/main" x="390525" y="2133600"/>
          <a:ext xmlns:a="http://schemas.openxmlformats.org/drawingml/2006/main" cx="11401425" cy="2133600"/>
        </p:xfrm>
        <a:graphic xmlns:a="http://schemas.openxmlformats.org/drawingml/2006/main">
          <a:graphicData uri="http://schemas.openxmlformats.org/drawingml/2006/table">
            <a:tbl>
              <a:tblPr firstRow="0" bandRow="0"/>
              <a:tblGrid>
                <a:gridCol w="3333750"/>
                <a:gridCol w="8067675"/>
              </a:tblGrid>
              <a:tr h="533400">
                <a:tc>
                  <a:txBody>
                    <a:bodyPr/>
                    <a:lstStyle/>
                    <a:p>
                      <a:r>
                        <a:rPr sz="1650" b="1">
                          <a:solidFill>
                            <a:srgbClr val="000000"/>
                          </a:solidFill>
                          <a:latin typeface="Helvetica Neue"/>
                          <a:ea typeface="Helvetica Neue"/>
                          <a:cs typeface="Helvetica Neue"/>
                        </a:rPr>
                        <a:t>Policy changed</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How requests enter the model</a:t>
                      </a:r>
                    </a:p>
                  </a:txBody>
                  <a:tcPr marL="95250" marR="95250" marT="76200" marB="57150" anchor="t">
                    <a:solidFill>
                      <a:srgbClr val="EAF6FD"/>
                    </a:solidFill>
                  </a:tcPr>
                </a:tc>
              </a:tr>
              <a:tr h="533400">
                <a:tc>
                  <a:txBody>
                    <a:bodyPr/>
                    <a:lstStyle/>
                    <a:p>
                      <a:r>
                        <a:rPr sz="1650">
                          <a:solidFill>
                            <a:srgbClr val="000000"/>
                          </a:solidFill>
                          <a:latin typeface="Helvetica Neue"/>
                          <a:ea typeface="Helvetica Neue"/>
                          <a:cs typeface="Helvetica Neue"/>
                        </a:rPr>
                        <a:t>Direct vLLM submission</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Submit on arrival. The engine manages continuous batching.</a:t>
                      </a:r>
                    </a:p>
                  </a:txBody>
                  <a:tcPr marL="95250" marR="95250" marT="76200" marB="57150" anchor="t">
                    <a:solidFill>
                      <a:srgbClr val="FFFFFF"/>
                    </a:solidFill>
                  </a:tcPr>
                </a:tc>
              </a:tr>
              <a:tr h="533400">
                <a:tc>
                  <a:txBody>
                    <a:bodyPr/>
                    <a:lstStyle/>
                    <a:p>
                      <a:r>
                        <a:rPr sz="1650">
                          <a:solidFill>
                            <a:srgbClr val="000000"/>
                          </a:solidFill>
                          <a:latin typeface="Helvetica Neue"/>
                          <a:ea typeface="Helvetica Neue"/>
                          <a:cs typeface="Helvetica Neue"/>
                        </a:rPr>
                        <a:t>Fixed limit 32</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Admit at most 32 unfinished requests, in arrival order.</a:t>
                      </a:r>
                    </a:p>
                  </a:txBody>
                  <a:tcPr marL="95250" marR="95250" marT="76200" marB="57150" anchor="t">
                    <a:solidFill>
                      <a:srgbClr val="FFFFFF"/>
                    </a:solidFill>
                  </a:tcPr>
                </a:tc>
              </a:tr>
              <a:tr h="533400">
                <a:tc>
                  <a:txBody>
                    <a:bodyPr/>
                    <a:lstStyle/>
                    <a:p>
                      <a:r>
                        <a:rPr sz="1650">
                          <a:solidFill>
                            <a:srgbClr val="000000"/>
                          </a:solidFill>
                          <a:latin typeface="Helvetica Neue"/>
                          <a:ea typeface="Helvetica Neue"/>
                          <a:cs typeface="Helvetica Neue"/>
                        </a:rPr>
                        <a:t>Context-budget rule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Reserve input + 128 output tokens/request, up to 20,000 total.</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898B79DE-C5AF-4735-88B8-7EC901EC6020}"/>
              </a:ext>
            </a:extLst>
          </p:cNvPr>
          <p:cNvSpPr>
            <a:spLocks xmlns:a="http://schemas.openxmlformats.org/drawingml/2006/main" noGrp="1"/>
          </p:cNvSpPr>
          <p:nvPr/>
        </p:nvSpPr>
        <p:spPr>
          <a:xfrm xmlns:a="http://schemas.openxmlformats.org/drawingml/2006/main">
            <a:off x="390525" y="4448175"/>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Each trace: 96 short, 48 long, 96 short prompts (128 / 2,048 input tokens).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Arrivals average 8 requests/s. All requests generate 128 output tokens.</a:t>
            </a:r>
          </a:p>
        </p:txBody>
      </p:sp>
      <p:sp>
        <p:nvSpPr>
          <p:cNvPr id="537" name="">
            <a:extLst xmlns:a="http://schemas.openxmlformats.org/drawingml/2006/main">
              <a:ext uri="{FF2B5EF4-FFF2-40B4-BE49-F238E27FC236}">
                <a16:creationId xmlns:a16="http://schemas.microsoft.com/office/drawing/2014/main" id="{2D00BCF6-34DC-4FA0-ABF6-0B2AE6CB8C69}"/>
              </a:ext>
            </a:extLst>
          </p:cNvPr>
          <p:cNvSpPr>
            <a:spLocks xmlns:a="http://schemas.openxmlformats.org/drawingml/2006/main" noGrp="1"/>
          </p:cNvSpPr>
          <p:nvPr/>
        </p:nvSpPr>
        <p:spPr>
          <a:xfrm xmlns:a="http://schemas.openxmlformats.org/drawingml/2006/main">
            <a:off x="390525" y="5219700"/>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Targets: first token ≤2 s and mean later-token time ≤100 ms, including admission waiting.</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240 requests × 3 policies × 3 engine repetitions = 2,160 completed requests.</a:t>
            </a:r>
          </a:p>
        </p:txBody>
      </p:sp>
      <p:sp>
        <p:nvSpPr>
          <p:cNvPr id="538" name="">
            <a:extLst xmlns:a="http://schemas.openxmlformats.org/drawingml/2006/main">
              <a:ext uri="{FF2B5EF4-FFF2-40B4-BE49-F238E27FC236}">
                <a16:creationId xmlns:a16="http://schemas.microsoft.com/office/drawing/2014/main" id="{C2D80C34-406F-442D-8352-B773C6763F29}"/>
              </a:ext>
            </a:extLst>
          </p:cNvPr>
          <p:cNvSpPr>
            <a:spLocks xmlns:a="http://schemas.openxmlformats.org/drawingml/2006/main" noGrp="1"/>
          </p:cNvSpPr>
          <p:nvPr/>
        </p:nvSpPr>
        <p:spPr>
          <a:xfrm xmlns:a="http://schemas.openxmlformats.org/drawingml/2006/main">
            <a:off x="390525" y="5953125"/>
            <a:ext cx="114014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Pass rule: ≥5% higher goodput than both controls in every repetition, with no worse tail latency.</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4DB16885-0D3F-A391-B669-3211DB3B26E8}" type="slidenum">
              <a:rPr sz="1125" b="0">
                <a:solidFill>
                  <a:srgbClr val="000000"/>
                </a:solidFill>
                <a:latin typeface="Helvetica Neue"/>
                <a:ea typeface="Helvetica Neue"/>
                <a:cs typeface="Helvetica Neue"/>
              </a:rPr>
              <a:t>12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Our Results</a:t>
            </a:r>
          </a:p>
        </p:txBody>
      </p:sp>
      <p:sp>
        <p:nvSpPr>
          <p:cNvPr id="534" name="">
            <a:extLst xmlns:a="http://schemas.openxmlformats.org/drawingml/2006/main">
              <a:ext uri="{FF2B5EF4-FFF2-40B4-BE49-F238E27FC236}">
                <a16:creationId xmlns:a16="http://schemas.microsoft.com/office/drawing/2014/main" id="{81628789-DE62-41C7-B76D-2550748E13F1}"/>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d666df03d5814918"/>
              </a:rPr>
              <a:t>Source: our raw timing records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2DD23107-4986-8758-3A93-3D74F35908CC}" type="slidenum">
              <a:rPr sz="1125" b="0">
                <a:solidFill>
                  <a:srgbClr val="000000"/>
                </a:solidFill>
                <a:latin typeface="Helvetica Neue"/>
                <a:ea typeface="Helvetica Neue"/>
                <a:cs typeface="Helvetica Neue"/>
              </a:rPr>
              <a:t>13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results: three current models</a:t>
            </a:r>
          </a:p>
        </p:txBody>
      </p:sp>
      <p:sp>
        <p:nvSpPr>
          <p:cNvPr id="534" name="">
            <a:extLst xmlns:a="http://schemas.openxmlformats.org/drawingml/2006/main">
              <a:ext uri="{FF2B5EF4-FFF2-40B4-BE49-F238E27FC236}">
                <a16:creationId xmlns:a16="http://schemas.microsoft.com/office/drawing/2014/main" id="{B844DE1C-4095-4420-BC5B-C3F944D877D6}"/>
              </a:ext>
            </a:extLst>
          </p:cNvPr>
          <p:cNvSpPr>
            <a:spLocks xmlns:a="http://schemas.openxmlformats.org/drawingml/2006/main" noGrp="1"/>
          </p:cNvSpPr>
          <p:nvPr/>
        </p:nvSpPr>
        <p:spPr>
          <a:xfrm xmlns:a="http://schemas.openxmlformats.org/drawingml/2006/main">
            <a:off x="390525" y="1276350"/>
            <a:ext cx="11401425" cy="657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A100 40 GB, BF16, 128 input + 128 output tokens/request. Output tokens/s: higher is better.</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Points show all 216 timings. Lines show configuration means from three warmed repeats.</a:t>
            </a:r>
          </a:p>
        </p:txBody>
      </p:sp>
      <p:sp>
        <p:nvSpPr>
          <p:cNvPr id="535" name="">
            <a:extLst xmlns:a="http://schemas.openxmlformats.org/drawingml/2006/main">
              <a:ext uri="{FF2B5EF4-FFF2-40B4-BE49-F238E27FC236}">
                <a16:creationId xmlns:a16="http://schemas.microsoft.com/office/drawing/2014/main" id="{21D5A5D0-36B4-43B0-A077-DE6055339A4D}"/>
              </a:ext>
            </a:extLst>
          </p:cNvPr>
          <p:cNvSpPr>
            <a:spLocks xmlns:a="http://schemas.openxmlformats.org/drawingml/2006/main" noGrp="1"/>
          </p:cNvSpPr>
          <p:nvPr/>
        </p:nvSpPr>
        <p:spPr>
          <a:xfrm xmlns:a="http://schemas.openxmlformats.org/drawingml/2006/main">
            <a:off x="390525"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Gemma 4 12B</a:t>
            </a:r>
          </a:p>
        </p:txBody>
      </p:sp>
      <p:graphicFrame>
        <p:nvGraphicFramePr>
          <p:cNvPr id="556" name="Chart"/>
          <p:cNvGraphicFramePr/>
          <p:nvPr/>
        </p:nvGraphicFramePr>
        <p:xfrm>
          <a:off xmlns:a="http://schemas.openxmlformats.org/drawingml/2006/main" x="390525"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3cfbd7fbbfa6421d"/>
          </a:graphicData>
        </a:graphic>
      </p:graphicFrame>
      <p:sp>
        <p:nvSpPr>
          <p:cNvPr id="537" name="">
            <a:extLst xmlns:a="http://schemas.openxmlformats.org/drawingml/2006/main">
              <a:ext uri="{FF2B5EF4-FFF2-40B4-BE49-F238E27FC236}">
                <a16:creationId xmlns:a16="http://schemas.microsoft.com/office/drawing/2014/main" id="{811A0C3C-4DA2-4C1D-845E-96A301DE5008}"/>
              </a:ext>
            </a:extLst>
          </p:cNvPr>
          <p:cNvSpPr>
            <a:spLocks xmlns:a="http://schemas.openxmlformats.org/drawingml/2006/main" noGrp="1"/>
          </p:cNvSpPr>
          <p:nvPr/>
        </p:nvSpPr>
        <p:spPr>
          <a:xfrm xmlns:a="http://schemas.openxmlformats.org/drawingml/2006/main">
            <a:off x="885825"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38" name="">
            <a:extLst xmlns:a="http://schemas.openxmlformats.org/drawingml/2006/main">
              <a:ext uri="{FF2B5EF4-FFF2-40B4-BE49-F238E27FC236}">
                <a16:creationId xmlns:a16="http://schemas.microsoft.com/office/drawing/2014/main" id="{79DA8CCF-7A30-4F78-B6AE-7BEA43FC0DEF}"/>
              </a:ext>
            </a:extLst>
          </p:cNvPr>
          <p:cNvSpPr>
            <a:spLocks xmlns:a="http://schemas.openxmlformats.org/drawingml/2006/main" noGrp="1"/>
          </p:cNvSpPr>
          <p:nvPr/>
        </p:nvSpPr>
        <p:spPr>
          <a:xfrm xmlns:a="http://schemas.openxmlformats.org/drawingml/2006/main">
            <a:off x="390525"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2,130 tokens/s, batch 95</a:t>
            </a:r>
          </a:p>
        </p:txBody>
      </p:sp>
      <p:sp>
        <p:nvSpPr>
          <p:cNvPr id="539" name="">
            <a:extLst xmlns:a="http://schemas.openxmlformats.org/drawingml/2006/main">
              <a:ext uri="{FF2B5EF4-FFF2-40B4-BE49-F238E27FC236}">
                <a16:creationId xmlns:a16="http://schemas.microsoft.com/office/drawing/2014/main" id="{E5C97117-8331-45A6-A89A-882B7CC2FC34}"/>
              </a:ext>
            </a:extLst>
          </p:cNvPr>
          <p:cNvSpPr>
            <a:spLocks xmlns:a="http://schemas.openxmlformats.org/drawingml/2006/main" noGrp="1"/>
          </p:cNvSpPr>
          <p:nvPr/>
        </p:nvSpPr>
        <p:spPr>
          <a:xfrm xmlns:a="http://schemas.openxmlformats.org/drawingml/2006/main">
            <a:off x="4305300"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Qwen3.5-9B</a:t>
            </a:r>
          </a:p>
        </p:txBody>
      </p:sp>
      <p:graphicFrame>
        <p:nvGraphicFramePr>
          <p:cNvPr id="560" name="Chart"/>
          <p:cNvGraphicFramePr/>
          <p:nvPr/>
        </p:nvGraphicFramePr>
        <p:xfrm>
          <a:off xmlns:a="http://schemas.openxmlformats.org/drawingml/2006/main" x="4305300"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4c04a7fe82ef4d7c"/>
          </a:graphicData>
        </a:graphic>
      </p:graphicFrame>
      <p:sp>
        <p:nvSpPr>
          <p:cNvPr id="541" name="">
            <a:extLst xmlns:a="http://schemas.openxmlformats.org/drawingml/2006/main">
              <a:ext uri="{FF2B5EF4-FFF2-40B4-BE49-F238E27FC236}">
                <a16:creationId xmlns:a16="http://schemas.microsoft.com/office/drawing/2014/main" id="{F2FAD359-F91A-4FF0-B5AA-0811DD5E178E}"/>
              </a:ext>
            </a:extLst>
          </p:cNvPr>
          <p:cNvSpPr>
            <a:spLocks xmlns:a="http://schemas.openxmlformats.org/drawingml/2006/main" noGrp="1"/>
          </p:cNvSpPr>
          <p:nvPr/>
        </p:nvSpPr>
        <p:spPr>
          <a:xfrm xmlns:a="http://schemas.openxmlformats.org/drawingml/2006/main">
            <a:off x="4800600"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42" name="">
            <a:extLst xmlns:a="http://schemas.openxmlformats.org/drawingml/2006/main">
              <a:ext uri="{FF2B5EF4-FFF2-40B4-BE49-F238E27FC236}">
                <a16:creationId xmlns:a16="http://schemas.microsoft.com/office/drawing/2014/main" id="{12564182-6852-45BF-B9B7-5CD1854FC6E2}"/>
              </a:ext>
            </a:extLst>
          </p:cNvPr>
          <p:cNvSpPr>
            <a:spLocks xmlns:a="http://schemas.openxmlformats.org/drawingml/2006/main" noGrp="1"/>
          </p:cNvSpPr>
          <p:nvPr/>
        </p:nvSpPr>
        <p:spPr>
          <a:xfrm xmlns:a="http://schemas.openxmlformats.org/drawingml/2006/main">
            <a:off x="4305300"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3,378 tokens/s, batch 127</a:t>
            </a:r>
          </a:p>
        </p:txBody>
      </p:sp>
      <p:sp>
        <p:nvSpPr>
          <p:cNvPr id="543" name="">
            <a:extLst xmlns:a="http://schemas.openxmlformats.org/drawingml/2006/main">
              <a:ext uri="{FF2B5EF4-FFF2-40B4-BE49-F238E27FC236}">
                <a16:creationId xmlns:a16="http://schemas.microsoft.com/office/drawing/2014/main" id="{CD7E504B-81F1-4F5E-8777-51153A5D1A45}"/>
              </a:ext>
            </a:extLst>
          </p:cNvPr>
          <p:cNvSpPr>
            <a:spLocks xmlns:a="http://schemas.openxmlformats.org/drawingml/2006/main" noGrp="1"/>
          </p:cNvSpPr>
          <p:nvPr/>
        </p:nvSpPr>
        <p:spPr>
          <a:xfrm xmlns:a="http://schemas.openxmlformats.org/drawingml/2006/main">
            <a:off x="8220075"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Gemma 4 E4B</a:t>
            </a:r>
          </a:p>
        </p:txBody>
      </p:sp>
      <p:graphicFrame>
        <p:nvGraphicFramePr>
          <p:cNvPr id="564" name="Chart"/>
          <p:cNvGraphicFramePr/>
          <p:nvPr/>
        </p:nvGraphicFramePr>
        <p:xfrm>
          <a:off xmlns:a="http://schemas.openxmlformats.org/drawingml/2006/main" x="8220075"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d532295e66784791"/>
          </a:graphicData>
        </a:graphic>
      </p:graphicFrame>
      <p:sp>
        <p:nvSpPr>
          <p:cNvPr id="545" name="">
            <a:extLst xmlns:a="http://schemas.openxmlformats.org/drawingml/2006/main">
              <a:ext uri="{FF2B5EF4-FFF2-40B4-BE49-F238E27FC236}">
                <a16:creationId xmlns:a16="http://schemas.microsoft.com/office/drawing/2014/main" id="{82C43290-7A18-4D9D-AA61-36F50E44DDB5}"/>
              </a:ext>
            </a:extLst>
          </p:cNvPr>
          <p:cNvSpPr>
            <a:spLocks xmlns:a="http://schemas.openxmlformats.org/drawingml/2006/main" noGrp="1"/>
          </p:cNvSpPr>
          <p:nvPr/>
        </p:nvSpPr>
        <p:spPr>
          <a:xfrm xmlns:a="http://schemas.openxmlformats.org/drawingml/2006/main">
            <a:off x="8715375"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46" name="">
            <a:extLst xmlns:a="http://schemas.openxmlformats.org/drawingml/2006/main">
              <a:ext uri="{FF2B5EF4-FFF2-40B4-BE49-F238E27FC236}">
                <a16:creationId xmlns:a16="http://schemas.microsoft.com/office/drawing/2014/main" id="{71CD52A1-02DB-488A-959F-13EB86EA6C9D}"/>
              </a:ext>
            </a:extLst>
          </p:cNvPr>
          <p:cNvSpPr>
            <a:spLocks xmlns:a="http://schemas.openxmlformats.org/drawingml/2006/main" noGrp="1"/>
          </p:cNvSpPr>
          <p:nvPr/>
        </p:nvSpPr>
        <p:spPr>
          <a:xfrm xmlns:a="http://schemas.openxmlformats.org/drawingml/2006/main">
            <a:off x="8220075"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6,076 tokens/s, batch 127</a:t>
            </a:r>
          </a:p>
        </p:txBody>
      </p:sp>
      <p:sp>
        <p:nvSpPr>
          <p:cNvPr id="547" name="">
            <a:extLst xmlns:a="http://schemas.openxmlformats.org/drawingml/2006/main">
              <a:ext uri="{FF2B5EF4-FFF2-40B4-BE49-F238E27FC236}">
                <a16:creationId xmlns:a16="http://schemas.microsoft.com/office/drawing/2014/main" id="{371E0879-C68F-4AD5-908E-44B282F01FF7}"/>
              </a:ext>
            </a:extLst>
          </p:cNvPr>
          <p:cNvSpPr>
            <a:spLocks xmlns:a="http://schemas.openxmlformats.org/drawingml/2006/main" noGrp="1"/>
          </p:cNvSpPr>
          <p:nvPr/>
        </p:nvSpPr>
        <p:spPr>
          <a:xfrm xmlns:a="http://schemas.openxmlformats.org/drawingml/2006/main">
            <a:off x="5524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vLLM default captures</a:t>
            </a:r>
          </a:p>
        </p:txBody>
      </p:sp>
      <p:sp>
        <p:nvSpPr>
          <p:cNvPr id="548" name="">
            <a:extLst xmlns:a="http://schemas.openxmlformats.org/drawingml/2006/main">
              <a:ext uri="{FF2B5EF4-FFF2-40B4-BE49-F238E27FC236}">
                <a16:creationId xmlns:a16="http://schemas.microsoft.com/office/drawing/2014/main" id="{05C4F0AC-E40E-4BB9-AF48-6AA60525532D}"/>
              </a:ext>
            </a:extLst>
          </p:cNvPr>
          <p:cNvSpPr>
            <a:spLocks xmlns:a="http://schemas.openxmlformats.org/drawingml/2006/main" noGrp="1"/>
          </p:cNvSpPr>
          <p:nvPr/>
        </p:nvSpPr>
        <p:spPr>
          <a:xfrm xmlns:a="http://schemas.openxmlformats.org/drawingml/2006/main">
            <a:off x="438150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3D8DFF"/>
                </a:solidFill>
                <a:latin typeface="Helvetica Neue"/>
                <a:ea typeface="Helvetica Neue"/>
                <a:cs typeface="Helvetica Neue"/>
              </a:defRPr>
            </a:pPr>
            <a:r>
              <a:rPr sz="1575" b="0">
                <a:solidFill>
                  <a:srgbClr val="3D8DFF"/>
                </a:solidFill>
                <a:latin typeface="Helvetica Neue"/>
                <a:ea typeface="Helvetica Neue"/>
                <a:cs typeface="Helvetica Neue"/>
              </a:rPr>
              <a:t>Exact batch matches</a:t>
            </a:r>
          </a:p>
        </p:txBody>
      </p:sp>
      <p:sp>
        <p:nvSpPr>
          <p:cNvPr id="549" name="">
            <a:extLst xmlns:a="http://schemas.openxmlformats.org/drawingml/2006/main">
              <a:ext uri="{FF2B5EF4-FFF2-40B4-BE49-F238E27FC236}">
                <a16:creationId xmlns:a16="http://schemas.microsoft.com/office/drawing/2014/main" id="{E19FC9FF-9066-4886-808E-C45850E67587}"/>
              </a:ext>
            </a:extLst>
          </p:cNvPr>
          <p:cNvSpPr>
            <a:spLocks xmlns:a="http://schemas.openxmlformats.org/drawingml/2006/main" noGrp="1"/>
          </p:cNvSpPr>
          <p:nvPr/>
        </p:nvSpPr>
        <p:spPr>
          <a:xfrm xmlns:a="http://schemas.openxmlformats.org/drawingml/2006/main">
            <a:off x="82105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909AA8"/>
                </a:solidFill>
                <a:latin typeface="Helvetica Neue"/>
                <a:ea typeface="Helvetica Neue"/>
                <a:cs typeface="Helvetica Neue"/>
              </a:defRPr>
            </a:pPr>
            <a:r>
              <a:rPr sz="1575" b="0">
                <a:solidFill>
                  <a:srgbClr val="909AA8"/>
                </a:solidFill>
                <a:latin typeface="Helvetica Neue"/>
                <a:ea typeface="Helvetica Neue"/>
                <a:cs typeface="Helvetica Neue"/>
              </a:rPr>
              <a:t>Coarse capture grid</a:t>
            </a:r>
          </a:p>
        </p:txBody>
      </p:sp>
      <p:sp>
        <p:nvSpPr>
          <p:cNvPr id="550" name="">
            <a:extLst xmlns:a="http://schemas.openxmlformats.org/drawingml/2006/main">
              <a:ext uri="{FF2B5EF4-FFF2-40B4-BE49-F238E27FC236}">
                <a16:creationId xmlns:a16="http://schemas.microsoft.com/office/drawing/2014/main" id="{92AA8613-0EF8-4BC2-A2F0-70EC40E94628}"/>
              </a:ext>
            </a:extLst>
          </p:cNvPr>
          <p:cNvSpPr>
            <a:spLocks xmlns:a="http://schemas.openxmlformats.org/drawingml/2006/main" noGrp="1"/>
          </p:cNvSpPr>
          <p:nvPr/>
        </p:nvSpPr>
        <p:spPr>
          <a:xfrm xmlns:a="http://schemas.openxmlformats.org/drawingml/2006/main">
            <a:off x="390525" y="6048375"/>
            <a:ext cx="11401425"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Matched changes: -0.6% to +0.3%. No established gain. Coarse grids lose up to 3.8%.</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4d1741a47aca46f9"/>
              </a:rPr>
              <a:t>Source: our earlier Qwen timing records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27921A4-25C4-3DB4-06B1-32693CEE2241}" type="slidenum">
              <a:rPr sz="1125" b="0">
                <a:solidFill>
                  <a:srgbClr val="000000"/>
                </a:solidFill>
                <a:latin typeface="Helvetica Neue"/>
                <a:ea typeface="Helvetica Neue"/>
                <a:cs typeface="Helvetica Neue"/>
              </a:rPr>
              <a:t>14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results: two earlier model controls</a:t>
            </a:r>
          </a:p>
        </p:txBody>
      </p:sp>
      <p:sp>
        <p:nvSpPr>
          <p:cNvPr id="534" name="">
            <a:extLst xmlns:a="http://schemas.openxmlformats.org/drawingml/2006/main">
              <a:ext uri="{FF2B5EF4-FFF2-40B4-BE49-F238E27FC236}">
                <a16:creationId xmlns:a16="http://schemas.microsoft.com/office/drawing/2014/main" id="{82AFEA61-5272-4B1B-9E95-7DCD23ADA83A}"/>
              </a:ext>
            </a:extLst>
          </p:cNvPr>
          <p:cNvSpPr>
            <a:spLocks xmlns:a="http://schemas.openxmlformats.org/drawingml/2006/main" noGrp="1"/>
          </p:cNvSpPr>
          <p:nvPr/>
        </p:nvSpPr>
        <p:spPr>
          <a:xfrm xmlns:a="http://schemas.openxmlformats.org/drawingml/2006/main">
            <a:off x="390525" y="1276350"/>
            <a:ext cx="11401425" cy="657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A100 40 GB, BF16, 128 input + 128 output tokens/request. Output tokens/s: higher is better.</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Points show all 144 timings. Lines show configuration means from three warmed repeats.</a:t>
            </a:r>
          </a:p>
        </p:txBody>
      </p:sp>
      <p:sp>
        <p:nvSpPr>
          <p:cNvPr id="535" name="">
            <a:extLst xmlns:a="http://schemas.openxmlformats.org/drawingml/2006/main">
              <a:ext uri="{FF2B5EF4-FFF2-40B4-BE49-F238E27FC236}">
                <a16:creationId xmlns:a16="http://schemas.microsoft.com/office/drawing/2014/main" id="{D9D98EA9-E930-406E-8DAB-FA4EE905C1B4}"/>
              </a:ext>
            </a:extLst>
          </p:cNvPr>
          <p:cNvSpPr>
            <a:spLocks xmlns:a="http://schemas.openxmlformats.org/drawingml/2006/main" noGrp="1"/>
          </p:cNvSpPr>
          <p:nvPr/>
        </p:nvSpPr>
        <p:spPr>
          <a:xfrm xmlns:a="http://schemas.openxmlformats.org/drawingml/2006/main">
            <a:off x="390525" y="207645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Qwen2.5-1.5B</a:t>
            </a:r>
          </a:p>
        </p:txBody>
      </p:sp>
      <p:graphicFrame>
        <p:nvGraphicFramePr>
          <p:cNvPr id="552" name="Chart"/>
          <p:cNvGraphicFramePr/>
          <p:nvPr/>
        </p:nvGraphicFramePr>
        <p:xfrm>
          <a:off xmlns:a="http://schemas.openxmlformats.org/drawingml/2006/main" x="390525" y="2457450"/>
          <a:ext xmlns:a="http://schemas.openxmlformats.org/drawingml/2006/main" cx="5495925" cy="2571750"/>
        </p:xfrm>
        <a:graphic xmlns:a="http://schemas.openxmlformats.org/drawingml/2006/main">
          <a:graphicData uri="http://schemas.openxmlformats.org/drawingml/2006/chart">
            <c:chart xmlns:r="http://schemas.openxmlformats.org/officeDocument/2006/relationships" xmlns:c="http://schemas.openxmlformats.org/drawingml/2006/chart" r:id="R9e9d7db444d14633"/>
          </a:graphicData>
        </a:graphic>
      </p:graphicFrame>
      <p:sp>
        <p:nvSpPr>
          <p:cNvPr id="537" name="">
            <a:extLst xmlns:a="http://schemas.openxmlformats.org/drawingml/2006/main">
              <a:ext uri="{FF2B5EF4-FFF2-40B4-BE49-F238E27FC236}">
                <a16:creationId xmlns:a16="http://schemas.microsoft.com/office/drawing/2014/main" id="{7DAE86E9-C1EA-4F32-BB93-B1C93BD098E7}"/>
              </a:ext>
            </a:extLst>
          </p:cNvPr>
          <p:cNvSpPr>
            <a:spLocks xmlns:a="http://schemas.openxmlformats.org/drawingml/2006/main" noGrp="1"/>
          </p:cNvSpPr>
          <p:nvPr/>
        </p:nvSpPr>
        <p:spPr>
          <a:xfrm xmlns:a="http://schemas.openxmlformats.org/drawingml/2006/main">
            <a:off x="2057400" y="5114925"/>
            <a:ext cx="3714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Requests in fixed batch</a:t>
            </a:r>
          </a:p>
        </p:txBody>
      </p:sp>
      <p:sp>
        <p:nvSpPr>
          <p:cNvPr id="538" name="">
            <a:extLst xmlns:a="http://schemas.openxmlformats.org/drawingml/2006/main">
              <a:ext uri="{FF2B5EF4-FFF2-40B4-BE49-F238E27FC236}">
                <a16:creationId xmlns:a16="http://schemas.microsoft.com/office/drawing/2014/main" id="{6E8E087E-9B45-430E-8230-FAE1270343F2}"/>
              </a:ext>
            </a:extLst>
          </p:cNvPr>
          <p:cNvSpPr>
            <a:spLocks xmlns:a="http://schemas.openxmlformats.org/drawingml/2006/main" noGrp="1"/>
          </p:cNvSpPr>
          <p:nvPr/>
        </p:nvSpPr>
        <p:spPr>
          <a:xfrm xmlns:a="http://schemas.openxmlformats.org/drawingml/2006/main">
            <a:off x="942975" y="5429250"/>
            <a:ext cx="4857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Default peak: 16,453 tokens/s at batch 127</a:t>
            </a:r>
          </a:p>
        </p:txBody>
      </p:sp>
      <p:sp>
        <p:nvSpPr>
          <p:cNvPr id="539" name="">
            <a:extLst xmlns:a="http://schemas.openxmlformats.org/drawingml/2006/main">
              <a:ext uri="{FF2B5EF4-FFF2-40B4-BE49-F238E27FC236}">
                <a16:creationId xmlns:a16="http://schemas.microsoft.com/office/drawing/2014/main" id="{FEEC94F3-6F45-42E6-AAAB-0DEFB328C091}"/>
              </a:ext>
            </a:extLst>
          </p:cNvPr>
          <p:cNvSpPr>
            <a:spLocks xmlns:a="http://schemas.openxmlformats.org/drawingml/2006/main" noGrp="1"/>
          </p:cNvSpPr>
          <p:nvPr/>
        </p:nvSpPr>
        <p:spPr>
          <a:xfrm xmlns:a="http://schemas.openxmlformats.org/drawingml/2006/main">
            <a:off x="6267450" y="207645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Qwen2.5-7B</a:t>
            </a:r>
          </a:p>
        </p:txBody>
      </p:sp>
      <p:graphicFrame>
        <p:nvGraphicFramePr>
          <p:cNvPr id="556" name="Chart"/>
          <p:cNvGraphicFramePr/>
          <p:nvPr/>
        </p:nvGraphicFramePr>
        <p:xfrm>
          <a:off xmlns:a="http://schemas.openxmlformats.org/drawingml/2006/main" x="6267450" y="2457450"/>
          <a:ext xmlns:a="http://schemas.openxmlformats.org/drawingml/2006/main" cx="5495925" cy="2571750"/>
        </p:xfrm>
        <a:graphic xmlns:a="http://schemas.openxmlformats.org/drawingml/2006/main">
          <a:graphicData uri="http://schemas.openxmlformats.org/drawingml/2006/chart">
            <c:chart xmlns:r="http://schemas.openxmlformats.org/officeDocument/2006/relationships" xmlns:c="http://schemas.openxmlformats.org/drawingml/2006/chart" r:id="R6a6f1c8db5e74bf4"/>
          </a:graphicData>
        </a:graphic>
      </p:graphicFrame>
      <p:sp>
        <p:nvSpPr>
          <p:cNvPr id="541" name="">
            <a:extLst xmlns:a="http://schemas.openxmlformats.org/drawingml/2006/main">
              <a:ext uri="{FF2B5EF4-FFF2-40B4-BE49-F238E27FC236}">
                <a16:creationId xmlns:a16="http://schemas.microsoft.com/office/drawing/2014/main" id="{1B7D542B-0494-4B26-8B70-9710FC0346DA}"/>
              </a:ext>
            </a:extLst>
          </p:cNvPr>
          <p:cNvSpPr>
            <a:spLocks xmlns:a="http://schemas.openxmlformats.org/drawingml/2006/main" noGrp="1"/>
          </p:cNvSpPr>
          <p:nvPr/>
        </p:nvSpPr>
        <p:spPr>
          <a:xfrm xmlns:a="http://schemas.openxmlformats.org/drawingml/2006/main">
            <a:off x="7934325" y="5114925"/>
            <a:ext cx="3714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Requests in fixed batch</a:t>
            </a:r>
          </a:p>
        </p:txBody>
      </p:sp>
      <p:sp>
        <p:nvSpPr>
          <p:cNvPr id="542" name="">
            <a:extLst xmlns:a="http://schemas.openxmlformats.org/drawingml/2006/main">
              <a:ext uri="{FF2B5EF4-FFF2-40B4-BE49-F238E27FC236}">
                <a16:creationId xmlns:a16="http://schemas.microsoft.com/office/drawing/2014/main" id="{5E830E3B-B270-4F53-BB98-02F5D9FF43A5}"/>
              </a:ext>
            </a:extLst>
          </p:cNvPr>
          <p:cNvSpPr>
            <a:spLocks xmlns:a="http://schemas.openxmlformats.org/drawingml/2006/main" noGrp="1"/>
          </p:cNvSpPr>
          <p:nvPr/>
        </p:nvSpPr>
        <p:spPr>
          <a:xfrm xmlns:a="http://schemas.openxmlformats.org/drawingml/2006/main">
            <a:off x="6819900" y="5429250"/>
            <a:ext cx="4857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Default peak: 4,881 tokens/s at batch 127</a:t>
            </a:r>
          </a:p>
        </p:txBody>
      </p:sp>
      <p:sp>
        <p:nvSpPr>
          <p:cNvPr id="543" name="">
            <a:extLst xmlns:a="http://schemas.openxmlformats.org/drawingml/2006/main">
              <a:ext uri="{FF2B5EF4-FFF2-40B4-BE49-F238E27FC236}">
                <a16:creationId xmlns:a16="http://schemas.microsoft.com/office/drawing/2014/main" id="{86C07398-83CB-4930-AA8A-789807491FAD}"/>
              </a:ext>
            </a:extLst>
          </p:cNvPr>
          <p:cNvSpPr>
            <a:spLocks xmlns:a="http://schemas.openxmlformats.org/drawingml/2006/main" noGrp="1"/>
          </p:cNvSpPr>
          <p:nvPr/>
        </p:nvSpPr>
        <p:spPr>
          <a:xfrm xmlns:a="http://schemas.openxmlformats.org/drawingml/2006/main">
            <a:off x="5524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vLLM default captures</a:t>
            </a:r>
          </a:p>
        </p:txBody>
      </p:sp>
      <p:sp>
        <p:nvSpPr>
          <p:cNvPr id="544" name="">
            <a:extLst xmlns:a="http://schemas.openxmlformats.org/drawingml/2006/main">
              <a:ext uri="{FF2B5EF4-FFF2-40B4-BE49-F238E27FC236}">
                <a16:creationId xmlns:a16="http://schemas.microsoft.com/office/drawing/2014/main" id="{9E20855C-AF53-4C90-AFEB-B19F9CA89266}"/>
              </a:ext>
            </a:extLst>
          </p:cNvPr>
          <p:cNvSpPr>
            <a:spLocks xmlns:a="http://schemas.openxmlformats.org/drawingml/2006/main" noGrp="1"/>
          </p:cNvSpPr>
          <p:nvPr/>
        </p:nvSpPr>
        <p:spPr>
          <a:xfrm xmlns:a="http://schemas.openxmlformats.org/drawingml/2006/main">
            <a:off x="438150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3D8DFF"/>
                </a:solidFill>
                <a:latin typeface="Helvetica Neue"/>
                <a:ea typeface="Helvetica Neue"/>
                <a:cs typeface="Helvetica Neue"/>
              </a:defRPr>
            </a:pPr>
            <a:r>
              <a:rPr sz="1575" b="0">
                <a:solidFill>
                  <a:srgbClr val="3D8DFF"/>
                </a:solidFill>
                <a:latin typeface="Helvetica Neue"/>
                <a:ea typeface="Helvetica Neue"/>
                <a:cs typeface="Helvetica Neue"/>
              </a:rPr>
              <a:t>Exact batch matches</a:t>
            </a:r>
          </a:p>
        </p:txBody>
      </p:sp>
      <p:sp>
        <p:nvSpPr>
          <p:cNvPr id="545" name="">
            <a:extLst xmlns:a="http://schemas.openxmlformats.org/drawingml/2006/main">
              <a:ext uri="{FF2B5EF4-FFF2-40B4-BE49-F238E27FC236}">
                <a16:creationId xmlns:a16="http://schemas.microsoft.com/office/drawing/2014/main" id="{B3834BB2-D495-410E-A01A-037E8F4239D5}"/>
              </a:ext>
            </a:extLst>
          </p:cNvPr>
          <p:cNvSpPr>
            <a:spLocks xmlns:a="http://schemas.openxmlformats.org/drawingml/2006/main" noGrp="1"/>
          </p:cNvSpPr>
          <p:nvPr/>
        </p:nvSpPr>
        <p:spPr>
          <a:xfrm xmlns:a="http://schemas.openxmlformats.org/drawingml/2006/main">
            <a:off x="82105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909AA8"/>
                </a:solidFill>
                <a:latin typeface="Helvetica Neue"/>
                <a:ea typeface="Helvetica Neue"/>
                <a:cs typeface="Helvetica Neue"/>
              </a:defRPr>
            </a:pPr>
            <a:r>
              <a:rPr sz="1575" b="0">
                <a:solidFill>
                  <a:srgbClr val="909AA8"/>
                </a:solidFill>
                <a:latin typeface="Helvetica Neue"/>
                <a:ea typeface="Helvetica Neue"/>
                <a:cs typeface="Helvetica Neue"/>
              </a:rPr>
              <a:t>Coarse capture grid</a:t>
            </a:r>
          </a:p>
        </p:txBody>
      </p:sp>
      <p:sp>
        <p:nvSpPr>
          <p:cNvPr id="546" name="">
            <a:extLst xmlns:a="http://schemas.openxmlformats.org/drawingml/2006/main">
              <a:ext uri="{FF2B5EF4-FFF2-40B4-BE49-F238E27FC236}">
                <a16:creationId xmlns:a16="http://schemas.microsoft.com/office/drawing/2014/main" id="{D950E33F-F01B-47B1-A3C9-A66D080CF603}"/>
              </a:ext>
            </a:extLst>
          </p:cNvPr>
          <p:cNvSpPr>
            <a:spLocks xmlns:a="http://schemas.openxmlformats.org/drawingml/2006/main" noGrp="1"/>
          </p:cNvSpPr>
          <p:nvPr/>
        </p:nvSpPr>
        <p:spPr>
          <a:xfrm xmlns:a="http://schemas.openxmlformats.org/drawingml/2006/main">
            <a:off x="390525" y="6048375"/>
            <a:ext cx="114014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These older-model controls test the same configuration change. They do not validate an improved scheduler.</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794e34240ea34af9"/>
              </a:rPr>
              <a:t>Source: our saved requests, timing summaries and telemetry</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A83FA91-883A-0168-8075-96CEB9DCA3C2}" type="slidenum">
              <a:rPr sz="1125" b="0">
                <a:solidFill>
                  <a:srgbClr val="000000"/>
                </a:solidFill>
                <a:latin typeface="Helvetica Neue"/>
                <a:ea typeface="Helvetica Neue"/>
                <a:cs typeface="Helvetica Neue"/>
              </a:rPr>
              <a:t>15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2 results: throughput, latency and GPU activity</a:t>
            </a:r>
          </a:p>
        </p:txBody>
      </p:sp>
      <p:sp>
        <p:nvSpPr>
          <p:cNvPr id="534" name="">
            <a:extLst xmlns:a="http://schemas.openxmlformats.org/drawingml/2006/main">
              <a:ext uri="{FF2B5EF4-FFF2-40B4-BE49-F238E27FC236}">
                <a16:creationId xmlns:a16="http://schemas.microsoft.com/office/drawing/2014/main" id="{86E8123C-4E99-4730-94B9-ED5806DE12E4}"/>
              </a:ext>
            </a:extLst>
          </p:cNvPr>
          <p:cNvSpPr>
            <a:spLocks xmlns:a="http://schemas.openxmlformats.org/drawingml/2006/main" noGrp="1"/>
          </p:cNvSpPr>
          <p:nvPr/>
        </p:nvSpPr>
        <p:spPr>
          <a:xfrm xmlns:a="http://schemas.openxmlformats.org/drawingml/2006/main">
            <a:off x="390525" y="1285875"/>
            <a:ext cx="11401425" cy="561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Gemma 4 12B, A100 40 GB, timed burst workload. Points: 3 runs/policy. Diamonds: means.</a:t>
            </a:r>
          </a:p>
        </p:txBody>
      </p:sp>
      <p:sp>
        <p:nvSpPr>
          <p:cNvPr id="535" name="">
            <a:extLst xmlns:a="http://schemas.openxmlformats.org/drawingml/2006/main">
              <a:ext uri="{FF2B5EF4-FFF2-40B4-BE49-F238E27FC236}">
                <a16:creationId xmlns:a16="http://schemas.microsoft.com/office/drawing/2014/main" id="{4269BB72-CC80-4CCD-8BBD-F434ADABF326}"/>
              </a:ext>
            </a:extLst>
          </p:cNvPr>
          <p:cNvSpPr>
            <a:spLocks xmlns:a="http://schemas.openxmlformats.org/drawingml/2006/main" noGrp="1"/>
          </p:cNvSpPr>
          <p:nvPr/>
        </p:nvSpPr>
        <p:spPr>
          <a:xfrm xmlns:a="http://schemas.openxmlformats.org/drawingml/2006/main">
            <a:off x="390525" y="19145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SLO goodput (requests/s), higher is better</a:t>
            </a:r>
          </a:p>
        </p:txBody>
      </p:sp>
      <p:graphicFrame>
        <p:nvGraphicFramePr>
          <p:cNvPr id="548" name="Chart"/>
          <p:cNvGraphicFramePr/>
          <p:nvPr/>
        </p:nvGraphicFramePr>
        <p:xfrm>
          <a:off xmlns:a="http://schemas.openxmlformats.org/drawingml/2006/main" x="390525" y="22955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cd75ff90ee6c4d33"/>
          </a:graphicData>
        </a:graphic>
      </p:graphicFrame>
      <p:sp>
        <p:nvSpPr>
          <p:cNvPr id="537" name="">
            <a:extLst xmlns:a="http://schemas.openxmlformats.org/drawingml/2006/main">
              <a:ext uri="{FF2B5EF4-FFF2-40B4-BE49-F238E27FC236}">
                <a16:creationId xmlns:a16="http://schemas.microsoft.com/office/drawing/2014/main" id="{87A6B708-33BC-4072-88E4-4D5D1475182B}"/>
              </a:ext>
            </a:extLst>
          </p:cNvPr>
          <p:cNvSpPr>
            <a:spLocks xmlns:a="http://schemas.openxmlformats.org/drawingml/2006/main" noGrp="1"/>
          </p:cNvSpPr>
          <p:nvPr/>
        </p:nvSpPr>
        <p:spPr>
          <a:xfrm xmlns:a="http://schemas.openxmlformats.org/drawingml/2006/main">
            <a:off x="6267450" y="19145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Output tokens/s, higher is better</a:t>
            </a:r>
          </a:p>
        </p:txBody>
      </p:sp>
      <p:graphicFrame>
        <p:nvGraphicFramePr>
          <p:cNvPr id="550" name="Chart"/>
          <p:cNvGraphicFramePr/>
          <p:nvPr/>
        </p:nvGraphicFramePr>
        <p:xfrm>
          <a:off xmlns:a="http://schemas.openxmlformats.org/drawingml/2006/main" x="6267450" y="22955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64361b3b58354b9f"/>
          </a:graphicData>
        </a:graphic>
      </p:graphicFrame>
      <p:sp>
        <p:nvSpPr>
          <p:cNvPr id="539" name="">
            <a:extLst xmlns:a="http://schemas.openxmlformats.org/drawingml/2006/main">
              <a:ext uri="{FF2B5EF4-FFF2-40B4-BE49-F238E27FC236}">
                <a16:creationId xmlns:a16="http://schemas.microsoft.com/office/drawing/2014/main" id="{0CBC428C-245E-4134-8237-97031FAF2207}"/>
              </a:ext>
            </a:extLst>
          </p:cNvPr>
          <p:cNvSpPr>
            <a:spLocks xmlns:a="http://schemas.openxmlformats.org/drawingml/2006/main" noGrp="1"/>
          </p:cNvSpPr>
          <p:nvPr/>
        </p:nvSpPr>
        <p:spPr>
          <a:xfrm xmlns:a="http://schemas.openxmlformats.org/drawingml/2006/main">
            <a:off x="390525" y="40100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p99 first-token delay (s), lower is better</a:t>
            </a:r>
          </a:p>
        </p:txBody>
      </p:sp>
      <p:graphicFrame>
        <p:nvGraphicFramePr>
          <p:cNvPr id="552" name="Chart"/>
          <p:cNvGraphicFramePr/>
          <p:nvPr/>
        </p:nvGraphicFramePr>
        <p:xfrm>
          <a:off xmlns:a="http://schemas.openxmlformats.org/drawingml/2006/main" x="390525" y="43910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99016566769f49eb"/>
          </a:graphicData>
        </a:graphic>
      </p:graphicFrame>
      <p:sp>
        <p:nvSpPr>
          <p:cNvPr id="541" name="">
            <a:extLst xmlns:a="http://schemas.openxmlformats.org/drawingml/2006/main">
              <a:ext uri="{FF2B5EF4-FFF2-40B4-BE49-F238E27FC236}">
                <a16:creationId xmlns:a16="http://schemas.microsoft.com/office/drawing/2014/main" id="{A7F8F4D6-01A1-449F-9E05-A9E01B54D23A}"/>
              </a:ext>
            </a:extLst>
          </p:cNvPr>
          <p:cNvSpPr>
            <a:spLocks xmlns:a="http://schemas.openxmlformats.org/drawingml/2006/main" noGrp="1"/>
          </p:cNvSpPr>
          <p:nvPr/>
        </p:nvSpPr>
        <p:spPr>
          <a:xfrm xmlns:a="http://schemas.openxmlformats.org/drawingml/2006/main">
            <a:off x="6267450" y="40100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NVML GPU busy time (%)</a:t>
            </a:r>
          </a:p>
        </p:txBody>
      </p:sp>
      <p:graphicFrame>
        <p:nvGraphicFramePr>
          <p:cNvPr id="554" name="Chart"/>
          <p:cNvGraphicFramePr/>
          <p:nvPr/>
        </p:nvGraphicFramePr>
        <p:xfrm>
          <a:off xmlns:a="http://schemas.openxmlformats.org/drawingml/2006/main" x="6267450" y="43910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611e3b9f33574fa5"/>
          </a:graphicData>
        </a:graphic>
      </p:graphicFrame>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d44ae0a233ec4427"/>
              </a:rPr>
              <a:t>Our measured comparison</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ae5e15dd24104694"/>
              </a:rPr>
              <a:t>Post-hoc phase analysis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C9C7607-4BA3-B4DC-A00F-2E67A9FCFF7E}" type="slidenum">
              <a:rPr sz="1125" b="0">
                <a:solidFill>
                  <a:srgbClr val="000000"/>
                </a:solidFill>
                <a:latin typeface="Helvetica Neue"/>
                <a:ea typeface="Helvetica Neue"/>
                <a:cs typeface="Helvetica Neue"/>
              </a:rPr>
              <a:t>16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results: what the scheduling comparison means</a:t>
            </a:r>
          </a:p>
        </p:txBody>
      </p:sp>
      <p:sp>
        <p:nvSpPr>
          <p:cNvPr id="534" name="">
            <a:extLst xmlns:a="http://schemas.openxmlformats.org/drawingml/2006/main">
              <a:ext uri="{FF2B5EF4-FFF2-40B4-BE49-F238E27FC236}">
                <a16:creationId xmlns:a16="http://schemas.microsoft.com/office/drawing/2014/main" id="{59FF05CD-C329-4FB8-8EC7-B3017A9FCEC2}"/>
              </a:ext>
            </a:extLst>
          </p:cNvPr>
          <p:cNvSpPr>
            <a:spLocks xmlns:a="http://schemas.openxmlformats.org/drawingml/2006/main" noGrp="1"/>
          </p:cNvSpPr>
          <p:nvPr/>
        </p:nvSpPr>
        <p:spPr>
          <a:xfrm xmlns:a="http://schemas.openxmlformats.org/drawingml/2006/main">
            <a:off x="390525" y="1371600"/>
            <a:ext cx="11401425"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Means across three engine runs on Gemma 4 12B and the A100 40 GB.</a:t>
            </a:r>
          </a:p>
        </p:txBody>
      </p:sp>
      <p:graphicFrame>
        <p:nvGraphicFramePr>
          <p:cNvPr id="544" name=""/>
          <p:cNvGraphicFramePr/>
          <p:nvPr/>
        </p:nvGraphicFramePr>
        <p:xfrm>
          <a:off xmlns:a="http://schemas.openxmlformats.org/drawingml/2006/main" x="390525" y="2047875"/>
          <a:ext xmlns:a="http://schemas.openxmlformats.org/drawingml/2006/main" cx="11401425" cy="2076450"/>
        </p:xfrm>
        <a:graphic xmlns:a="http://schemas.openxmlformats.org/drawingml/2006/main">
          <a:graphicData uri="http://schemas.openxmlformats.org/drawingml/2006/table">
            <a:tbl>
              <a:tblPr firstRow="0" bandRow="0"/>
              <a:tblGrid>
                <a:gridCol w="2962275"/>
                <a:gridCol w="2095500"/>
                <a:gridCol w="2066925"/>
                <a:gridCol w="2247900"/>
                <a:gridCol w="2028825"/>
              </a:tblGrid>
              <a:tr h="519113">
                <a:tc>
                  <a:txBody>
                    <a:bodyPr/>
                    <a:lstStyle/>
                    <a:p>
                      <a:r>
                        <a:rPr sz="1725" b="1">
                          <a:solidFill>
                            <a:srgbClr val="000000"/>
                          </a:solidFill>
                          <a:latin typeface="Helvetica Neue"/>
                          <a:ea typeface="Helvetica Neue"/>
                          <a:cs typeface="Helvetica Neue"/>
                        </a:rPr>
                        <a:t>Policy</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SLO goodput</a:t>
                      </a:r>
                    </a:p>
                    <a:p>
                      <a:r>
                        <a:rPr sz="1725" b="1">
                          <a:solidFill>
                            <a:srgbClr val="000000"/>
                          </a:solidFill>
                          <a:latin typeface="Helvetica Neue"/>
                          <a:ea typeface="Helvetica Neue"/>
                          <a:cs typeface="Helvetica Neue"/>
                        </a:rPr>
                        <a:t>requests/s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Output</a:t>
                      </a:r>
                    </a:p>
                    <a:p>
                      <a:r>
                        <a:rPr sz="1725" b="1">
                          <a:solidFill>
                            <a:srgbClr val="000000"/>
                          </a:solidFill>
                          <a:latin typeface="Helvetica Neue"/>
                          <a:ea typeface="Helvetica Neue"/>
                          <a:cs typeface="Helvetica Neue"/>
                        </a:rPr>
                        <a:t>tokens/s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p99 first-token</a:t>
                      </a:r>
                    </a:p>
                    <a:p>
                      <a:r>
                        <a:rPr sz="1725" b="1">
                          <a:solidFill>
                            <a:srgbClr val="000000"/>
                          </a:solidFill>
                          <a:latin typeface="Helvetica Neue"/>
                          <a:ea typeface="Helvetica Neue"/>
                          <a:cs typeface="Helvetica Neue"/>
                        </a:rPr>
                        <a:t>delay (s)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GPU busy</a:t>
                      </a:r>
                    </a:p>
                    <a:p>
                      <a:r>
                        <a:rPr sz="1725" b="1">
                          <a:solidFill>
                            <a:srgbClr val="000000"/>
                          </a:solidFill>
                          <a:latin typeface="Helvetica Neue"/>
                          <a:ea typeface="Helvetica Neue"/>
                          <a:cs typeface="Helvetica Neue"/>
                        </a:rPr>
                        <a:t>(%)</a:t>
                      </a:r>
                    </a:p>
                  </a:txBody>
                  <a:tcPr marL="95250" marR="95250" marT="76200" marB="57150" anchor="t">
                    <a:solidFill>
                      <a:srgbClr val="EAF6FD"/>
                    </a:solidFill>
                  </a:tcPr>
                </a:tc>
              </a:tr>
              <a:tr h="519113">
                <a:tc>
                  <a:txBody>
                    <a:bodyPr/>
                    <a:lstStyle/>
                    <a:p>
                      <a:r>
                        <a:rPr sz="1725">
                          <a:solidFill>
                            <a:srgbClr val="000000"/>
                          </a:solidFill>
                          <a:latin typeface="Helvetica Neue"/>
                          <a:ea typeface="Helvetica Neue"/>
                          <a:cs typeface="Helvetica Neue"/>
                        </a:rPr>
                        <a:t>Direct vLLM</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2.588</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766.6</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13.70</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99.46</a:t>
                      </a:r>
                    </a:p>
                  </a:txBody>
                  <a:tcPr marL="95250" marR="95250" marT="76200" marB="57150" anchor="t">
                    <a:solidFill>
                      <a:srgbClr val="FFFFFF"/>
                    </a:solidFill>
                  </a:tcPr>
                </a:tc>
              </a:tr>
              <a:tr h="519113">
                <a:tc>
                  <a:txBody>
                    <a:bodyPr/>
                    <a:lstStyle/>
                    <a:p>
                      <a:r>
                        <a:rPr sz="1725">
                          <a:solidFill>
                            <a:srgbClr val="000000"/>
                          </a:solidFill>
                          <a:latin typeface="Helvetica Neue"/>
                          <a:ea typeface="Helvetica Neue"/>
                          <a:cs typeface="Helvetica Neue"/>
                        </a:rPr>
                        <a:t>Fixed 32</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2.202</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665.3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14.99</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99.67</a:t>
                      </a:r>
                    </a:p>
                  </a:txBody>
                  <a:tcPr marL="95250" marR="95250" marT="76200" marB="57150" anchor="t">
                    <a:solidFill>
                      <a:srgbClr val="FFFFFF"/>
                    </a:solidFill>
                  </a:tcPr>
                </a:tc>
              </a:tr>
              <a:tr h="519113">
                <a:tc>
                  <a:txBody>
                    <a:bodyPr/>
                    <a:lstStyle/>
                    <a:p>
                      <a:r>
                        <a:rPr sz="1725">
                          <a:solidFill>
                            <a:srgbClr val="000000"/>
                          </a:solidFill>
                          <a:latin typeface="Helvetica Neue"/>
                          <a:ea typeface="Helvetica Neue"/>
                          <a:cs typeface="Helvetica Neue"/>
                        </a:rPr>
                        <a:t>Context budget</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2.013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608.3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23.89</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99.78</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568FDB3F-E36C-4D33-8411-213EB22BB01C}"/>
              </a:ext>
            </a:extLst>
          </p:cNvPr>
          <p:cNvSpPr>
            <a:spLocks xmlns:a="http://schemas.openxmlformats.org/drawingml/2006/main" noGrp="1"/>
          </p:cNvSpPr>
          <p:nvPr/>
        </p:nvSpPr>
        <p:spPr>
          <a:xfrm xmlns:a="http://schemas.openxmlformats.org/drawingml/2006/main">
            <a:off x="390525" y="4410075"/>
            <a:ext cx="11401425"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The context-budget rule reduces SLO goodput by 20–24% versus default vLLM.</a:t>
            </a:r>
          </a:p>
        </p:txBody>
      </p:sp>
      <p:sp>
        <p:nvSpPr>
          <p:cNvPr id="537" name="">
            <a:extLst xmlns:a="http://schemas.openxmlformats.org/drawingml/2006/main">
              <a:ext uri="{FF2B5EF4-FFF2-40B4-BE49-F238E27FC236}">
                <a16:creationId xmlns:a16="http://schemas.microsoft.com/office/drawing/2014/main" id="{F9BE8144-F898-40A8-A102-514073C2E5F0}"/>
              </a:ext>
            </a:extLst>
          </p:cNvPr>
          <p:cNvSpPr>
            <a:spLocks xmlns:a="http://schemas.openxmlformats.org/drawingml/2006/main" noGrp="1"/>
          </p:cNvSpPr>
          <p:nvPr/>
        </p:nvSpPr>
        <p:spPr>
          <a:xfrm xmlns:a="http://schemas.openxmlformats.org/drawingml/2006/main">
            <a:off x="390525" y="4886325"/>
            <a:ext cx="11401425"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Near-100% GPU busy time coexists with missed latency targets and lower SLO goodput.</a:t>
            </a:r>
          </a:p>
        </p:txBody>
      </p:sp>
      <p:sp>
        <p:nvSpPr>
          <p:cNvPr id="538" name="">
            <a:extLst xmlns:a="http://schemas.openxmlformats.org/drawingml/2006/main">
              <a:ext uri="{FF2B5EF4-FFF2-40B4-BE49-F238E27FC236}">
                <a16:creationId xmlns:a16="http://schemas.microsoft.com/office/drawing/2014/main" id="{816BBA81-E230-4EA7-93EB-18A79B077FF6}"/>
              </a:ext>
            </a:extLst>
          </p:cNvPr>
          <p:cNvSpPr>
            <a:spLocks xmlns:a="http://schemas.openxmlformats.org/drawingml/2006/main" noGrp="1"/>
          </p:cNvSpPr>
          <p:nvPr/>
        </p:nvSpPr>
        <p:spPr>
          <a:xfrm xmlns:a="http://schemas.openxmlformats.org/drawingml/2006/main">
            <a:off x="390525" y="5305425"/>
            <a:ext cx="11401425"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Burst finding: in every trial, 96/96 initial short requests meet our targets.</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After the long prompts, 0/96 later short requests meet them.</a:t>
            </a:r>
          </a:p>
        </p:txBody>
      </p:sp>
      <p:sp>
        <p:nvSpPr>
          <p:cNvPr id="539" name="">
            <a:extLst xmlns:a="http://schemas.openxmlformats.org/drawingml/2006/main">
              <a:ext uri="{FF2B5EF4-FFF2-40B4-BE49-F238E27FC236}">
                <a16:creationId xmlns:a16="http://schemas.microsoft.com/office/drawing/2014/main" id="{A08ED96F-9B7E-4C81-9E56-90643267B326}"/>
              </a:ext>
            </a:extLst>
          </p:cNvPr>
          <p:cNvSpPr>
            <a:spLocks xmlns:a="http://schemas.openxmlformats.org/drawingml/2006/main" noGrp="1"/>
          </p:cNvSpPr>
          <p:nvPr/>
        </p:nvSpPr>
        <p:spPr>
          <a:xfrm xmlns:a="http://schemas.openxmlformats.org/drawingml/2006/main">
            <a:off x="390525" y="6029325"/>
            <a:ext cx="11401425" cy="257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The p99 column averages per-run p99s. This finite workload does not measure sustainable serving capacity.</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9a03816b58ce4cdb"/>
              </a:rPr>
              <a:t>Research question and methodology assessment</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90F7333B-44AC-F7E9-D49D-FE92F45E0477}" type="slidenum">
              <a:rPr sz="1125" b="0">
                <a:solidFill>
                  <a:srgbClr val="000000"/>
                </a:solidFill>
                <a:latin typeface="Helvetica Neue"/>
                <a:ea typeface="Helvetica Neue"/>
                <a:cs typeface="Helvetica Neue"/>
              </a:rPr>
              <a:t>17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Research progression and next hypothesis</a:t>
            </a:r>
          </a:p>
        </p:txBody>
      </p:sp>
      <p:sp>
        <p:nvSpPr>
          <p:cNvPr id="534" name="">
            <a:extLst xmlns:a="http://schemas.openxmlformats.org/drawingml/2006/main">
              <a:ext uri="{FF2B5EF4-FFF2-40B4-BE49-F238E27FC236}">
                <a16:creationId xmlns:a16="http://schemas.microsoft.com/office/drawing/2014/main" id="{96944AFB-DB12-4DA7-802A-76787AEED6F8}"/>
              </a:ext>
            </a:extLst>
          </p:cNvPr>
          <p:cNvSpPr>
            <a:spLocks xmlns:a="http://schemas.openxmlformats.org/drawingml/2006/main" noGrp="1"/>
          </p:cNvSpPr>
          <p:nvPr/>
        </p:nvSpPr>
        <p:spPr>
          <a:xfrm xmlns:a="http://schemas.openxmlformats.org/drawingml/2006/main">
            <a:off x="390525" y="1390650"/>
            <a:ext cx="11401425" cy="962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400" b="1">
                <a:solidFill>
                  <a:srgbClr val="000000"/>
                </a:solidFill>
                <a:latin typeface="Helvetica Neue"/>
                <a:ea typeface="Helvetica Neue"/>
                <a:cs typeface="Helvetica Neue"/>
              </a:defRPr>
            </a:pPr>
            <a:r>
              <a:rPr sz="2400" b="1">
                <a:solidFill>
                  <a:srgbClr val="000000"/>
                </a:solidFill>
                <a:latin typeface="Helvetica Neue"/>
                <a:ea typeface="Helvetica Neue"/>
                <a:cs typeface="Helvetica Neue"/>
              </a:rPr>
              <a:t>A reproducible burst-recovery problem. We have not yet demonstrated a better scheduler.</a:t>
            </a:r>
          </a:p>
        </p:txBody>
      </p:sp>
      <p:sp>
        <p:nvSpPr>
          <p:cNvPr id="535" name="">
            <a:extLst xmlns:a="http://schemas.openxmlformats.org/drawingml/2006/main">
              <a:ext uri="{FF2B5EF4-FFF2-40B4-BE49-F238E27FC236}">
                <a16:creationId xmlns:a16="http://schemas.microsoft.com/office/drawing/2014/main" id="{9639D9B3-51F1-49C0-8587-26E1C50D99FF}"/>
              </a:ext>
            </a:extLst>
          </p:cNvPr>
          <p:cNvSpPr>
            <a:spLocks xmlns:a="http://schemas.openxmlformats.org/drawingml/2006/main" noGrp="1"/>
          </p:cNvSpPr>
          <p:nvPr/>
        </p:nvSpPr>
        <p:spPr>
          <a:xfrm xmlns:a="http://schemas.openxmlformats.org/drawingml/2006/main">
            <a:off x="390525" y="2524125"/>
            <a:ext cx="5381625"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Evidence so far</a:t>
            </a:r>
          </a:p>
        </p:txBody>
      </p:sp>
      <p:sp>
        <p:nvSpPr>
          <p:cNvPr id="536" name="">
            <a:extLst xmlns:a="http://schemas.openxmlformats.org/drawingml/2006/main">
              <a:ext uri="{FF2B5EF4-FFF2-40B4-BE49-F238E27FC236}">
                <a16:creationId xmlns:a16="http://schemas.microsoft.com/office/drawing/2014/main" id="{E8E6D75A-D09C-4AC4-861B-D9D24643CE58}"/>
              </a:ext>
            </a:extLst>
          </p:cNvPr>
          <p:cNvSpPr>
            <a:spLocks xmlns:a="http://schemas.openxmlformats.org/drawingml/2006/main" noGrp="1"/>
          </p:cNvSpPr>
          <p:nvPr/>
        </p:nvSpPr>
        <p:spPr>
          <a:xfrm xmlns:a="http://schemas.openxmlformats.org/drawingml/2006/main">
            <a:off x="390525" y="3038475"/>
            <a:ext cx="5381625"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1. Burst-recovery problem observed</a:t>
            </a:r>
          </a:p>
        </p:txBody>
      </p:sp>
      <p:sp>
        <p:nvSpPr>
          <p:cNvPr id="537" name="">
            <a:extLst xmlns:a="http://schemas.openxmlformats.org/drawingml/2006/main">
              <a:ext uri="{FF2B5EF4-FFF2-40B4-BE49-F238E27FC236}">
                <a16:creationId xmlns:a16="http://schemas.microsoft.com/office/drawing/2014/main" id="{DE0D774E-E971-4289-AD7E-1C4B32CDD78C}"/>
              </a:ext>
            </a:extLst>
          </p:cNvPr>
          <p:cNvSpPr>
            <a:spLocks xmlns:a="http://schemas.openxmlformats.org/drawingml/2006/main" noGrp="1"/>
          </p:cNvSpPr>
          <p:nvPr/>
        </p:nvSpPr>
        <p:spPr>
          <a:xfrm xmlns:a="http://schemas.openxmlformats.org/drawingml/2006/main">
            <a:off x="390525" y="3714750"/>
            <a:ext cx="5381625"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2. Default vLLM and fixed-32 baselines measured</a:t>
            </a:r>
          </a:p>
        </p:txBody>
      </p:sp>
      <p:sp>
        <p:nvSpPr>
          <p:cNvPr id="538" name="">
            <a:extLst xmlns:a="http://schemas.openxmlformats.org/drawingml/2006/main">
              <a:ext uri="{FF2B5EF4-FFF2-40B4-BE49-F238E27FC236}">
                <a16:creationId xmlns:a16="http://schemas.microsoft.com/office/drawing/2014/main" id="{948F0CDC-D1F6-4529-99A7-80FE3BD57654}"/>
              </a:ext>
            </a:extLst>
          </p:cNvPr>
          <p:cNvSpPr>
            <a:spLocks xmlns:a="http://schemas.openxmlformats.org/drawingml/2006/main" noGrp="1"/>
          </p:cNvSpPr>
          <p:nvPr/>
        </p:nvSpPr>
        <p:spPr>
          <a:xfrm xmlns:a="http://schemas.openxmlformats.org/drawingml/2006/main">
            <a:off x="390525" y="4391025"/>
            <a:ext cx="5381625"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3. Context-budget admission hypothesis tested</a:t>
            </a:r>
          </a:p>
        </p:txBody>
      </p:sp>
      <p:sp>
        <p:nvSpPr>
          <p:cNvPr id="539" name="">
            <a:extLst xmlns:a="http://schemas.openxmlformats.org/drawingml/2006/main">
              <a:ext uri="{FF2B5EF4-FFF2-40B4-BE49-F238E27FC236}">
                <a16:creationId xmlns:a16="http://schemas.microsoft.com/office/drawing/2014/main" id="{8DAE1CF4-1279-4206-82E2-460329077E06}"/>
              </a:ext>
            </a:extLst>
          </p:cNvPr>
          <p:cNvSpPr>
            <a:spLocks xmlns:a="http://schemas.openxmlformats.org/drawingml/2006/main" noGrp="1"/>
          </p:cNvSpPr>
          <p:nvPr/>
        </p:nvSpPr>
        <p:spPr>
          <a:xfrm xmlns:a="http://schemas.openxmlformats.org/drawingml/2006/main">
            <a:off x="390525" y="5067300"/>
            <a:ext cx="5381625"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4. Tested gate rejected: 20–24% lower SLO goodput</a:t>
            </a:r>
          </a:p>
        </p:txBody>
      </p:sp>
      <p:sp>
        <p:nvSpPr>
          <p:cNvPr id="540" name="">
            <a:extLst xmlns:a="http://schemas.openxmlformats.org/drawingml/2006/main">
              <a:ext uri="{FF2B5EF4-FFF2-40B4-BE49-F238E27FC236}">
                <a16:creationId xmlns:a16="http://schemas.microsoft.com/office/drawing/2014/main" id="{A233BC4A-8FFF-4947-ABC2-3951A65B5D8F}"/>
              </a:ext>
            </a:extLst>
          </p:cNvPr>
          <p:cNvSpPr>
            <a:spLocks xmlns:a="http://schemas.openxmlformats.org/drawingml/2006/main" noGrp="1"/>
          </p:cNvSpPr>
          <p:nvPr/>
        </p:nvSpPr>
        <p:spPr>
          <a:xfrm xmlns:a="http://schemas.openxmlformats.org/drawingml/2006/main">
            <a:off x="6257925" y="2524125"/>
            <a:ext cx="5534025"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Next hypothesis</a:t>
            </a:r>
          </a:p>
        </p:txBody>
      </p:sp>
      <p:sp>
        <p:nvSpPr>
          <p:cNvPr id="541" name="">
            <a:extLst xmlns:a="http://schemas.openxmlformats.org/drawingml/2006/main">
              <a:ext uri="{FF2B5EF4-FFF2-40B4-BE49-F238E27FC236}">
                <a16:creationId xmlns:a16="http://schemas.microsoft.com/office/drawing/2014/main" id="{91B82AA7-6613-4E47-870D-0A9202D911D1}"/>
              </a:ext>
            </a:extLst>
          </p:cNvPr>
          <p:cNvSpPr>
            <a:spLocks xmlns:a="http://schemas.openxmlformats.org/drawingml/2006/main" noGrp="1"/>
          </p:cNvSpPr>
          <p:nvPr/>
        </p:nvSpPr>
        <p:spPr>
          <a:xfrm xmlns:a="http://schemas.openxmlformats.org/drawingml/2006/main">
            <a:off x="6257925" y="3038475"/>
            <a:ext cx="5534025" cy="1343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Admission informed by estimated processing cost, system state and remaining latency budget can outperform default vLLM and calibrated simple limits.</a:t>
            </a:r>
          </a:p>
        </p:txBody>
      </p:sp>
      <p:sp>
        <p:nvSpPr>
          <p:cNvPr id="542" name="">
            <a:extLst xmlns:a="http://schemas.openxmlformats.org/drawingml/2006/main">
              <a:ext uri="{FF2B5EF4-FFF2-40B4-BE49-F238E27FC236}">
                <a16:creationId xmlns:a16="http://schemas.microsoft.com/office/drawing/2014/main" id="{166E6271-9A99-46C7-90A0-CC62DD182FB3}"/>
              </a:ext>
            </a:extLst>
          </p:cNvPr>
          <p:cNvSpPr>
            <a:spLocks xmlns:a="http://schemas.openxmlformats.org/drawingml/2006/main" noGrp="1"/>
          </p:cNvSpPr>
          <p:nvPr/>
        </p:nvSpPr>
        <p:spPr>
          <a:xfrm xmlns:a="http://schemas.openxmlformats.org/drawingml/2006/main">
            <a:off x="6257925" y="4514850"/>
            <a:ext cx="5534025"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One controlled comparison</a:t>
            </a:r>
          </a:p>
        </p:txBody>
      </p:sp>
      <p:sp>
        <p:nvSpPr>
          <p:cNvPr id="543" name="">
            <a:extLst xmlns:a="http://schemas.openxmlformats.org/drawingml/2006/main">
              <a:ext uri="{FF2B5EF4-FFF2-40B4-BE49-F238E27FC236}">
                <a16:creationId xmlns:a16="http://schemas.microsoft.com/office/drawing/2014/main" id="{4D752EEB-809D-4781-B36E-5B32FA58D561}"/>
              </a:ext>
            </a:extLst>
          </p:cNvPr>
          <p:cNvSpPr>
            <a:spLocks xmlns:a="http://schemas.openxmlformats.org/drawingml/2006/main" noGrp="1"/>
          </p:cNvSpPr>
          <p:nvPr/>
        </p:nvSpPr>
        <p:spPr>
          <a:xfrm xmlns:a="http://schemas.openxmlformats.org/drawingml/2006/main">
            <a:off x="6257925" y="4972050"/>
            <a:ext cx="5534025" cy="962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Calibrate separately, freeze the rule, then test on unseen bursts. Count all requests and waiting. Check tail latency and long-request fairness.</a:t>
            </a:r>
          </a:p>
        </p:txBody>
      </p:sp>
      <p:sp>
        <p:nvSpPr>
          <p:cNvPr id="544" name="">
            <a:extLst xmlns:a="http://schemas.openxmlformats.org/drawingml/2006/main">
              <a:ext uri="{FF2B5EF4-FFF2-40B4-BE49-F238E27FC236}">
                <a16:creationId xmlns:a16="http://schemas.microsoft.com/office/drawing/2014/main" id="{1CB1E3B4-330B-4C03-A779-58F8DC4B3508}"/>
              </a:ext>
            </a:extLst>
          </p:cNvPr>
          <p:cNvSpPr>
            <a:spLocks xmlns:a="http://schemas.openxmlformats.org/drawingml/2006/main" noGrp="1"/>
          </p:cNvSpPr>
          <p:nvPr/>
        </p:nvSpPr>
        <p:spPr>
          <a:xfrm xmlns:a="http://schemas.openxmlformats.org/drawingml/2006/main">
            <a:off x="390525" y="6038850"/>
            <a:ext cx="114014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Include a comparison with adaptation removed. One workload does not establish causal mechanism or generalization.</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409b5cbd6fc04940"/>
              </a:rPr>
              <a:t>Full references and additional background</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B1C6C81E-38B9-7560-621D-5A151A79DF9B}" type="slidenum">
              <a:rPr sz="1125" b="0">
                <a:solidFill>
                  <a:srgbClr val="000000"/>
                </a:solidFill>
                <a:latin typeface="Helvetica Neue"/>
                <a:ea typeface="Helvetica Neue"/>
                <a:cs typeface="Helvetica Neue"/>
              </a:rPr>
              <a:t>18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References and reproducibility records</a:t>
            </a:r>
          </a:p>
        </p:txBody>
      </p:sp>
      <p:sp>
        <p:nvSpPr>
          <p:cNvPr id="534" name="">
            <a:extLst xmlns:a="http://schemas.openxmlformats.org/drawingml/2006/main">
              <a:ext uri="{FF2B5EF4-FFF2-40B4-BE49-F238E27FC236}">
                <a16:creationId xmlns:a16="http://schemas.microsoft.com/office/drawing/2014/main" id="{1DC57A49-BEB6-4933-92EA-BFCBA5AE1C66}"/>
              </a:ext>
            </a:extLst>
          </p:cNvPr>
          <p:cNvSpPr>
            <a:spLocks xmlns:a="http://schemas.openxmlformats.org/drawingml/2006/main" noGrp="1"/>
          </p:cNvSpPr>
          <p:nvPr/>
        </p:nvSpPr>
        <p:spPr>
          <a:xfrm xmlns:a="http://schemas.openxmlformats.org/drawingml/2006/main">
            <a:off x="390525" y="15049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bbf78ec97c21483a"/>
              </a:rPr>
              <a:t>[1] Hong et al. SOLA: state-aware scheduling. MLSys 2025. Figure 1</a:t>
            </a:r>
          </a:p>
        </p:txBody>
      </p:sp>
      <p:sp>
        <p:nvSpPr>
          <p:cNvPr id="535" name="">
            <a:extLst xmlns:a="http://schemas.openxmlformats.org/drawingml/2006/main">
              <a:ext uri="{FF2B5EF4-FFF2-40B4-BE49-F238E27FC236}">
                <a16:creationId xmlns:a16="http://schemas.microsoft.com/office/drawing/2014/main" id="{30A53645-C924-4BDB-93D5-8C48C4E253EB}"/>
              </a:ext>
            </a:extLst>
          </p:cNvPr>
          <p:cNvSpPr>
            <a:spLocks xmlns:a="http://schemas.openxmlformats.org/drawingml/2006/main" noGrp="1"/>
          </p:cNvSpPr>
          <p:nvPr/>
        </p:nvSpPr>
        <p:spPr>
          <a:xfrm xmlns:a="http://schemas.openxmlformats.org/drawingml/2006/main">
            <a:off x="390525" y="19621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a75da8b12c8c4334"/>
              </a:rPr>
              <a:t>[2] Gao et al. DuetServe: adaptive GPU multiplexing. ICML 2026. Figure 6</a:t>
            </a:r>
          </a:p>
        </p:txBody>
      </p:sp>
      <p:sp>
        <p:nvSpPr>
          <p:cNvPr id="536" name="">
            <a:extLst xmlns:a="http://schemas.openxmlformats.org/drawingml/2006/main">
              <a:ext uri="{FF2B5EF4-FFF2-40B4-BE49-F238E27FC236}">
                <a16:creationId xmlns:a16="http://schemas.microsoft.com/office/drawing/2014/main" id="{08D50480-B025-4EC1-B674-AE834E0BA294}"/>
              </a:ext>
            </a:extLst>
          </p:cNvPr>
          <p:cNvSpPr>
            <a:spLocks xmlns:a="http://schemas.openxmlformats.org/drawingml/2006/main" noGrp="1"/>
          </p:cNvSpPr>
          <p:nvPr/>
        </p:nvSpPr>
        <p:spPr>
          <a:xfrm xmlns:a="http://schemas.openxmlformats.org/drawingml/2006/main">
            <a:off x="390525" y="24193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fddd7470312d451b"/>
              </a:rPr>
              <a:t>[3] Yang et al. GPU-disaggregated DLRM serving. NSDI 2025. Figure 17</a:t>
            </a:r>
          </a:p>
        </p:txBody>
      </p:sp>
      <p:sp>
        <p:nvSpPr>
          <p:cNvPr id="537" name="">
            <a:extLst xmlns:a="http://schemas.openxmlformats.org/drawingml/2006/main">
              <a:ext uri="{FF2B5EF4-FFF2-40B4-BE49-F238E27FC236}">
                <a16:creationId xmlns:a16="http://schemas.microsoft.com/office/drawing/2014/main" id="{3551E71E-6868-453B-B65C-713466F7EE57}"/>
              </a:ext>
            </a:extLst>
          </p:cNvPr>
          <p:cNvSpPr>
            <a:spLocks xmlns:a="http://schemas.openxmlformats.org/drawingml/2006/main" noGrp="1"/>
          </p:cNvSpPr>
          <p:nvPr/>
        </p:nvSpPr>
        <p:spPr>
          <a:xfrm xmlns:a="http://schemas.openxmlformats.org/drawingml/2006/main">
            <a:off x="390525" y="28765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d3e9ecf4fc2b4378"/>
              </a:rPr>
              <a:t>[4] NVIDIA. Tuning CUDA graph batch sizes. Engineering report, August 2026</a:t>
            </a:r>
          </a:p>
        </p:txBody>
      </p:sp>
      <p:sp>
        <p:nvSpPr>
          <p:cNvPr id="538" name="">
            <a:extLst xmlns:a="http://schemas.openxmlformats.org/drawingml/2006/main">
              <a:ext uri="{FF2B5EF4-FFF2-40B4-BE49-F238E27FC236}">
                <a16:creationId xmlns:a16="http://schemas.microsoft.com/office/drawing/2014/main" id="{59A42843-1CF1-476B-BC20-EBA0C4D012EE}"/>
              </a:ext>
            </a:extLst>
          </p:cNvPr>
          <p:cNvSpPr>
            <a:spLocks xmlns:a="http://schemas.openxmlformats.org/drawingml/2006/main" noGrp="1"/>
          </p:cNvSpPr>
          <p:nvPr/>
        </p:nvSpPr>
        <p:spPr>
          <a:xfrm xmlns:a="http://schemas.openxmlformats.org/drawingml/2006/main">
            <a:off x="390525" y="33337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48c2d5ec883e459b"/>
              </a:rPr>
              <a:t>[5] vLLM. CUDA graph design and serving implementation documentation</a:t>
            </a:r>
          </a:p>
        </p:txBody>
      </p:sp>
      <p:sp>
        <p:nvSpPr>
          <p:cNvPr id="539" name="">
            <a:extLst xmlns:a="http://schemas.openxmlformats.org/drawingml/2006/main">
              <a:ext uri="{FF2B5EF4-FFF2-40B4-BE49-F238E27FC236}">
                <a16:creationId xmlns:a16="http://schemas.microsoft.com/office/drawing/2014/main" id="{3FF1AB4B-DB15-4417-8D97-686CC7028BA0}"/>
              </a:ext>
            </a:extLst>
          </p:cNvPr>
          <p:cNvSpPr>
            <a:spLocks xmlns:a="http://schemas.openxmlformats.org/drawingml/2006/main" noGrp="1"/>
          </p:cNvSpPr>
          <p:nvPr/>
        </p:nvSpPr>
        <p:spPr>
          <a:xfrm xmlns:a="http://schemas.openxmlformats.org/drawingml/2006/main">
            <a:off x="390525" y="37909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f509c3953d914b6c"/>
              </a:rPr>
              <a:t>[6] NVIDIA. NVML GPU-utilization metric definition</a:t>
            </a:r>
          </a:p>
        </p:txBody>
      </p:sp>
      <p:sp>
        <p:nvSpPr>
          <p:cNvPr id="540" name="">
            <a:extLst xmlns:a="http://schemas.openxmlformats.org/drawingml/2006/main">
              <a:ext uri="{FF2B5EF4-FFF2-40B4-BE49-F238E27FC236}">
                <a16:creationId xmlns:a16="http://schemas.microsoft.com/office/drawing/2014/main" id="{B43D94B1-4775-4D99-82EA-C9F6E47111D5}"/>
              </a:ext>
            </a:extLst>
          </p:cNvPr>
          <p:cNvSpPr>
            <a:spLocks xmlns:a="http://schemas.openxmlformats.org/drawingml/2006/main" noGrp="1"/>
          </p:cNvSpPr>
          <p:nvPr/>
        </p:nvSpPr>
        <p:spPr>
          <a:xfrm xmlns:a="http://schemas.openxmlformats.org/drawingml/2006/main">
            <a:off x="390525" y="42481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b33e34b5e6de4b8c"/>
              </a:rPr>
              <a:t>[7] Official model and WikiText revisions: saved experiment manifests</a:t>
            </a:r>
          </a:p>
        </p:txBody>
      </p:sp>
      <p:sp>
        <p:nvSpPr>
          <p:cNvPr id="541" name="">
            <a:extLst xmlns:a="http://schemas.openxmlformats.org/drawingml/2006/main">
              <a:ext uri="{FF2B5EF4-FFF2-40B4-BE49-F238E27FC236}">
                <a16:creationId xmlns:a16="http://schemas.microsoft.com/office/drawing/2014/main" id="{B729FD0A-787A-4C84-8F6A-128AD82C8467}"/>
              </a:ext>
            </a:extLst>
          </p:cNvPr>
          <p:cNvSpPr>
            <a:spLocks xmlns:a="http://schemas.openxmlformats.org/drawingml/2006/main" noGrp="1"/>
          </p:cNvSpPr>
          <p:nvPr/>
        </p:nvSpPr>
        <p:spPr>
          <a:xfrm xmlns:a="http://schemas.openxmlformats.org/drawingml/2006/main">
            <a:off x="390525" y="47053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441fc8b30a92424d"/>
              </a:rPr>
              <a:t>[8] Our experiment code, raw results, graph data and full bibliography</a:t>
            </a:r>
          </a:p>
        </p:txBody>
      </p:sp>
      <p:sp>
        <p:nvSpPr>
          <p:cNvPr id="542" name="">
            <a:extLst xmlns:a="http://schemas.openxmlformats.org/drawingml/2006/main">
              <a:ext uri="{FF2B5EF4-FFF2-40B4-BE49-F238E27FC236}">
                <a16:creationId xmlns:a16="http://schemas.microsoft.com/office/drawing/2014/main" id="{DA0DBC17-D91D-46AE-B3D6-79B27305BE20}"/>
              </a:ext>
            </a:extLst>
          </p:cNvPr>
          <p:cNvSpPr>
            <a:spLocks xmlns:a="http://schemas.openxmlformats.org/drawingml/2006/main" noGrp="1"/>
          </p:cNvSpPr>
          <p:nvPr/>
        </p:nvSpPr>
        <p:spPr>
          <a:xfrm xmlns:a="http://schemas.openxmlformats.org/drawingml/2006/main">
            <a:off x="390525" y="51625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b29dac88188946ae"/>
              </a:rPr>
              <a:t>[9] Our W&amp;B project and exact run records</a:t>
            </a:r>
          </a:p>
        </p:txBody>
      </p:sp>
      <p:sp>
        <p:nvSpPr>
          <p:cNvPr id="543" name="">
            <a:extLst xmlns:a="http://schemas.openxmlformats.org/drawingml/2006/main">
              <a:ext uri="{FF2B5EF4-FFF2-40B4-BE49-F238E27FC236}">
                <a16:creationId xmlns:a16="http://schemas.microsoft.com/office/drawing/2014/main" id="{63C1C7D8-25E5-444A-ABD5-5088523963F0}"/>
              </a:ext>
            </a:extLst>
          </p:cNvPr>
          <p:cNvSpPr>
            <a:spLocks xmlns:a="http://schemas.openxmlformats.org/drawingml/2006/main" noGrp="1"/>
          </p:cNvSpPr>
          <p:nvPr/>
        </p:nvSpPr>
        <p:spPr>
          <a:xfrm xmlns:a="http://schemas.openxmlformats.org/drawingml/2006/main">
            <a:off x="390525" y="5867400"/>
            <a:ext cx="11401425" cy="3905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Paper figures retain their original measurements. Our figures use saved A100 experiment records.</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2026-09-08T20:21:19.8170000Z</dcterms:created>
  <dcterms:modified xsi:type="dcterms:W3CDTF">2026-09-08T20:21:19.8170000Z</dcterms:modified>
</coreProperties>
</file>